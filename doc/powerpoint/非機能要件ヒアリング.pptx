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62"/>
    <p:restoredTop sz="94719"/>
  </p:normalViewPr>
  <p:slideViewPr>
    <p:cSldViewPr snapToGrid="0">
      <p:cViewPr varScale="1">
        <p:scale>
          <a:sx n="144" d="100"/>
          <a:sy n="144" d="100"/>
        </p:scale>
        <p:origin x="208" y="3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24AC23-4BA8-D04E-6E15-11E0AF29461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BECC9FF-F971-F870-71EF-C2EA67DEB5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8FF35DFD-C8E4-5CD9-8D92-3F21BB87652B}"/>
              </a:ext>
            </a:extLst>
          </p:cNvPr>
          <p:cNvSpPr>
            <a:spLocks noGrp="1"/>
          </p:cNvSpPr>
          <p:nvPr>
            <p:ph type="dt" sz="half" idx="10"/>
          </p:nvPr>
        </p:nvSpPr>
        <p:spPr/>
        <p:txBody>
          <a:bodyPr/>
          <a:lstStyle/>
          <a:p>
            <a:fld id="{E1958B59-98F5-3E41-9AAD-0F94AAD89E8B}" type="datetimeFigureOut">
              <a:rPr kumimoji="1" lang="ja-JP" altLang="en-US" smtClean="0"/>
              <a:t>2026/8/12</a:t>
            </a:fld>
            <a:endParaRPr kumimoji="1" lang="ja-JP" altLang="en-US"/>
          </a:p>
        </p:txBody>
      </p:sp>
      <p:sp>
        <p:nvSpPr>
          <p:cNvPr id="5" name="フッター プレースホルダー 4">
            <a:extLst>
              <a:ext uri="{FF2B5EF4-FFF2-40B4-BE49-F238E27FC236}">
                <a16:creationId xmlns:a16="http://schemas.microsoft.com/office/drawing/2014/main" id="{4452B2D6-24AA-4D1B-E088-7ADFF3A5962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B961FB6-CA3A-ACE5-D681-B675E48A2804}"/>
              </a:ext>
            </a:extLst>
          </p:cNvPr>
          <p:cNvSpPr>
            <a:spLocks noGrp="1"/>
          </p:cNvSpPr>
          <p:nvPr>
            <p:ph type="sldNum" sz="quarter" idx="12"/>
          </p:nvPr>
        </p:nvSpPr>
        <p:spPr/>
        <p:txBody>
          <a:bodyPr/>
          <a:lstStyle/>
          <a:p>
            <a:fld id="{15094B34-E409-3245-B9D3-118419088145}" type="slidenum">
              <a:rPr kumimoji="1" lang="ja-JP" altLang="en-US" smtClean="0"/>
              <a:t>‹#›</a:t>
            </a:fld>
            <a:endParaRPr kumimoji="1" lang="ja-JP" altLang="en-US"/>
          </a:p>
        </p:txBody>
      </p:sp>
    </p:spTree>
    <p:extLst>
      <p:ext uri="{BB962C8B-B14F-4D97-AF65-F5344CB8AC3E}">
        <p14:creationId xmlns:p14="http://schemas.microsoft.com/office/powerpoint/2010/main" val="3380645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F34DDB-810A-6115-FBAE-E3CBE3C63E4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C369467-7B3E-02FD-A1C2-C07526C1C4A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E08CBD-26AA-ECB9-67D3-741F2DED8F85}"/>
              </a:ext>
            </a:extLst>
          </p:cNvPr>
          <p:cNvSpPr>
            <a:spLocks noGrp="1"/>
          </p:cNvSpPr>
          <p:nvPr>
            <p:ph type="dt" sz="half" idx="10"/>
          </p:nvPr>
        </p:nvSpPr>
        <p:spPr/>
        <p:txBody>
          <a:bodyPr/>
          <a:lstStyle/>
          <a:p>
            <a:fld id="{E1958B59-98F5-3E41-9AAD-0F94AAD89E8B}" type="datetimeFigureOut">
              <a:rPr kumimoji="1" lang="ja-JP" altLang="en-US" smtClean="0"/>
              <a:t>2026/8/12</a:t>
            </a:fld>
            <a:endParaRPr kumimoji="1" lang="ja-JP" altLang="en-US"/>
          </a:p>
        </p:txBody>
      </p:sp>
      <p:sp>
        <p:nvSpPr>
          <p:cNvPr id="5" name="フッター プレースホルダー 4">
            <a:extLst>
              <a:ext uri="{FF2B5EF4-FFF2-40B4-BE49-F238E27FC236}">
                <a16:creationId xmlns:a16="http://schemas.microsoft.com/office/drawing/2014/main" id="{C746F1C6-49CF-6CB5-037C-30BB1EF7C6A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0A8108E-CA9C-97CB-491D-4030C4629DF8}"/>
              </a:ext>
            </a:extLst>
          </p:cNvPr>
          <p:cNvSpPr>
            <a:spLocks noGrp="1"/>
          </p:cNvSpPr>
          <p:nvPr>
            <p:ph type="sldNum" sz="quarter" idx="12"/>
          </p:nvPr>
        </p:nvSpPr>
        <p:spPr/>
        <p:txBody>
          <a:bodyPr/>
          <a:lstStyle/>
          <a:p>
            <a:fld id="{15094B34-E409-3245-B9D3-118419088145}" type="slidenum">
              <a:rPr kumimoji="1" lang="ja-JP" altLang="en-US" smtClean="0"/>
              <a:t>‹#›</a:t>
            </a:fld>
            <a:endParaRPr kumimoji="1" lang="ja-JP" altLang="en-US"/>
          </a:p>
        </p:txBody>
      </p:sp>
    </p:spTree>
    <p:extLst>
      <p:ext uri="{BB962C8B-B14F-4D97-AF65-F5344CB8AC3E}">
        <p14:creationId xmlns:p14="http://schemas.microsoft.com/office/powerpoint/2010/main" val="2396499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23A1B1-1D82-4A42-8D72-A069ACA8054A}"/>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4BB1DEA-3548-B02D-A433-7D32CAE36E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CC00A66-FDC0-8E0C-1D56-667484368E47}"/>
              </a:ext>
            </a:extLst>
          </p:cNvPr>
          <p:cNvSpPr>
            <a:spLocks noGrp="1"/>
          </p:cNvSpPr>
          <p:nvPr>
            <p:ph type="dt" sz="half" idx="10"/>
          </p:nvPr>
        </p:nvSpPr>
        <p:spPr/>
        <p:txBody>
          <a:bodyPr/>
          <a:lstStyle/>
          <a:p>
            <a:fld id="{E1958B59-98F5-3E41-9AAD-0F94AAD89E8B}" type="datetimeFigureOut">
              <a:rPr kumimoji="1" lang="ja-JP" altLang="en-US" smtClean="0"/>
              <a:t>2026/8/12</a:t>
            </a:fld>
            <a:endParaRPr kumimoji="1" lang="ja-JP" altLang="en-US"/>
          </a:p>
        </p:txBody>
      </p:sp>
      <p:sp>
        <p:nvSpPr>
          <p:cNvPr id="5" name="フッター プレースホルダー 4">
            <a:extLst>
              <a:ext uri="{FF2B5EF4-FFF2-40B4-BE49-F238E27FC236}">
                <a16:creationId xmlns:a16="http://schemas.microsoft.com/office/drawing/2014/main" id="{6C877D0A-E5B6-ED6B-3337-0C4A7401E93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A22BC2E-9DC2-E70B-E250-9F2D31C76C7E}"/>
              </a:ext>
            </a:extLst>
          </p:cNvPr>
          <p:cNvSpPr>
            <a:spLocks noGrp="1"/>
          </p:cNvSpPr>
          <p:nvPr>
            <p:ph type="sldNum" sz="quarter" idx="12"/>
          </p:nvPr>
        </p:nvSpPr>
        <p:spPr/>
        <p:txBody>
          <a:bodyPr/>
          <a:lstStyle/>
          <a:p>
            <a:fld id="{15094B34-E409-3245-B9D3-118419088145}" type="slidenum">
              <a:rPr kumimoji="1" lang="ja-JP" altLang="en-US" smtClean="0"/>
              <a:t>‹#›</a:t>
            </a:fld>
            <a:endParaRPr kumimoji="1" lang="ja-JP" altLang="en-US"/>
          </a:p>
        </p:txBody>
      </p:sp>
    </p:spTree>
    <p:extLst>
      <p:ext uri="{BB962C8B-B14F-4D97-AF65-F5344CB8AC3E}">
        <p14:creationId xmlns:p14="http://schemas.microsoft.com/office/powerpoint/2010/main" val="291676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2AF793-B5A4-858B-1364-7DEC0FE010A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1421304-45AC-C76C-F8F2-7A123150388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8C10BB33-CB93-5EE3-5709-BEF65EA9290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5FE2C2F-5B45-A003-8AF2-557F6298A1D5}"/>
              </a:ext>
            </a:extLst>
          </p:cNvPr>
          <p:cNvSpPr>
            <a:spLocks noGrp="1"/>
          </p:cNvSpPr>
          <p:nvPr>
            <p:ph type="dt" sz="half" idx="10"/>
          </p:nvPr>
        </p:nvSpPr>
        <p:spPr/>
        <p:txBody>
          <a:bodyPr/>
          <a:lstStyle/>
          <a:p>
            <a:fld id="{E1958B59-98F5-3E41-9AAD-0F94AAD89E8B}" type="datetimeFigureOut">
              <a:rPr kumimoji="1" lang="ja-JP" altLang="en-US" smtClean="0"/>
              <a:t>2026/8/12</a:t>
            </a:fld>
            <a:endParaRPr kumimoji="1" lang="ja-JP" altLang="en-US"/>
          </a:p>
        </p:txBody>
      </p:sp>
      <p:sp>
        <p:nvSpPr>
          <p:cNvPr id="6" name="フッター プレースホルダー 5">
            <a:extLst>
              <a:ext uri="{FF2B5EF4-FFF2-40B4-BE49-F238E27FC236}">
                <a16:creationId xmlns:a16="http://schemas.microsoft.com/office/drawing/2014/main" id="{7B25CC45-624E-EED4-ADA4-A9C14DD8CE1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2919210-0B0A-377B-750F-01C57DB21AF5}"/>
              </a:ext>
            </a:extLst>
          </p:cNvPr>
          <p:cNvSpPr>
            <a:spLocks noGrp="1"/>
          </p:cNvSpPr>
          <p:nvPr>
            <p:ph type="sldNum" sz="quarter" idx="12"/>
          </p:nvPr>
        </p:nvSpPr>
        <p:spPr/>
        <p:txBody>
          <a:bodyPr/>
          <a:lstStyle/>
          <a:p>
            <a:fld id="{15094B34-E409-3245-B9D3-118419088145}" type="slidenum">
              <a:rPr kumimoji="1" lang="ja-JP" altLang="en-US" smtClean="0"/>
              <a:t>‹#›</a:t>
            </a:fld>
            <a:endParaRPr kumimoji="1" lang="ja-JP" altLang="en-US"/>
          </a:p>
        </p:txBody>
      </p:sp>
    </p:spTree>
    <p:extLst>
      <p:ext uri="{BB962C8B-B14F-4D97-AF65-F5344CB8AC3E}">
        <p14:creationId xmlns:p14="http://schemas.microsoft.com/office/powerpoint/2010/main" val="3903845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A3BCD4-AF80-7F39-117D-847CCEE54688}"/>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D780C7B-AED2-9D5B-7A94-A2BD58E463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E3E1554-2DD1-5785-A55C-002F14A04FAB}"/>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75179B8A-1072-7C61-26FA-0E79CF1016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E016D35-0A06-4EF0-6A86-2794A0ACB42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AB5C2768-2549-A32E-718B-6E9F27544206}"/>
              </a:ext>
            </a:extLst>
          </p:cNvPr>
          <p:cNvSpPr>
            <a:spLocks noGrp="1"/>
          </p:cNvSpPr>
          <p:nvPr>
            <p:ph type="dt" sz="half" idx="10"/>
          </p:nvPr>
        </p:nvSpPr>
        <p:spPr/>
        <p:txBody>
          <a:bodyPr/>
          <a:lstStyle/>
          <a:p>
            <a:fld id="{E1958B59-98F5-3E41-9AAD-0F94AAD89E8B}" type="datetimeFigureOut">
              <a:rPr kumimoji="1" lang="ja-JP" altLang="en-US" smtClean="0"/>
              <a:t>2026/8/12</a:t>
            </a:fld>
            <a:endParaRPr kumimoji="1" lang="ja-JP" altLang="en-US"/>
          </a:p>
        </p:txBody>
      </p:sp>
      <p:sp>
        <p:nvSpPr>
          <p:cNvPr id="8" name="フッター プレースホルダー 7">
            <a:extLst>
              <a:ext uri="{FF2B5EF4-FFF2-40B4-BE49-F238E27FC236}">
                <a16:creationId xmlns:a16="http://schemas.microsoft.com/office/drawing/2014/main" id="{5120AE72-7831-FBAD-E800-7908264171D9}"/>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DBEB329-FED7-5F80-8FAB-ABC33AAB9CEF}"/>
              </a:ext>
            </a:extLst>
          </p:cNvPr>
          <p:cNvSpPr>
            <a:spLocks noGrp="1"/>
          </p:cNvSpPr>
          <p:nvPr>
            <p:ph type="sldNum" sz="quarter" idx="12"/>
          </p:nvPr>
        </p:nvSpPr>
        <p:spPr/>
        <p:txBody>
          <a:bodyPr/>
          <a:lstStyle/>
          <a:p>
            <a:fld id="{15094B34-E409-3245-B9D3-118419088145}" type="slidenum">
              <a:rPr kumimoji="1" lang="ja-JP" altLang="en-US" smtClean="0"/>
              <a:t>‹#›</a:t>
            </a:fld>
            <a:endParaRPr kumimoji="1" lang="ja-JP" altLang="en-US"/>
          </a:p>
        </p:txBody>
      </p:sp>
    </p:spTree>
    <p:extLst>
      <p:ext uri="{BB962C8B-B14F-4D97-AF65-F5344CB8AC3E}">
        <p14:creationId xmlns:p14="http://schemas.microsoft.com/office/powerpoint/2010/main" val="3537837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B88171-8AAF-3079-0368-4F4AFA49B94D}"/>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58B7FB2B-7A1B-8007-B023-FE72589A553D}"/>
              </a:ext>
            </a:extLst>
          </p:cNvPr>
          <p:cNvSpPr>
            <a:spLocks noGrp="1"/>
          </p:cNvSpPr>
          <p:nvPr>
            <p:ph type="dt" sz="half" idx="10"/>
          </p:nvPr>
        </p:nvSpPr>
        <p:spPr/>
        <p:txBody>
          <a:bodyPr/>
          <a:lstStyle/>
          <a:p>
            <a:fld id="{E1958B59-98F5-3E41-9AAD-0F94AAD89E8B}" type="datetimeFigureOut">
              <a:rPr kumimoji="1" lang="ja-JP" altLang="en-US" smtClean="0"/>
              <a:t>2026/8/12</a:t>
            </a:fld>
            <a:endParaRPr kumimoji="1" lang="ja-JP" altLang="en-US"/>
          </a:p>
        </p:txBody>
      </p:sp>
      <p:sp>
        <p:nvSpPr>
          <p:cNvPr id="4" name="フッター プレースホルダー 3">
            <a:extLst>
              <a:ext uri="{FF2B5EF4-FFF2-40B4-BE49-F238E27FC236}">
                <a16:creationId xmlns:a16="http://schemas.microsoft.com/office/drawing/2014/main" id="{894CBF6C-D9F7-DF28-C16F-2387786C49C8}"/>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11F75DA6-5ACB-FF7E-A5A0-2C6F2AEA3CDC}"/>
              </a:ext>
            </a:extLst>
          </p:cNvPr>
          <p:cNvSpPr>
            <a:spLocks noGrp="1"/>
          </p:cNvSpPr>
          <p:nvPr>
            <p:ph type="sldNum" sz="quarter" idx="12"/>
          </p:nvPr>
        </p:nvSpPr>
        <p:spPr/>
        <p:txBody>
          <a:bodyPr/>
          <a:lstStyle/>
          <a:p>
            <a:fld id="{15094B34-E409-3245-B9D3-118419088145}" type="slidenum">
              <a:rPr kumimoji="1" lang="ja-JP" altLang="en-US" smtClean="0"/>
              <a:t>‹#›</a:t>
            </a:fld>
            <a:endParaRPr kumimoji="1" lang="ja-JP" altLang="en-US"/>
          </a:p>
        </p:txBody>
      </p:sp>
    </p:spTree>
    <p:extLst>
      <p:ext uri="{BB962C8B-B14F-4D97-AF65-F5344CB8AC3E}">
        <p14:creationId xmlns:p14="http://schemas.microsoft.com/office/powerpoint/2010/main" val="2792341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FD67874-0E76-5084-DE99-81FBC5B525AA}"/>
              </a:ext>
            </a:extLst>
          </p:cNvPr>
          <p:cNvSpPr>
            <a:spLocks noGrp="1"/>
          </p:cNvSpPr>
          <p:nvPr>
            <p:ph type="dt" sz="half" idx="10"/>
          </p:nvPr>
        </p:nvSpPr>
        <p:spPr/>
        <p:txBody>
          <a:bodyPr/>
          <a:lstStyle/>
          <a:p>
            <a:fld id="{E1958B59-98F5-3E41-9AAD-0F94AAD89E8B}" type="datetimeFigureOut">
              <a:rPr kumimoji="1" lang="ja-JP" altLang="en-US" smtClean="0"/>
              <a:t>2026/8/12</a:t>
            </a:fld>
            <a:endParaRPr kumimoji="1" lang="ja-JP" altLang="en-US"/>
          </a:p>
        </p:txBody>
      </p:sp>
      <p:sp>
        <p:nvSpPr>
          <p:cNvPr id="3" name="フッター プレースホルダー 2">
            <a:extLst>
              <a:ext uri="{FF2B5EF4-FFF2-40B4-BE49-F238E27FC236}">
                <a16:creationId xmlns:a16="http://schemas.microsoft.com/office/drawing/2014/main" id="{DD3E678D-FB49-6795-7010-4AB082F0AD4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7FDE9A8-A8EA-E8FE-93FF-EDEE1755E921}"/>
              </a:ext>
            </a:extLst>
          </p:cNvPr>
          <p:cNvSpPr>
            <a:spLocks noGrp="1"/>
          </p:cNvSpPr>
          <p:nvPr>
            <p:ph type="sldNum" sz="quarter" idx="12"/>
          </p:nvPr>
        </p:nvSpPr>
        <p:spPr/>
        <p:txBody>
          <a:bodyPr/>
          <a:lstStyle/>
          <a:p>
            <a:fld id="{15094B34-E409-3245-B9D3-118419088145}" type="slidenum">
              <a:rPr kumimoji="1" lang="ja-JP" altLang="en-US" smtClean="0"/>
              <a:t>‹#›</a:t>
            </a:fld>
            <a:endParaRPr kumimoji="1" lang="ja-JP" altLang="en-US"/>
          </a:p>
        </p:txBody>
      </p:sp>
    </p:spTree>
    <p:extLst>
      <p:ext uri="{BB962C8B-B14F-4D97-AF65-F5344CB8AC3E}">
        <p14:creationId xmlns:p14="http://schemas.microsoft.com/office/powerpoint/2010/main" val="1138444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BFED4B-2D5C-D432-83BE-C3CB5909350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205FFD1-3D94-C238-02F9-8FD7DD5D44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E5105069-8878-505C-FE74-61A40BF093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AC941A1-050E-6CA7-A0C3-4F80C7B1B33F}"/>
              </a:ext>
            </a:extLst>
          </p:cNvPr>
          <p:cNvSpPr>
            <a:spLocks noGrp="1"/>
          </p:cNvSpPr>
          <p:nvPr>
            <p:ph type="dt" sz="half" idx="10"/>
          </p:nvPr>
        </p:nvSpPr>
        <p:spPr/>
        <p:txBody>
          <a:bodyPr/>
          <a:lstStyle/>
          <a:p>
            <a:fld id="{E1958B59-98F5-3E41-9AAD-0F94AAD89E8B}" type="datetimeFigureOut">
              <a:rPr kumimoji="1" lang="ja-JP" altLang="en-US" smtClean="0"/>
              <a:t>2026/8/12</a:t>
            </a:fld>
            <a:endParaRPr kumimoji="1" lang="ja-JP" altLang="en-US"/>
          </a:p>
        </p:txBody>
      </p:sp>
      <p:sp>
        <p:nvSpPr>
          <p:cNvPr id="6" name="フッター プレースホルダー 5">
            <a:extLst>
              <a:ext uri="{FF2B5EF4-FFF2-40B4-BE49-F238E27FC236}">
                <a16:creationId xmlns:a16="http://schemas.microsoft.com/office/drawing/2014/main" id="{49A22078-9846-4CE3-930C-3E4773371E5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3551019-BF3A-9455-C25C-5BBD92D114F3}"/>
              </a:ext>
            </a:extLst>
          </p:cNvPr>
          <p:cNvSpPr>
            <a:spLocks noGrp="1"/>
          </p:cNvSpPr>
          <p:nvPr>
            <p:ph type="sldNum" sz="quarter" idx="12"/>
          </p:nvPr>
        </p:nvSpPr>
        <p:spPr/>
        <p:txBody>
          <a:bodyPr/>
          <a:lstStyle/>
          <a:p>
            <a:fld id="{15094B34-E409-3245-B9D3-118419088145}" type="slidenum">
              <a:rPr kumimoji="1" lang="ja-JP" altLang="en-US" smtClean="0"/>
              <a:t>‹#›</a:t>
            </a:fld>
            <a:endParaRPr kumimoji="1" lang="ja-JP" altLang="en-US"/>
          </a:p>
        </p:txBody>
      </p:sp>
    </p:spTree>
    <p:extLst>
      <p:ext uri="{BB962C8B-B14F-4D97-AF65-F5344CB8AC3E}">
        <p14:creationId xmlns:p14="http://schemas.microsoft.com/office/powerpoint/2010/main" val="3457900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EDB7B1-AC42-4132-FBCF-E1F02F78FCE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4B8E463-3A6A-E67F-C133-BF08341923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24E56142-9417-380F-C0AF-AAC64BDB43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316591F-E41D-07CC-C775-79953E1F67BD}"/>
              </a:ext>
            </a:extLst>
          </p:cNvPr>
          <p:cNvSpPr>
            <a:spLocks noGrp="1"/>
          </p:cNvSpPr>
          <p:nvPr>
            <p:ph type="dt" sz="half" idx="10"/>
          </p:nvPr>
        </p:nvSpPr>
        <p:spPr/>
        <p:txBody>
          <a:bodyPr/>
          <a:lstStyle/>
          <a:p>
            <a:fld id="{E1958B59-98F5-3E41-9AAD-0F94AAD89E8B}" type="datetimeFigureOut">
              <a:rPr kumimoji="1" lang="ja-JP" altLang="en-US" smtClean="0"/>
              <a:t>2026/8/12</a:t>
            </a:fld>
            <a:endParaRPr kumimoji="1" lang="ja-JP" altLang="en-US"/>
          </a:p>
        </p:txBody>
      </p:sp>
      <p:sp>
        <p:nvSpPr>
          <p:cNvPr id="6" name="フッター プレースホルダー 5">
            <a:extLst>
              <a:ext uri="{FF2B5EF4-FFF2-40B4-BE49-F238E27FC236}">
                <a16:creationId xmlns:a16="http://schemas.microsoft.com/office/drawing/2014/main" id="{716BF8DB-6E1D-FE57-6378-BE76ACD6C7F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A86B169-DCB4-8EA9-CEBC-24115FEAB6E5}"/>
              </a:ext>
            </a:extLst>
          </p:cNvPr>
          <p:cNvSpPr>
            <a:spLocks noGrp="1"/>
          </p:cNvSpPr>
          <p:nvPr>
            <p:ph type="sldNum" sz="quarter" idx="12"/>
          </p:nvPr>
        </p:nvSpPr>
        <p:spPr/>
        <p:txBody>
          <a:bodyPr/>
          <a:lstStyle/>
          <a:p>
            <a:fld id="{15094B34-E409-3245-B9D3-118419088145}" type="slidenum">
              <a:rPr kumimoji="1" lang="ja-JP" altLang="en-US" smtClean="0"/>
              <a:t>‹#›</a:t>
            </a:fld>
            <a:endParaRPr kumimoji="1" lang="ja-JP" altLang="en-US"/>
          </a:p>
        </p:txBody>
      </p:sp>
    </p:spTree>
    <p:extLst>
      <p:ext uri="{BB962C8B-B14F-4D97-AF65-F5344CB8AC3E}">
        <p14:creationId xmlns:p14="http://schemas.microsoft.com/office/powerpoint/2010/main" val="10034209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51ACA5-7D10-900F-CA99-0E27238720F0}"/>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80D3710-3B39-A920-0E6A-AE6390A9B6F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30DCBF0-CB28-BCCF-67FE-932B76934711}"/>
              </a:ext>
            </a:extLst>
          </p:cNvPr>
          <p:cNvSpPr>
            <a:spLocks noGrp="1"/>
          </p:cNvSpPr>
          <p:nvPr>
            <p:ph type="dt" sz="half" idx="10"/>
          </p:nvPr>
        </p:nvSpPr>
        <p:spPr/>
        <p:txBody>
          <a:bodyPr/>
          <a:lstStyle/>
          <a:p>
            <a:fld id="{E1958B59-98F5-3E41-9AAD-0F94AAD89E8B}" type="datetimeFigureOut">
              <a:rPr kumimoji="1" lang="ja-JP" altLang="en-US" smtClean="0"/>
              <a:t>2026/8/12</a:t>
            </a:fld>
            <a:endParaRPr kumimoji="1" lang="ja-JP" altLang="en-US"/>
          </a:p>
        </p:txBody>
      </p:sp>
      <p:sp>
        <p:nvSpPr>
          <p:cNvPr id="5" name="フッター プレースホルダー 4">
            <a:extLst>
              <a:ext uri="{FF2B5EF4-FFF2-40B4-BE49-F238E27FC236}">
                <a16:creationId xmlns:a16="http://schemas.microsoft.com/office/drawing/2014/main" id="{CB5136D0-B087-0EFC-A203-C2FF7E70352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33F15D7-A990-C289-851E-6E2023929197}"/>
              </a:ext>
            </a:extLst>
          </p:cNvPr>
          <p:cNvSpPr>
            <a:spLocks noGrp="1"/>
          </p:cNvSpPr>
          <p:nvPr>
            <p:ph type="sldNum" sz="quarter" idx="12"/>
          </p:nvPr>
        </p:nvSpPr>
        <p:spPr/>
        <p:txBody>
          <a:bodyPr/>
          <a:lstStyle/>
          <a:p>
            <a:fld id="{15094B34-E409-3245-B9D3-118419088145}" type="slidenum">
              <a:rPr kumimoji="1" lang="ja-JP" altLang="en-US" smtClean="0"/>
              <a:t>‹#›</a:t>
            </a:fld>
            <a:endParaRPr kumimoji="1" lang="ja-JP" altLang="en-US"/>
          </a:p>
        </p:txBody>
      </p:sp>
    </p:spTree>
    <p:extLst>
      <p:ext uri="{BB962C8B-B14F-4D97-AF65-F5344CB8AC3E}">
        <p14:creationId xmlns:p14="http://schemas.microsoft.com/office/powerpoint/2010/main" val="1046189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FC87DEE-C640-0EF3-AE48-58BF82F5F4AB}"/>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804E34A-258F-8DBA-075B-272F1C2B876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68F941D-2665-686F-AC09-EF4539B0A1E9}"/>
              </a:ext>
            </a:extLst>
          </p:cNvPr>
          <p:cNvSpPr>
            <a:spLocks noGrp="1"/>
          </p:cNvSpPr>
          <p:nvPr>
            <p:ph type="dt" sz="half" idx="10"/>
          </p:nvPr>
        </p:nvSpPr>
        <p:spPr/>
        <p:txBody>
          <a:bodyPr/>
          <a:lstStyle/>
          <a:p>
            <a:fld id="{E1958B59-98F5-3E41-9AAD-0F94AAD89E8B}" type="datetimeFigureOut">
              <a:rPr kumimoji="1" lang="ja-JP" altLang="en-US" smtClean="0"/>
              <a:t>2026/8/12</a:t>
            </a:fld>
            <a:endParaRPr kumimoji="1" lang="ja-JP" altLang="en-US"/>
          </a:p>
        </p:txBody>
      </p:sp>
      <p:sp>
        <p:nvSpPr>
          <p:cNvPr id="5" name="フッター プレースホルダー 4">
            <a:extLst>
              <a:ext uri="{FF2B5EF4-FFF2-40B4-BE49-F238E27FC236}">
                <a16:creationId xmlns:a16="http://schemas.microsoft.com/office/drawing/2014/main" id="{123D3EC2-6996-B453-040C-1BDB97AB5EB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978022A-9F9C-C7EC-A612-799C7241735B}"/>
              </a:ext>
            </a:extLst>
          </p:cNvPr>
          <p:cNvSpPr>
            <a:spLocks noGrp="1"/>
          </p:cNvSpPr>
          <p:nvPr>
            <p:ph type="sldNum" sz="quarter" idx="12"/>
          </p:nvPr>
        </p:nvSpPr>
        <p:spPr/>
        <p:txBody>
          <a:bodyPr/>
          <a:lstStyle/>
          <a:p>
            <a:fld id="{15094B34-E409-3245-B9D3-118419088145}" type="slidenum">
              <a:rPr kumimoji="1" lang="ja-JP" altLang="en-US" smtClean="0"/>
              <a:t>‹#›</a:t>
            </a:fld>
            <a:endParaRPr kumimoji="1" lang="ja-JP" altLang="en-US"/>
          </a:p>
        </p:txBody>
      </p:sp>
    </p:spTree>
    <p:extLst>
      <p:ext uri="{BB962C8B-B14F-4D97-AF65-F5344CB8AC3E}">
        <p14:creationId xmlns:p14="http://schemas.microsoft.com/office/powerpoint/2010/main" val="338799600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5BD8A59-2E7C-F838-1F12-F6010B958F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612F2DF-368E-6DCD-F2DF-C3C3608E8A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FB70E8A-A4C4-1E34-A395-7B05CCD2FC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958B59-98F5-3E41-9AAD-0F94AAD89E8B}" type="datetimeFigureOut">
              <a:rPr kumimoji="1" lang="ja-JP" altLang="en-US" smtClean="0"/>
              <a:t>2026/8/12</a:t>
            </a:fld>
            <a:endParaRPr kumimoji="1" lang="ja-JP" altLang="en-US"/>
          </a:p>
        </p:txBody>
      </p:sp>
      <p:sp>
        <p:nvSpPr>
          <p:cNvPr id="5" name="フッター プレースホルダー 4">
            <a:extLst>
              <a:ext uri="{FF2B5EF4-FFF2-40B4-BE49-F238E27FC236}">
                <a16:creationId xmlns:a16="http://schemas.microsoft.com/office/drawing/2014/main" id="{B8AD8CC6-1221-C360-3BCD-12DB459989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A14E038-0041-5089-0219-7FE2EAFB05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094B34-E409-3245-B9D3-118419088145}" type="slidenum">
              <a:rPr kumimoji="1" lang="ja-JP" altLang="en-US" smtClean="0"/>
              <a:t>‹#›</a:t>
            </a:fld>
            <a:endParaRPr kumimoji="1" lang="ja-JP" altLang="en-US"/>
          </a:p>
        </p:txBody>
      </p:sp>
    </p:spTree>
    <p:extLst>
      <p:ext uri="{BB962C8B-B14F-4D97-AF65-F5344CB8AC3E}">
        <p14:creationId xmlns:p14="http://schemas.microsoft.com/office/powerpoint/2010/main" val="4234489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48840"/>
            <a:ext cx="9692640" cy="457200"/>
          </a:xfrm>
          <a:prstGeom prst="rect">
            <a:avLst/>
          </a:prstGeom>
          <a:noFill/>
        </p:spPr>
        <p:txBody>
          <a:bodyPr wrap="square" lIns="0" rIns="0" tIns="0" bIns="0" anchor="t">
            <a:spAutoFit/>
          </a:bodyPr>
          <a:lstStyle/>
          <a:p>
            <a:pPr algn="l">
              <a:lnSpc>
                <a:spcPct val="125000"/>
              </a:lnSpc>
            </a:pPr>
            <a:r>
              <a:rPr sz="1800" b="1">
                <a:solidFill>
                  <a:srgbClr val="5A6472"/>
                </a:solidFill>
                <a:latin typeface="Yu Gothic UI"/>
              </a:rPr>
              <a:t>AWS 統合認証基盤</a:t>
            </a:r>
          </a:p>
        </p:txBody>
      </p:sp>
      <p:sp>
        <p:nvSpPr>
          <p:cNvPr id="4" name="TextBox 3"/>
          <p:cNvSpPr txBox="1"/>
          <p:nvPr/>
        </p:nvSpPr>
        <p:spPr>
          <a:xfrm>
            <a:off x="1097280" y="2651760"/>
            <a:ext cx="9692640" cy="914400"/>
          </a:xfrm>
          <a:prstGeom prst="rect">
            <a:avLst/>
          </a:prstGeom>
          <a:noFill/>
        </p:spPr>
        <p:txBody>
          <a:bodyPr wrap="square" lIns="0" rIns="0" tIns="0" bIns="0" anchor="t">
            <a:spAutoFit/>
          </a:bodyPr>
          <a:lstStyle/>
          <a:p>
            <a:pPr algn="l">
              <a:lnSpc>
                <a:spcPct val="125000"/>
              </a:lnSpc>
            </a:pPr>
            <a:r>
              <a:rPr sz="4400" b="1">
                <a:solidFill>
                  <a:srgbClr val="1F3864"/>
                </a:solidFill>
                <a:latin typeface="Yu Gothic UI"/>
              </a:rPr>
              <a:t>非機能要件 ヒアリング</a:t>
            </a:r>
          </a:p>
        </p:txBody>
      </p:sp>
      <p:sp>
        <p:nvSpPr>
          <p:cNvPr id="5" name="Rectangle 4"/>
          <p:cNvSpPr/>
          <p:nvPr/>
        </p:nvSpPr>
        <p:spPr>
          <a:xfrm>
            <a:off x="1097280" y="3794760"/>
            <a:ext cx="2011680" cy="45720"/>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4114800"/>
            <a:ext cx="9692640" cy="822960"/>
          </a:xfrm>
          <a:prstGeom prst="rect">
            <a:avLst/>
          </a:prstGeom>
          <a:noFill/>
        </p:spPr>
        <p:txBody>
          <a:bodyPr wrap="square" lIns="0" rIns="0" tIns="0" bIns="0" anchor="t">
            <a:spAutoFit/>
          </a:bodyPr>
          <a:lstStyle/>
          <a:p>
            <a:pPr algn="l">
              <a:lnSpc>
                <a:spcPct val="125000"/>
              </a:lnSpc>
            </a:pPr>
            <a:r>
              <a:rPr sz="1600" b="0">
                <a:solidFill>
                  <a:srgbClr val="1D2125"/>
                </a:solidFill>
                <a:latin typeface="Yu Gothic UI"/>
              </a:rPr>
              <a:t>止まらなさ・速さ・守り・法令・運用について、</a:t>
            </a:r>
          </a:p>
          <a:p>
            <a:pPr algn="l">
              <a:lnSpc>
                <a:spcPct val="125000"/>
              </a:lnSpc>
            </a:pPr>
            <a:r>
              <a:rPr sz="1600" b="0">
                <a:solidFill>
                  <a:srgbClr val="1D2125"/>
                </a:solidFill>
                <a:latin typeface="Yu Gothic UI"/>
              </a:rPr>
              <a:t>ご判断いただきたい 59 件をまとめました。</a:t>
            </a:r>
          </a:p>
        </p:txBody>
      </p:sp>
      <p:sp>
        <p:nvSpPr>
          <p:cNvPr id="7" name="TextBox 6"/>
          <p:cNvSpPr txBox="1"/>
          <p:nvPr/>
        </p:nvSpPr>
        <p:spPr>
          <a:xfrm>
            <a:off x="1097280" y="5943600"/>
            <a:ext cx="9692640" cy="274320"/>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2026-08-26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本日ご確認いただきたいこと</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非機能 59 件</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非機能要件（どの水準で動くか）のご確認です。判断しづらい 6 テーマは第 2 部で図解します。</a:t>
            </a:r>
          </a:p>
        </p:txBody>
      </p:sp>
      <p:sp>
        <p:nvSpPr>
          <p:cNvPr id="6" name="Rectangle 5"/>
          <p:cNvSpPr/>
          <p:nvPr/>
        </p:nvSpPr>
        <p:spPr>
          <a:xfrm>
            <a:off x="812800" y="1014984"/>
            <a:ext cx="36576" cy="484124"/>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4841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非機能要件 99 件のうち 26 件は確定済み、14 件は当方の社内判断です。残る 59 件は、お客様のご判断がないと当方だけでは決められません。うち 14 件は構成と費用が直接動くため、本日この場でご判断いただきたい項目です。</a:t>
            </a:r>
          </a:p>
        </p:txBody>
      </p:sp>
      <p:sp>
        <p:nvSpPr>
          <p:cNvPr id="8" name="Rectangle 7"/>
          <p:cNvSpPr/>
          <p:nvPr/>
        </p:nvSpPr>
        <p:spPr>
          <a:xfrm>
            <a:off x="812800" y="1718564"/>
            <a:ext cx="10566349" cy="3291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96288"/>
            <a:ext cx="237744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領域</a:t>
            </a:r>
          </a:p>
        </p:txBody>
      </p:sp>
      <p:sp>
        <p:nvSpPr>
          <p:cNvPr id="10" name="TextBox 9"/>
          <p:cNvSpPr txBox="1"/>
          <p:nvPr/>
        </p:nvSpPr>
        <p:spPr>
          <a:xfrm>
            <a:off x="3401568" y="1796288"/>
            <a:ext cx="54864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件数</a:t>
            </a:r>
          </a:p>
        </p:txBody>
      </p:sp>
      <p:sp>
        <p:nvSpPr>
          <p:cNvPr id="11" name="TextBox 10"/>
          <p:cNvSpPr txBox="1"/>
          <p:nvPr/>
        </p:nvSpPr>
        <p:spPr>
          <a:xfrm>
            <a:off x="4114800" y="1796288"/>
            <a:ext cx="292608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何を決めるか</a:t>
            </a:r>
          </a:p>
        </p:txBody>
      </p:sp>
      <p:sp>
        <p:nvSpPr>
          <p:cNvPr id="12" name="TextBox 11"/>
          <p:cNvSpPr txBox="1"/>
          <p:nvPr/>
        </p:nvSpPr>
        <p:spPr>
          <a:xfrm>
            <a:off x="7178040" y="1796288"/>
            <a:ext cx="416052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決まると何が固まるか</a:t>
            </a:r>
          </a:p>
        </p:txBody>
      </p:sp>
      <p:sp>
        <p:nvSpPr>
          <p:cNvPr id="13" name="Rectangle 12"/>
          <p:cNvSpPr/>
          <p:nvPr/>
        </p:nvSpPr>
        <p:spPr>
          <a:xfrm>
            <a:off x="812800" y="2685288"/>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157476"/>
            <a:ext cx="2377440" cy="500379"/>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性能と拡張性</a:t>
            </a:r>
          </a:p>
        </p:txBody>
      </p:sp>
      <p:sp>
        <p:nvSpPr>
          <p:cNvPr id="15" name="TextBox 14"/>
          <p:cNvSpPr txBox="1"/>
          <p:nvPr/>
        </p:nvSpPr>
        <p:spPr>
          <a:xfrm>
            <a:off x="3401568" y="2157476"/>
            <a:ext cx="548640" cy="500379"/>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10</a:t>
            </a:r>
          </a:p>
        </p:txBody>
      </p:sp>
      <p:sp>
        <p:nvSpPr>
          <p:cNvPr id="16" name="TextBox 15"/>
          <p:cNvSpPr txBox="1"/>
          <p:nvPr/>
        </p:nvSpPr>
        <p:spPr>
          <a:xfrm>
            <a:off x="4114800" y="2157476"/>
            <a:ext cx="2926080" cy="500379"/>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何人まで受け入れ、どれだけ速く返すか</a:t>
            </a:r>
          </a:p>
        </p:txBody>
      </p:sp>
      <p:sp>
        <p:nvSpPr>
          <p:cNvPr id="17" name="TextBox 16"/>
          <p:cNvSpPr txBox="1"/>
          <p:nvPr/>
        </p:nvSpPr>
        <p:spPr>
          <a:xfrm>
            <a:off x="7178040" y="2157476"/>
            <a:ext cx="4160520" cy="500379"/>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設備の規模と初期費用。ここが動くと以降の試算をすべてやり直すことになります。</a:t>
            </a:r>
          </a:p>
        </p:txBody>
      </p:sp>
      <p:sp>
        <p:nvSpPr>
          <p:cNvPr id="18" name="Rectangle 17"/>
          <p:cNvSpPr/>
          <p:nvPr/>
        </p:nvSpPr>
        <p:spPr>
          <a:xfrm>
            <a:off x="812800" y="2685288"/>
            <a:ext cx="10566349" cy="63754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800" y="3322827"/>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795016"/>
            <a:ext cx="2377440" cy="500379"/>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可用性と災害復旧</a:t>
            </a:r>
          </a:p>
        </p:txBody>
      </p:sp>
      <p:sp>
        <p:nvSpPr>
          <p:cNvPr id="21" name="TextBox 20"/>
          <p:cNvSpPr txBox="1"/>
          <p:nvPr/>
        </p:nvSpPr>
        <p:spPr>
          <a:xfrm>
            <a:off x="3401568" y="2795016"/>
            <a:ext cx="548640" cy="500379"/>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11</a:t>
            </a:r>
          </a:p>
        </p:txBody>
      </p:sp>
      <p:sp>
        <p:nvSpPr>
          <p:cNvPr id="22" name="TextBox 21"/>
          <p:cNvSpPr txBox="1"/>
          <p:nvPr/>
        </p:nvSpPr>
        <p:spPr>
          <a:xfrm>
            <a:off x="4114800" y="2795016"/>
            <a:ext cx="2926080" cy="500379"/>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どれだけ止まらず、止まったら何日で戻すか</a:t>
            </a:r>
          </a:p>
        </p:txBody>
      </p:sp>
      <p:sp>
        <p:nvSpPr>
          <p:cNvPr id="23" name="TextBox 22"/>
          <p:cNvSpPr txBox="1"/>
          <p:nvPr/>
        </p:nvSpPr>
        <p:spPr>
          <a:xfrm>
            <a:off x="7178040" y="2795016"/>
            <a:ext cx="4160520" cy="500379"/>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冗長構成の段数と、大阪側に平常時どれだけ設備を置くか。月額費用に直結します。</a:t>
            </a:r>
          </a:p>
        </p:txBody>
      </p:sp>
      <p:sp>
        <p:nvSpPr>
          <p:cNvPr id="24" name="Rectangle 23"/>
          <p:cNvSpPr/>
          <p:nvPr/>
        </p:nvSpPr>
        <p:spPr>
          <a:xfrm>
            <a:off x="812800" y="3960367"/>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432555"/>
            <a:ext cx="2377440" cy="500379"/>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セキュリティ</a:t>
            </a:r>
          </a:p>
        </p:txBody>
      </p:sp>
      <p:sp>
        <p:nvSpPr>
          <p:cNvPr id="26" name="TextBox 25"/>
          <p:cNvSpPr txBox="1"/>
          <p:nvPr/>
        </p:nvSpPr>
        <p:spPr>
          <a:xfrm>
            <a:off x="3401568" y="3432555"/>
            <a:ext cx="548640" cy="500379"/>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10</a:t>
            </a:r>
          </a:p>
        </p:txBody>
      </p:sp>
      <p:sp>
        <p:nvSpPr>
          <p:cNvPr id="27" name="TextBox 26"/>
          <p:cNvSpPr txBox="1"/>
          <p:nvPr/>
        </p:nvSpPr>
        <p:spPr>
          <a:xfrm>
            <a:off x="4114800" y="3432555"/>
            <a:ext cx="2926080" cy="500379"/>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通行証の有効期間、保管方式、攻撃対策</a:t>
            </a:r>
          </a:p>
        </p:txBody>
      </p:sp>
      <p:sp>
        <p:nvSpPr>
          <p:cNvPr id="28" name="TextBox 27"/>
          <p:cNvSpPr txBox="1"/>
          <p:nvPr/>
        </p:nvSpPr>
        <p:spPr>
          <a:xfrm>
            <a:off x="7178040" y="3432555"/>
            <a:ext cx="4160520" cy="500379"/>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アプリ側の実装と、後から変更しにくい部分の既定値。合意しておく必要があります。</a:t>
            </a:r>
          </a:p>
        </p:txBody>
      </p:sp>
      <p:sp>
        <p:nvSpPr>
          <p:cNvPr id="29" name="Rectangle 28"/>
          <p:cNvSpPr/>
          <p:nvPr/>
        </p:nvSpPr>
        <p:spPr>
          <a:xfrm>
            <a:off x="812800" y="3960367"/>
            <a:ext cx="10566349" cy="63754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2800" y="4597907"/>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070095"/>
            <a:ext cx="2377440" cy="500379"/>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コンプライアンスと法令</a:t>
            </a:r>
          </a:p>
        </p:txBody>
      </p:sp>
      <p:sp>
        <p:nvSpPr>
          <p:cNvPr id="32" name="TextBox 31"/>
          <p:cNvSpPr txBox="1"/>
          <p:nvPr/>
        </p:nvSpPr>
        <p:spPr>
          <a:xfrm>
            <a:off x="3401568" y="4070095"/>
            <a:ext cx="548640" cy="500379"/>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14</a:t>
            </a:r>
          </a:p>
        </p:txBody>
      </p:sp>
      <p:sp>
        <p:nvSpPr>
          <p:cNvPr id="33" name="TextBox 32"/>
          <p:cNvSpPr txBox="1"/>
          <p:nvPr/>
        </p:nvSpPr>
        <p:spPr>
          <a:xfrm>
            <a:off x="4114800" y="4070095"/>
            <a:ext cx="2926080" cy="500379"/>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データの置き場所、記録の保存年数、監査対応</a:t>
            </a:r>
          </a:p>
        </p:txBody>
      </p:sp>
      <p:sp>
        <p:nvSpPr>
          <p:cNvPr id="34" name="TextBox 33"/>
          <p:cNvSpPr txBox="1"/>
          <p:nvPr/>
        </p:nvSpPr>
        <p:spPr>
          <a:xfrm>
            <a:off x="7178040" y="4070095"/>
            <a:ext cx="4160520" cy="500379"/>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保管費用と契約文言。証明書が要るなら早期着手が必要になります。</a:t>
            </a:r>
          </a:p>
        </p:txBody>
      </p:sp>
      <p:sp>
        <p:nvSpPr>
          <p:cNvPr id="35" name="Rectangle 34"/>
          <p:cNvSpPr/>
          <p:nvPr/>
        </p:nvSpPr>
        <p:spPr>
          <a:xfrm>
            <a:off x="812800" y="5235447"/>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4707635"/>
            <a:ext cx="2377440" cy="500379"/>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運用と監視</a:t>
            </a:r>
          </a:p>
        </p:txBody>
      </p:sp>
      <p:sp>
        <p:nvSpPr>
          <p:cNvPr id="37" name="TextBox 36"/>
          <p:cNvSpPr txBox="1"/>
          <p:nvPr/>
        </p:nvSpPr>
        <p:spPr>
          <a:xfrm>
            <a:off x="3401568" y="4707635"/>
            <a:ext cx="548640" cy="500379"/>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13</a:t>
            </a:r>
          </a:p>
        </p:txBody>
      </p:sp>
      <p:sp>
        <p:nvSpPr>
          <p:cNvPr id="38" name="TextBox 37"/>
          <p:cNvSpPr txBox="1"/>
          <p:nvPr/>
        </p:nvSpPr>
        <p:spPr>
          <a:xfrm>
            <a:off x="4114800" y="4707635"/>
            <a:ext cx="2926080" cy="500379"/>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監視・通知・更新・変更管理・対応体制</a:t>
            </a:r>
          </a:p>
        </p:txBody>
      </p:sp>
      <p:sp>
        <p:nvSpPr>
          <p:cNvPr id="39" name="TextBox 38"/>
          <p:cNvSpPr txBox="1"/>
          <p:nvPr/>
        </p:nvSpPr>
        <p:spPr>
          <a:xfrm>
            <a:off x="7178040" y="4707635"/>
            <a:ext cx="4160520" cy="500379"/>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運用要員の人数と人件費。24 時間体制の要否は採用計画に直結します。</a:t>
            </a:r>
          </a:p>
        </p:txBody>
      </p:sp>
      <p:sp>
        <p:nvSpPr>
          <p:cNvPr id="40" name="Rectangle 39"/>
          <p:cNvSpPr/>
          <p:nvPr/>
        </p:nvSpPr>
        <p:spPr>
          <a:xfrm>
            <a:off x="812800" y="5235447"/>
            <a:ext cx="10566349" cy="63754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12800" y="5872987"/>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5345175"/>
            <a:ext cx="2377440" cy="500379"/>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移行</a:t>
            </a:r>
          </a:p>
        </p:txBody>
      </p:sp>
      <p:sp>
        <p:nvSpPr>
          <p:cNvPr id="43" name="TextBox 42"/>
          <p:cNvSpPr txBox="1"/>
          <p:nvPr/>
        </p:nvSpPr>
        <p:spPr>
          <a:xfrm>
            <a:off x="3401568" y="5345175"/>
            <a:ext cx="548640" cy="500379"/>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1</a:t>
            </a:r>
          </a:p>
        </p:txBody>
      </p:sp>
      <p:sp>
        <p:nvSpPr>
          <p:cNvPr id="44" name="TextBox 43"/>
          <p:cNvSpPr txBox="1"/>
          <p:nvPr/>
        </p:nvSpPr>
        <p:spPr>
          <a:xfrm>
            <a:off x="4114800" y="5345175"/>
            <a:ext cx="2926080" cy="500379"/>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旧システムのパスワードを引き継げるか</a:t>
            </a:r>
          </a:p>
        </p:txBody>
      </p:sp>
      <p:sp>
        <p:nvSpPr>
          <p:cNvPr id="45" name="TextBox 44"/>
          <p:cNvSpPr txBox="1"/>
          <p:nvPr/>
        </p:nvSpPr>
        <p:spPr>
          <a:xfrm>
            <a:off x="7178040" y="5345175"/>
            <a:ext cx="4160520" cy="500379"/>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利用者に再設定を求めるかどうか。移行時のご案内の内容が変わります。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本日ここだけは決めたい　14 件</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 最優先</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残る 45 件は後日でも設計を止めませんが、この 14 件は待つほど手戻りが大きくなります。</a:t>
            </a:r>
          </a:p>
        </p:txBody>
      </p:sp>
      <p:sp>
        <p:nvSpPr>
          <p:cNvPr id="6" name="Rectangle 5"/>
          <p:cNvSpPr/>
          <p:nvPr/>
        </p:nvSpPr>
        <p:spPr>
          <a:xfrm>
            <a:off x="812800" y="1014984"/>
            <a:ext cx="36576" cy="484124"/>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4841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いずれも「構成そのもの」か「費用」か「人の採用」に直結します。当方の推奨値で進めてよいというご承認だけでも、設計は前に進みます。</a:t>
            </a:r>
          </a:p>
        </p:txBody>
      </p:sp>
      <p:sp>
        <p:nvSpPr>
          <p:cNvPr id="8" name="Rectangle 7"/>
          <p:cNvSpPr/>
          <p:nvPr/>
        </p:nvSpPr>
        <p:spPr>
          <a:xfrm>
            <a:off x="812800" y="1718564"/>
            <a:ext cx="10566349" cy="3291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96288"/>
            <a:ext cx="260604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判断していただくこと</a:t>
            </a:r>
          </a:p>
        </p:txBody>
      </p:sp>
      <p:sp>
        <p:nvSpPr>
          <p:cNvPr id="10" name="TextBox 9"/>
          <p:cNvSpPr txBox="1"/>
          <p:nvPr/>
        </p:nvSpPr>
        <p:spPr>
          <a:xfrm>
            <a:off x="3639312" y="1796288"/>
            <a:ext cx="118872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設問</a:t>
            </a:r>
          </a:p>
        </p:txBody>
      </p:sp>
      <p:sp>
        <p:nvSpPr>
          <p:cNvPr id="11" name="TextBox 10"/>
          <p:cNvSpPr txBox="1"/>
          <p:nvPr/>
        </p:nvSpPr>
        <p:spPr>
          <a:xfrm>
            <a:off x="4956048" y="1796288"/>
            <a:ext cx="635508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当方の推奨と、決まらない場合の影響</a:t>
            </a:r>
          </a:p>
        </p:txBody>
      </p:sp>
      <p:sp>
        <p:nvSpPr>
          <p:cNvPr id="12" name="Rectangle 11"/>
          <p:cNvSpPr/>
          <p:nvPr/>
        </p:nvSpPr>
        <p:spPr>
          <a:xfrm>
            <a:off x="812800" y="2531430"/>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130044"/>
            <a:ext cx="2606040" cy="373954"/>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利用者数の上限と増え方</a:t>
            </a:r>
          </a:p>
        </p:txBody>
      </p:sp>
      <p:sp>
        <p:nvSpPr>
          <p:cNvPr id="14" name="TextBox 13"/>
          <p:cNvSpPr txBox="1"/>
          <p:nvPr/>
        </p:nvSpPr>
        <p:spPr>
          <a:xfrm>
            <a:off x="3639312" y="2130044"/>
            <a:ext cx="1188720" cy="373954"/>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Q01 / Q02</a:t>
            </a:r>
          </a:p>
        </p:txBody>
      </p:sp>
      <p:sp>
        <p:nvSpPr>
          <p:cNvPr id="15" name="TextBox 14"/>
          <p:cNvSpPr txBox="1"/>
          <p:nvPr/>
        </p:nvSpPr>
        <p:spPr>
          <a:xfrm>
            <a:off x="4956048" y="2130044"/>
            <a:ext cx="6355080" cy="373954"/>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推奨: 月に一度でも使う利用者を最大 1,000 万人として設計（前提 P-02 で凍結中）。決まらないと設備規模と初期費用の全試算が確定しません。</a:t>
            </a:r>
          </a:p>
        </p:txBody>
      </p:sp>
      <p:sp>
        <p:nvSpPr>
          <p:cNvPr id="16" name="Rectangle 15"/>
          <p:cNvSpPr/>
          <p:nvPr/>
        </p:nvSpPr>
        <p:spPr>
          <a:xfrm>
            <a:off x="812800" y="2531430"/>
            <a:ext cx="10566349" cy="483682"/>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2800" y="3015112"/>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2613726"/>
            <a:ext cx="2606040" cy="373954"/>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接続する顧客企業の総数</a:t>
            </a:r>
          </a:p>
        </p:txBody>
      </p:sp>
      <p:sp>
        <p:nvSpPr>
          <p:cNvPr id="19" name="TextBox 18"/>
          <p:cNvSpPr txBox="1"/>
          <p:nvPr/>
        </p:nvSpPr>
        <p:spPr>
          <a:xfrm>
            <a:off x="3639312" y="2613726"/>
            <a:ext cx="1188720" cy="373954"/>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Q14（別途）</a:t>
            </a:r>
          </a:p>
        </p:txBody>
      </p:sp>
      <p:sp>
        <p:nvSpPr>
          <p:cNvPr id="20" name="TextBox 19"/>
          <p:cNvSpPr txBox="1"/>
          <p:nvPr/>
        </p:nvSpPr>
        <p:spPr>
          <a:xfrm>
            <a:off x="4956048" y="2613726"/>
            <a:ext cx="6355080" cy="373954"/>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1,000 社を超える場合は追加検証が必要です。監視の閾値も件数に応じた相対値になるため、想定件数がないと設定できません。</a:t>
            </a:r>
          </a:p>
        </p:txBody>
      </p:sp>
      <p:sp>
        <p:nvSpPr>
          <p:cNvPr id="21" name="Rectangle 20"/>
          <p:cNvSpPr/>
          <p:nvPr/>
        </p:nvSpPr>
        <p:spPr>
          <a:xfrm>
            <a:off x="812800" y="3526204"/>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097408"/>
            <a:ext cx="2606040" cy="401364"/>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入口での受付上限と、専用環境への切り離し基準</a:t>
            </a:r>
          </a:p>
        </p:txBody>
      </p:sp>
      <p:sp>
        <p:nvSpPr>
          <p:cNvPr id="23" name="TextBox 22"/>
          <p:cNvSpPr txBox="1"/>
          <p:nvPr/>
        </p:nvSpPr>
        <p:spPr>
          <a:xfrm>
            <a:off x="3639312" y="3097408"/>
            <a:ext cx="1188720" cy="401364"/>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Q85</a:t>
            </a:r>
          </a:p>
        </p:txBody>
      </p:sp>
      <p:sp>
        <p:nvSpPr>
          <p:cNvPr id="24" name="TextBox 23"/>
          <p:cNvSpPr txBox="1"/>
          <p:nvPr/>
        </p:nvSpPr>
        <p:spPr>
          <a:xfrm>
            <a:off x="4956048" y="3097408"/>
            <a:ext cx="6355080" cy="401364"/>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推奨: 契約人数から当方が自動設定＋規模超過と規制業種の 2 条件で切り離し。1 社の急増が他社へ波及するのを防ぐ仕組みです。</a:t>
            </a:r>
          </a:p>
        </p:txBody>
      </p:sp>
      <p:sp>
        <p:nvSpPr>
          <p:cNvPr id="25" name="Rectangle 24"/>
          <p:cNvSpPr/>
          <p:nvPr/>
        </p:nvSpPr>
        <p:spPr>
          <a:xfrm>
            <a:off x="812800" y="3526204"/>
            <a:ext cx="10566349" cy="483682"/>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2800" y="4009886"/>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3608500"/>
            <a:ext cx="2606040" cy="373954"/>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お約束する稼働率</a:t>
            </a:r>
          </a:p>
        </p:txBody>
      </p:sp>
      <p:sp>
        <p:nvSpPr>
          <p:cNvPr id="28" name="TextBox 27"/>
          <p:cNvSpPr txBox="1"/>
          <p:nvPr/>
        </p:nvSpPr>
        <p:spPr>
          <a:xfrm>
            <a:off x="3639312" y="3608500"/>
            <a:ext cx="1188720" cy="373954"/>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Q03</a:t>
            </a:r>
          </a:p>
        </p:txBody>
      </p:sp>
      <p:sp>
        <p:nvSpPr>
          <p:cNvPr id="29" name="TextBox 28"/>
          <p:cNvSpPr txBox="1"/>
          <p:nvPr/>
        </p:nvSpPr>
        <p:spPr>
          <a:xfrm>
            <a:off x="4956048" y="3608500"/>
            <a:ext cx="6355080" cy="373954"/>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推奨: 99.9%（1 か月あたり止まってよい時間 約 43.8 分）。律速はインターネット出入口を管理する他組織側で、その可用性が上限になります。</a:t>
            </a:r>
          </a:p>
        </p:txBody>
      </p:sp>
      <p:sp>
        <p:nvSpPr>
          <p:cNvPr id="30" name="Rectangle 29"/>
          <p:cNvSpPr/>
          <p:nvPr/>
        </p:nvSpPr>
        <p:spPr>
          <a:xfrm>
            <a:off x="812800" y="4520979"/>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092182"/>
            <a:ext cx="2606040" cy="401364"/>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復旧までの時間と、失ってよいデータ量</a:t>
            </a:r>
          </a:p>
        </p:txBody>
      </p:sp>
      <p:sp>
        <p:nvSpPr>
          <p:cNvPr id="32" name="TextBox 31"/>
          <p:cNvSpPr txBox="1"/>
          <p:nvPr/>
        </p:nvSpPr>
        <p:spPr>
          <a:xfrm>
            <a:off x="3639312" y="4092182"/>
            <a:ext cx="1188720" cy="401364"/>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Q04</a:t>
            </a:r>
          </a:p>
        </p:txBody>
      </p:sp>
      <p:sp>
        <p:nvSpPr>
          <p:cNvPr id="33" name="TextBox 32"/>
          <p:cNvSpPr txBox="1"/>
          <p:nvPr/>
        </p:nvSpPr>
        <p:spPr>
          <a:xfrm>
            <a:off x="4956048" y="4092182"/>
            <a:ext cx="6355080" cy="401364"/>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推奨: 案 ②（複製のみ）。ご希望値（復旧 1 日／データ 5 分）は案 ③ が必要で年 440 万円の追加になります。次ページで 3 案を比較します。</a:t>
            </a:r>
          </a:p>
        </p:txBody>
      </p:sp>
      <p:sp>
        <p:nvSpPr>
          <p:cNvPr id="34" name="Rectangle 33"/>
          <p:cNvSpPr/>
          <p:nvPr/>
        </p:nvSpPr>
        <p:spPr>
          <a:xfrm>
            <a:off x="812800" y="4520979"/>
            <a:ext cx="10566349" cy="511092"/>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2800" y="5032071"/>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4603275"/>
            <a:ext cx="2606040" cy="401364"/>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切替時に全員が再ログインすることの可否</a:t>
            </a:r>
          </a:p>
        </p:txBody>
      </p:sp>
      <p:sp>
        <p:nvSpPr>
          <p:cNvPr id="37" name="TextBox 36"/>
          <p:cNvSpPr txBox="1"/>
          <p:nvPr/>
        </p:nvSpPr>
        <p:spPr>
          <a:xfrm>
            <a:off x="3639312" y="4603275"/>
            <a:ext cx="1188720" cy="401364"/>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Q05</a:t>
            </a:r>
          </a:p>
        </p:txBody>
      </p:sp>
      <p:sp>
        <p:nvSpPr>
          <p:cNvPr id="38" name="TextBox 37"/>
          <p:cNvSpPr txBox="1"/>
          <p:nvPr/>
        </p:nvSpPr>
        <p:spPr>
          <a:xfrm>
            <a:off x="4956048" y="4603275"/>
            <a:ext cx="6355080" cy="401364"/>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推奨: 許容いただく。ログイン状態を維持するには常時複製が必要で、費用が大きく増えます。</a:t>
            </a:r>
          </a:p>
        </p:txBody>
      </p:sp>
      <p:sp>
        <p:nvSpPr>
          <p:cNvPr id="39" name="Rectangle 38"/>
          <p:cNvSpPr/>
          <p:nvPr/>
        </p:nvSpPr>
        <p:spPr>
          <a:xfrm>
            <a:off x="812800" y="5515753"/>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5114367"/>
            <a:ext cx="2606040" cy="373954"/>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日本国外に住む利用者が含まれるか</a:t>
            </a:r>
          </a:p>
        </p:txBody>
      </p:sp>
      <p:sp>
        <p:nvSpPr>
          <p:cNvPr id="41" name="TextBox 40"/>
          <p:cNvSpPr txBox="1"/>
          <p:nvPr/>
        </p:nvSpPr>
        <p:spPr>
          <a:xfrm>
            <a:off x="3639312" y="5114367"/>
            <a:ext cx="1188720" cy="373954"/>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Q46</a:t>
            </a:r>
          </a:p>
        </p:txBody>
      </p:sp>
      <p:sp>
        <p:nvSpPr>
          <p:cNvPr id="42" name="TextBox 41"/>
          <p:cNvSpPr txBox="1"/>
          <p:nvPr/>
        </p:nvSpPr>
        <p:spPr>
          <a:xfrm>
            <a:off x="4956048" y="5114367"/>
            <a:ext cx="6355080" cy="373954"/>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推奨: 含まれない前提（東京・大阪の 2 か所のみで設計中）。含まれる場合、データの置き場所と同意の取り方が変わります。</a:t>
            </a:r>
          </a:p>
        </p:txBody>
      </p:sp>
      <p:sp>
        <p:nvSpPr>
          <p:cNvPr id="43" name="Rectangle 42"/>
          <p:cNvSpPr/>
          <p:nvPr/>
        </p:nvSpPr>
        <p:spPr>
          <a:xfrm>
            <a:off x="812800" y="5515753"/>
            <a:ext cx="10566349" cy="483682"/>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12800" y="5999435"/>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4400" y="5598049"/>
            <a:ext cx="2606040" cy="373954"/>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記録を 7 年残す根拠</a:t>
            </a:r>
          </a:p>
        </p:txBody>
      </p:sp>
      <p:sp>
        <p:nvSpPr>
          <p:cNvPr id="46" name="TextBox 45"/>
          <p:cNvSpPr txBox="1"/>
          <p:nvPr/>
        </p:nvSpPr>
        <p:spPr>
          <a:xfrm>
            <a:off x="3639312" y="5598049"/>
            <a:ext cx="1188720" cy="373954"/>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Q47</a:t>
            </a:r>
          </a:p>
        </p:txBody>
      </p:sp>
      <p:sp>
        <p:nvSpPr>
          <p:cNvPr id="47" name="TextBox 46"/>
          <p:cNvSpPr txBox="1"/>
          <p:nvPr/>
        </p:nvSpPr>
        <p:spPr>
          <a:xfrm>
            <a:off x="4956048" y="5598049"/>
            <a:ext cx="6355080" cy="373954"/>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現状は空白です。従来の根拠だったカード決済業界の規格を対象外にしたため、7 年という年数を支える根拠がなくなっています。</a:t>
            </a:r>
          </a:p>
        </p:txBody>
      </p:sp>
      <p:sp>
        <p:nvSpPr>
          <p:cNvPr id="48" name="Rectangle 47"/>
          <p:cNvSpPr/>
          <p:nvPr/>
        </p:nvSpPr>
        <p:spPr>
          <a:xfrm>
            <a:off x="812800" y="6510527"/>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6081731"/>
            <a:ext cx="2606040" cy="401364"/>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24 時間 365 日体制に移る時期</a:t>
            </a:r>
          </a:p>
        </p:txBody>
      </p:sp>
      <p:sp>
        <p:nvSpPr>
          <p:cNvPr id="50" name="TextBox 49"/>
          <p:cNvSpPr txBox="1"/>
          <p:nvPr/>
        </p:nvSpPr>
        <p:spPr>
          <a:xfrm>
            <a:off x="3639312" y="6081731"/>
            <a:ext cx="1188720" cy="401364"/>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Q48</a:t>
            </a:r>
          </a:p>
        </p:txBody>
      </p:sp>
      <p:sp>
        <p:nvSpPr>
          <p:cNvPr id="51" name="TextBox 50"/>
          <p:cNvSpPr txBox="1"/>
          <p:nvPr/>
        </p:nvSpPr>
        <p:spPr>
          <a:xfrm>
            <a:off x="4956048" y="6081731"/>
            <a:ext cx="6355080" cy="401364"/>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推奨: リリース時は平日 9〜18 時、6 か月後以降に 24 時間 365 日へ移行。運用リード 3 名の採用リードタイムがあるため、早めのご判断が必要です。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性能と拡張性 ①　規模の前提</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5 件</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何人・何社まで受け入れる基盤として作るか。</a:t>
            </a:r>
          </a:p>
        </p:txBody>
      </p:sp>
      <p:sp>
        <p:nvSpPr>
          <p:cNvPr id="6" name="Rectangle 5"/>
          <p:cNvSpPr/>
          <p:nvPr/>
        </p:nvSpPr>
        <p:spPr>
          <a:xfrm>
            <a:off x="812800" y="1014984"/>
            <a:ext cx="36576" cy="484124"/>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4841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この 5 件が設備の規模を決めます。とくに利用者数の上限は、後から広げるのが難しい部分を含むため、最初に凍結しておく必要があります。</a:t>
            </a:r>
          </a:p>
        </p:txBody>
      </p:sp>
      <p:sp>
        <p:nvSpPr>
          <p:cNvPr id="8" name="Rectangle 7"/>
          <p:cNvSpPr/>
          <p:nvPr/>
        </p:nvSpPr>
        <p:spPr>
          <a:xfrm>
            <a:off x="812800" y="1718564"/>
            <a:ext cx="10566349" cy="3291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96288"/>
            <a:ext cx="2084831"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ご確認いただきたいこと</a:t>
            </a:r>
          </a:p>
        </p:txBody>
      </p:sp>
      <p:sp>
        <p:nvSpPr>
          <p:cNvPr id="10" name="TextBox 9"/>
          <p:cNvSpPr txBox="1"/>
          <p:nvPr/>
        </p:nvSpPr>
        <p:spPr>
          <a:xfrm>
            <a:off x="3108960" y="1796288"/>
            <a:ext cx="566928"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設問</a:t>
            </a:r>
          </a:p>
        </p:txBody>
      </p:sp>
      <p:sp>
        <p:nvSpPr>
          <p:cNvPr id="11" name="TextBox 10"/>
          <p:cNvSpPr txBox="1"/>
          <p:nvPr/>
        </p:nvSpPr>
        <p:spPr>
          <a:xfrm>
            <a:off x="3767328" y="1796288"/>
            <a:ext cx="3218688"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選択肢（【推】＝当方の推奨・現行の暫定値）</a:t>
            </a:r>
          </a:p>
        </p:txBody>
      </p:sp>
      <p:sp>
        <p:nvSpPr>
          <p:cNvPr id="12" name="TextBox 11"/>
          <p:cNvSpPr txBox="1"/>
          <p:nvPr/>
        </p:nvSpPr>
        <p:spPr>
          <a:xfrm>
            <a:off x="7114032" y="1796288"/>
            <a:ext cx="420624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未確定だと何が決まらないか</a:t>
            </a:r>
          </a:p>
        </p:txBody>
      </p:sp>
      <p:sp>
        <p:nvSpPr>
          <p:cNvPr id="13" name="Rectangle 12"/>
          <p:cNvSpPr/>
          <p:nvPr/>
        </p:nvSpPr>
        <p:spPr>
          <a:xfrm>
            <a:off x="812800" y="2842133"/>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157476"/>
            <a:ext cx="2084831" cy="657225"/>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受け入れる利用者数の上限</a:t>
            </a:r>
          </a:p>
        </p:txBody>
      </p:sp>
      <p:sp>
        <p:nvSpPr>
          <p:cNvPr id="15" name="TextBox 14"/>
          <p:cNvSpPr txBox="1"/>
          <p:nvPr/>
        </p:nvSpPr>
        <p:spPr>
          <a:xfrm>
            <a:off x="3108960" y="2157476"/>
            <a:ext cx="566928" cy="657225"/>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Q01 ★</a:t>
            </a:r>
          </a:p>
        </p:txBody>
      </p:sp>
      <p:sp>
        <p:nvSpPr>
          <p:cNvPr id="16" name="TextBox 15"/>
          <p:cNvSpPr txBox="1"/>
          <p:nvPr/>
        </p:nvSpPr>
        <p:spPr>
          <a:xfrm>
            <a:off x="3767328" y="2157476"/>
            <a:ext cx="3218688" cy="657225"/>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1,000 万人を上限として設計【推】</a:t>
            </a:r>
          </a:p>
          <a:p>
            <a:pPr algn="l">
              <a:lnSpc>
                <a:spcPct val="125000"/>
              </a:lnSpc>
            </a:pPr>
            <a:r>
              <a:rPr sz="1050" b="0">
                <a:solidFill>
                  <a:srgbClr val="5A6472"/>
                </a:solidFill>
                <a:latin typeface="Yu Gothic UI"/>
              </a:rPr>
              <a:t>B) より小さい上限でよい（人数をご記入）</a:t>
            </a:r>
          </a:p>
          <a:p>
            <a:pPr algn="l">
              <a:lnSpc>
                <a:spcPct val="125000"/>
              </a:lnSpc>
            </a:pPr>
            <a:r>
              <a:rPr sz="1050" b="0">
                <a:solidFill>
                  <a:srgbClr val="5A6472"/>
                </a:solidFill>
                <a:latin typeface="Yu Gothic UI"/>
              </a:rPr>
              <a:t>C) 1,000 万人を超える見込みがある</a:t>
            </a:r>
          </a:p>
        </p:txBody>
      </p:sp>
      <p:sp>
        <p:nvSpPr>
          <p:cNvPr id="17" name="TextBox 16"/>
          <p:cNvSpPr txBox="1"/>
          <p:nvPr/>
        </p:nvSpPr>
        <p:spPr>
          <a:xfrm>
            <a:off x="7114032" y="2157476"/>
            <a:ext cx="4206240" cy="657225"/>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設備規模と初期費用の起点です。ここが動くと以降の試算をすべてやり直すことになります。現在は前提 P-02 として暫定凍結し、設計を進めています。</a:t>
            </a:r>
          </a:p>
        </p:txBody>
      </p:sp>
      <p:sp>
        <p:nvSpPr>
          <p:cNvPr id="18" name="Rectangle 17"/>
          <p:cNvSpPr/>
          <p:nvPr/>
        </p:nvSpPr>
        <p:spPr>
          <a:xfrm>
            <a:off x="812800" y="2842133"/>
            <a:ext cx="10566349" cy="96774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800" y="3809873"/>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951861"/>
            <a:ext cx="2084831" cy="830580"/>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利用者数の増え方</a:t>
            </a:r>
          </a:p>
        </p:txBody>
      </p:sp>
      <p:sp>
        <p:nvSpPr>
          <p:cNvPr id="21" name="TextBox 20"/>
          <p:cNvSpPr txBox="1"/>
          <p:nvPr/>
        </p:nvSpPr>
        <p:spPr>
          <a:xfrm>
            <a:off x="3108960" y="2951861"/>
            <a:ext cx="566928" cy="830580"/>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Q02 ★</a:t>
            </a:r>
          </a:p>
        </p:txBody>
      </p:sp>
      <p:sp>
        <p:nvSpPr>
          <p:cNvPr id="22" name="TextBox 21"/>
          <p:cNvSpPr txBox="1"/>
          <p:nvPr/>
        </p:nvSpPr>
        <p:spPr>
          <a:xfrm>
            <a:off x="3767328" y="2951861"/>
            <a:ext cx="3218688" cy="830580"/>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開始時／1 年後／3 年後の実数をご記入【推】</a:t>
            </a:r>
          </a:p>
          <a:p>
            <a:pPr algn="l">
              <a:lnSpc>
                <a:spcPct val="125000"/>
              </a:lnSpc>
            </a:pPr>
            <a:r>
              <a:rPr sz="1050" b="0">
                <a:solidFill>
                  <a:srgbClr val="5A6472"/>
                </a:solidFill>
                <a:latin typeface="Yu Gothic UI"/>
              </a:rPr>
              <a:t>B) 実数は出せない。上限のみで設計を進める</a:t>
            </a:r>
          </a:p>
          <a:p>
            <a:pPr algn="l">
              <a:lnSpc>
                <a:spcPct val="125000"/>
              </a:lnSpc>
            </a:pPr>
            <a:r>
              <a:rPr sz="1050" b="0">
                <a:solidFill>
                  <a:srgbClr val="5A6472"/>
                </a:solidFill>
                <a:latin typeface="Yu Gothic UI"/>
              </a:rPr>
              <a:t>C) 増設の判断時期だけ後日決める</a:t>
            </a:r>
          </a:p>
        </p:txBody>
      </p:sp>
      <p:sp>
        <p:nvSpPr>
          <p:cNvPr id="23" name="TextBox 22"/>
          <p:cNvSpPr txBox="1"/>
          <p:nvPr/>
        </p:nvSpPr>
        <p:spPr>
          <a:xfrm>
            <a:off x="7114032" y="2951861"/>
            <a:ext cx="4206240" cy="830580"/>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増設をいつ行うかが決まります。実数がわかれば初期投資を圧縮でき、段階的な増設計画が立てられます。</a:t>
            </a:r>
          </a:p>
        </p:txBody>
      </p:sp>
      <p:sp>
        <p:nvSpPr>
          <p:cNvPr id="24" name="Rectangle 23"/>
          <p:cNvSpPr/>
          <p:nvPr/>
        </p:nvSpPr>
        <p:spPr>
          <a:xfrm>
            <a:off x="812800" y="4604258"/>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919601"/>
            <a:ext cx="2084831" cy="657225"/>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同時にログイン状態になる人数</a:t>
            </a:r>
          </a:p>
        </p:txBody>
      </p:sp>
      <p:sp>
        <p:nvSpPr>
          <p:cNvPr id="26" name="TextBox 25"/>
          <p:cNvSpPr txBox="1"/>
          <p:nvPr/>
        </p:nvSpPr>
        <p:spPr>
          <a:xfrm>
            <a:off x="3108960" y="3919601"/>
            <a:ext cx="566928" cy="657225"/>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説明資料</a:t>
            </a:r>
          </a:p>
        </p:txBody>
      </p:sp>
      <p:sp>
        <p:nvSpPr>
          <p:cNvPr id="27" name="TextBox 26"/>
          <p:cNvSpPr txBox="1"/>
          <p:nvPr/>
        </p:nvSpPr>
        <p:spPr>
          <a:xfrm>
            <a:off x="3767328" y="3919601"/>
            <a:ext cx="3218688" cy="657225"/>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① 利用者数の 5%</a:t>
            </a:r>
          </a:p>
          <a:p>
            <a:pPr algn="l">
              <a:lnSpc>
                <a:spcPct val="125000"/>
              </a:lnSpc>
            </a:pPr>
            <a:r>
              <a:rPr sz="1050" b="0">
                <a:solidFill>
                  <a:srgbClr val="5A6472"/>
                </a:solidFill>
                <a:latin typeface="Yu Gothic UI"/>
              </a:rPr>
              <a:t>② 10%</a:t>
            </a:r>
          </a:p>
          <a:p>
            <a:pPr algn="l">
              <a:lnSpc>
                <a:spcPct val="125000"/>
              </a:lnSpc>
            </a:pPr>
            <a:r>
              <a:rPr sz="1050" b="0">
                <a:solidFill>
                  <a:srgbClr val="5A6472"/>
                </a:solidFill>
                <a:latin typeface="Yu Gothic UI"/>
              </a:rPr>
              <a:t>③ 20%</a:t>
            </a:r>
          </a:p>
        </p:txBody>
      </p:sp>
      <p:sp>
        <p:nvSpPr>
          <p:cNvPr id="28" name="TextBox 27"/>
          <p:cNvSpPr txBox="1"/>
          <p:nvPr/>
        </p:nvSpPr>
        <p:spPr>
          <a:xfrm>
            <a:off x="7114032" y="3919601"/>
            <a:ext cx="4206240" cy="657225"/>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キャッシュの容量とデータベースの規模が決まります。利用者数の上限だけでは決まらない、独立した設計値です。</a:t>
            </a:r>
          </a:p>
        </p:txBody>
      </p:sp>
      <p:sp>
        <p:nvSpPr>
          <p:cNvPr id="29" name="Rectangle 28"/>
          <p:cNvSpPr/>
          <p:nvPr/>
        </p:nvSpPr>
        <p:spPr>
          <a:xfrm>
            <a:off x="812800" y="4604258"/>
            <a:ext cx="10566349" cy="67056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2800" y="5274818"/>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13986"/>
            <a:ext cx="2084831" cy="533400"/>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接続する顧客企業の総数（ID 基盤の数）</a:t>
            </a:r>
          </a:p>
        </p:txBody>
      </p:sp>
      <p:sp>
        <p:nvSpPr>
          <p:cNvPr id="32" name="TextBox 31"/>
          <p:cNvSpPr txBox="1"/>
          <p:nvPr/>
        </p:nvSpPr>
        <p:spPr>
          <a:xfrm>
            <a:off x="3108960" y="4713986"/>
            <a:ext cx="566928" cy="533400"/>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Q14 ★</a:t>
            </a:r>
          </a:p>
        </p:txBody>
      </p:sp>
      <p:sp>
        <p:nvSpPr>
          <p:cNvPr id="33" name="TextBox 32"/>
          <p:cNvSpPr txBox="1"/>
          <p:nvPr/>
        </p:nvSpPr>
        <p:spPr>
          <a:xfrm>
            <a:off x="3767328" y="4713986"/>
            <a:ext cx="3218688" cy="533400"/>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外部 ID 連携の設問 Q14 で確認します</a:t>
            </a:r>
          </a:p>
        </p:txBody>
      </p:sp>
      <p:sp>
        <p:nvSpPr>
          <p:cNvPr id="34" name="TextBox 33"/>
          <p:cNvSpPr txBox="1"/>
          <p:nvPr/>
        </p:nvSpPr>
        <p:spPr>
          <a:xfrm>
            <a:off x="7114032" y="4713986"/>
            <a:ext cx="4206240" cy="533400"/>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1,000 社を超える場合は追加の検証が必要です。監視の閾値も件数に応じた相対値にするため、想定件数がないと設定できません。</a:t>
            </a:r>
          </a:p>
        </p:txBody>
      </p:sp>
      <p:sp>
        <p:nvSpPr>
          <p:cNvPr id="35" name="Rectangle 34"/>
          <p:cNvSpPr/>
          <p:nvPr/>
        </p:nvSpPr>
        <p:spPr>
          <a:xfrm>
            <a:off x="812800" y="6069203"/>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5384546"/>
            <a:ext cx="2084831" cy="657225"/>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新しい顧客の開通日数と、追加ペース</a:t>
            </a:r>
          </a:p>
        </p:txBody>
      </p:sp>
      <p:sp>
        <p:nvSpPr>
          <p:cNvPr id="37" name="TextBox 36"/>
          <p:cNvSpPr txBox="1"/>
          <p:nvPr/>
        </p:nvSpPr>
        <p:spPr>
          <a:xfrm>
            <a:off x="3108960" y="5384546"/>
            <a:ext cx="566928" cy="657225"/>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Q07</a:t>
            </a:r>
          </a:p>
        </p:txBody>
      </p:sp>
      <p:sp>
        <p:nvSpPr>
          <p:cNvPr id="38" name="TextBox 37"/>
          <p:cNvSpPr txBox="1"/>
          <p:nvPr/>
        </p:nvSpPr>
        <p:spPr>
          <a:xfrm>
            <a:off x="3767328" y="5384546"/>
            <a:ext cx="3218688" cy="657225"/>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A) 1 営業日以内【推】／B) 3〜5 営業日／C) 即日</a:t>
            </a:r>
          </a:p>
          <a:p>
            <a:pPr algn="l">
              <a:lnSpc>
                <a:spcPct val="125000"/>
              </a:lnSpc>
            </a:pPr>
            <a:r>
              <a:rPr sz="1050" b="0">
                <a:solidFill>
                  <a:srgbClr val="5A6472"/>
                </a:solidFill>
                <a:latin typeface="Yu Gothic UI"/>
              </a:rPr>
              <a:t>(b) 月平均の追加社数をご記入</a:t>
            </a:r>
          </a:p>
        </p:txBody>
      </p:sp>
      <p:sp>
        <p:nvSpPr>
          <p:cNvPr id="39" name="TextBox 38"/>
          <p:cNvSpPr txBox="1"/>
          <p:nvPr/>
        </p:nvSpPr>
        <p:spPr>
          <a:xfrm>
            <a:off x="7114032" y="5384546"/>
            <a:ext cx="4206240" cy="657225"/>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外部通信の許可申請を都度行うか事前に一括で取るかが決まります。都度申請の方式では 1 営業日は成立しません。</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性能と拡張性 ②　応答時間と流量</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5 件</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どれだけ速く返し、混み合ったときにどう捌くか。</a:t>
            </a:r>
          </a:p>
        </p:txBody>
      </p:sp>
      <p:sp>
        <p:nvSpPr>
          <p:cNvPr id="6" name="Rectangle 5"/>
          <p:cNvSpPr/>
          <p:nvPr/>
        </p:nvSpPr>
        <p:spPr>
          <a:xfrm>
            <a:off x="812800" y="1014984"/>
            <a:ext cx="36576" cy="274320"/>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274320"/>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目標を厳しくするほど設備規模と費用が増えます。体感上どこまで必要かという観点でご判断ください。</a:t>
            </a:r>
          </a:p>
        </p:txBody>
      </p:sp>
      <p:sp>
        <p:nvSpPr>
          <p:cNvPr id="8" name="Rectangle 7"/>
          <p:cNvSpPr/>
          <p:nvPr/>
        </p:nvSpPr>
        <p:spPr>
          <a:xfrm>
            <a:off x="812800" y="1508760"/>
            <a:ext cx="10566349" cy="3291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86484"/>
            <a:ext cx="2084831"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ご確認いただきたいこと</a:t>
            </a:r>
          </a:p>
        </p:txBody>
      </p:sp>
      <p:sp>
        <p:nvSpPr>
          <p:cNvPr id="10" name="TextBox 9"/>
          <p:cNvSpPr txBox="1"/>
          <p:nvPr/>
        </p:nvSpPr>
        <p:spPr>
          <a:xfrm>
            <a:off x="3108960" y="1586484"/>
            <a:ext cx="566928"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設問</a:t>
            </a:r>
          </a:p>
        </p:txBody>
      </p:sp>
      <p:sp>
        <p:nvSpPr>
          <p:cNvPr id="11" name="TextBox 10"/>
          <p:cNvSpPr txBox="1"/>
          <p:nvPr/>
        </p:nvSpPr>
        <p:spPr>
          <a:xfrm>
            <a:off x="3767328" y="1586484"/>
            <a:ext cx="3218688"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選択肢（【推】＝当方の推奨・現行の暫定値）</a:t>
            </a:r>
          </a:p>
        </p:txBody>
      </p:sp>
      <p:sp>
        <p:nvSpPr>
          <p:cNvPr id="12" name="TextBox 11"/>
          <p:cNvSpPr txBox="1"/>
          <p:nvPr/>
        </p:nvSpPr>
        <p:spPr>
          <a:xfrm>
            <a:off x="7114032" y="1586484"/>
            <a:ext cx="420624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未確定だと何が決まらないか</a:t>
            </a:r>
          </a:p>
        </p:txBody>
      </p:sp>
      <p:sp>
        <p:nvSpPr>
          <p:cNvPr id="13" name="Rectangle 12"/>
          <p:cNvSpPr/>
          <p:nvPr/>
        </p:nvSpPr>
        <p:spPr>
          <a:xfrm>
            <a:off x="812800" y="2979039"/>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1947672"/>
            <a:ext cx="2084831" cy="1003935"/>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ログインの応答時間</a:t>
            </a:r>
          </a:p>
        </p:txBody>
      </p:sp>
      <p:sp>
        <p:nvSpPr>
          <p:cNvPr id="15" name="TextBox 14"/>
          <p:cNvSpPr txBox="1"/>
          <p:nvPr/>
        </p:nvSpPr>
        <p:spPr>
          <a:xfrm>
            <a:off x="3108960" y="1947672"/>
            <a:ext cx="566928" cy="1003935"/>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Q79</a:t>
            </a:r>
          </a:p>
        </p:txBody>
      </p:sp>
      <p:sp>
        <p:nvSpPr>
          <p:cNvPr id="16" name="TextBox 15"/>
          <p:cNvSpPr txBox="1"/>
          <p:nvPr/>
        </p:nvSpPr>
        <p:spPr>
          <a:xfrm>
            <a:off x="3767328" y="1947672"/>
            <a:ext cx="3218688" cy="1003935"/>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95% が 1 秒以内・99% が 2 秒以内で支障なし【推】</a:t>
            </a:r>
          </a:p>
          <a:p>
            <a:pPr algn="l">
              <a:lnSpc>
                <a:spcPct val="125000"/>
              </a:lnSpc>
            </a:pPr>
            <a:r>
              <a:rPr sz="1050" b="0">
                <a:solidFill>
                  <a:srgbClr val="5A6472"/>
                </a:solidFill>
                <a:latin typeface="Yu Gothic UI"/>
              </a:rPr>
              <a:t>B) もっと速くしてほしい（希望値と根拠業務をご記入）</a:t>
            </a:r>
          </a:p>
          <a:p>
            <a:pPr algn="l">
              <a:lnSpc>
                <a:spcPct val="125000"/>
              </a:lnSpc>
            </a:pPr>
            <a:r>
              <a:rPr sz="1050" b="0">
                <a:solidFill>
                  <a:srgbClr val="5A6472"/>
                </a:solidFill>
                <a:latin typeface="Yu Gothic UI"/>
              </a:rPr>
              <a:t>C) 未確定</a:t>
            </a:r>
          </a:p>
        </p:txBody>
      </p:sp>
      <p:sp>
        <p:nvSpPr>
          <p:cNvPr id="17" name="TextBox 16"/>
          <p:cNvSpPr txBox="1"/>
          <p:nvPr/>
        </p:nvSpPr>
        <p:spPr>
          <a:xfrm>
            <a:off x="7114032" y="1947672"/>
            <a:ext cx="4206240" cy="1003935"/>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目標を厳しくするほど設備の規模と費用が増えます。逆にこの値でご了解いただければ、この領域は即座に確定します。</a:t>
            </a:r>
          </a:p>
        </p:txBody>
      </p:sp>
      <p:sp>
        <p:nvSpPr>
          <p:cNvPr id="18" name="Rectangle 17"/>
          <p:cNvSpPr/>
          <p:nvPr/>
        </p:nvSpPr>
        <p:spPr>
          <a:xfrm>
            <a:off x="812800" y="2979039"/>
            <a:ext cx="10566349" cy="96774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800" y="3946779"/>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088767"/>
            <a:ext cx="2084831" cy="830580"/>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同時ログインが集中する時間帯</a:t>
            </a:r>
          </a:p>
        </p:txBody>
      </p:sp>
      <p:sp>
        <p:nvSpPr>
          <p:cNvPr id="21" name="TextBox 20"/>
          <p:cNvSpPr txBox="1"/>
          <p:nvPr/>
        </p:nvSpPr>
        <p:spPr>
          <a:xfrm>
            <a:off x="3108960" y="3088767"/>
            <a:ext cx="566928" cy="830580"/>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Q80</a:t>
            </a:r>
          </a:p>
        </p:txBody>
      </p:sp>
      <p:sp>
        <p:nvSpPr>
          <p:cNvPr id="22" name="TextBox 21"/>
          <p:cNvSpPr txBox="1"/>
          <p:nvPr/>
        </p:nvSpPr>
        <p:spPr>
          <a:xfrm>
            <a:off x="3767328" y="3088767"/>
            <a:ext cx="3218688" cy="830580"/>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始業時（8:30〜9:30）に集中。平常時の N 倍（N をご記入）【推】</a:t>
            </a:r>
          </a:p>
          <a:p>
            <a:pPr algn="l">
              <a:lnSpc>
                <a:spcPct val="125000"/>
              </a:lnSpc>
            </a:pPr>
            <a:r>
              <a:rPr sz="1050" b="0">
                <a:solidFill>
                  <a:srgbClr val="5A6472"/>
                </a:solidFill>
                <a:latin typeface="Yu Gothic UI"/>
              </a:rPr>
              <a:t>B) 特定の時間帯への集中はない</a:t>
            </a:r>
          </a:p>
          <a:p>
            <a:pPr algn="l">
              <a:lnSpc>
                <a:spcPct val="125000"/>
              </a:lnSpc>
            </a:pPr>
            <a:r>
              <a:rPr sz="1050" b="0">
                <a:solidFill>
                  <a:srgbClr val="5A6472"/>
                </a:solidFill>
                <a:latin typeface="Yu Gothic UI"/>
              </a:rPr>
              <a:t>C) 上記以外のパターン／D) 未確定</a:t>
            </a:r>
          </a:p>
        </p:txBody>
      </p:sp>
      <p:sp>
        <p:nvSpPr>
          <p:cNvPr id="23" name="TextBox 22"/>
          <p:cNvSpPr txBox="1"/>
          <p:nvPr/>
        </p:nvSpPr>
        <p:spPr>
          <a:xfrm>
            <a:off x="7114032" y="3088767"/>
            <a:ext cx="4206240" cy="830580"/>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設備の台数を直接決めます。朝の始業時に集中する業務形態かどうかで、必要な台数が大きく変わります。</a:t>
            </a:r>
          </a:p>
        </p:txBody>
      </p:sp>
      <p:sp>
        <p:nvSpPr>
          <p:cNvPr id="24" name="Rectangle 23"/>
          <p:cNvSpPr/>
          <p:nvPr/>
        </p:nvSpPr>
        <p:spPr>
          <a:xfrm>
            <a:off x="812800" y="4584319"/>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056507"/>
            <a:ext cx="2084831" cy="500379"/>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ピーク時間帯の山の吸収方法</a:t>
            </a:r>
          </a:p>
        </p:txBody>
      </p:sp>
      <p:sp>
        <p:nvSpPr>
          <p:cNvPr id="26" name="TextBox 25"/>
          <p:cNvSpPr txBox="1"/>
          <p:nvPr/>
        </p:nvSpPr>
        <p:spPr>
          <a:xfrm>
            <a:off x="3108960" y="4056507"/>
            <a:ext cx="566928" cy="500379"/>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Q80 と同じ</a:t>
            </a:r>
          </a:p>
        </p:txBody>
      </p:sp>
      <p:sp>
        <p:nvSpPr>
          <p:cNvPr id="27" name="TextBox 26"/>
          <p:cNvSpPr txBox="1"/>
          <p:nvPr/>
        </p:nvSpPr>
        <p:spPr>
          <a:xfrm>
            <a:off x="3767328" y="4056507"/>
            <a:ext cx="3218688" cy="500379"/>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設問は Q80 に統合しています</a:t>
            </a:r>
          </a:p>
        </p:txBody>
      </p:sp>
      <p:sp>
        <p:nvSpPr>
          <p:cNvPr id="28" name="TextBox 27"/>
          <p:cNvSpPr txBox="1"/>
          <p:nvPr/>
        </p:nvSpPr>
        <p:spPr>
          <a:xfrm>
            <a:off x="7114032" y="4056507"/>
            <a:ext cx="4206240" cy="500379"/>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事前に台数を増やしておくか、混み始めてから増やすかの方式が決まります。</a:t>
            </a:r>
          </a:p>
        </p:txBody>
      </p:sp>
      <p:sp>
        <p:nvSpPr>
          <p:cNvPr id="29" name="Rectangle 28"/>
          <p:cNvSpPr/>
          <p:nvPr/>
        </p:nvSpPr>
        <p:spPr>
          <a:xfrm>
            <a:off x="812800" y="4584319"/>
            <a:ext cx="10566349" cy="96774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2800" y="5552059"/>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94047"/>
            <a:ext cx="2084831" cy="830580"/>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入口での受付上限と、専用環境への切り離し基準</a:t>
            </a:r>
          </a:p>
        </p:txBody>
      </p:sp>
      <p:sp>
        <p:nvSpPr>
          <p:cNvPr id="32" name="TextBox 31"/>
          <p:cNvSpPr txBox="1"/>
          <p:nvPr/>
        </p:nvSpPr>
        <p:spPr>
          <a:xfrm>
            <a:off x="3108960" y="4694047"/>
            <a:ext cx="566928" cy="830580"/>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Q85 ★</a:t>
            </a:r>
          </a:p>
        </p:txBody>
      </p:sp>
      <p:sp>
        <p:nvSpPr>
          <p:cNvPr id="33" name="TextBox 32"/>
          <p:cNvSpPr txBox="1"/>
          <p:nvPr/>
        </p:nvSpPr>
        <p:spPr>
          <a:xfrm>
            <a:off x="3767328" y="4694047"/>
            <a:ext cx="3218688" cy="830580"/>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A) 契約人数から当方が自動設定【推】／B) 契約ごとに個別／C) 上限を設けない</a:t>
            </a:r>
          </a:p>
          <a:p>
            <a:pPr algn="l">
              <a:lnSpc>
                <a:spcPct val="125000"/>
              </a:lnSpc>
            </a:pPr>
            <a:r>
              <a:rPr sz="1050" b="0">
                <a:solidFill>
                  <a:srgbClr val="5A6472"/>
                </a:solidFill>
                <a:latin typeface="Yu Gothic UI"/>
              </a:rPr>
              <a:t>(b) A) 規模超過と規制業種の 2 条件【推】／B) 契約金額／C) 行わない</a:t>
            </a:r>
          </a:p>
        </p:txBody>
      </p:sp>
      <p:sp>
        <p:nvSpPr>
          <p:cNvPr id="34" name="TextBox 33"/>
          <p:cNvSpPr txBox="1"/>
          <p:nvPr/>
        </p:nvSpPr>
        <p:spPr>
          <a:xfrm>
            <a:off x="7114032" y="4694047"/>
            <a:ext cx="4206240" cy="830580"/>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1 社の利用急増が他社へ波及するのを防ぐ仕組みです。上限に達したときの挙動（お断りするのか待たせるのか）も併せて合意が必要です。</a:t>
            </a:r>
          </a:p>
        </p:txBody>
      </p:sp>
      <p:sp>
        <p:nvSpPr>
          <p:cNvPr id="35" name="Rectangle 34"/>
          <p:cNvSpPr/>
          <p:nvPr/>
        </p:nvSpPr>
        <p:spPr>
          <a:xfrm>
            <a:off x="812800" y="6222619"/>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5661787"/>
            <a:ext cx="2084831" cy="533400"/>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複数の地域で同時に稼働させるか</a:t>
            </a:r>
          </a:p>
        </p:txBody>
      </p:sp>
      <p:sp>
        <p:nvSpPr>
          <p:cNvPr id="37" name="TextBox 36"/>
          <p:cNvSpPr txBox="1"/>
          <p:nvPr/>
        </p:nvSpPr>
        <p:spPr>
          <a:xfrm>
            <a:off x="3108960" y="5661787"/>
            <a:ext cx="566928" cy="533400"/>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Q04 ★</a:t>
            </a:r>
          </a:p>
        </p:txBody>
      </p:sp>
      <p:sp>
        <p:nvSpPr>
          <p:cNvPr id="38" name="TextBox 37"/>
          <p:cNvSpPr txBox="1"/>
          <p:nvPr/>
        </p:nvSpPr>
        <p:spPr>
          <a:xfrm>
            <a:off x="3767328" y="5661787"/>
            <a:ext cx="3218688" cy="533400"/>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災害復旧の方式（Q04）に従属します</a:t>
            </a:r>
          </a:p>
        </p:txBody>
      </p:sp>
      <p:sp>
        <p:nvSpPr>
          <p:cNvPr id="39" name="TextBox 38"/>
          <p:cNvSpPr txBox="1"/>
          <p:nvPr/>
        </p:nvSpPr>
        <p:spPr>
          <a:xfrm>
            <a:off x="7114032" y="5661787"/>
            <a:ext cx="4206240" cy="533400"/>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災害復旧で案 ③（常時稼働）を選ぶと、実質的に複数地域での同時稼働に近い構成になります。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可用性　止まらないための約束</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4 件</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どの水準までお約束し、計画的な停止をどう扱うか。</a:t>
            </a:r>
          </a:p>
        </p:txBody>
      </p:sp>
      <p:sp>
        <p:nvSpPr>
          <p:cNvPr id="6" name="Rectangle 5"/>
          <p:cNvSpPr/>
          <p:nvPr/>
        </p:nvSpPr>
        <p:spPr>
          <a:xfrm>
            <a:off x="812800" y="1014984"/>
            <a:ext cx="36576" cy="484124"/>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4841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お約束する稼働率によって冗長構成の段数と監視体制が変わり、費用が段階的に増えます。なお当方が制御できない範囲（インターネット出入口）をどう扱うかが、実務上の争点になります。</a:t>
            </a:r>
          </a:p>
        </p:txBody>
      </p:sp>
      <p:sp>
        <p:nvSpPr>
          <p:cNvPr id="8" name="Rectangle 7"/>
          <p:cNvSpPr/>
          <p:nvPr/>
        </p:nvSpPr>
        <p:spPr>
          <a:xfrm>
            <a:off x="812800" y="1718564"/>
            <a:ext cx="10566349" cy="3291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96288"/>
            <a:ext cx="2084831"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ご確認いただきたいこと</a:t>
            </a:r>
          </a:p>
        </p:txBody>
      </p:sp>
      <p:sp>
        <p:nvSpPr>
          <p:cNvPr id="10" name="TextBox 9"/>
          <p:cNvSpPr txBox="1"/>
          <p:nvPr/>
        </p:nvSpPr>
        <p:spPr>
          <a:xfrm>
            <a:off x="3108960" y="1796288"/>
            <a:ext cx="566928"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設問</a:t>
            </a:r>
          </a:p>
        </p:txBody>
      </p:sp>
      <p:sp>
        <p:nvSpPr>
          <p:cNvPr id="11" name="TextBox 10"/>
          <p:cNvSpPr txBox="1"/>
          <p:nvPr/>
        </p:nvSpPr>
        <p:spPr>
          <a:xfrm>
            <a:off x="3767328" y="1796288"/>
            <a:ext cx="3218688"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選択肢（【推】＝当方の推奨・現行の暫定値）</a:t>
            </a:r>
          </a:p>
        </p:txBody>
      </p:sp>
      <p:sp>
        <p:nvSpPr>
          <p:cNvPr id="12" name="TextBox 11"/>
          <p:cNvSpPr txBox="1"/>
          <p:nvPr/>
        </p:nvSpPr>
        <p:spPr>
          <a:xfrm>
            <a:off x="7114032" y="1796288"/>
            <a:ext cx="420624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未確定だと何が決まらないか</a:t>
            </a:r>
          </a:p>
        </p:txBody>
      </p:sp>
      <p:sp>
        <p:nvSpPr>
          <p:cNvPr id="13" name="Rectangle 12"/>
          <p:cNvSpPr/>
          <p:nvPr/>
        </p:nvSpPr>
        <p:spPr>
          <a:xfrm>
            <a:off x="812800" y="3015488"/>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157476"/>
            <a:ext cx="2084831" cy="830580"/>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お約束する稼働率</a:t>
            </a:r>
          </a:p>
        </p:txBody>
      </p:sp>
      <p:sp>
        <p:nvSpPr>
          <p:cNvPr id="15" name="TextBox 14"/>
          <p:cNvSpPr txBox="1"/>
          <p:nvPr/>
        </p:nvSpPr>
        <p:spPr>
          <a:xfrm>
            <a:off x="3108960" y="2157476"/>
            <a:ext cx="566928" cy="830580"/>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Q03 ★</a:t>
            </a:r>
          </a:p>
        </p:txBody>
      </p:sp>
      <p:sp>
        <p:nvSpPr>
          <p:cNvPr id="16" name="TextBox 15"/>
          <p:cNvSpPr txBox="1"/>
          <p:nvPr/>
        </p:nvSpPr>
        <p:spPr>
          <a:xfrm>
            <a:off x="3767328" y="2157476"/>
            <a:ext cx="3218688" cy="830580"/>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99.9%（月あたり止まってよい時間 約 43.8 分）【推】</a:t>
            </a:r>
          </a:p>
          <a:p>
            <a:pPr algn="l">
              <a:lnSpc>
                <a:spcPct val="125000"/>
              </a:lnSpc>
            </a:pPr>
            <a:r>
              <a:rPr sz="1050" b="0">
                <a:solidFill>
                  <a:srgbClr val="5A6472"/>
                </a:solidFill>
                <a:latin typeface="Yu Gothic UI"/>
              </a:rPr>
              <a:t>B) 99.95%（約 21.9 分）</a:t>
            </a:r>
          </a:p>
          <a:p>
            <a:pPr algn="l">
              <a:lnSpc>
                <a:spcPct val="125000"/>
              </a:lnSpc>
            </a:pPr>
            <a:r>
              <a:rPr sz="1050" b="0">
                <a:solidFill>
                  <a:srgbClr val="5A6472"/>
                </a:solidFill>
                <a:latin typeface="Yu Gothic UI"/>
              </a:rPr>
              <a:t>C) 99.99%（約 4.4 分）</a:t>
            </a:r>
          </a:p>
        </p:txBody>
      </p:sp>
      <p:sp>
        <p:nvSpPr>
          <p:cNvPr id="17" name="TextBox 16"/>
          <p:cNvSpPr txBox="1"/>
          <p:nvPr/>
        </p:nvSpPr>
        <p:spPr>
          <a:xfrm>
            <a:off x="7114032" y="2157476"/>
            <a:ext cx="4206240" cy="830580"/>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冗長構成の段数と監視体制が決まります。律速はインターネット出入口を管理する他組織側にあり、その可用性が当方の上限になります。</a:t>
            </a:r>
          </a:p>
        </p:txBody>
      </p:sp>
      <p:sp>
        <p:nvSpPr>
          <p:cNvPr id="18" name="Rectangle 17"/>
          <p:cNvSpPr/>
          <p:nvPr/>
        </p:nvSpPr>
        <p:spPr>
          <a:xfrm>
            <a:off x="812800" y="3015488"/>
            <a:ext cx="10566349" cy="794385"/>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800" y="3809873"/>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125216"/>
            <a:ext cx="2084831" cy="657225"/>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稼働率の測り方（責任の範囲）</a:t>
            </a:r>
          </a:p>
        </p:txBody>
      </p:sp>
      <p:sp>
        <p:nvSpPr>
          <p:cNvPr id="21" name="TextBox 20"/>
          <p:cNvSpPr txBox="1"/>
          <p:nvPr/>
        </p:nvSpPr>
        <p:spPr>
          <a:xfrm>
            <a:off x="3108960" y="3125216"/>
            <a:ext cx="566928" cy="657225"/>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Q08</a:t>
            </a:r>
          </a:p>
        </p:txBody>
      </p:sp>
      <p:sp>
        <p:nvSpPr>
          <p:cNvPr id="22" name="TextBox 21"/>
          <p:cNvSpPr txBox="1"/>
          <p:nvPr/>
        </p:nvSpPr>
        <p:spPr>
          <a:xfrm>
            <a:off x="3767328" y="3125216"/>
            <a:ext cx="3218688" cy="657225"/>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他組織の入口が原因の停止は含めない（別枠で集計し協議事項とする）【推】</a:t>
            </a:r>
          </a:p>
          <a:p>
            <a:pPr algn="l">
              <a:lnSpc>
                <a:spcPct val="125000"/>
              </a:lnSpc>
            </a:pPr>
            <a:r>
              <a:rPr sz="1050" b="0">
                <a:solidFill>
                  <a:srgbClr val="5A6472"/>
                </a:solidFill>
                <a:latin typeface="Yu Gothic UI"/>
              </a:rPr>
              <a:t>B) 入口を含めた全体で稼働率をお約束する</a:t>
            </a:r>
          </a:p>
        </p:txBody>
      </p:sp>
      <p:sp>
        <p:nvSpPr>
          <p:cNvPr id="23" name="TextBox 22"/>
          <p:cNvSpPr txBox="1"/>
          <p:nvPr/>
        </p:nvSpPr>
        <p:spPr>
          <a:xfrm>
            <a:off x="7114032" y="3125216"/>
            <a:ext cx="4206240" cy="657225"/>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当方が制御できない範囲をお約束に含めるかどうかが決まります。含める場合、他組織との取り決めが別途必要になります。</a:t>
            </a:r>
          </a:p>
        </p:txBody>
      </p:sp>
      <p:sp>
        <p:nvSpPr>
          <p:cNvPr id="24" name="Rectangle 23"/>
          <p:cNvSpPr/>
          <p:nvPr/>
        </p:nvSpPr>
        <p:spPr>
          <a:xfrm>
            <a:off x="812800" y="4777613"/>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919601"/>
            <a:ext cx="2084831" cy="830580"/>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計画停止の頻度と時間帯</a:t>
            </a:r>
          </a:p>
        </p:txBody>
      </p:sp>
      <p:sp>
        <p:nvSpPr>
          <p:cNvPr id="26" name="TextBox 25"/>
          <p:cNvSpPr txBox="1"/>
          <p:nvPr/>
        </p:nvSpPr>
        <p:spPr>
          <a:xfrm>
            <a:off x="3108960" y="3919601"/>
            <a:ext cx="566928" cy="830580"/>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Q09</a:t>
            </a:r>
          </a:p>
        </p:txBody>
      </p:sp>
      <p:sp>
        <p:nvSpPr>
          <p:cNvPr id="27" name="TextBox 26"/>
          <p:cNvSpPr txBox="1"/>
          <p:nvPr/>
        </p:nvSpPr>
        <p:spPr>
          <a:xfrm>
            <a:off x="3767328" y="3919601"/>
            <a:ext cx="3218688" cy="830580"/>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月 1 回・深夜 2〜4 時（最大 2 時間）【推】</a:t>
            </a:r>
          </a:p>
          <a:p>
            <a:pPr algn="l">
              <a:lnSpc>
                <a:spcPct val="125000"/>
              </a:lnSpc>
            </a:pPr>
            <a:r>
              <a:rPr sz="1050" b="0">
                <a:solidFill>
                  <a:srgbClr val="5A6472"/>
                </a:solidFill>
                <a:latin typeface="Yu Gothic UI"/>
              </a:rPr>
              <a:t>B) 頻度・時間帯を変更したい</a:t>
            </a:r>
          </a:p>
          <a:p>
            <a:pPr algn="l">
              <a:lnSpc>
                <a:spcPct val="125000"/>
              </a:lnSpc>
            </a:pPr>
            <a:r>
              <a:rPr sz="1050" b="0">
                <a:solidFill>
                  <a:srgbClr val="5A6472"/>
                </a:solidFill>
                <a:latin typeface="Yu Gothic UI"/>
              </a:rPr>
              <a:t>C) 計画停止は一切不可</a:t>
            </a:r>
          </a:p>
        </p:txBody>
      </p:sp>
      <p:sp>
        <p:nvSpPr>
          <p:cNvPr id="28" name="TextBox 27"/>
          <p:cNvSpPr txBox="1"/>
          <p:nvPr/>
        </p:nvSpPr>
        <p:spPr>
          <a:xfrm>
            <a:off x="7114032" y="3919601"/>
            <a:ext cx="4206240" cy="830580"/>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停止の枠が取れないと、無停止では当てられない製品更新が実施できなくなります。停止時間は稼働率の計算から除外する前提です。</a:t>
            </a:r>
          </a:p>
        </p:txBody>
      </p:sp>
      <p:sp>
        <p:nvSpPr>
          <p:cNvPr id="29" name="Rectangle 28"/>
          <p:cNvSpPr/>
          <p:nvPr/>
        </p:nvSpPr>
        <p:spPr>
          <a:xfrm>
            <a:off x="812800" y="4777613"/>
            <a:ext cx="10566349" cy="794385"/>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2800" y="5571998"/>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87341"/>
            <a:ext cx="2084831" cy="657225"/>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計画停止の事前通知</a:t>
            </a:r>
          </a:p>
        </p:txBody>
      </p:sp>
      <p:sp>
        <p:nvSpPr>
          <p:cNvPr id="32" name="TextBox 31"/>
          <p:cNvSpPr txBox="1"/>
          <p:nvPr/>
        </p:nvSpPr>
        <p:spPr>
          <a:xfrm>
            <a:off x="3108960" y="4887341"/>
            <a:ext cx="566928" cy="657225"/>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Q13</a:t>
            </a:r>
          </a:p>
        </p:txBody>
      </p:sp>
      <p:sp>
        <p:nvSpPr>
          <p:cNvPr id="33" name="TextBox 32"/>
          <p:cNvSpPr txBox="1"/>
          <p:nvPr/>
        </p:nvSpPr>
        <p:spPr>
          <a:xfrm>
            <a:off x="3767328" y="4887341"/>
            <a:ext cx="3218688" cy="657225"/>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7 日前【推】</a:t>
            </a:r>
          </a:p>
          <a:p>
            <a:pPr algn="l">
              <a:lnSpc>
                <a:spcPct val="125000"/>
              </a:lnSpc>
            </a:pPr>
            <a:r>
              <a:rPr sz="1050" b="0">
                <a:solidFill>
                  <a:srgbClr val="5A6472"/>
                </a:solidFill>
                <a:latin typeface="Yu Gothic UI"/>
              </a:rPr>
              <a:t>B) 14 日前以上が必要</a:t>
            </a:r>
          </a:p>
          <a:p>
            <a:pPr algn="l">
              <a:lnSpc>
                <a:spcPct val="125000"/>
              </a:lnSpc>
            </a:pPr>
            <a:r>
              <a:rPr sz="1050" b="0">
                <a:solidFill>
                  <a:srgbClr val="5A6472"/>
                </a:solidFill>
                <a:latin typeface="Yu Gothic UI"/>
              </a:rPr>
              <a:t>C) 前日〜即日でよい</a:t>
            </a:r>
          </a:p>
        </p:txBody>
      </p:sp>
      <p:sp>
        <p:nvSpPr>
          <p:cNvPr id="34" name="TextBox 33"/>
          <p:cNvSpPr txBox="1"/>
          <p:nvPr/>
        </p:nvSpPr>
        <p:spPr>
          <a:xfrm>
            <a:off x="7114032" y="4887341"/>
            <a:ext cx="4206240" cy="657225"/>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アプリ側への周知運用と、緊急の更新をどこまで前倒しできるかが決まります。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災害復旧　復旧の速さとデータ喪失の 3 案</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Q04 ★ 最優先</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東京が地域ごと使えなくなったとき、大阪でどこまで速く戻すか。</a:t>
            </a:r>
          </a:p>
        </p:txBody>
      </p:sp>
      <p:sp>
        <p:nvSpPr>
          <p:cNvPr id="6" name="Rectangle 5"/>
          <p:cNvSpPr/>
          <p:nvPr/>
        </p:nvSpPr>
        <p:spPr>
          <a:xfrm>
            <a:off x="812800" y="1014984"/>
            <a:ext cx="36576" cy="484124"/>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4841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お金がかかるのは「早く復旧すること」で、「データを失わないこと」自体は安価です。ご希望値（復旧 1 日／データ 5 分）は案 ③ が必要で、年 440 万円の追加になります。</a:t>
            </a:r>
          </a:p>
        </p:txBody>
      </p:sp>
      <p:sp>
        <p:nvSpPr>
          <p:cNvPr id="8" name="Rectangle 7"/>
          <p:cNvSpPr/>
          <p:nvPr/>
        </p:nvSpPr>
        <p:spPr>
          <a:xfrm>
            <a:off x="812800" y="1764284"/>
            <a:ext cx="3401568" cy="388620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800" y="1764284"/>
            <a:ext cx="3401568" cy="54864"/>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3967" y="2002028"/>
            <a:ext cx="2999232" cy="292608"/>
          </a:xfrm>
          <a:prstGeom prst="rect">
            <a:avLst/>
          </a:prstGeom>
          <a:noFill/>
        </p:spPr>
        <p:txBody>
          <a:bodyPr wrap="square" lIns="0" rIns="0" tIns="0" bIns="0" anchor="t">
            <a:spAutoFit/>
          </a:bodyPr>
          <a:lstStyle/>
          <a:p>
            <a:pPr algn="l">
              <a:lnSpc>
                <a:spcPct val="125000"/>
              </a:lnSpc>
            </a:pPr>
            <a:r>
              <a:rPr sz="1700" b="1">
                <a:solidFill>
                  <a:srgbClr val="1F3864"/>
                </a:solidFill>
                <a:latin typeface="Yu Gothic UI"/>
              </a:rPr>
              <a:t>① コールド</a:t>
            </a:r>
          </a:p>
        </p:txBody>
      </p:sp>
      <p:sp>
        <p:nvSpPr>
          <p:cNvPr id="11" name="TextBox 10"/>
          <p:cNvSpPr txBox="1"/>
          <p:nvPr/>
        </p:nvSpPr>
        <p:spPr>
          <a:xfrm>
            <a:off x="1013967" y="2349500"/>
            <a:ext cx="2999232" cy="219456"/>
          </a:xfrm>
          <a:prstGeom prst="rect">
            <a:avLst/>
          </a:prstGeom>
          <a:noFill/>
        </p:spPr>
        <p:txBody>
          <a:bodyPr wrap="square" lIns="0" rIns="0" tIns="0" bIns="0" anchor="t">
            <a:spAutoFit/>
          </a:bodyPr>
          <a:lstStyle/>
          <a:p>
            <a:pPr algn="l">
              <a:lnSpc>
                <a:spcPct val="125000"/>
              </a:lnSpc>
            </a:pPr>
            <a:r>
              <a:rPr sz="1100" b="1">
                <a:solidFill>
                  <a:srgbClr val="5A6472"/>
                </a:solidFill>
                <a:latin typeface="Yu Gothic UI"/>
              </a:rPr>
              <a:t>現行の設計</a:t>
            </a:r>
          </a:p>
        </p:txBody>
      </p:sp>
      <p:sp>
        <p:nvSpPr>
          <p:cNvPr id="12" name="TextBox 11"/>
          <p:cNvSpPr txBox="1"/>
          <p:nvPr/>
        </p:nvSpPr>
        <p:spPr>
          <a:xfrm>
            <a:off x="1013967" y="2623820"/>
            <a:ext cx="2999232" cy="402336"/>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大阪に平常時は何も置かない</a:t>
            </a:r>
          </a:p>
        </p:txBody>
      </p:sp>
      <p:sp>
        <p:nvSpPr>
          <p:cNvPr id="13" name="TextBox 12"/>
          <p:cNvSpPr txBox="1"/>
          <p:nvPr/>
        </p:nvSpPr>
        <p:spPr>
          <a:xfrm>
            <a:off x="1013967" y="3117596"/>
            <a:ext cx="2999232" cy="18288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復旧まで</a:t>
            </a:r>
          </a:p>
        </p:txBody>
      </p:sp>
      <p:sp>
        <p:nvSpPr>
          <p:cNvPr id="14" name="TextBox 13"/>
          <p:cNvSpPr txBox="1"/>
          <p:nvPr/>
        </p:nvSpPr>
        <p:spPr>
          <a:xfrm>
            <a:off x="1013967" y="3309620"/>
            <a:ext cx="2999232" cy="1920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約 14 日</a:t>
            </a:r>
          </a:p>
        </p:txBody>
      </p:sp>
      <p:sp>
        <p:nvSpPr>
          <p:cNvPr id="15" name="TextBox 14"/>
          <p:cNvSpPr txBox="1"/>
          <p:nvPr/>
        </p:nvSpPr>
        <p:spPr>
          <a:xfrm>
            <a:off x="1013967" y="3657092"/>
            <a:ext cx="2999232" cy="18288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失うデータ</a:t>
            </a:r>
          </a:p>
        </p:txBody>
      </p:sp>
      <p:sp>
        <p:nvSpPr>
          <p:cNvPr id="16" name="TextBox 15"/>
          <p:cNvSpPr txBox="1"/>
          <p:nvPr/>
        </p:nvSpPr>
        <p:spPr>
          <a:xfrm>
            <a:off x="1013967" y="3849116"/>
            <a:ext cx="2999232" cy="1920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数時間ぶん</a:t>
            </a:r>
          </a:p>
        </p:txBody>
      </p:sp>
      <p:sp>
        <p:nvSpPr>
          <p:cNvPr id="17" name="TextBox 16"/>
          <p:cNvSpPr txBox="1"/>
          <p:nvPr/>
        </p:nvSpPr>
        <p:spPr>
          <a:xfrm>
            <a:off x="1013967" y="4196588"/>
            <a:ext cx="2999232" cy="18288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大阪の追加費用</a:t>
            </a:r>
          </a:p>
        </p:txBody>
      </p:sp>
      <p:sp>
        <p:nvSpPr>
          <p:cNvPr id="18" name="TextBox 17"/>
          <p:cNvSpPr txBox="1"/>
          <p:nvPr/>
        </p:nvSpPr>
        <p:spPr>
          <a:xfrm>
            <a:off x="1013967" y="4388612"/>
            <a:ext cx="2999232" cy="384048"/>
          </a:xfrm>
          <a:prstGeom prst="rect">
            <a:avLst/>
          </a:prstGeom>
          <a:noFill/>
        </p:spPr>
        <p:txBody>
          <a:bodyPr wrap="square" lIns="0" rIns="0" tIns="0" bIns="0" anchor="t">
            <a:spAutoFit/>
          </a:bodyPr>
          <a:lstStyle/>
          <a:p>
            <a:pPr algn="l">
              <a:lnSpc>
                <a:spcPct val="125000"/>
              </a:lnSpc>
            </a:pPr>
            <a:r>
              <a:rPr sz="1100" b="1">
                <a:solidFill>
                  <a:srgbClr val="1D2125"/>
                </a:solidFill>
                <a:latin typeface="Yu Gothic UI"/>
              </a:rPr>
              <a:t>月 約 0.9 万円（100 万人）</a:t>
            </a:r>
          </a:p>
          <a:p>
            <a:pPr algn="l">
              <a:lnSpc>
                <a:spcPct val="125000"/>
              </a:lnSpc>
            </a:pPr>
            <a:r>
              <a:rPr sz="1100" b="1">
                <a:solidFill>
                  <a:srgbClr val="1D2125"/>
                </a:solidFill>
                <a:latin typeface="Yu Gothic UI"/>
              </a:rPr>
              <a:t>月 約 8 万円（1,000 万人）</a:t>
            </a:r>
          </a:p>
        </p:txBody>
      </p:sp>
      <p:sp>
        <p:nvSpPr>
          <p:cNvPr id="19" name="Rectangle 18"/>
          <p:cNvSpPr/>
          <p:nvPr/>
        </p:nvSpPr>
        <p:spPr>
          <a:xfrm>
            <a:off x="1013967" y="4982971"/>
            <a:ext cx="2999232"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3967" y="5147564"/>
            <a:ext cx="2999232" cy="50292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内訳 4 項目：控えの複製・変更不能な保管・復元用の鍵</a:t>
            </a:r>
          </a:p>
        </p:txBody>
      </p:sp>
      <p:sp>
        <p:nvSpPr>
          <p:cNvPr id="21" name="Rectangle 20"/>
          <p:cNvSpPr/>
          <p:nvPr/>
        </p:nvSpPr>
        <p:spPr>
          <a:xfrm>
            <a:off x="4397248" y="1764284"/>
            <a:ext cx="3401568" cy="3886200"/>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97248" y="1764284"/>
            <a:ext cx="3401568" cy="54864"/>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98416" y="2002028"/>
            <a:ext cx="2999232" cy="292608"/>
          </a:xfrm>
          <a:prstGeom prst="rect">
            <a:avLst/>
          </a:prstGeom>
          <a:noFill/>
        </p:spPr>
        <p:txBody>
          <a:bodyPr wrap="square" lIns="0" rIns="0" tIns="0" bIns="0" anchor="t">
            <a:spAutoFit/>
          </a:bodyPr>
          <a:lstStyle/>
          <a:p>
            <a:pPr algn="l">
              <a:lnSpc>
                <a:spcPct val="125000"/>
              </a:lnSpc>
            </a:pPr>
            <a:r>
              <a:rPr sz="1700" b="1">
                <a:solidFill>
                  <a:srgbClr val="1F3864"/>
                </a:solidFill>
                <a:latin typeface="Yu Gothic UI"/>
              </a:rPr>
              <a:t>② 複製のみ</a:t>
            </a:r>
          </a:p>
        </p:txBody>
      </p:sp>
      <p:sp>
        <p:nvSpPr>
          <p:cNvPr id="24" name="TextBox 23"/>
          <p:cNvSpPr txBox="1"/>
          <p:nvPr/>
        </p:nvSpPr>
        <p:spPr>
          <a:xfrm>
            <a:off x="4598416" y="2349500"/>
            <a:ext cx="2999232" cy="219456"/>
          </a:xfrm>
          <a:prstGeom prst="rect">
            <a:avLst/>
          </a:prstGeom>
          <a:noFill/>
        </p:spPr>
        <p:txBody>
          <a:bodyPr wrap="square" lIns="0" rIns="0" tIns="0" bIns="0" anchor="t">
            <a:spAutoFit/>
          </a:bodyPr>
          <a:lstStyle/>
          <a:p>
            <a:pPr algn="l">
              <a:lnSpc>
                <a:spcPct val="125000"/>
              </a:lnSpc>
            </a:pPr>
            <a:r>
              <a:rPr sz="1100" b="1">
                <a:solidFill>
                  <a:srgbClr val="1E7B4D"/>
                </a:solidFill>
                <a:latin typeface="Yu Gothic UI"/>
              </a:rPr>
              <a:t>当方の推奨</a:t>
            </a:r>
          </a:p>
        </p:txBody>
      </p:sp>
      <p:sp>
        <p:nvSpPr>
          <p:cNvPr id="25" name="TextBox 24"/>
          <p:cNvSpPr txBox="1"/>
          <p:nvPr/>
        </p:nvSpPr>
        <p:spPr>
          <a:xfrm>
            <a:off x="4598416" y="2623820"/>
            <a:ext cx="2999232" cy="402336"/>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データの複製だけ常時流す</a:t>
            </a:r>
          </a:p>
        </p:txBody>
      </p:sp>
      <p:sp>
        <p:nvSpPr>
          <p:cNvPr id="26" name="TextBox 25"/>
          <p:cNvSpPr txBox="1"/>
          <p:nvPr/>
        </p:nvSpPr>
        <p:spPr>
          <a:xfrm>
            <a:off x="4598416" y="3117596"/>
            <a:ext cx="2999232" cy="18288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復旧まで</a:t>
            </a:r>
          </a:p>
        </p:txBody>
      </p:sp>
      <p:sp>
        <p:nvSpPr>
          <p:cNvPr id="27" name="TextBox 26"/>
          <p:cNvSpPr txBox="1"/>
          <p:nvPr/>
        </p:nvSpPr>
        <p:spPr>
          <a:xfrm>
            <a:off x="4598416" y="3309620"/>
            <a:ext cx="2999232" cy="1920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数日</a:t>
            </a:r>
          </a:p>
        </p:txBody>
      </p:sp>
      <p:sp>
        <p:nvSpPr>
          <p:cNvPr id="28" name="TextBox 27"/>
          <p:cNvSpPr txBox="1"/>
          <p:nvPr/>
        </p:nvSpPr>
        <p:spPr>
          <a:xfrm>
            <a:off x="4598416" y="3657092"/>
            <a:ext cx="2999232" cy="18288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失うデータ</a:t>
            </a:r>
          </a:p>
        </p:txBody>
      </p:sp>
      <p:sp>
        <p:nvSpPr>
          <p:cNvPr id="29" name="TextBox 28"/>
          <p:cNvSpPr txBox="1"/>
          <p:nvPr/>
        </p:nvSpPr>
        <p:spPr>
          <a:xfrm>
            <a:off x="4598416" y="3849116"/>
            <a:ext cx="2999232" cy="1920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1 分未満</a:t>
            </a:r>
          </a:p>
        </p:txBody>
      </p:sp>
      <p:sp>
        <p:nvSpPr>
          <p:cNvPr id="30" name="TextBox 29"/>
          <p:cNvSpPr txBox="1"/>
          <p:nvPr/>
        </p:nvSpPr>
        <p:spPr>
          <a:xfrm>
            <a:off x="4598416" y="4196588"/>
            <a:ext cx="2999232" cy="18288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大阪の追加費用</a:t>
            </a:r>
          </a:p>
        </p:txBody>
      </p:sp>
      <p:sp>
        <p:nvSpPr>
          <p:cNvPr id="31" name="TextBox 30"/>
          <p:cNvSpPr txBox="1"/>
          <p:nvPr/>
        </p:nvSpPr>
        <p:spPr>
          <a:xfrm>
            <a:off x="4598416" y="4388612"/>
            <a:ext cx="2999232" cy="384048"/>
          </a:xfrm>
          <a:prstGeom prst="rect">
            <a:avLst/>
          </a:prstGeom>
          <a:noFill/>
        </p:spPr>
        <p:txBody>
          <a:bodyPr wrap="square" lIns="0" rIns="0" tIns="0" bIns="0" anchor="t">
            <a:spAutoFit/>
          </a:bodyPr>
          <a:lstStyle/>
          <a:p>
            <a:pPr algn="l">
              <a:lnSpc>
                <a:spcPct val="125000"/>
              </a:lnSpc>
            </a:pPr>
            <a:r>
              <a:rPr sz="1100" b="1">
                <a:solidFill>
                  <a:srgbClr val="1D2125"/>
                </a:solidFill>
                <a:latin typeface="Yu Gothic UI"/>
              </a:rPr>
              <a:t>月 約 1.7 万円（100 万人）</a:t>
            </a:r>
          </a:p>
          <a:p>
            <a:pPr algn="l">
              <a:lnSpc>
                <a:spcPct val="125000"/>
              </a:lnSpc>
            </a:pPr>
            <a:r>
              <a:rPr sz="1100" b="1">
                <a:solidFill>
                  <a:srgbClr val="1D2125"/>
                </a:solidFill>
                <a:latin typeface="Yu Gothic UI"/>
              </a:rPr>
              <a:t>月 約 16 万円（1,000 万人）</a:t>
            </a:r>
          </a:p>
        </p:txBody>
      </p:sp>
      <p:sp>
        <p:nvSpPr>
          <p:cNvPr id="32" name="Rectangle 31"/>
          <p:cNvSpPr/>
          <p:nvPr/>
        </p:nvSpPr>
        <p:spPr>
          <a:xfrm>
            <a:off x="4598416" y="4982971"/>
            <a:ext cx="2999232"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98416" y="5147564"/>
            <a:ext cx="2999232" cy="50292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内訳 10 項目：① ＋ データベースの常時複製ほか</a:t>
            </a:r>
          </a:p>
        </p:txBody>
      </p:sp>
      <p:sp>
        <p:nvSpPr>
          <p:cNvPr id="34" name="Rectangle 33"/>
          <p:cNvSpPr/>
          <p:nvPr/>
        </p:nvSpPr>
        <p:spPr>
          <a:xfrm>
            <a:off x="7981696" y="1764284"/>
            <a:ext cx="3401568" cy="388620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981696" y="1764284"/>
            <a:ext cx="3401568" cy="5486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82864" y="2002028"/>
            <a:ext cx="2999232" cy="292608"/>
          </a:xfrm>
          <a:prstGeom prst="rect">
            <a:avLst/>
          </a:prstGeom>
          <a:noFill/>
        </p:spPr>
        <p:txBody>
          <a:bodyPr wrap="square" lIns="0" rIns="0" tIns="0" bIns="0" anchor="t">
            <a:spAutoFit/>
          </a:bodyPr>
          <a:lstStyle/>
          <a:p>
            <a:pPr algn="l">
              <a:lnSpc>
                <a:spcPct val="125000"/>
              </a:lnSpc>
            </a:pPr>
            <a:r>
              <a:rPr sz="1700" b="1">
                <a:solidFill>
                  <a:srgbClr val="1F3864"/>
                </a:solidFill>
                <a:latin typeface="Yu Gothic UI"/>
              </a:rPr>
              <a:t>③ 常時稼働</a:t>
            </a:r>
          </a:p>
        </p:txBody>
      </p:sp>
      <p:sp>
        <p:nvSpPr>
          <p:cNvPr id="37" name="TextBox 36"/>
          <p:cNvSpPr txBox="1"/>
          <p:nvPr/>
        </p:nvSpPr>
        <p:spPr>
          <a:xfrm>
            <a:off x="8182864" y="2349500"/>
            <a:ext cx="2999232" cy="219456"/>
          </a:xfrm>
          <a:prstGeom prst="rect">
            <a:avLst/>
          </a:prstGeom>
          <a:noFill/>
        </p:spPr>
        <p:txBody>
          <a:bodyPr wrap="square" lIns="0" rIns="0" tIns="0" bIns="0" anchor="t">
            <a:spAutoFit/>
          </a:bodyPr>
          <a:lstStyle/>
          <a:p>
            <a:pPr algn="l">
              <a:lnSpc>
                <a:spcPct val="125000"/>
              </a:lnSpc>
            </a:pPr>
            <a:r>
              <a:rPr sz="1100" b="1">
                <a:solidFill>
                  <a:srgbClr val="B45309"/>
                </a:solidFill>
                <a:latin typeface="Yu Gothic UI"/>
              </a:rPr>
              <a:t>ご希望値を満たす案</a:t>
            </a:r>
          </a:p>
        </p:txBody>
      </p:sp>
      <p:sp>
        <p:nvSpPr>
          <p:cNvPr id="38" name="TextBox 37"/>
          <p:cNvSpPr txBox="1"/>
          <p:nvPr/>
        </p:nvSpPr>
        <p:spPr>
          <a:xfrm>
            <a:off x="8182864" y="2623820"/>
            <a:ext cx="2999232" cy="402336"/>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設備も平常時から動かしておく</a:t>
            </a:r>
          </a:p>
        </p:txBody>
      </p:sp>
      <p:sp>
        <p:nvSpPr>
          <p:cNvPr id="39" name="TextBox 38"/>
          <p:cNvSpPr txBox="1"/>
          <p:nvPr/>
        </p:nvSpPr>
        <p:spPr>
          <a:xfrm>
            <a:off x="8182864" y="3117596"/>
            <a:ext cx="2999232" cy="18288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復旧まで</a:t>
            </a:r>
          </a:p>
        </p:txBody>
      </p:sp>
      <p:sp>
        <p:nvSpPr>
          <p:cNvPr id="40" name="TextBox 39"/>
          <p:cNvSpPr txBox="1"/>
          <p:nvPr/>
        </p:nvSpPr>
        <p:spPr>
          <a:xfrm>
            <a:off x="8182864" y="3309620"/>
            <a:ext cx="2999232" cy="1920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1 日以下</a:t>
            </a:r>
          </a:p>
        </p:txBody>
      </p:sp>
      <p:sp>
        <p:nvSpPr>
          <p:cNvPr id="41" name="TextBox 40"/>
          <p:cNvSpPr txBox="1"/>
          <p:nvPr/>
        </p:nvSpPr>
        <p:spPr>
          <a:xfrm>
            <a:off x="8182864" y="3657092"/>
            <a:ext cx="2999232" cy="18288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失うデータ</a:t>
            </a:r>
          </a:p>
        </p:txBody>
      </p:sp>
      <p:sp>
        <p:nvSpPr>
          <p:cNvPr id="42" name="TextBox 41"/>
          <p:cNvSpPr txBox="1"/>
          <p:nvPr/>
        </p:nvSpPr>
        <p:spPr>
          <a:xfrm>
            <a:off x="8182864" y="3849116"/>
            <a:ext cx="2999232" cy="1920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1 分未満</a:t>
            </a:r>
          </a:p>
        </p:txBody>
      </p:sp>
      <p:sp>
        <p:nvSpPr>
          <p:cNvPr id="43" name="TextBox 42"/>
          <p:cNvSpPr txBox="1"/>
          <p:nvPr/>
        </p:nvSpPr>
        <p:spPr>
          <a:xfrm>
            <a:off x="8182864" y="4196588"/>
            <a:ext cx="2999232" cy="18288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大阪の追加費用</a:t>
            </a:r>
          </a:p>
        </p:txBody>
      </p:sp>
      <p:sp>
        <p:nvSpPr>
          <p:cNvPr id="44" name="TextBox 43"/>
          <p:cNvSpPr txBox="1"/>
          <p:nvPr/>
        </p:nvSpPr>
        <p:spPr>
          <a:xfrm>
            <a:off x="8182864" y="4388612"/>
            <a:ext cx="2999232" cy="384048"/>
          </a:xfrm>
          <a:prstGeom prst="rect">
            <a:avLst/>
          </a:prstGeom>
          <a:noFill/>
        </p:spPr>
        <p:txBody>
          <a:bodyPr wrap="square" lIns="0" rIns="0" tIns="0" bIns="0" anchor="t">
            <a:spAutoFit/>
          </a:bodyPr>
          <a:lstStyle/>
          <a:p>
            <a:pPr algn="l">
              <a:lnSpc>
                <a:spcPct val="125000"/>
              </a:lnSpc>
            </a:pPr>
            <a:r>
              <a:rPr sz="1100" b="1">
                <a:solidFill>
                  <a:srgbClr val="1D2125"/>
                </a:solidFill>
                <a:latin typeface="Yu Gothic UI"/>
              </a:rPr>
              <a:t>月 約 38 万円（100 万人）</a:t>
            </a:r>
          </a:p>
          <a:p>
            <a:pPr algn="l">
              <a:lnSpc>
                <a:spcPct val="125000"/>
              </a:lnSpc>
            </a:pPr>
            <a:r>
              <a:rPr sz="1100" b="1">
                <a:solidFill>
                  <a:srgbClr val="1D2125"/>
                </a:solidFill>
                <a:latin typeface="Yu Gothic UI"/>
              </a:rPr>
              <a:t>月 約 53 万円（1,000 万人）</a:t>
            </a:r>
          </a:p>
        </p:txBody>
      </p:sp>
      <p:sp>
        <p:nvSpPr>
          <p:cNvPr id="45" name="Rectangle 44"/>
          <p:cNvSpPr/>
          <p:nvPr/>
        </p:nvSpPr>
        <p:spPr>
          <a:xfrm>
            <a:off x="8182864" y="4982971"/>
            <a:ext cx="2999232"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182864" y="5147564"/>
            <a:ext cx="2999232" cy="50292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内訳 20 項目：② ＋ サーバー群・データベースの待機機・通信装置</a:t>
            </a:r>
          </a:p>
        </p:txBody>
      </p:sp>
      <p:sp>
        <p:nvSpPr>
          <p:cNvPr id="47" name="TextBox 46"/>
          <p:cNvSpPr txBox="1"/>
          <p:nvPr/>
        </p:nvSpPr>
        <p:spPr>
          <a:xfrm>
            <a:off x="812800" y="5815075"/>
            <a:ext cx="10566349" cy="502920"/>
          </a:xfrm>
          <a:prstGeom prst="rect">
            <a:avLst/>
          </a:prstGeom>
          <a:noFill/>
        </p:spPr>
        <p:txBody>
          <a:bodyPr wrap="square" lIns="0" rIns="0" tIns="0" bIns="0" anchor="t">
            <a:spAutoFit/>
          </a:bodyPr>
          <a:lstStyle/>
          <a:p>
            <a:pPr algn="l">
              <a:lnSpc>
                <a:spcPct val="125000"/>
              </a:lnSpc>
            </a:pPr>
            <a:r>
              <a:rPr sz="1100" b="1">
                <a:solidFill>
                  <a:srgbClr val="1D2125"/>
                </a:solidFill>
                <a:latin typeface="Yu Gothic UI"/>
              </a:rPr>
              <a:t>① → ② の差は月 1 万円弱で「失うデータが数時間ぶん → 1 分未満」に変わります。② → ③ の差は月 36 万円（年 440 万円）で、買えるのは「復旧が数日 → 1 日以下」だけです。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災害復旧　控えの保管・訓練・切替時の扱い</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5 件</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日常の誤操作やデータ破壊からの復旧を含めた取り決め。</a:t>
            </a:r>
          </a:p>
        </p:txBody>
      </p:sp>
      <p:sp>
        <p:nvSpPr>
          <p:cNvPr id="6" name="Rectangle 5"/>
          <p:cNvSpPr/>
          <p:nvPr/>
        </p:nvSpPr>
        <p:spPr>
          <a:xfrm>
            <a:off x="812800" y="1014984"/>
            <a:ext cx="36576" cy="484124"/>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4841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前ページの 3 案が「東京が地域ごと落ちたとき」の話であるのに対し、こちらは日常の誤削除・データ破壊からの復旧です。こちらは東京の中で完結するため、1 秒単位で巻き戻せます。</a:t>
            </a:r>
          </a:p>
        </p:txBody>
      </p:sp>
      <p:sp>
        <p:nvSpPr>
          <p:cNvPr id="8" name="Rectangle 7"/>
          <p:cNvSpPr/>
          <p:nvPr/>
        </p:nvSpPr>
        <p:spPr>
          <a:xfrm>
            <a:off x="812800" y="1718564"/>
            <a:ext cx="10566349" cy="3291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96288"/>
            <a:ext cx="2084831"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ご確認いただきたいこと</a:t>
            </a:r>
          </a:p>
        </p:txBody>
      </p:sp>
      <p:sp>
        <p:nvSpPr>
          <p:cNvPr id="10" name="TextBox 9"/>
          <p:cNvSpPr txBox="1"/>
          <p:nvPr/>
        </p:nvSpPr>
        <p:spPr>
          <a:xfrm>
            <a:off x="3108960" y="1796288"/>
            <a:ext cx="566928"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設問</a:t>
            </a:r>
          </a:p>
        </p:txBody>
      </p:sp>
      <p:sp>
        <p:nvSpPr>
          <p:cNvPr id="11" name="TextBox 10"/>
          <p:cNvSpPr txBox="1"/>
          <p:nvPr/>
        </p:nvSpPr>
        <p:spPr>
          <a:xfrm>
            <a:off x="3767328" y="1796288"/>
            <a:ext cx="3218688"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選択肢（【推】＝当方の推奨・現行の暫定値）</a:t>
            </a:r>
          </a:p>
        </p:txBody>
      </p:sp>
      <p:sp>
        <p:nvSpPr>
          <p:cNvPr id="12" name="TextBox 11"/>
          <p:cNvSpPr txBox="1"/>
          <p:nvPr/>
        </p:nvSpPr>
        <p:spPr>
          <a:xfrm>
            <a:off x="7114032" y="1796288"/>
            <a:ext cx="420624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未確定だと何が決まらないか</a:t>
            </a:r>
          </a:p>
        </p:txBody>
      </p:sp>
      <p:sp>
        <p:nvSpPr>
          <p:cNvPr id="13" name="Rectangle 12"/>
          <p:cNvSpPr/>
          <p:nvPr/>
        </p:nvSpPr>
        <p:spPr>
          <a:xfrm>
            <a:off x="812800" y="3015488"/>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157476"/>
            <a:ext cx="2084831" cy="830580"/>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控え（バックアップ）の保存日数</a:t>
            </a:r>
          </a:p>
        </p:txBody>
      </p:sp>
      <p:sp>
        <p:nvSpPr>
          <p:cNvPr id="15" name="TextBox 14"/>
          <p:cNvSpPr txBox="1"/>
          <p:nvPr/>
        </p:nvSpPr>
        <p:spPr>
          <a:xfrm>
            <a:off x="3108960" y="2157476"/>
            <a:ext cx="566928" cy="830580"/>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Q10</a:t>
            </a:r>
          </a:p>
        </p:txBody>
      </p:sp>
      <p:sp>
        <p:nvSpPr>
          <p:cNvPr id="16" name="TextBox 15"/>
          <p:cNvSpPr txBox="1"/>
          <p:nvPr/>
        </p:nvSpPr>
        <p:spPr>
          <a:xfrm>
            <a:off x="3767328" y="2157476"/>
            <a:ext cx="3218688" cy="830580"/>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30 日分【推】</a:t>
            </a:r>
          </a:p>
          <a:p>
            <a:pPr algn="l">
              <a:lnSpc>
                <a:spcPct val="125000"/>
              </a:lnSpc>
            </a:pPr>
            <a:r>
              <a:rPr sz="1050" b="0">
                <a:solidFill>
                  <a:srgbClr val="5A6472"/>
                </a:solidFill>
                <a:latin typeface="Yu Gothic UI"/>
              </a:rPr>
              <a:t>B) 90 日分</a:t>
            </a:r>
          </a:p>
          <a:p>
            <a:pPr algn="l">
              <a:lnSpc>
                <a:spcPct val="125000"/>
              </a:lnSpc>
            </a:pPr>
            <a:r>
              <a:rPr sz="1050" b="0">
                <a:solidFill>
                  <a:srgbClr val="5A6472"/>
                </a:solidFill>
                <a:latin typeface="Yu Gothic UI"/>
              </a:rPr>
              <a:t>C) 年単位でさらに長期（法令・業界規則の根拠をご記入）</a:t>
            </a:r>
          </a:p>
        </p:txBody>
      </p:sp>
      <p:sp>
        <p:nvSpPr>
          <p:cNvPr id="17" name="TextBox 16"/>
          <p:cNvSpPr txBox="1"/>
          <p:nvPr/>
        </p:nvSpPr>
        <p:spPr>
          <a:xfrm>
            <a:off x="7114032" y="2157476"/>
            <a:ext cx="4206240" cy="830580"/>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現行の仕組みの上限は 35 日です。これを超える保持は別方式の追加になり、保管費用が増えます。</a:t>
            </a:r>
          </a:p>
        </p:txBody>
      </p:sp>
      <p:sp>
        <p:nvSpPr>
          <p:cNvPr id="18" name="Rectangle 17"/>
          <p:cNvSpPr/>
          <p:nvPr/>
        </p:nvSpPr>
        <p:spPr>
          <a:xfrm>
            <a:off x="812800" y="3015488"/>
            <a:ext cx="10566349" cy="96774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800" y="3983228"/>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125216"/>
            <a:ext cx="2084831" cy="830580"/>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どの時点まで巻き戻せるようにするか</a:t>
            </a:r>
          </a:p>
        </p:txBody>
      </p:sp>
      <p:sp>
        <p:nvSpPr>
          <p:cNvPr id="21" name="TextBox 20"/>
          <p:cNvSpPr txBox="1"/>
          <p:nvPr/>
        </p:nvSpPr>
        <p:spPr>
          <a:xfrm>
            <a:off x="3108960" y="3125216"/>
            <a:ext cx="566928" cy="830580"/>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Q11</a:t>
            </a:r>
          </a:p>
        </p:txBody>
      </p:sp>
      <p:sp>
        <p:nvSpPr>
          <p:cNvPr id="22" name="TextBox 21"/>
          <p:cNvSpPr txBox="1"/>
          <p:nvPr/>
        </p:nvSpPr>
        <p:spPr>
          <a:xfrm>
            <a:off x="3767328" y="3125216"/>
            <a:ext cx="3218688" cy="830580"/>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直近 35 日以内の任意の時点へ戻せる【推】</a:t>
            </a:r>
          </a:p>
          <a:p>
            <a:pPr algn="l">
              <a:lnSpc>
                <a:spcPct val="125000"/>
              </a:lnSpc>
            </a:pPr>
            <a:r>
              <a:rPr sz="1050" b="0">
                <a:solidFill>
                  <a:srgbClr val="5A6472"/>
                </a:solidFill>
                <a:latin typeface="Yu Gothic UI"/>
              </a:rPr>
              <a:t>B) もっと短くてよい（費用を下げたい）</a:t>
            </a:r>
          </a:p>
          <a:p>
            <a:pPr algn="l">
              <a:lnSpc>
                <a:spcPct val="125000"/>
              </a:lnSpc>
            </a:pPr>
            <a:r>
              <a:rPr sz="1050" b="0">
                <a:solidFill>
                  <a:srgbClr val="5A6472"/>
                </a:solidFill>
                <a:latin typeface="Yu Gothic UI"/>
              </a:rPr>
              <a:t>C) 35 日より長い期間</a:t>
            </a:r>
          </a:p>
        </p:txBody>
      </p:sp>
      <p:sp>
        <p:nvSpPr>
          <p:cNvPr id="23" name="TextBox 22"/>
          <p:cNvSpPr txBox="1"/>
          <p:nvPr/>
        </p:nvSpPr>
        <p:spPr>
          <a:xfrm>
            <a:off x="7114032" y="3125216"/>
            <a:ext cx="4206240" cy="830580"/>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誤削除やランサム被害からの主たる復旧手段です。実力は 1 秒単位の精度・最大 35 日。この仕組み自体は攻撃者に消される可能性があるため、変更不能な控えを併設します。</a:t>
            </a:r>
          </a:p>
        </p:txBody>
      </p:sp>
      <p:sp>
        <p:nvSpPr>
          <p:cNvPr id="24" name="Rectangle 23"/>
          <p:cNvSpPr/>
          <p:nvPr/>
        </p:nvSpPr>
        <p:spPr>
          <a:xfrm>
            <a:off x="812800" y="4777613"/>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092956"/>
            <a:ext cx="2084831" cy="657225"/>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切替訓練の頻度</a:t>
            </a:r>
          </a:p>
        </p:txBody>
      </p:sp>
      <p:sp>
        <p:nvSpPr>
          <p:cNvPr id="26" name="TextBox 25"/>
          <p:cNvSpPr txBox="1"/>
          <p:nvPr/>
        </p:nvSpPr>
        <p:spPr>
          <a:xfrm>
            <a:off x="3108960" y="4092956"/>
            <a:ext cx="566928" cy="657225"/>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Q12</a:t>
            </a:r>
          </a:p>
        </p:txBody>
      </p:sp>
      <p:sp>
        <p:nvSpPr>
          <p:cNvPr id="27" name="TextBox 26"/>
          <p:cNvSpPr txBox="1"/>
          <p:nvPr/>
        </p:nvSpPr>
        <p:spPr>
          <a:xfrm>
            <a:off x="3767328" y="4092956"/>
            <a:ext cx="3218688" cy="657225"/>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年 2 回（上期＝大阪を一から作り直す訓練、下期＝データ復元の訓練）【推】</a:t>
            </a:r>
          </a:p>
          <a:p>
            <a:pPr algn="l">
              <a:lnSpc>
                <a:spcPct val="125000"/>
              </a:lnSpc>
            </a:pPr>
            <a:r>
              <a:rPr sz="1050" b="0">
                <a:solidFill>
                  <a:srgbClr val="5A6472"/>
                </a:solidFill>
                <a:latin typeface="Yu Gothic UI"/>
              </a:rPr>
              <a:t>B) 年 1 回／C) それ以上</a:t>
            </a:r>
          </a:p>
        </p:txBody>
      </p:sp>
      <p:sp>
        <p:nvSpPr>
          <p:cNvPr id="28" name="TextBox 27"/>
          <p:cNvSpPr txBox="1"/>
          <p:nvPr/>
        </p:nvSpPr>
        <p:spPr>
          <a:xfrm>
            <a:off x="7114032" y="4092956"/>
            <a:ext cx="4206240" cy="657225"/>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復旧目標を実証するには、インターネット出入口を管理する他組織の参加が必要です。参加の合意が取れないと、復旧時間を証明できません。</a:t>
            </a:r>
          </a:p>
        </p:txBody>
      </p:sp>
      <p:sp>
        <p:nvSpPr>
          <p:cNvPr id="29" name="Rectangle 28"/>
          <p:cNvSpPr/>
          <p:nvPr/>
        </p:nvSpPr>
        <p:spPr>
          <a:xfrm>
            <a:off x="812800" y="4777613"/>
            <a:ext cx="10566349" cy="96774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2800" y="5745353"/>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87341"/>
            <a:ext cx="2084831" cy="830580"/>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切替後に全員が再ログインすることの可否</a:t>
            </a:r>
          </a:p>
        </p:txBody>
      </p:sp>
      <p:sp>
        <p:nvSpPr>
          <p:cNvPr id="32" name="TextBox 31"/>
          <p:cNvSpPr txBox="1"/>
          <p:nvPr/>
        </p:nvSpPr>
        <p:spPr>
          <a:xfrm>
            <a:off x="3108960" y="4887341"/>
            <a:ext cx="566928" cy="830580"/>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Q05 ★</a:t>
            </a:r>
          </a:p>
        </p:txBody>
      </p:sp>
      <p:sp>
        <p:nvSpPr>
          <p:cNvPr id="33" name="TextBox 32"/>
          <p:cNvSpPr txBox="1"/>
          <p:nvPr/>
        </p:nvSpPr>
        <p:spPr>
          <a:xfrm>
            <a:off x="3767328" y="4887341"/>
            <a:ext cx="3218688" cy="830580"/>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許容する（再ログインだけで業務を再開できればよい）【推】</a:t>
            </a:r>
          </a:p>
          <a:p>
            <a:pPr algn="l">
              <a:lnSpc>
                <a:spcPct val="125000"/>
              </a:lnSpc>
            </a:pPr>
            <a:r>
              <a:rPr sz="1050" b="0">
                <a:solidFill>
                  <a:srgbClr val="5A6472"/>
                </a:solidFill>
                <a:latin typeface="Yu Gothic UI"/>
              </a:rPr>
              <a:t>B) 条件付きで許容（条件をご記入）</a:t>
            </a:r>
          </a:p>
          <a:p>
            <a:pPr algn="l">
              <a:lnSpc>
                <a:spcPct val="125000"/>
              </a:lnSpc>
            </a:pPr>
            <a:r>
              <a:rPr sz="1050" b="0">
                <a:solidFill>
                  <a:srgbClr val="5A6472"/>
                </a:solidFill>
                <a:latin typeface="Yu Gothic UI"/>
              </a:rPr>
              <a:t>C) 許容できない</a:t>
            </a:r>
          </a:p>
        </p:txBody>
      </p:sp>
      <p:sp>
        <p:nvSpPr>
          <p:cNvPr id="34" name="TextBox 33"/>
          <p:cNvSpPr txBox="1"/>
          <p:nvPr/>
        </p:nvSpPr>
        <p:spPr>
          <a:xfrm>
            <a:off x="7114032" y="4887341"/>
            <a:ext cx="4206240" cy="830580"/>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ログイン状態を維持するには常時複製が必要で、費用が大きく増えます。現行の手動復旧方式では維持できません。</a:t>
            </a:r>
          </a:p>
        </p:txBody>
      </p:sp>
      <p:sp>
        <p:nvSpPr>
          <p:cNvPr id="35" name="Rectangle 34"/>
          <p:cNvSpPr/>
          <p:nvPr/>
        </p:nvSpPr>
        <p:spPr>
          <a:xfrm>
            <a:off x="812800" y="6415913"/>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5855081"/>
            <a:ext cx="2084831" cy="533400"/>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控えを別の地域にも複製するか</a:t>
            </a:r>
          </a:p>
        </p:txBody>
      </p:sp>
      <p:sp>
        <p:nvSpPr>
          <p:cNvPr id="37" name="TextBox 36"/>
          <p:cNvSpPr txBox="1"/>
          <p:nvPr/>
        </p:nvSpPr>
        <p:spPr>
          <a:xfrm>
            <a:off x="3108960" y="5855081"/>
            <a:ext cx="566928" cy="533400"/>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Q04 ★</a:t>
            </a:r>
          </a:p>
        </p:txBody>
      </p:sp>
      <p:sp>
        <p:nvSpPr>
          <p:cNvPr id="38" name="TextBox 37"/>
          <p:cNvSpPr txBox="1"/>
          <p:nvPr/>
        </p:nvSpPr>
        <p:spPr>
          <a:xfrm>
            <a:off x="3767328" y="5855081"/>
            <a:ext cx="3218688" cy="533400"/>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Q04 の方式選択に従属（案 ② ③ では常時複製になります）</a:t>
            </a:r>
          </a:p>
        </p:txBody>
      </p:sp>
      <p:sp>
        <p:nvSpPr>
          <p:cNvPr id="39" name="TextBox 38"/>
          <p:cNvSpPr txBox="1"/>
          <p:nvPr/>
        </p:nvSpPr>
        <p:spPr>
          <a:xfrm>
            <a:off x="7114032" y="5855081"/>
            <a:ext cx="4206240" cy="533400"/>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案 ① を選んだ場合の複製頻度が別途必要になります。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セキュリティ ①　通行証の有効期間と失効</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5 件</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ログイン後に発行する「通行証」をどれだけ長く有効にし、どう取り消すか。</a:t>
            </a:r>
          </a:p>
        </p:txBody>
      </p:sp>
      <p:sp>
        <p:nvSpPr>
          <p:cNvPr id="6" name="Rectangle 5"/>
          <p:cNvSpPr/>
          <p:nvPr/>
        </p:nvSpPr>
        <p:spPr>
          <a:xfrm>
            <a:off x="812800" y="1014984"/>
            <a:ext cx="36576" cy="484124"/>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4841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いずれもアプリ側の実装に影響し、後から変えると全アプリの改修になります。この 5 件は設問票ではなく、この場でトレードオフをご説明したうえで合意させていただきたい項目です。</a:t>
            </a:r>
          </a:p>
        </p:txBody>
      </p:sp>
      <p:sp>
        <p:nvSpPr>
          <p:cNvPr id="8" name="Rectangle 7"/>
          <p:cNvSpPr/>
          <p:nvPr/>
        </p:nvSpPr>
        <p:spPr>
          <a:xfrm>
            <a:off x="812800" y="1718564"/>
            <a:ext cx="10566349" cy="3291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96288"/>
            <a:ext cx="2084831"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ご確認いただきたいこと</a:t>
            </a:r>
          </a:p>
        </p:txBody>
      </p:sp>
      <p:sp>
        <p:nvSpPr>
          <p:cNvPr id="10" name="TextBox 9"/>
          <p:cNvSpPr txBox="1"/>
          <p:nvPr/>
        </p:nvSpPr>
        <p:spPr>
          <a:xfrm>
            <a:off x="3108960" y="1796288"/>
            <a:ext cx="566928"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設問</a:t>
            </a:r>
          </a:p>
        </p:txBody>
      </p:sp>
      <p:sp>
        <p:nvSpPr>
          <p:cNvPr id="11" name="TextBox 10"/>
          <p:cNvSpPr txBox="1"/>
          <p:nvPr/>
        </p:nvSpPr>
        <p:spPr>
          <a:xfrm>
            <a:off x="3767328" y="1796288"/>
            <a:ext cx="3218688"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選択肢（【推】＝当方の推奨・現行の暫定値）</a:t>
            </a:r>
          </a:p>
        </p:txBody>
      </p:sp>
      <p:sp>
        <p:nvSpPr>
          <p:cNvPr id="12" name="TextBox 11"/>
          <p:cNvSpPr txBox="1"/>
          <p:nvPr/>
        </p:nvSpPr>
        <p:spPr>
          <a:xfrm>
            <a:off x="7114032" y="1796288"/>
            <a:ext cx="420624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未確定だと何が決まらないか</a:t>
            </a:r>
          </a:p>
        </p:txBody>
      </p:sp>
      <p:sp>
        <p:nvSpPr>
          <p:cNvPr id="13" name="Rectangle 12"/>
          <p:cNvSpPr/>
          <p:nvPr/>
        </p:nvSpPr>
        <p:spPr>
          <a:xfrm>
            <a:off x="812800" y="2842133"/>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157476"/>
            <a:ext cx="2084831" cy="657225"/>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通行証の有効時間</a:t>
            </a:r>
          </a:p>
        </p:txBody>
      </p:sp>
      <p:sp>
        <p:nvSpPr>
          <p:cNvPr id="15" name="TextBox 14"/>
          <p:cNvSpPr txBox="1"/>
          <p:nvPr/>
        </p:nvSpPr>
        <p:spPr>
          <a:xfrm>
            <a:off x="3108960" y="2157476"/>
            <a:ext cx="566928" cy="657225"/>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説明資料</a:t>
            </a:r>
          </a:p>
        </p:txBody>
      </p:sp>
      <p:sp>
        <p:nvSpPr>
          <p:cNvPr id="16" name="TextBox 15"/>
          <p:cNvSpPr txBox="1"/>
          <p:nvPr/>
        </p:nvSpPr>
        <p:spPr>
          <a:xfrm>
            <a:off x="3767328" y="2157476"/>
            <a:ext cx="3218688" cy="657225"/>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① 15 分</a:t>
            </a:r>
          </a:p>
          <a:p>
            <a:pPr algn="l">
              <a:lnSpc>
                <a:spcPct val="125000"/>
              </a:lnSpc>
            </a:pPr>
            <a:r>
              <a:rPr sz="1050" b="0">
                <a:solidFill>
                  <a:srgbClr val="5A6472"/>
                </a:solidFill>
                <a:latin typeface="Yu Gothic UI"/>
              </a:rPr>
              <a:t>② 30 分【推・現行設計値】</a:t>
            </a:r>
          </a:p>
          <a:p>
            <a:pPr algn="l">
              <a:lnSpc>
                <a:spcPct val="125000"/>
              </a:lnSpc>
            </a:pPr>
            <a:r>
              <a:rPr sz="1050" b="0">
                <a:solidFill>
                  <a:srgbClr val="5A6472"/>
                </a:solidFill>
                <a:latin typeface="Yu Gothic UI"/>
              </a:rPr>
              <a:t>③ 60 分</a:t>
            </a:r>
          </a:p>
        </p:txBody>
      </p:sp>
      <p:sp>
        <p:nvSpPr>
          <p:cNvPr id="17" name="TextBox 16"/>
          <p:cNvSpPr txBox="1"/>
          <p:nvPr/>
        </p:nvSpPr>
        <p:spPr>
          <a:xfrm>
            <a:off x="7114032" y="2157476"/>
            <a:ext cx="4206240" cy="657225"/>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短くすると取り消し漏れの残る時間は縮みますが、発行回数が増えて負荷が上がります。</a:t>
            </a:r>
          </a:p>
        </p:txBody>
      </p:sp>
      <p:sp>
        <p:nvSpPr>
          <p:cNvPr id="18" name="Rectangle 17"/>
          <p:cNvSpPr/>
          <p:nvPr/>
        </p:nvSpPr>
        <p:spPr>
          <a:xfrm>
            <a:off x="812800" y="2842133"/>
            <a:ext cx="10566349" cy="67056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800" y="3512693"/>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951861"/>
            <a:ext cx="2084831" cy="533400"/>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再ログインなしで使い続けられる期間</a:t>
            </a:r>
          </a:p>
        </p:txBody>
      </p:sp>
      <p:sp>
        <p:nvSpPr>
          <p:cNvPr id="21" name="TextBox 20"/>
          <p:cNvSpPr txBox="1"/>
          <p:nvPr/>
        </p:nvSpPr>
        <p:spPr>
          <a:xfrm>
            <a:off x="3108960" y="2951861"/>
            <a:ext cx="566928" cy="533400"/>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説明資料</a:t>
            </a:r>
          </a:p>
        </p:txBody>
      </p:sp>
      <p:sp>
        <p:nvSpPr>
          <p:cNvPr id="22" name="TextBox 21"/>
          <p:cNvSpPr txBox="1"/>
          <p:nvPr/>
        </p:nvSpPr>
        <p:spPr>
          <a:xfrm>
            <a:off x="3767328" y="2951861"/>
            <a:ext cx="3218688" cy="533400"/>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設定上は 30 日。ただし実効は最長 24 時間です</a:t>
            </a:r>
          </a:p>
        </p:txBody>
      </p:sp>
      <p:sp>
        <p:nvSpPr>
          <p:cNvPr id="23" name="TextBox 22"/>
          <p:cNvSpPr txBox="1"/>
          <p:nvPr/>
        </p:nvSpPr>
        <p:spPr>
          <a:xfrm>
            <a:off x="7114032" y="2951861"/>
            <a:ext cx="4206240" cy="533400"/>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「30 日ログインしなくてよい」という意味ではありません。ここの認識が合っていないと、リリース後に期待違いが生じます。</a:t>
            </a:r>
          </a:p>
        </p:txBody>
      </p:sp>
      <p:sp>
        <p:nvSpPr>
          <p:cNvPr id="24" name="Rectangle 23"/>
          <p:cNvSpPr/>
          <p:nvPr/>
        </p:nvSpPr>
        <p:spPr>
          <a:xfrm>
            <a:off x="812800" y="4133723"/>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622421"/>
            <a:ext cx="2084831" cy="483870"/>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本人確認情報の有効時間</a:t>
            </a:r>
          </a:p>
        </p:txBody>
      </p:sp>
      <p:sp>
        <p:nvSpPr>
          <p:cNvPr id="26" name="TextBox 25"/>
          <p:cNvSpPr txBox="1"/>
          <p:nvPr/>
        </p:nvSpPr>
        <p:spPr>
          <a:xfrm>
            <a:off x="3108960" y="3622421"/>
            <a:ext cx="566928" cy="483870"/>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説明資料</a:t>
            </a:r>
          </a:p>
        </p:txBody>
      </p:sp>
      <p:sp>
        <p:nvSpPr>
          <p:cNvPr id="27" name="TextBox 26"/>
          <p:cNvSpPr txBox="1"/>
          <p:nvPr/>
        </p:nvSpPr>
        <p:spPr>
          <a:xfrm>
            <a:off x="3767328" y="3622421"/>
            <a:ext cx="3218688" cy="483870"/>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① 通行証と同じ 30 分</a:t>
            </a:r>
          </a:p>
          <a:p>
            <a:pPr algn="l">
              <a:lnSpc>
                <a:spcPct val="125000"/>
              </a:lnSpc>
            </a:pPr>
            <a:r>
              <a:rPr sz="1050" b="0">
                <a:solidFill>
                  <a:srgbClr val="5A6472"/>
                </a:solidFill>
                <a:latin typeface="Yu Gothic UI"/>
              </a:rPr>
              <a:t>② 5 分（受け渡し直後のみ有効）【推】</a:t>
            </a:r>
          </a:p>
        </p:txBody>
      </p:sp>
      <p:sp>
        <p:nvSpPr>
          <p:cNvPr id="28" name="TextBox 27"/>
          <p:cNvSpPr txBox="1"/>
          <p:nvPr/>
        </p:nvSpPr>
        <p:spPr>
          <a:xfrm>
            <a:off x="7114032" y="3622421"/>
            <a:ext cx="4206240" cy="483870"/>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通行証とは別物で、アプリが利用者本人を識別するための情報です。アプリ側の実装に影響します。</a:t>
            </a:r>
          </a:p>
        </p:txBody>
      </p:sp>
      <p:sp>
        <p:nvSpPr>
          <p:cNvPr id="29" name="Rectangle 28"/>
          <p:cNvSpPr/>
          <p:nvPr/>
        </p:nvSpPr>
        <p:spPr>
          <a:xfrm>
            <a:off x="812800" y="4133723"/>
            <a:ext cx="10566349" cy="67056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2800" y="4804283"/>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243451"/>
            <a:ext cx="2084831" cy="533400"/>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更新のたびに引換券を作り替えるか</a:t>
            </a:r>
          </a:p>
        </p:txBody>
      </p:sp>
      <p:sp>
        <p:nvSpPr>
          <p:cNvPr id="32" name="TextBox 31"/>
          <p:cNvSpPr txBox="1"/>
          <p:nvPr/>
        </p:nvSpPr>
        <p:spPr>
          <a:xfrm>
            <a:off x="3108960" y="4243451"/>
            <a:ext cx="566928" cy="533400"/>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説明資料</a:t>
            </a:r>
          </a:p>
        </p:txBody>
      </p:sp>
      <p:sp>
        <p:nvSpPr>
          <p:cNvPr id="33" name="TextBox 32"/>
          <p:cNvSpPr txBox="1"/>
          <p:nvPr/>
        </p:nvSpPr>
        <p:spPr>
          <a:xfrm>
            <a:off x="3767328" y="4243451"/>
            <a:ext cx="3218688" cy="533400"/>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① 採用する【推・現行は有効】</a:t>
            </a:r>
          </a:p>
          <a:p>
            <a:pPr algn="l">
              <a:lnSpc>
                <a:spcPct val="125000"/>
              </a:lnSpc>
            </a:pPr>
            <a:r>
              <a:rPr sz="1050" b="0">
                <a:solidFill>
                  <a:srgbClr val="5A6472"/>
                </a:solidFill>
                <a:latin typeface="Yu Gothic UI"/>
              </a:rPr>
              <a:t>② 採用しない</a:t>
            </a:r>
          </a:p>
        </p:txBody>
      </p:sp>
      <p:sp>
        <p:nvSpPr>
          <p:cNvPr id="34" name="TextBox 33"/>
          <p:cNvSpPr txBox="1"/>
          <p:nvPr/>
        </p:nvSpPr>
        <p:spPr>
          <a:xfrm>
            <a:off x="7114032" y="4243451"/>
            <a:ext cx="4206240" cy="533400"/>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盗まれた引換券の再利用を検知して一族ごと止められます。反面、通信が切れたときに正規の利用者が締め出される場合があります。</a:t>
            </a:r>
          </a:p>
        </p:txBody>
      </p:sp>
      <p:sp>
        <p:nvSpPr>
          <p:cNvPr id="35" name="Rectangle 34"/>
          <p:cNvSpPr/>
          <p:nvPr/>
        </p:nvSpPr>
        <p:spPr>
          <a:xfrm>
            <a:off x="812800" y="5598668"/>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4914011"/>
            <a:ext cx="2084831" cy="657225"/>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発行済みの通行証を取り消せるようにするか</a:t>
            </a:r>
          </a:p>
        </p:txBody>
      </p:sp>
      <p:sp>
        <p:nvSpPr>
          <p:cNvPr id="37" name="TextBox 36"/>
          <p:cNvSpPr txBox="1"/>
          <p:nvPr/>
        </p:nvSpPr>
        <p:spPr>
          <a:xfrm>
            <a:off x="3108960" y="4914011"/>
            <a:ext cx="566928" cy="657225"/>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説明資料</a:t>
            </a:r>
          </a:p>
        </p:txBody>
      </p:sp>
      <p:sp>
        <p:nvSpPr>
          <p:cNvPr id="38" name="TextBox 37"/>
          <p:cNvSpPr txBox="1"/>
          <p:nvPr/>
        </p:nvSpPr>
        <p:spPr>
          <a:xfrm>
            <a:off x="3767328" y="4914011"/>
            <a:ext cx="3218688" cy="657225"/>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① 用意する（必要な即時性の水準をご指定ください）【推】</a:t>
            </a:r>
          </a:p>
          <a:p>
            <a:pPr algn="l">
              <a:lnSpc>
                <a:spcPct val="125000"/>
              </a:lnSpc>
            </a:pPr>
            <a:r>
              <a:rPr sz="1050" b="0">
                <a:solidFill>
                  <a:srgbClr val="5A6472"/>
                </a:solidFill>
                <a:latin typeface="Yu Gothic UI"/>
              </a:rPr>
              <a:t>② 用意しない</a:t>
            </a:r>
          </a:p>
        </p:txBody>
      </p:sp>
      <p:sp>
        <p:nvSpPr>
          <p:cNvPr id="39" name="TextBox 38"/>
          <p:cNvSpPr txBox="1"/>
          <p:nvPr/>
        </p:nvSpPr>
        <p:spPr>
          <a:xfrm>
            <a:off x="7114032" y="4914011"/>
            <a:ext cx="4206240" cy="657225"/>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取り消しても、受け取り側のアプリに伝わるまで最大 30 分は使えてしまいます。この限界を許容できるかで、追加実装の要否が決まります。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セキュリティ ②　保管方式・攻撃対策・検査</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5 件</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パスワードをどう保管し、攻撃をどう防ぎ、どう検査するか。</a:t>
            </a:r>
          </a:p>
        </p:txBody>
      </p:sp>
      <p:sp>
        <p:nvSpPr>
          <p:cNvPr id="6" name="Rectangle 5"/>
          <p:cNvSpPr/>
          <p:nvPr/>
        </p:nvSpPr>
        <p:spPr>
          <a:xfrm>
            <a:off x="812800" y="1014984"/>
            <a:ext cx="36576" cy="484124"/>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4841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上の 3 件は当方の推奨どおりで支障なければご承認だけいただければ十分です。下の 2 件は外部サービスの利用と外部委託費用を伴うため、実施の可否をご判断ください。</a:t>
            </a:r>
          </a:p>
        </p:txBody>
      </p:sp>
      <p:sp>
        <p:nvSpPr>
          <p:cNvPr id="8" name="Rectangle 7"/>
          <p:cNvSpPr/>
          <p:nvPr/>
        </p:nvSpPr>
        <p:spPr>
          <a:xfrm>
            <a:off x="812800" y="1718564"/>
            <a:ext cx="10566349" cy="3291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96288"/>
            <a:ext cx="2084831"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ご確認いただきたいこと</a:t>
            </a:r>
          </a:p>
        </p:txBody>
      </p:sp>
      <p:sp>
        <p:nvSpPr>
          <p:cNvPr id="10" name="TextBox 9"/>
          <p:cNvSpPr txBox="1"/>
          <p:nvPr/>
        </p:nvSpPr>
        <p:spPr>
          <a:xfrm>
            <a:off x="3108960" y="1796288"/>
            <a:ext cx="566928"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設問</a:t>
            </a:r>
          </a:p>
        </p:txBody>
      </p:sp>
      <p:sp>
        <p:nvSpPr>
          <p:cNvPr id="11" name="TextBox 10"/>
          <p:cNvSpPr txBox="1"/>
          <p:nvPr/>
        </p:nvSpPr>
        <p:spPr>
          <a:xfrm>
            <a:off x="3767328" y="1796288"/>
            <a:ext cx="3218688"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選択肢（【推】＝当方の推奨・現行の暫定値）</a:t>
            </a:r>
          </a:p>
        </p:txBody>
      </p:sp>
      <p:sp>
        <p:nvSpPr>
          <p:cNvPr id="12" name="TextBox 11"/>
          <p:cNvSpPr txBox="1"/>
          <p:nvPr/>
        </p:nvSpPr>
        <p:spPr>
          <a:xfrm>
            <a:off x="7114032" y="1796288"/>
            <a:ext cx="420624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未確定だと何が決まらないか</a:t>
            </a:r>
          </a:p>
        </p:txBody>
      </p:sp>
      <p:sp>
        <p:nvSpPr>
          <p:cNvPr id="13" name="Rectangle 12"/>
          <p:cNvSpPr/>
          <p:nvPr/>
        </p:nvSpPr>
        <p:spPr>
          <a:xfrm>
            <a:off x="812800" y="2668778"/>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157476"/>
            <a:ext cx="2084831" cy="483870"/>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通行証の署名方式</a:t>
            </a:r>
          </a:p>
        </p:txBody>
      </p:sp>
      <p:sp>
        <p:nvSpPr>
          <p:cNvPr id="15" name="TextBox 14"/>
          <p:cNvSpPr txBox="1"/>
          <p:nvPr/>
        </p:nvSpPr>
        <p:spPr>
          <a:xfrm>
            <a:off x="3108960" y="2157476"/>
            <a:ext cx="566928" cy="483870"/>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説明資料</a:t>
            </a:r>
          </a:p>
        </p:txBody>
      </p:sp>
      <p:sp>
        <p:nvSpPr>
          <p:cNvPr id="16" name="TextBox 15"/>
          <p:cNvSpPr txBox="1"/>
          <p:nvPr/>
        </p:nvSpPr>
        <p:spPr>
          <a:xfrm>
            <a:off x="3767328" y="2157476"/>
            <a:ext cx="3218688" cy="483870"/>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① ES256（楕円曲線）</a:t>
            </a:r>
          </a:p>
          <a:p>
            <a:pPr algn="l">
              <a:lnSpc>
                <a:spcPct val="125000"/>
              </a:lnSpc>
            </a:pPr>
            <a:r>
              <a:rPr sz="1050" b="0">
                <a:solidFill>
                  <a:srgbClr val="5A6472"/>
                </a:solidFill>
                <a:latin typeface="Yu Gothic UI"/>
              </a:rPr>
              <a:t>② RS256【推・現行設計値】</a:t>
            </a:r>
          </a:p>
        </p:txBody>
      </p:sp>
      <p:sp>
        <p:nvSpPr>
          <p:cNvPr id="17" name="TextBox 16"/>
          <p:cNvSpPr txBox="1"/>
          <p:nvPr/>
        </p:nvSpPr>
        <p:spPr>
          <a:xfrm>
            <a:off x="7114032" y="2157476"/>
            <a:ext cx="4206240" cy="483870"/>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鍵の長さ・検証速度・アプリ側の互換性が変わります。後から変えるのが難しい部分です。</a:t>
            </a:r>
          </a:p>
        </p:txBody>
      </p:sp>
      <p:sp>
        <p:nvSpPr>
          <p:cNvPr id="18" name="Rectangle 17"/>
          <p:cNvSpPr/>
          <p:nvPr/>
        </p:nvSpPr>
        <p:spPr>
          <a:xfrm>
            <a:off x="812800" y="2668778"/>
            <a:ext cx="10566349" cy="794385"/>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800" y="3463163"/>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778506"/>
            <a:ext cx="2084831" cy="657225"/>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パスワードの保管方式と強度</a:t>
            </a:r>
          </a:p>
        </p:txBody>
      </p:sp>
      <p:sp>
        <p:nvSpPr>
          <p:cNvPr id="21" name="TextBox 20"/>
          <p:cNvSpPr txBox="1"/>
          <p:nvPr/>
        </p:nvSpPr>
        <p:spPr>
          <a:xfrm>
            <a:off x="3108960" y="2778506"/>
            <a:ext cx="566928" cy="657225"/>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説明資料</a:t>
            </a:r>
          </a:p>
        </p:txBody>
      </p:sp>
      <p:sp>
        <p:nvSpPr>
          <p:cNvPr id="22" name="TextBox 21"/>
          <p:cNvSpPr txBox="1"/>
          <p:nvPr/>
        </p:nvSpPr>
        <p:spPr>
          <a:xfrm>
            <a:off x="3767328" y="2778506"/>
            <a:ext cx="3218688" cy="657225"/>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① 製品の既定値（PBKDF2-SHA512）【推・現行設計値】</a:t>
            </a:r>
          </a:p>
          <a:p>
            <a:pPr algn="l">
              <a:lnSpc>
                <a:spcPct val="125000"/>
              </a:lnSpc>
            </a:pPr>
            <a:r>
              <a:rPr sz="1050" b="0">
                <a:solidFill>
                  <a:srgbClr val="5A6472"/>
                </a:solidFill>
                <a:latin typeface="Yu Gothic UI"/>
              </a:rPr>
              <a:t>② より強い設定にする</a:t>
            </a:r>
          </a:p>
        </p:txBody>
      </p:sp>
      <p:sp>
        <p:nvSpPr>
          <p:cNvPr id="23" name="TextBox 22"/>
          <p:cNvSpPr txBox="1"/>
          <p:nvPr/>
        </p:nvSpPr>
        <p:spPr>
          <a:xfrm>
            <a:off x="7114032" y="2778506"/>
            <a:ext cx="4206240" cy="657225"/>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強度を上げるほど安全ですが、ログインの応答時間が延びて設備も増えます。</a:t>
            </a:r>
          </a:p>
        </p:txBody>
      </p:sp>
      <p:sp>
        <p:nvSpPr>
          <p:cNvPr id="24" name="Rectangle 23"/>
          <p:cNvSpPr/>
          <p:nvPr/>
        </p:nvSpPr>
        <p:spPr>
          <a:xfrm>
            <a:off x="812800" y="4257548"/>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572891"/>
            <a:ext cx="2084831" cy="657225"/>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総当たり攻撃への対処方式</a:t>
            </a:r>
          </a:p>
        </p:txBody>
      </p:sp>
      <p:sp>
        <p:nvSpPr>
          <p:cNvPr id="26" name="TextBox 25"/>
          <p:cNvSpPr txBox="1"/>
          <p:nvPr/>
        </p:nvSpPr>
        <p:spPr>
          <a:xfrm>
            <a:off x="3108960" y="3572891"/>
            <a:ext cx="566928" cy="657225"/>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説明資料</a:t>
            </a:r>
          </a:p>
        </p:txBody>
      </p:sp>
      <p:sp>
        <p:nvSpPr>
          <p:cNvPr id="27" name="TextBox 26"/>
          <p:cNvSpPr txBox="1"/>
          <p:nvPr/>
        </p:nvSpPr>
        <p:spPr>
          <a:xfrm>
            <a:off x="3767328" y="3572891"/>
            <a:ext cx="3218688" cy="657225"/>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① 回数制限＋一時ロック【推・現行設計値】</a:t>
            </a:r>
          </a:p>
          <a:p>
            <a:pPr algn="l">
              <a:lnSpc>
                <a:spcPct val="125000"/>
              </a:lnSpc>
            </a:pPr>
            <a:r>
              <a:rPr sz="1050" b="0">
                <a:solidFill>
                  <a:srgbClr val="5A6472"/>
                </a:solidFill>
                <a:latin typeface="Yu Gothic UI"/>
              </a:rPr>
              <a:t>② 遅延を挿入する</a:t>
            </a:r>
          </a:p>
          <a:p>
            <a:pPr algn="l">
              <a:lnSpc>
                <a:spcPct val="125000"/>
              </a:lnSpc>
            </a:pPr>
            <a:r>
              <a:rPr sz="1050" b="0">
                <a:solidFill>
                  <a:srgbClr val="5A6472"/>
                </a:solidFill>
                <a:latin typeface="Yu Gothic UI"/>
              </a:rPr>
              <a:t>③ 接続元単位で制限する</a:t>
            </a:r>
          </a:p>
        </p:txBody>
      </p:sp>
      <p:sp>
        <p:nvSpPr>
          <p:cNvPr id="28" name="TextBox 27"/>
          <p:cNvSpPr txBox="1"/>
          <p:nvPr/>
        </p:nvSpPr>
        <p:spPr>
          <a:xfrm>
            <a:off x="7114032" y="3572891"/>
            <a:ext cx="4206240" cy="657225"/>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方式ごとに副作用が異なり、正規の利用者を巻き込む度合いが変わります。</a:t>
            </a:r>
          </a:p>
        </p:txBody>
      </p:sp>
      <p:sp>
        <p:nvSpPr>
          <p:cNvPr id="29" name="Rectangle 28"/>
          <p:cNvSpPr/>
          <p:nvPr/>
        </p:nvSpPr>
        <p:spPr>
          <a:xfrm>
            <a:off x="812800" y="4257548"/>
            <a:ext cx="10566349" cy="794385"/>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2800" y="5051933"/>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367276"/>
            <a:ext cx="2084831" cy="657225"/>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世の中に流出したパスワードを拒否するか</a:t>
            </a:r>
          </a:p>
        </p:txBody>
      </p:sp>
      <p:sp>
        <p:nvSpPr>
          <p:cNvPr id="32" name="TextBox 31"/>
          <p:cNvSpPr txBox="1"/>
          <p:nvPr/>
        </p:nvSpPr>
        <p:spPr>
          <a:xfrm>
            <a:off x="3108960" y="4367276"/>
            <a:ext cx="566928" cy="657225"/>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Q88</a:t>
            </a:r>
          </a:p>
        </p:txBody>
      </p:sp>
      <p:sp>
        <p:nvSpPr>
          <p:cNvPr id="33" name="TextBox 32"/>
          <p:cNvSpPr txBox="1"/>
          <p:nvPr/>
        </p:nvSpPr>
        <p:spPr>
          <a:xfrm>
            <a:off x="3767328" y="4367276"/>
            <a:ext cx="3218688" cy="657225"/>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入れる（外部の照合サービスを利用）【推】</a:t>
            </a:r>
          </a:p>
          <a:p>
            <a:pPr algn="l">
              <a:lnSpc>
                <a:spcPct val="125000"/>
              </a:lnSpc>
            </a:pPr>
            <a:r>
              <a:rPr sz="1050" b="0">
                <a:solidFill>
                  <a:srgbClr val="5A6472"/>
                </a:solidFill>
                <a:latin typeface="Yu Gothic UI"/>
              </a:rPr>
              <a:t>B) 入れない（文字数と文字種のルールのみ）</a:t>
            </a:r>
          </a:p>
          <a:p>
            <a:pPr algn="l">
              <a:lnSpc>
                <a:spcPct val="125000"/>
              </a:lnSpc>
            </a:pPr>
            <a:r>
              <a:rPr sz="1050" b="0">
                <a:solidFill>
                  <a:srgbClr val="5A6472"/>
                </a:solidFill>
                <a:latin typeface="Yu Gothic UI"/>
              </a:rPr>
              <a:t>C) 未確定</a:t>
            </a:r>
          </a:p>
        </p:txBody>
      </p:sp>
      <p:sp>
        <p:nvSpPr>
          <p:cNvPr id="34" name="TextBox 33"/>
          <p:cNvSpPr txBox="1"/>
          <p:nvPr/>
        </p:nvSpPr>
        <p:spPr>
          <a:xfrm>
            <a:off x="7114032" y="4367276"/>
            <a:ext cx="4206240" cy="657225"/>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外部サービスへの問い合わせを伴うため、外部通信の可否をご確認ください。平文は送らない方式です。外部が障害のときは照合をとばし、ログインできることを優先します。</a:t>
            </a:r>
          </a:p>
        </p:txBody>
      </p:sp>
      <p:sp>
        <p:nvSpPr>
          <p:cNvPr id="35" name="Rectangle 34"/>
          <p:cNvSpPr/>
          <p:nvPr/>
        </p:nvSpPr>
        <p:spPr>
          <a:xfrm>
            <a:off x="812800" y="6019673"/>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5161661"/>
            <a:ext cx="2084831" cy="830580"/>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外部業者による疑似攻撃の検査</a:t>
            </a:r>
          </a:p>
        </p:txBody>
      </p:sp>
      <p:sp>
        <p:nvSpPr>
          <p:cNvPr id="37" name="TextBox 36"/>
          <p:cNvSpPr txBox="1"/>
          <p:nvPr/>
        </p:nvSpPr>
        <p:spPr>
          <a:xfrm>
            <a:off x="3108960" y="5161661"/>
            <a:ext cx="566928" cy="830580"/>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Q93</a:t>
            </a:r>
          </a:p>
        </p:txBody>
      </p:sp>
      <p:sp>
        <p:nvSpPr>
          <p:cNvPr id="38" name="TextBox 37"/>
          <p:cNvSpPr txBox="1"/>
          <p:nvPr/>
        </p:nvSpPr>
        <p:spPr>
          <a:xfrm>
            <a:off x="3767328" y="5161661"/>
            <a:ext cx="3218688" cy="830580"/>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リリース前に 1 回＋以降は年 1 回【推】</a:t>
            </a:r>
          </a:p>
          <a:p>
            <a:pPr algn="l">
              <a:lnSpc>
                <a:spcPct val="125000"/>
              </a:lnSpc>
            </a:pPr>
            <a:r>
              <a:rPr sz="1050" b="0">
                <a:solidFill>
                  <a:srgbClr val="5A6472"/>
                </a:solidFill>
                <a:latin typeface="Yu Gothic UI"/>
              </a:rPr>
              <a:t>B) リリース前に 1 回のみ</a:t>
            </a:r>
          </a:p>
          <a:p>
            <a:pPr algn="l">
              <a:lnSpc>
                <a:spcPct val="125000"/>
              </a:lnSpc>
            </a:pPr>
            <a:r>
              <a:rPr sz="1050" b="0">
                <a:solidFill>
                  <a:srgbClr val="5A6472"/>
                </a:solidFill>
                <a:latin typeface="Yu Gothic UI"/>
              </a:rPr>
              <a:t>C) 年 2 回以上／D) 実施しない</a:t>
            </a:r>
          </a:p>
        </p:txBody>
      </p:sp>
      <p:sp>
        <p:nvSpPr>
          <p:cNvPr id="39" name="TextBox 38"/>
          <p:cNvSpPr txBox="1"/>
          <p:nvPr/>
        </p:nvSpPr>
        <p:spPr>
          <a:xfrm>
            <a:off x="7114032" y="5161661"/>
            <a:ext cx="4206240" cy="830580"/>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外部委託が前提で、対象範囲と頻度がそのまま費用になります。費用とスケジュールが別途必要です。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コンプライアンスと法令 ①　データの置き場所と適用法令</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4 件</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誰のデータを、どこに置き、どの国の法律に従うか。</a:t>
            </a:r>
          </a:p>
        </p:txBody>
      </p:sp>
      <p:sp>
        <p:nvSpPr>
          <p:cNvPr id="6" name="Rectangle 5"/>
          <p:cNvSpPr/>
          <p:nvPr/>
        </p:nvSpPr>
        <p:spPr>
          <a:xfrm>
            <a:off x="812800" y="1014984"/>
            <a:ext cx="36576" cy="484124"/>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4841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この 4 件は「日本国内の利用者のみ」という前提が崩れると、データの置き場所と同意の取り方が変わり、設計の見直しが発生します。まずその前提のご確認をお願いします。</a:t>
            </a:r>
          </a:p>
        </p:txBody>
      </p:sp>
      <p:sp>
        <p:nvSpPr>
          <p:cNvPr id="8" name="Rectangle 7"/>
          <p:cNvSpPr/>
          <p:nvPr/>
        </p:nvSpPr>
        <p:spPr>
          <a:xfrm>
            <a:off x="812800" y="1718564"/>
            <a:ext cx="10566349" cy="3291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96288"/>
            <a:ext cx="2084831"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ご確認いただきたいこと</a:t>
            </a:r>
          </a:p>
        </p:txBody>
      </p:sp>
      <p:sp>
        <p:nvSpPr>
          <p:cNvPr id="10" name="TextBox 9"/>
          <p:cNvSpPr txBox="1"/>
          <p:nvPr/>
        </p:nvSpPr>
        <p:spPr>
          <a:xfrm>
            <a:off x="3108960" y="1796288"/>
            <a:ext cx="566928"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設問</a:t>
            </a:r>
          </a:p>
        </p:txBody>
      </p:sp>
      <p:sp>
        <p:nvSpPr>
          <p:cNvPr id="11" name="TextBox 10"/>
          <p:cNvSpPr txBox="1"/>
          <p:nvPr/>
        </p:nvSpPr>
        <p:spPr>
          <a:xfrm>
            <a:off x="3767328" y="1796288"/>
            <a:ext cx="3218688"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選択肢（【推】＝当方の推奨・現行の暫定値）</a:t>
            </a:r>
          </a:p>
        </p:txBody>
      </p:sp>
      <p:sp>
        <p:nvSpPr>
          <p:cNvPr id="12" name="TextBox 11"/>
          <p:cNvSpPr txBox="1"/>
          <p:nvPr/>
        </p:nvSpPr>
        <p:spPr>
          <a:xfrm>
            <a:off x="7114032" y="1796288"/>
            <a:ext cx="420624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未確定だと何が決まらないか</a:t>
            </a:r>
          </a:p>
        </p:txBody>
      </p:sp>
      <p:sp>
        <p:nvSpPr>
          <p:cNvPr id="13" name="Rectangle 12"/>
          <p:cNvSpPr/>
          <p:nvPr/>
        </p:nvSpPr>
        <p:spPr>
          <a:xfrm>
            <a:off x="812800" y="3188843"/>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157476"/>
            <a:ext cx="2084831" cy="1003935"/>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日本国外に住む利用者が含まれるか</a:t>
            </a:r>
          </a:p>
        </p:txBody>
      </p:sp>
      <p:sp>
        <p:nvSpPr>
          <p:cNvPr id="15" name="TextBox 14"/>
          <p:cNvSpPr txBox="1"/>
          <p:nvPr/>
        </p:nvSpPr>
        <p:spPr>
          <a:xfrm>
            <a:off x="3108960" y="2157476"/>
            <a:ext cx="566928" cy="1003935"/>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Q46 ★</a:t>
            </a:r>
          </a:p>
        </p:txBody>
      </p:sp>
      <p:sp>
        <p:nvSpPr>
          <p:cNvPr id="16" name="TextBox 15"/>
          <p:cNvSpPr txBox="1"/>
          <p:nvPr/>
        </p:nvSpPr>
        <p:spPr>
          <a:xfrm>
            <a:off x="3767328" y="2157476"/>
            <a:ext cx="3218688" cy="1003935"/>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含まれない（国内在住の利用者のみ）【推】</a:t>
            </a:r>
          </a:p>
          <a:p>
            <a:pPr algn="l">
              <a:lnSpc>
                <a:spcPct val="125000"/>
              </a:lnSpc>
            </a:pPr>
            <a:r>
              <a:rPr sz="1050" b="0">
                <a:solidFill>
                  <a:srgbClr val="5A6472"/>
                </a:solidFill>
                <a:latin typeface="Yu Gothic UI"/>
              </a:rPr>
              <a:t>B) 現時点は含まれないが将来含まれる（時期をご記入）</a:t>
            </a:r>
          </a:p>
          <a:p>
            <a:pPr algn="l">
              <a:lnSpc>
                <a:spcPct val="125000"/>
              </a:lnSpc>
            </a:pPr>
            <a:r>
              <a:rPr sz="1050" b="0">
                <a:solidFill>
                  <a:srgbClr val="5A6472"/>
                </a:solidFill>
                <a:latin typeface="Yu Gothic UI"/>
              </a:rPr>
              <a:t>C) すでに含まれる（国・地域名をご記入）／D) 未確定</a:t>
            </a:r>
          </a:p>
        </p:txBody>
      </p:sp>
      <p:sp>
        <p:nvSpPr>
          <p:cNvPr id="17" name="TextBox 16"/>
          <p:cNvSpPr txBox="1"/>
          <p:nvPr/>
        </p:nvSpPr>
        <p:spPr>
          <a:xfrm>
            <a:off x="7114032" y="2157476"/>
            <a:ext cx="4206240" cy="1003935"/>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対象地域があると、その地域の規制に応じてデータの置き場所と同意の取り方が変わります。現在は東京・大阪の 2 か所のみで設計しています。</a:t>
            </a:r>
          </a:p>
        </p:txBody>
      </p:sp>
      <p:sp>
        <p:nvSpPr>
          <p:cNvPr id="18" name="Rectangle 17"/>
          <p:cNvSpPr/>
          <p:nvPr/>
        </p:nvSpPr>
        <p:spPr>
          <a:xfrm>
            <a:off x="812800" y="3188843"/>
            <a:ext cx="10566349" cy="794385"/>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800" y="3983228"/>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298571"/>
            <a:ext cx="2084831" cy="657225"/>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データの保管場所を国内に限定するか</a:t>
            </a:r>
          </a:p>
        </p:txBody>
      </p:sp>
      <p:sp>
        <p:nvSpPr>
          <p:cNvPr id="21" name="TextBox 20"/>
          <p:cNvSpPr txBox="1"/>
          <p:nvPr/>
        </p:nvSpPr>
        <p:spPr>
          <a:xfrm>
            <a:off x="3108960" y="3298571"/>
            <a:ext cx="566928" cy="657225"/>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Q46 ★</a:t>
            </a:r>
          </a:p>
        </p:txBody>
      </p:sp>
      <p:sp>
        <p:nvSpPr>
          <p:cNvPr id="22" name="TextBox 21"/>
          <p:cNvSpPr txBox="1"/>
          <p:nvPr/>
        </p:nvSpPr>
        <p:spPr>
          <a:xfrm>
            <a:off x="3767328" y="3298571"/>
            <a:ext cx="3218688" cy="657225"/>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Q46 に統合（東京・大阪のみで設計中／前提 P-15）</a:t>
            </a:r>
          </a:p>
        </p:txBody>
      </p:sp>
      <p:sp>
        <p:nvSpPr>
          <p:cNvPr id="23" name="TextBox 22"/>
          <p:cNvSpPr txBox="1"/>
          <p:nvPr/>
        </p:nvSpPr>
        <p:spPr>
          <a:xfrm>
            <a:off x="7114032" y="3298571"/>
            <a:ext cx="4206240" cy="657225"/>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別論点として、基盤の管理部分の一部が提供元（Red Hat）側にあります。これを「国内限定」の対象に含めるかどうかが未決です。</a:t>
            </a:r>
          </a:p>
        </p:txBody>
      </p:sp>
      <p:sp>
        <p:nvSpPr>
          <p:cNvPr id="24" name="Rectangle 23"/>
          <p:cNvSpPr/>
          <p:nvPr/>
        </p:nvSpPr>
        <p:spPr>
          <a:xfrm>
            <a:off x="812800" y="4653788"/>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092956"/>
            <a:ext cx="2084831" cy="533400"/>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個人情報保護法への対応範囲と責任分担</a:t>
            </a:r>
          </a:p>
        </p:txBody>
      </p:sp>
      <p:sp>
        <p:nvSpPr>
          <p:cNvPr id="26" name="TextBox 25"/>
          <p:cNvSpPr txBox="1"/>
          <p:nvPr/>
        </p:nvSpPr>
        <p:spPr>
          <a:xfrm>
            <a:off x="3108960" y="4092956"/>
            <a:ext cx="566928" cy="533400"/>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説明資料</a:t>
            </a:r>
          </a:p>
        </p:txBody>
      </p:sp>
      <p:sp>
        <p:nvSpPr>
          <p:cNvPr id="27" name="TextBox 26"/>
          <p:cNvSpPr txBox="1"/>
          <p:nvPr/>
        </p:nvSpPr>
        <p:spPr>
          <a:xfrm>
            <a:off x="3767328" y="4092956"/>
            <a:ext cx="3218688" cy="533400"/>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漏えい時の報告手順／委託先の監督／保有項目の最小化 について、当方と貴社の分担をお決めください</a:t>
            </a:r>
          </a:p>
        </p:txBody>
      </p:sp>
      <p:sp>
        <p:nvSpPr>
          <p:cNvPr id="28" name="TextBox 27"/>
          <p:cNvSpPr txBox="1"/>
          <p:nvPr/>
        </p:nvSpPr>
        <p:spPr>
          <a:xfrm>
            <a:off x="7114032" y="4092956"/>
            <a:ext cx="4206240" cy="533400"/>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線引きが決まらないと、漏えいが起きたときの報告手順が定まりません。</a:t>
            </a:r>
          </a:p>
        </p:txBody>
      </p:sp>
      <p:sp>
        <p:nvSpPr>
          <p:cNvPr id="29" name="Rectangle 28"/>
          <p:cNvSpPr/>
          <p:nvPr/>
        </p:nvSpPr>
        <p:spPr>
          <a:xfrm>
            <a:off x="812800" y="4653788"/>
            <a:ext cx="10566349" cy="794385"/>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2800" y="5448173"/>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63516"/>
            <a:ext cx="2084831" cy="657225"/>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2028 年ごろ施行見込みの法改正への構え</a:t>
            </a:r>
          </a:p>
        </p:txBody>
      </p:sp>
      <p:sp>
        <p:nvSpPr>
          <p:cNvPr id="32" name="TextBox 31"/>
          <p:cNvSpPr txBox="1"/>
          <p:nvPr/>
        </p:nvSpPr>
        <p:spPr>
          <a:xfrm>
            <a:off x="3108960" y="4763516"/>
            <a:ext cx="566928" cy="657225"/>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Q67</a:t>
            </a:r>
          </a:p>
        </p:txBody>
      </p:sp>
      <p:sp>
        <p:nvSpPr>
          <p:cNvPr id="33" name="TextBox 32"/>
          <p:cNvSpPr txBox="1"/>
          <p:nvPr/>
        </p:nvSpPr>
        <p:spPr>
          <a:xfrm>
            <a:off x="3767328" y="4763516"/>
            <a:ext cx="3218688" cy="657225"/>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いま法務でご確認いただく</a:t>
            </a:r>
          </a:p>
          <a:p>
            <a:pPr algn="l">
              <a:lnSpc>
                <a:spcPct val="125000"/>
              </a:lnSpc>
            </a:pPr>
            <a:r>
              <a:rPr sz="1050" b="0">
                <a:solidFill>
                  <a:srgbClr val="5A6472"/>
                </a:solidFill>
                <a:latin typeface="Yu Gothic UI"/>
              </a:rPr>
              <a:t>B) 細則が公表されてから確認する【推】</a:t>
            </a:r>
          </a:p>
          <a:p>
            <a:pPr algn="l">
              <a:lnSpc>
                <a:spcPct val="125000"/>
              </a:lnSpc>
            </a:pPr>
            <a:r>
              <a:rPr sz="1050" b="0">
                <a:solidFill>
                  <a:srgbClr val="5A6472"/>
                </a:solidFill>
                <a:latin typeface="Yu Gothic UI"/>
              </a:rPr>
              <a:t>C) 未確定</a:t>
            </a:r>
          </a:p>
        </p:txBody>
      </p:sp>
      <p:sp>
        <p:nvSpPr>
          <p:cNvPr id="34" name="TextBox 33"/>
          <p:cNvSpPr txBox="1"/>
          <p:nvPr/>
        </p:nvSpPr>
        <p:spPr>
          <a:xfrm>
            <a:off x="7114032" y="4763516"/>
            <a:ext cx="4206240" cy="657225"/>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2026 年 7 月公布の改正で新設される「委託を受けた事業者への特例」に該当すれば、本人からの開示・削除請求への対応義務が大きく軽くなる可能性があります。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コンプライアンスと法令 ②　監査・認証の要否</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5 件</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第三者の証明書や、業界規格への対応が必要になるか。</a:t>
            </a:r>
          </a:p>
        </p:txBody>
      </p:sp>
      <p:sp>
        <p:nvSpPr>
          <p:cNvPr id="6" name="Rectangle 5"/>
          <p:cNvSpPr/>
          <p:nvPr/>
        </p:nvSpPr>
        <p:spPr>
          <a:xfrm>
            <a:off x="812800" y="1014984"/>
            <a:ext cx="36576" cy="484124"/>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4841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いずれも「現時点では不要」という前提で設計を進めています。必要になった場合の影響が大きい項目のため、前提が変わっていないかの再確認と、将来の見込みの有無をお伺いします。</a:t>
            </a:r>
          </a:p>
        </p:txBody>
      </p:sp>
      <p:sp>
        <p:nvSpPr>
          <p:cNvPr id="8" name="Rectangle 7"/>
          <p:cNvSpPr/>
          <p:nvPr/>
        </p:nvSpPr>
        <p:spPr>
          <a:xfrm>
            <a:off x="812800" y="1718564"/>
            <a:ext cx="10566349" cy="3291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96288"/>
            <a:ext cx="2084831"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ご確認いただきたいこと</a:t>
            </a:r>
          </a:p>
        </p:txBody>
      </p:sp>
      <p:sp>
        <p:nvSpPr>
          <p:cNvPr id="10" name="TextBox 9"/>
          <p:cNvSpPr txBox="1"/>
          <p:nvPr/>
        </p:nvSpPr>
        <p:spPr>
          <a:xfrm>
            <a:off x="3108960" y="1796288"/>
            <a:ext cx="566928"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設問</a:t>
            </a:r>
          </a:p>
        </p:txBody>
      </p:sp>
      <p:sp>
        <p:nvSpPr>
          <p:cNvPr id="11" name="TextBox 10"/>
          <p:cNvSpPr txBox="1"/>
          <p:nvPr/>
        </p:nvSpPr>
        <p:spPr>
          <a:xfrm>
            <a:off x="3767328" y="1796288"/>
            <a:ext cx="3218688"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選択肢（【推】＝当方の推奨・現行の暫定値）</a:t>
            </a:r>
          </a:p>
        </p:txBody>
      </p:sp>
      <p:sp>
        <p:nvSpPr>
          <p:cNvPr id="12" name="TextBox 11"/>
          <p:cNvSpPr txBox="1"/>
          <p:nvPr/>
        </p:nvSpPr>
        <p:spPr>
          <a:xfrm>
            <a:off x="7114032" y="1796288"/>
            <a:ext cx="420624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未確定だと何が決まらないか</a:t>
            </a:r>
          </a:p>
        </p:txBody>
      </p:sp>
      <p:sp>
        <p:nvSpPr>
          <p:cNvPr id="13" name="Rectangle 12"/>
          <p:cNvSpPr/>
          <p:nvPr/>
        </p:nvSpPr>
        <p:spPr>
          <a:xfrm>
            <a:off x="812800" y="3100191"/>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157476"/>
            <a:ext cx="2084831" cy="915283"/>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第三者による監査報告書の提出を求められるか</a:t>
            </a:r>
          </a:p>
        </p:txBody>
      </p:sp>
      <p:sp>
        <p:nvSpPr>
          <p:cNvPr id="15" name="TextBox 14"/>
          <p:cNvSpPr txBox="1"/>
          <p:nvPr/>
        </p:nvSpPr>
        <p:spPr>
          <a:xfrm>
            <a:off x="3108960" y="2157476"/>
            <a:ext cx="566928" cy="915283"/>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Q51</a:t>
            </a:r>
          </a:p>
        </p:txBody>
      </p:sp>
      <p:sp>
        <p:nvSpPr>
          <p:cNvPr id="16" name="TextBox 15"/>
          <p:cNvSpPr txBox="1"/>
          <p:nvPr/>
        </p:nvSpPr>
        <p:spPr>
          <a:xfrm>
            <a:off x="3767328" y="2157476"/>
            <a:ext cx="3218688" cy="915283"/>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求められない見込み。Phase 1 は当方作成の説明資料（設計概要・責任分担表・障害対応手順）で対応【推】</a:t>
            </a:r>
          </a:p>
          <a:p>
            <a:pPr algn="l">
              <a:lnSpc>
                <a:spcPct val="125000"/>
              </a:lnSpc>
            </a:pPr>
            <a:r>
              <a:rPr sz="1050" b="0">
                <a:solidFill>
                  <a:srgbClr val="5A6472"/>
                </a:solidFill>
                <a:latin typeface="Yu Gothic UI"/>
              </a:rPr>
              <a:t>B) 求められる（種類と時期をご記入）／C) 未確定</a:t>
            </a:r>
          </a:p>
        </p:txBody>
      </p:sp>
      <p:sp>
        <p:nvSpPr>
          <p:cNvPr id="17" name="TextBox 16"/>
          <p:cNvSpPr txBox="1"/>
          <p:nvPr/>
        </p:nvSpPr>
        <p:spPr>
          <a:xfrm>
            <a:off x="7114032" y="2157476"/>
            <a:ext cx="4206240" cy="915283"/>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監査報告書の取得は期間と費用が大きく、必要なら早期の着手が要ります。現行は取得をリリース 6 か月後以降の事業判断としています。</a:t>
            </a:r>
          </a:p>
        </p:txBody>
      </p:sp>
      <p:sp>
        <p:nvSpPr>
          <p:cNvPr id="18" name="Rectangle 17"/>
          <p:cNvSpPr/>
          <p:nvPr/>
        </p:nvSpPr>
        <p:spPr>
          <a:xfrm>
            <a:off x="812800" y="3100191"/>
            <a:ext cx="10566349" cy="892555"/>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800" y="3992747"/>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209919"/>
            <a:ext cx="2084831" cy="755395"/>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カード決済業界の規格（PCI DSS）の対応要否</a:t>
            </a:r>
          </a:p>
        </p:txBody>
      </p:sp>
      <p:sp>
        <p:nvSpPr>
          <p:cNvPr id="21" name="TextBox 20"/>
          <p:cNvSpPr txBox="1"/>
          <p:nvPr/>
        </p:nvSpPr>
        <p:spPr>
          <a:xfrm>
            <a:off x="3108960" y="3209919"/>
            <a:ext cx="566928" cy="755395"/>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Q65</a:t>
            </a:r>
          </a:p>
        </p:txBody>
      </p:sp>
      <p:sp>
        <p:nvSpPr>
          <p:cNvPr id="22" name="TextBox 21"/>
          <p:cNvSpPr txBox="1"/>
          <p:nvPr/>
        </p:nvSpPr>
        <p:spPr>
          <a:xfrm>
            <a:off x="3767328" y="3209919"/>
            <a:ext cx="3218688" cy="755395"/>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変わりない（対応不要のまま）【推・2026-07-30 にご判断済み】</a:t>
            </a:r>
          </a:p>
          <a:p>
            <a:pPr algn="l">
              <a:lnSpc>
                <a:spcPct val="125000"/>
              </a:lnSpc>
            </a:pPr>
            <a:r>
              <a:rPr sz="1050" b="0">
                <a:solidFill>
                  <a:srgbClr val="5A6472"/>
                </a:solidFill>
                <a:latin typeface="Yu Gothic UI"/>
              </a:rPr>
              <a:t>B) 変わった（必要になった。時期・範囲をご記入）</a:t>
            </a:r>
          </a:p>
        </p:txBody>
      </p:sp>
      <p:sp>
        <p:nvSpPr>
          <p:cNvPr id="23" name="TextBox 22"/>
          <p:cNvSpPr txBox="1"/>
          <p:nvPr/>
        </p:nvSpPr>
        <p:spPr>
          <a:xfrm>
            <a:off x="7114032" y="3209919"/>
            <a:ext cx="4206240" cy="755395"/>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必要になると、防御装置の要件と監査の範囲が大きく広がります。前回のご判断から変更がないかの再確認です。</a:t>
            </a:r>
          </a:p>
        </p:txBody>
      </p:sp>
      <p:sp>
        <p:nvSpPr>
          <p:cNvPr id="24" name="Rectangle 23"/>
          <p:cNvSpPr/>
          <p:nvPr/>
        </p:nvSpPr>
        <p:spPr>
          <a:xfrm>
            <a:off x="812800" y="4725416"/>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102475"/>
            <a:ext cx="2084831" cy="595509"/>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カード情報を扱うアプリを将来つなぐ見込み</a:t>
            </a:r>
          </a:p>
        </p:txBody>
      </p:sp>
      <p:sp>
        <p:nvSpPr>
          <p:cNvPr id="26" name="TextBox 25"/>
          <p:cNvSpPr txBox="1"/>
          <p:nvPr/>
        </p:nvSpPr>
        <p:spPr>
          <a:xfrm>
            <a:off x="3108960" y="4102475"/>
            <a:ext cx="566928" cy="595509"/>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Q52</a:t>
            </a:r>
          </a:p>
        </p:txBody>
      </p:sp>
      <p:sp>
        <p:nvSpPr>
          <p:cNvPr id="27" name="TextBox 26"/>
          <p:cNvSpPr txBox="1"/>
          <p:nvPr/>
        </p:nvSpPr>
        <p:spPr>
          <a:xfrm>
            <a:off x="3767328" y="4102475"/>
            <a:ext cx="3218688" cy="595509"/>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見込みなし【推】</a:t>
            </a:r>
          </a:p>
          <a:p>
            <a:pPr algn="l">
              <a:lnSpc>
                <a:spcPct val="125000"/>
              </a:lnSpc>
            </a:pPr>
            <a:r>
              <a:rPr sz="1050" b="0">
                <a:solidFill>
                  <a:srgbClr val="5A6472"/>
                </a:solidFill>
                <a:latin typeface="Yu Gothic UI"/>
              </a:rPr>
              <a:t>B) 見込みあり（時期・アプリ名をご記入）</a:t>
            </a:r>
          </a:p>
          <a:p>
            <a:pPr algn="l">
              <a:lnSpc>
                <a:spcPct val="125000"/>
              </a:lnSpc>
            </a:pPr>
            <a:r>
              <a:rPr sz="1050" b="0">
                <a:solidFill>
                  <a:srgbClr val="5A6472"/>
                </a:solidFill>
                <a:latin typeface="Yu Gothic UI"/>
              </a:rPr>
              <a:t>C) 未確定</a:t>
            </a:r>
          </a:p>
        </p:txBody>
      </p:sp>
      <p:sp>
        <p:nvSpPr>
          <p:cNvPr id="28" name="TextBox 27"/>
          <p:cNvSpPr txBox="1"/>
          <p:nvPr/>
        </p:nvSpPr>
        <p:spPr>
          <a:xfrm>
            <a:off x="7114032" y="4102475"/>
            <a:ext cx="4206240" cy="595509"/>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将来つなぐ見込みがあるなら、いまの設計に備えを入れておくほうが安く済みます。</a:t>
            </a:r>
          </a:p>
        </p:txBody>
      </p:sp>
      <p:sp>
        <p:nvSpPr>
          <p:cNvPr id="29" name="Rectangle 28"/>
          <p:cNvSpPr/>
          <p:nvPr/>
        </p:nvSpPr>
        <p:spPr>
          <a:xfrm>
            <a:off x="812800" y="4725416"/>
            <a:ext cx="10566349" cy="892555"/>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2800" y="5617972"/>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35144"/>
            <a:ext cx="2084831" cy="755395"/>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米国政府が認定した暗号方式（FIPS）の要否</a:t>
            </a:r>
          </a:p>
        </p:txBody>
      </p:sp>
      <p:sp>
        <p:nvSpPr>
          <p:cNvPr id="32" name="TextBox 31"/>
          <p:cNvSpPr txBox="1"/>
          <p:nvPr/>
        </p:nvSpPr>
        <p:spPr>
          <a:xfrm>
            <a:off x="3108960" y="4835144"/>
            <a:ext cx="566928" cy="755395"/>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Q66</a:t>
            </a:r>
          </a:p>
        </p:txBody>
      </p:sp>
      <p:sp>
        <p:nvSpPr>
          <p:cNvPr id="33" name="TextBox 32"/>
          <p:cNvSpPr txBox="1"/>
          <p:nvPr/>
        </p:nvSpPr>
        <p:spPr>
          <a:xfrm>
            <a:off x="3767328" y="4835144"/>
            <a:ext cx="3218688" cy="755395"/>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変わりない（不要のまま）【推・前提 P-03】</a:t>
            </a:r>
          </a:p>
          <a:p>
            <a:pPr algn="l">
              <a:lnSpc>
                <a:spcPct val="125000"/>
              </a:lnSpc>
            </a:pPr>
            <a:r>
              <a:rPr sz="1050" b="0">
                <a:solidFill>
                  <a:srgbClr val="5A6472"/>
                </a:solidFill>
                <a:latin typeface="Yu Gothic UI"/>
              </a:rPr>
              <a:t>B) 変わった（必要になった。求める相手・根拠をご記入）</a:t>
            </a:r>
          </a:p>
        </p:txBody>
      </p:sp>
      <p:sp>
        <p:nvSpPr>
          <p:cNvPr id="34" name="TextBox 33"/>
          <p:cNvSpPr txBox="1"/>
          <p:nvPr/>
        </p:nvSpPr>
        <p:spPr>
          <a:xfrm>
            <a:off x="7114032" y="4835144"/>
            <a:ext cx="4206240" cy="755395"/>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必要になると、使える製品と構成が限定され、製品の選定自体に影響します。前回のご判断から変更がないかの再確認です。</a:t>
            </a:r>
          </a:p>
        </p:txBody>
      </p:sp>
      <p:sp>
        <p:nvSpPr>
          <p:cNvPr id="35" name="Rectangle 34"/>
          <p:cNvSpPr/>
          <p:nvPr/>
        </p:nvSpPr>
        <p:spPr>
          <a:xfrm>
            <a:off x="812800" y="6510528"/>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5727700"/>
            <a:ext cx="2084831" cy="755395"/>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認定暗号方式を求める顧客が現れる見込み</a:t>
            </a:r>
          </a:p>
        </p:txBody>
      </p:sp>
      <p:sp>
        <p:nvSpPr>
          <p:cNvPr id="37" name="TextBox 36"/>
          <p:cNvSpPr txBox="1"/>
          <p:nvPr/>
        </p:nvSpPr>
        <p:spPr>
          <a:xfrm>
            <a:off x="3108960" y="5727700"/>
            <a:ext cx="566928" cy="755395"/>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Q53</a:t>
            </a:r>
          </a:p>
        </p:txBody>
      </p:sp>
      <p:sp>
        <p:nvSpPr>
          <p:cNvPr id="38" name="TextBox 37"/>
          <p:cNvSpPr txBox="1"/>
          <p:nvPr/>
        </p:nvSpPr>
        <p:spPr>
          <a:xfrm>
            <a:off x="3767328" y="5727700"/>
            <a:ext cx="3218688" cy="755395"/>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見込みなし【推】</a:t>
            </a:r>
          </a:p>
          <a:p>
            <a:pPr algn="l">
              <a:lnSpc>
                <a:spcPct val="125000"/>
              </a:lnSpc>
            </a:pPr>
            <a:r>
              <a:rPr sz="1050" b="0">
                <a:solidFill>
                  <a:srgbClr val="5A6472"/>
                </a:solidFill>
                <a:latin typeface="Yu Gothic UI"/>
              </a:rPr>
              <a:t>B) 見込みあり（官公庁・防衛・米国政府調達に関わる企業など）</a:t>
            </a:r>
          </a:p>
          <a:p>
            <a:pPr algn="l">
              <a:lnSpc>
                <a:spcPct val="125000"/>
              </a:lnSpc>
            </a:pPr>
            <a:r>
              <a:rPr sz="1050" b="0">
                <a:solidFill>
                  <a:srgbClr val="5A6472"/>
                </a:solidFill>
                <a:latin typeface="Yu Gothic UI"/>
              </a:rPr>
              <a:t>C) 未確定</a:t>
            </a:r>
          </a:p>
        </p:txBody>
      </p:sp>
      <p:sp>
        <p:nvSpPr>
          <p:cNvPr id="39" name="TextBox 38"/>
          <p:cNvSpPr txBox="1"/>
          <p:nvPr/>
        </p:nvSpPr>
        <p:spPr>
          <a:xfrm>
            <a:off x="7114032" y="5727700"/>
            <a:ext cx="4206240" cy="755395"/>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見込みがある場合、その時期によっては製品選定をいま見直す必要が生じます。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コンプライアンスと法令 ③　記録の保存と本人からの請求</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5 件</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何をどれだけ残し、消してほしいと言われたらどこまで消すか。</a:t>
            </a:r>
          </a:p>
        </p:txBody>
      </p:sp>
      <p:sp>
        <p:nvSpPr>
          <p:cNvPr id="6" name="Rectangle 5"/>
          <p:cNvSpPr/>
          <p:nvPr/>
        </p:nvSpPr>
        <p:spPr>
          <a:xfrm>
            <a:off x="812800" y="1014984"/>
            <a:ext cx="36576" cy="484124"/>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4841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「7 年」という保存年数の根拠が現在は空白になっています。従来その根拠だったカード決済業界の規格を対象外にしたためで、年数を支える理由の再設定が必要です。</a:t>
            </a:r>
          </a:p>
        </p:txBody>
      </p:sp>
      <p:sp>
        <p:nvSpPr>
          <p:cNvPr id="8" name="Rectangle 7"/>
          <p:cNvSpPr/>
          <p:nvPr/>
        </p:nvSpPr>
        <p:spPr>
          <a:xfrm>
            <a:off x="812800" y="1718564"/>
            <a:ext cx="10566349" cy="3291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96288"/>
            <a:ext cx="2084831"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ご確認いただきたいこと</a:t>
            </a:r>
          </a:p>
        </p:txBody>
      </p:sp>
      <p:sp>
        <p:nvSpPr>
          <p:cNvPr id="10" name="TextBox 9"/>
          <p:cNvSpPr txBox="1"/>
          <p:nvPr/>
        </p:nvSpPr>
        <p:spPr>
          <a:xfrm>
            <a:off x="3108960" y="1796288"/>
            <a:ext cx="566928"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設問</a:t>
            </a:r>
          </a:p>
        </p:txBody>
      </p:sp>
      <p:sp>
        <p:nvSpPr>
          <p:cNvPr id="11" name="TextBox 10"/>
          <p:cNvSpPr txBox="1"/>
          <p:nvPr/>
        </p:nvSpPr>
        <p:spPr>
          <a:xfrm>
            <a:off x="3767328" y="1796288"/>
            <a:ext cx="3218688"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選択肢（【推】＝当方の推奨・現行の暫定値）</a:t>
            </a:r>
          </a:p>
        </p:txBody>
      </p:sp>
      <p:sp>
        <p:nvSpPr>
          <p:cNvPr id="12" name="TextBox 11"/>
          <p:cNvSpPr txBox="1"/>
          <p:nvPr/>
        </p:nvSpPr>
        <p:spPr>
          <a:xfrm>
            <a:off x="7114032" y="1796288"/>
            <a:ext cx="420624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未確定だと何が決まらないか</a:t>
            </a:r>
          </a:p>
        </p:txBody>
      </p:sp>
      <p:sp>
        <p:nvSpPr>
          <p:cNvPr id="13" name="Rectangle 12"/>
          <p:cNvSpPr/>
          <p:nvPr/>
        </p:nvSpPr>
        <p:spPr>
          <a:xfrm>
            <a:off x="812800" y="2931260"/>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157476"/>
            <a:ext cx="2084831" cy="746352"/>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記録を何年残すか</a:t>
            </a:r>
          </a:p>
        </p:txBody>
      </p:sp>
      <p:sp>
        <p:nvSpPr>
          <p:cNvPr id="15" name="TextBox 14"/>
          <p:cNvSpPr txBox="1"/>
          <p:nvPr/>
        </p:nvSpPr>
        <p:spPr>
          <a:xfrm>
            <a:off x="3108960" y="2157476"/>
            <a:ext cx="566928" cy="746352"/>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Q54</a:t>
            </a:r>
          </a:p>
        </p:txBody>
      </p:sp>
      <p:sp>
        <p:nvSpPr>
          <p:cNvPr id="16" name="TextBox 15"/>
          <p:cNvSpPr txBox="1"/>
          <p:nvPr/>
        </p:nvSpPr>
        <p:spPr>
          <a:xfrm>
            <a:off x="3767328" y="2157476"/>
            <a:ext cx="3218688" cy="746352"/>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3 段階（すぐ検索できる状態で 90 日／1 年／書き換え不能な形で 7 年）【推】</a:t>
            </a:r>
          </a:p>
          <a:p>
            <a:pPr algn="l">
              <a:lnSpc>
                <a:spcPct val="125000"/>
              </a:lnSpc>
            </a:pPr>
            <a:r>
              <a:rPr sz="1050" b="0">
                <a:solidFill>
                  <a:srgbClr val="5A6472"/>
                </a:solidFill>
                <a:latin typeface="Yu Gothic UI"/>
              </a:rPr>
              <a:t>B) 1 年／C) 3 年／D) 6 年／E) 10 年／F) 未確定</a:t>
            </a:r>
          </a:p>
        </p:txBody>
      </p:sp>
      <p:sp>
        <p:nvSpPr>
          <p:cNvPr id="17" name="TextBox 16"/>
          <p:cNvSpPr txBox="1"/>
          <p:nvPr/>
        </p:nvSpPr>
        <p:spPr>
          <a:xfrm>
            <a:off x="7114032" y="2157476"/>
            <a:ext cx="4206240" cy="746352"/>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保存年数がログ 3 層それぞれの期間と保管費用を決めます。長期層は改ざん不能な保管で単価が高くなります。</a:t>
            </a:r>
          </a:p>
        </p:txBody>
      </p:sp>
      <p:sp>
        <p:nvSpPr>
          <p:cNvPr id="18" name="Rectangle 17"/>
          <p:cNvSpPr/>
          <p:nvPr/>
        </p:nvSpPr>
        <p:spPr>
          <a:xfrm>
            <a:off x="812800" y="2931260"/>
            <a:ext cx="10566349" cy="1041779"/>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800" y="3973039"/>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040988"/>
            <a:ext cx="2084831" cy="904619"/>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「7 年」という年数の根拠</a:t>
            </a:r>
          </a:p>
        </p:txBody>
      </p:sp>
      <p:sp>
        <p:nvSpPr>
          <p:cNvPr id="21" name="TextBox 20"/>
          <p:cNvSpPr txBox="1"/>
          <p:nvPr/>
        </p:nvSpPr>
        <p:spPr>
          <a:xfrm>
            <a:off x="3108960" y="3040988"/>
            <a:ext cx="566928" cy="904619"/>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Q47 ★</a:t>
            </a:r>
          </a:p>
        </p:txBody>
      </p:sp>
      <p:sp>
        <p:nvSpPr>
          <p:cNvPr id="22" name="TextBox 21"/>
          <p:cNvSpPr txBox="1"/>
          <p:nvPr/>
        </p:nvSpPr>
        <p:spPr>
          <a:xfrm>
            <a:off x="3767328" y="3040988"/>
            <a:ext cx="3218688" cy="904619"/>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法令上の保存義務（法令名をご記入）</a:t>
            </a:r>
          </a:p>
          <a:p>
            <a:pPr algn="l">
              <a:lnSpc>
                <a:spcPct val="125000"/>
              </a:lnSpc>
            </a:pPr>
            <a:r>
              <a:rPr sz="1050" b="0">
                <a:solidFill>
                  <a:srgbClr val="5A6472"/>
                </a:solidFill>
                <a:latin typeface="Yu Gothic UI"/>
              </a:rPr>
              <a:t>B) 顧客との契約上の義務</a:t>
            </a:r>
          </a:p>
          <a:p>
            <a:pPr algn="l">
              <a:lnSpc>
                <a:spcPct val="125000"/>
              </a:lnSpc>
            </a:pPr>
            <a:r>
              <a:rPr sz="1050" b="0">
                <a:solidFill>
                  <a:srgbClr val="5A6472"/>
                </a:solidFill>
                <a:latin typeface="Yu Gothic UI"/>
              </a:rPr>
              <a:t>C) それ以外（社内方針・業界慣行・請求権が消滅するまでの期間など）</a:t>
            </a:r>
          </a:p>
          <a:p>
            <a:pPr algn="l">
              <a:lnSpc>
                <a:spcPct val="125000"/>
              </a:lnSpc>
            </a:pPr>
            <a:r>
              <a:rPr sz="1050" b="0">
                <a:solidFill>
                  <a:srgbClr val="5A6472"/>
                </a:solidFill>
                <a:latin typeface="Yu Gothic UI"/>
              </a:rPr>
              <a:t>D) 未確定【現状】</a:t>
            </a:r>
          </a:p>
        </p:txBody>
      </p:sp>
      <p:sp>
        <p:nvSpPr>
          <p:cNvPr id="23" name="TextBox 22"/>
          <p:cNvSpPr txBox="1"/>
          <p:nvPr/>
        </p:nvSpPr>
        <p:spPr>
          <a:xfrm>
            <a:off x="7114032" y="3040988"/>
            <a:ext cx="4206240" cy="904619"/>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現状は空白です。根拠がないまま 7 年を維持すると、保管費用と契約文言の妥当性を説明できません。</a:t>
            </a:r>
          </a:p>
        </p:txBody>
      </p:sp>
      <p:sp>
        <p:nvSpPr>
          <p:cNvPr id="24" name="Rectangle 23"/>
          <p:cNvSpPr/>
          <p:nvPr/>
        </p:nvSpPr>
        <p:spPr>
          <a:xfrm>
            <a:off x="812800" y="4585236"/>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082767"/>
            <a:ext cx="2084831" cy="475037"/>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どこまで追跡できる状態にするか</a:t>
            </a:r>
          </a:p>
        </p:txBody>
      </p:sp>
      <p:sp>
        <p:nvSpPr>
          <p:cNvPr id="26" name="TextBox 25"/>
          <p:cNvSpPr txBox="1"/>
          <p:nvPr/>
        </p:nvSpPr>
        <p:spPr>
          <a:xfrm>
            <a:off x="3108960" y="4082767"/>
            <a:ext cx="566928" cy="475037"/>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説明資料</a:t>
            </a:r>
          </a:p>
        </p:txBody>
      </p:sp>
      <p:sp>
        <p:nvSpPr>
          <p:cNvPr id="27" name="TextBox 26"/>
          <p:cNvSpPr txBox="1"/>
          <p:nvPr/>
        </p:nvSpPr>
        <p:spPr>
          <a:xfrm>
            <a:off x="3767328" y="4082767"/>
            <a:ext cx="3218688" cy="475037"/>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① 変更操作のみ【推・現行設計値】</a:t>
            </a:r>
          </a:p>
          <a:p>
            <a:pPr algn="l">
              <a:lnSpc>
                <a:spcPct val="125000"/>
              </a:lnSpc>
            </a:pPr>
            <a:r>
              <a:rPr sz="1050" b="0">
                <a:solidFill>
                  <a:srgbClr val="5A6472"/>
                </a:solidFill>
                <a:latin typeface="Yu Gothic UI"/>
              </a:rPr>
              <a:t>② 閲覧も含む</a:t>
            </a:r>
          </a:p>
        </p:txBody>
      </p:sp>
      <p:sp>
        <p:nvSpPr>
          <p:cNvPr id="28" name="TextBox 27"/>
          <p:cNvSpPr txBox="1"/>
          <p:nvPr/>
        </p:nvSpPr>
        <p:spPr>
          <a:xfrm>
            <a:off x="7114032" y="4082767"/>
            <a:ext cx="4206240" cy="475037"/>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閲覧記録まで取るか変更記録のみかで、記録量と費用が桁違いに変わります。</a:t>
            </a:r>
          </a:p>
        </p:txBody>
      </p:sp>
      <p:sp>
        <p:nvSpPr>
          <p:cNvPr id="29" name="Rectangle 28"/>
          <p:cNvSpPr/>
          <p:nvPr/>
        </p:nvSpPr>
        <p:spPr>
          <a:xfrm>
            <a:off x="812800" y="4585236"/>
            <a:ext cx="10566349" cy="1041779"/>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2800" y="5627015"/>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94964"/>
            <a:ext cx="2084831" cy="904619"/>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本人からの開示・削除請求を受け付けるか</a:t>
            </a:r>
          </a:p>
        </p:txBody>
      </p:sp>
      <p:sp>
        <p:nvSpPr>
          <p:cNvPr id="32" name="TextBox 31"/>
          <p:cNvSpPr txBox="1"/>
          <p:nvPr/>
        </p:nvSpPr>
        <p:spPr>
          <a:xfrm>
            <a:off x="3108960" y="4694964"/>
            <a:ext cx="566928" cy="904619"/>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Q55</a:t>
            </a:r>
          </a:p>
        </p:txBody>
      </p:sp>
      <p:sp>
        <p:nvSpPr>
          <p:cNvPr id="33" name="TextBox 32"/>
          <p:cNvSpPr txBox="1"/>
          <p:nvPr/>
        </p:nvSpPr>
        <p:spPr>
          <a:xfrm>
            <a:off x="3767328" y="4694964"/>
            <a:ext cx="3218688" cy="904619"/>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必要。Phase 1 は手動運用（メール・問い合わせ窓口で受け、担当が手順書に沿って処理）【推】</a:t>
            </a:r>
          </a:p>
          <a:p>
            <a:pPr algn="l">
              <a:lnSpc>
                <a:spcPct val="125000"/>
              </a:lnSpc>
            </a:pPr>
            <a:r>
              <a:rPr sz="1050" b="0">
                <a:solidFill>
                  <a:srgbClr val="5A6472"/>
                </a:solidFill>
                <a:latin typeface="Yu Gothic UI"/>
              </a:rPr>
              <a:t>B) Phase 1 から本人が画面から申請できる仕組みが要る／C) 不要／D) 未確定</a:t>
            </a:r>
          </a:p>
        </p:txBody>
      </p:sp>
      <p:sp>
        <p:nvSpPr>
          <p:cNvPr id="34" name="TextBox 33"/>
          <p:cNvSpPr txBox="1"/>
          <p:nvPr/>
        </p:nvSpPr>
        <p:spPr>
          <a:xfrm>
            <a:off x="7114032" y="4694964"/>
            <a:ext cx="4206240" cy="904619"/>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請求の期限が運用の当番設計と自動化の要否を決めます。月 10 件を超えたら自動化を前倒しする想定です。</a:t>
            </a:r>
          </a:p>
        </p:txBody>
      </p:sp>
      <p:sp>
        <p:nvSpPr>
          <p:cNvPr id="35" name="Rectangle 34"/>
          <p:cNvSpPr/>
          <p:nvPr/>
        </p:nvSpPr>
        <p:spPr>
          <a:xfrm>
            <a:off x="812800" y="6510528"/>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5736743"/>
            <a:ext cx="2084831" cy="746352"/>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「消す」と「記録として残す」の境界</a:t>
            </a:r>
          </a:p>
        </p:txBody>
      </p:sp>
      <p:sp>
        <p:nvSpPr>
          <p:cNvPr id="37" name="TextBox 36"/>
          <p:cNvSpPr txBox="1"/>
          <p:nvPr/>
        </p:nvSpPr>
        <p:spPr>
          <a:xfrm>
            <a:off x="3108960" y="5736743"/>
            <a:ext cx="566928" cy="746352"/>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Q56</a:t>
            </a:r>
          </a:p>
        </p:txBody>
      </p:sp>
      <p:sp>
        <p:nvSpPr>
          <p:cNvPr id="38" name="TextBox 37"/>
          <p:cNvSpPr txBox="1"/>
          <p:nvPr/>
        </p:nvSpPr>
        <p:spPr>
          <a:xfrm>
            <a:off x="3767328" y="5736743"/>
            <a:ext cx="3218688" cy="746352"/>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契約書に明記（使えない状態にしたうえで表示名を伏せ字化し、本人を指す番号は残す）【推】</a:t>
            </a:r>
          </a:p>
          <a:p>
            <a:pPr algn="l">
              <a:lnSpc>
                <a:spcPct val="125000"/>
              </a:lnSpc>
            </a:pPr>
            <a:r>
              <a:rPr sz="1050" b="0">
                <a:solidFill>
                  <a:srgbClr val="5A6472"/>
                </a:solidFill>
                <a:latin typeface="Yu Gothic UI"/>
              </a:rPr>
              <a:t>B) 保持を優先する旨だけ明記／C) 都度判断／D) 未確定</a:t>
            </a:r>
          </a:p>
        </p:txBody>
      </p:sp>
      <p:sp>
        <p:nvSpPr>
          <p:cNvPr id="39" name="TextBox 38"/>
          <p:cNvSpPr txBox="1"/>
          <p:nvPr/>
        </p:nvSpPr>
        <p:spPr>
          <a:xfrm>
            <a:off x="7114032" y="5736743"/>
            <a:ext cx="4206240" cy="746352"/>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完全削除ではなく、停止処理と記録の仮名化で応じる方針です。監査記録は法令上の根拠により保持します。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運用と監視 ①　監視・通知・ログ</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4 件</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何を見張り、誰にどう知らせ、記録をどれだけ持つか。</a:t>
            </a:r>
          </a:p>
        </p:txBody>
      </p:sp>
      <p:sp>
        <p:nvSpPr>
          <p:cNvPr id="6" name="Rectangle 5"/>
          <p:cNvSpPr/>
          <p:nvPr/>
        </p:nvSpPr>
        <p:spPr>
          <a:xfrm>
            <a:off x="812800" y="1014984"/>
            <a:ext cx="36576" cy="274320"/>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274320"/>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この 4 件は運用要員の人数と保管費用に直結します。とくに夜間・休日に誰がどう受けるかは、次ページの体制の議論と一体です。</a:t>
            </a:r>
          </a:p>
        </p:txBody>
      </p:sp>
      <p:sp>
        <p:nvSpPr>
          <p:cNvPr id="8" name="Rectangle 7"/>
          <p:cNvSpPr/>
          <p:nvPr/>
        </p:nvSpPr>
        <p:spPr>
          <a:xfrm>
            <a:off x="812800" y="1508760"/>
            <a:ext cx="10566349" cy="3291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86484"/>
            <a:ext cx="2084831"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ご確認いただきたいこと</a:t>
            </a:r>
          </a:p>
        </p:txBody>
      </p:sp>
      <p:sp>
        <p:nvSpPr>
          <p:cNvPr id="10" name="TextBox 9"/>
          <p:cNvSpPr txBox="1"/>
          <p:nvPr/>
        </p:nvSpPr>
        <p:spPr>
          <a:xfrm>
            <a:off x="3108960" y="1586484"/>
            <a:ext cx="566928"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設問</a:t>
            </a:r>
          </a:p>
        </p:txBody>
      </p:sp>
      <p:sp>
        <p:nvSpPr>
          <p:cNvPr id="11" name="TextBox 10"/>
          <p:cNvSpPr txBox="1"/>
          <p:nvPr/>
        </p:nvSpPr>
        <p:spPr>
          <a:xfrm>
            <a:off x="3767328" y="1586484"/>
            <a:ext cx="3218688"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選択肢（【推】＝当方の推奨・現行の暫定値）</a:t>
            </a:r>
          </a:p>
        </p:txBody>
      </p:sp>
      <p:sp>
        <p:nvSpPr>
          <p:cNvPr id="12" name="TextBox 11"/>
          <p:cNvSpPr txBox="1"/>
          <p:nvPr/>
        </p:nvSpPr>
        <p:spPr>
          <a:xfrm>
            <a:off x="7114032" y="1586484"/>
            <a:ext cx="420624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未確定だと何が決まらないか</a:t>
            </a:r>
          </a:p>
        </p:txBody>
      </p:sp>
      <p:sp>
        <p:nvSpPr>
          <p:cNvPr id="13" name="Rectangle 12"/>
          <p:cNvSpPr/>
          <p:nvPr/>
        </p:nvSpPr>
        <p:spPr>
          <a:xfrm>
            <a:off x="812800" y="2632329"/>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1947672"/>
            <a:ext cx="2084831" cy="657225"/>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監視項目と、異常とみなす閾値</a:t>
            </a:r>
          </a:p>
        </p:txBody>
      </p:sp>
      <p:sp>
        <p:nvSpPr>
          <p:cNvPr id="15" name="TextBox 14"/>
          <p:cNvSpPr txBox="1"/>
          <p:nvPr/>
        </p:nvSpPr>
        <p:spPr>
          <a:xfrm>
            <a:off x="3108960" y="1947672"/>
            <a:ext cx="566928" cy="657225"/>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説明資料</a:t>
            </a:r>
          </a:p>
        </p:txBody>
      </p:sp>
      <p:sp>
        <p:nvSpPr>
          <p:cNvPr id="16" name="TextBox 15"/>
          <p:cNvSpPr txBox="1"/>
          <p:nvPr/>
        </p:nvSpPr>
        <p:spPr>
          <a:xfrm>
            <a:off x="3767328" y="1947672"/>
            <a:ext cx="3218688" cy="657225"/>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① ご提案どおり（基準値比 +10% で警戒）【推】</a:t>
            </a:r>
          </a:p>
          <a:p>
            <a:pPr algn="l">
              <a:lnSpc>
                <a:spcPct val="125000"/>
              </a:lnSpc>
            </a:pPr>
            <a:r>
              <a:rPr sz="1050" b="0">
                <a:solidFill>
                  <a:srgbClr val="5A6472"/>
                </a:solidFill>
                <a:latin typeface="Yu Gothic UI"/>
              </a:rPr>
              <a:t>② 指定がある（内容をご記入）</a:t>
            </a:r>
          </a:p>
        </p:txBody>
      </p:sp>
      <p:sp>
        <p:nvSpPr>
          <p:cNvPr id="17" name="TextBox 16"/>
          <p:cNvSpPr txBox="1"/>
          <p:nvPr/>
        </p:nvSpPr>
        <p:spPr>
          <a:xfrm>
            <a:off x="7114032" y="1947672"/>
            <a:ext cx="4206240" cy="657225"/>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閾値は接続先の件数に応じた相対値にする必要があり、想定件数が分からないと設定できません。</a:t>
            </a:r>
          </a:p>
        </p:txBody>
      </p:sp>
      <p:sp>
        <p:nvSpPr>
          <p:cNvPr id="18" name="Rectangle 17"/>
          <p:cNvSpPr/>
          <p:nvPr/>
        </p:nvSpPr>
        <p:spPr>
          <a:xfrm>
            <a:off x="812800" y="2632329"/>
            <a:ext cx="10566349" cy="794385"/>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800" y="3426714"/>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742057"/>
            <a:ext cx="2084831" cy="657225"/>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通知の経路と、夜間・休日の対応</a:t>
            </a:r>
          </a:p>
        </p:txBody>
      </p:sp>
      <p:sp>
        <p:nvSpPr>
          <p:cNvPr id="21" name="TextBox 20"/>
          <p:cNvSpPr txBox="1"/>
          <p:nvPr/>
        </p:nvSpPr>
        <p:spPr>
          <a:xfrm>
            <a:off x="3108960" y="2742057"/>
            <a:ext cx="566928" cy="657225"/>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説明資料</a:t>
            </a:r>
          </a:p>
        </p:txBody>
      </p:sp>
      <p:sp>
        <p:nvSpPr>
          <p:cNvPr id="22" name="TextBox 21"/>
          <p:cNvSpPr txBox="1"/>
          <p:nvPr/>
        </p:nvSpPr>
        <p:spPr>
          <a:xfrm>
            <a:off x="3767328" y="2742057"/>
            <a:ext cx="3218688" cy="657225"/>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① 業務時間内のみ【現行の設計】</a:t>
            </a:r>
          </a:p>
          <a:p>
            <a:pPr algn="l">
              <a:lnSpc>
                <a:spcPct val="125000"/>
              </a:lnSpc>
            </a:pPr>
            <a:r>
              <a:rPr sz="1050" b="0">
                <a:solidFill>
                  <a:srgbClr val="5A6472"/>
                </a:solidFill>
                <a:latin typeface="Yu Gothic UI"/>
              </a:rPr>
              <a:t>② 24 時間 365 日</a:t>
            </a:r>
          </a:p>
          <a:p>
            <a:pPr algn="l">
              <a:lnSpc>
                <a:spcPct val="125000"/>
              </a:lnSpc>
            </a:pPr>
            <a:r>
              <a:rPr sz="1050" b="0">
                <a:solidFill>
                  <a:srgbClr val="5A6472"/>
                </a:solidFill>
                <a:latin typeface="Yu Gothic UI"/>
              </a:rPr>
              <a:t>③ 重大な障害のみ時間外も対応</a:t>
            </a:r>
          </a:p>
        </p:txBody>
      </p:sp>
      <p:sp>
        <p:nvSpPr>
          <p:cNvPr id="23" name="TextBox 22"/>
          <p:cNvSpPr txBox="1"/>
          <p:nvPr/>
        </p:nvSpPr>
        <p:spPr>
          <a:xfrm>
            <a:off x="7114032" y="2742057"/>
            <a:ext cx="4206240" cy="657225"/>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通知経路と夜間・休日の体制が、運用要員の人数と人件費を直接決めます。</a:t>
            </a:r>
          </a:p>
        </p:txBody>
      </p:sp>
      <p:sp>
        <p:nvSpPr>
          <p:cNvPr id="24" name="Rectangle 23"/>
          <p:cNvSpPr/>
          <p:nvPr/>
        </p:nvSpPr>
        <p:spPr>
          <a:xfrm>
            <a:off x="812800" y="4221099"/>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536442"/>
            <a:ext cx="2084831" cy="657225"/>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ログの保存期間（3 層それぞれ）</a:t>
            </a:r>
          </a:p>
        </p:txBody>
      </p:sp>
      <p:sp>
        <p:nvSpPr>
          <p:cNvPr id="26" name="TextBox 25"/>
          <p:cNvSpPr txBox="1"/>
          <p:nvPr/>
        </p:nvSpPr>
        <p:spPr>
          <a:xfrm>
            <a:off x="3108960" y="3536442"/>
            <a:ext cx="566928" cy="657225"/>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説明資料</a:t>
            </a:r>
          </a:p>
        </p:txBody>
      </p:sp>
      <p:sp>
        <p:nvSpPr>
          <p:cNvPr id="27" name="TextBox 26"/>
          <p:cNvSpPr txBox="1"/>
          <p:nvPr/>
        </p:nvSpPr>
        <p:spPr>
          <a:xfrm>
            <a:off x="3767328" y="3536442"/>
            <a:ext cx="3218688" cy="657225"/>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① 90 日／1 年／7 年【推・現行設計値】</a:t>
            </a:r>
          </a:p>
          <a:p>
            <a:pPr algn="l">
              <a:lnSpc>
                <a:spcPct val="125000"/>
              </a:lnSpc>
            </a:pPr>
            <a:r>
              <a:rPr sz="1050" b="0">
                <a:solidFill>
                  <a:srgbClr val="5A6472"/>
                </a:solidFill>
                <a:latin typeface="Yu Gothic UI"/>
              </a:rPr>
              <a:t>② 30 日／…（ご希望をご記入）</a:t>
            </a:r>
          </a:p>
        </p:txBody>
      </p:sp>
      <p:sp>
        <p:nvSpPr>
          <p:cNvPr id="28" name="TextBox 27"/>
          <p:cNvSpPr txBox="1"/>
          <p:nvPr/>
        </p:nvSpPr>
        <p:spPr>
          <a:xfrm>
            <a:off x="7114032" y="3536442"/>
            <a:ext cx="4206240" cy="657225"/>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3 層それぞれの保持期間が保管費用を決めます。長期層は改ざん不能ストレージで単価が高くなります。記録の保存年数（Q54）と連動します。</a:t>
            </a:r>
          </a:p>
        </p:txBody>
      </p:sp>
      <p:sp>
        <p:nvSpPr>
          <p:cNvPr id="29" name="Rectangle 28"/>
          <p:cNvSpPr/>
          <p:nvPr/>
        </p:nvSpPr>
        <p:spPr>
          <a:xfrm>
            <a:off x="812800" y="4221099"/>
            <a:ext cx="10566349" cy="67056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2800" y="4891659"/>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330827"/>
            <a:ext cx="2084831" cy="533400"/>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障害時にログをどれだけ速く探せるようにするか</a:t>
            </a:r>
          </a:p>
        </p:txBody>
      </p:sp>
      <p:sp>
        <p:nvSpPr>
          <p:cNvPr id="32" name="TextBox 31"/>
          <p:cNvSpPr txBox="1"/>
          <p:nvPr/>
        </p:nvSpPr>
        <p:spPr>
          <a:xfrm>
            <a:off x="3108960" y="4330827"/>
            <a:ext cx="566928" cy="533400"/>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説明資料</a:t>
            </a:r>
          </a:p>
        </p:txBody>
      </p:sp>
      <p:sp>
        <p:nvSpPr>
          <p:cNvPr id="33" name="TextBox 32"/>
          <p:cNvSpPr txBox="1"/>
          <p:nvPr/>
        </p:nvSpPr>
        <p:spPr>
          <a:xfrm>
            <a:off x="3767328" y="4330827"/>
            <a:ext cx="3218688" cy="533400"/>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① 数分以内に原因へ到達したい【推】</a:t>
            </a:r>
          </a:p>
          <a:p>
            <a:pPr algn="l">
              <a:lnSpc>
                <a:spcPct val="125000"/>
              </a:lnSpc>
            </a:pPr>
            <a:r>
              <a:rPr sz="1050" b="0">
                <a:solidFill>
                  <a:srgbClr val="5A6472"/>
                </a:solidFill>
                <a:latin typeface="Yu Gothic UI"/>
              </a:rPr>
              <a:t>② 数時間でよい</a:t>
            </a:r>
          </a:p>
        </p:txBody>
      </p:sp>
      <p:sp>
        <p:nvSpPr>
          <p:cNvPr id="34" name="TextBox 33"/>
          <p:cNvSpPr txBox="1"/>
          <p:nvPr/>
        </p:nvSpPr>
        <p:spPr>
          <a:xfrm>
            <a:off x="7114032" y="4330827"/>
            <a:ext cx="4206240" cy="533400"/>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目標時間によって専用の検索基盤を用意するかどうかが変わり、費用が大きく動きます。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運用と監視 ②　更新と変更管理</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5 件</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製品の更新をいつ当て、設定変更を誰がどう承認するか。</a:t>
            </a:r>
          </a:p>
        </p:txBody>
      </p:sp>
      <p:sp>
        <p:nvSpPr>
          <p:cNvPr id="6" name="Rectangle 5"/>
          <p:cNvSpPr/>
          <p:nvPr/>
        </p:nvSpPr>
        <p:spPr>
          <a:xfrm>
            <a:off x="812800" y="1014984"/>
            <a:ext cx="36576" cy="484124"/>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4841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対処の期限を短くするほど当番体制の人数が増え、人件費に直結します。また設定変更の承認に貴社が入るかどうかで、新しい顧客の開通日数が変わります。</a:t>
            </a:r>
          </a:p>
        </p:txBody>
      </p:sp>
      <p:sp>
        <p:nvSpPr>
          <p:cNvPr id="8" name="Rectangle 7"/>
          <p:cNvSpPr/>
          <p:nvPr/>
        </p:nvSpPr>
        <p:spPr>
          <a:xfrm>
            <a:off x="812800" y="1718564"/>
            <a:ext cx="10566349" cy="3291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96288"/>
            <a:ext cx="2084831"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ご確認いただきたいこと</a:t>
            </a:r>
          </a:p>
        </p:txBody>
      </p:sp>
      <p:sp>
        <p:nvSpPr>
          <p:cNvPr id="10" name="TextBox 9"/>
          <p:cNvSpPr txBox="1"/>
          <p:nvPr/>
        </p:nvSpPr>
        <p:spPr>
          <a:xfrm>
            <a:off x="3108960" y="1796288"/>
            <a:ext cx="566928"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設問</a:t>
            </a:r>
          </a:p>
        </p:txBody>
      </p:sp>
      <p:sp>
        <p:nvSpPr>
          <p:cNvPr id="11" name="TextBox 10"/>
          <p:cNvSpPr txBox="1"/>
          <p:nvPr/>
        </p:nvSpPr>
        <p:spPr>
          <a:xfrm>
            <a:off x="3767328" y="1796288"/>
            <a:ext cx="3218688"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選択肢（【推】＝当方の推奨・現行の暫定値）</a:t>
            </a:r>
          </a:p>
        </p:txBody>
      </p:sp>
      <p:sp>
        <p:nvSpPr>
          <p:cNvPr id="12" name="TextBox 11"/>
          <p:cNvSpPr txBox="1"/>
          <p:nvPr/>
        </p:nvSpPr>
        <p:spPr>
          <a:xfrm>
            <a:off x="7114032" y="1796288"/>
            <a:ext cx="420624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未確定だと何が決まらないか</a:t>
            </a:r>
          </a:p>
        </p:txBody>
      </p:sp>
      <p:sp>
        <p:nvSpPr>
          <p:cNvPr id="13" name="Rectangle 12"/>
          <p:cNvSpPr/>
          <p:nvPr/>
        </p:nvSpPr>
        <p:spPr>
          <a:xfrm>
            <a:off x="812800" y="2600718"/>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157476"/>
            <a:ext cx="2084831" cy="415810"/>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製品更新の頻度と手順</a:t>
            </a:r>
          </a:p>
        </p:txBody>
      </p:sp>
      <p:sp>
        <p:nvSpPr>
          <p:cNvPr id="15" name="TextBox 14"/>
          <p:cNvSpPr txBox="1"/>
          <p:nvPr/>
        </p:nvSpPr>
        <p:spPr>
          <a:xfrm>
            <a:off x="3108960" y="2157476"/>
            <a:ext cx="566928" cy="415810"/>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説明資料</a:t>
            </a:r>
          </a:p>
        </p:txBody>
      </p:sp>
      <p:sp>
        <p:nvSpPr>
          <p:cNvPr id="16" name="TextBox 15"/>
          <p:cNvSpPr txBox="1"/>
          <p:nvPr/>
        </p:nvSpPr>
        <p:spPr>
          <a:xfrm>
            <a:off x="3767328" y="2157476"/>
            <a:ext cx="3218688" cy="415810"/>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① 年 1〜2 回の定例＋随時の緊急【推】</a:t>
            </a:r>
          </a:p>
          <a:p>
            <a:pPr algn="l">
              <a:lnSpc>
                <a:spcPct val="125000"/>
              </a:lnSpc>
            </a:pPr>
            <a:r>
              <a:rPr sz="1050" b="0">
                <a:solidFill>
                  <a:srgbClr val="5A6472"/>
                </a:solidFill>
                <a:latin typeface="Yu Gothic UI"/>
              </a:rPr>
              <a:t>② 長期サポート版のみ当てる</a:t>
            </a:r>
          </a:p>
        </p:txBody>
      </p:sp>
      <p:sp>
        <p:nvSpPr>
          <p:cNvPr id="17" name="TextBox 16"/>
          <p:cNvSpPr txBox="1"/>
          <p:nvPr/>
        </p:nvSpPr>
        <p:spPr>
          <a:xfrm>
            <a:off x="7114032" y="2157476"/>
            <a:ext cx="4206240" cy="415810"/>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更新を遅らせると脆弱性が残り、頻繁だと停止の調整負荷が増えます。</a:t>
            </a:r>
          </a:p>
        </p:txBody>
      </p:sp>
      <p:sp>
        <p:nvSpPr>
          <p:cNvPr id="18" name="Rectangle 17"/>
          <p:cNvSpPr/>
          <p:nvPr/>
        </p:nvSpPr>
        <p:spPr>
          <a:xfrm>
            <a:off x="812800" y="2600718"/>
            <a:ext cx="10566349" cy="1016041"/>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800" y="3616760"/>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710446"/>
            <a:ext cx="2084831" cy="878881"/>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深刻な脆弱性が出たときの修正期限</a:t>
            </a:r>
          </a:p>
        </p:txBody>
      </p:sp>
      <p:sp>
        <p:nvSpPr>
          <p:cNvPr id="21" name="TextBox 20"/>
          <p:cNvSpPr txBox="1"/>
          <p:nvPr/>
        </p:nvSpPr>
        <p:spPr>
          <a:xfrm>
            <a:off x="3108960" y="2710446"/>
            <a:ext cx="566928" cy="878881"/>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Q57</a:t>
            </a:r>
          </a:p>
        </p:txBody>
      </p:sp>
      <p:sp>
        <p:nvSpPr>
          <p:cNvPr id="22" name="TextBox 21"/>
          <p:cNvSpPr txBox="1"/>
          <p:nvPr/>
        </p:nvSpPr>
        <p:spPr>
          <a:xfrm>
            <a:off x="3767328" y="2710446"/>
            <a:ext cx="3218688" cy="878881"/>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最も深刻なもの 24 時間以内／次に深刻なもの 7 日以内【推】</a:t>
            </a:r>
          </a:p>
          <a:p>
            <a:pPr algn="l">
              <a:lnSpc>
                <a:spcPct val="125000"/>
              </a:lnSpc>
            </a:pPr>
            <a:r>
              <a:rPr sz="1050" b="0">
                <a:solidFill>
                  <a:srgbClr val="5A6472"/>
                </a:solidFill>
                <a:latin typeface="Yu Gothic UI"/>
              </a:rPr>
              <a:t>B) 3 営業日以内／2 週間以内</a:t>
            </a:r>
          </a:p>
          <a:p>
            <a:pPr algn="l">
              <a:lnSpc>
                <a:spcPct val="125000"/>
              </a:lnSpc>
            </a:pPr>
            <a:r>
              <a:rPr sz="1050" b="0">
                <a:solidFill>
                  <a:srgbClr val="5A6472"/>
                </a:solidFill>
                <a:latin typeface="Yu Gothic UI"/>
              </a:rPr>
              <a:t>C) 顧客との契約で定める期限に合わせる／D) 未確定</a:t>
            </a:r>
          </a:p>
        </p:txBody>
      </p:sp>
      <p:sp>
        <p:nvSpPr>
          <p:cNvPr id="23" name="TextBox 22"/>
          <p:cNvSpPr txBox="1"/>
          <p:nvPr/>
        </p:nvSpPr>
        <p:spPr>
          <a:xfrm>
            <a:off x="7114032" y="2710446"/>
            <a:ext cx="4206240" cy="878881"/>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対処期限が当番体制（平日日中か 24 時間 365 日か）を決め、人件費に直結します。短くするほど計画停止の頻度と運用負荷も上がります。</a:t>
            </a:r>
          </a:p>
        </p:txBody>
      </p:sp>
      <p:sp>
        <p:nvSpPr>
          <p:cNvPr id="24" name="Rectangle 23"/>
          <p:cNvSpPr/>
          <p:nvPr/>
        </p:nvSpPr>
        <p:spPr>
          <a:xfrm>
            <a:off x="812800" y="4478444"/>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726488"/>
            <a:ext cx="2084831" cy="724524"/>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緊急でない更新をまとめて当てる頻度</a:t>
            </a:r>
          </a:p>
        </p:txBody>
      </p:sp>
      <p:sp>
        <p:nvSpPr>
          <p:cNvPr id="26" name="TextBox 25"/>
          <p:cNvSpPr txBox="1"/>
          <p:nvPr/>
        </p:nvSpPr>
        <p:spPr>
          <a:xfrm>
            <a:off x="3108960" y="3726488"/>
            <a:ext cx="566928" cy="724524"/>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Q58</a:t>
            </a:r>
          </a:p>
        </p:txBody>
      </p:sp>
      <p:sp>
        <p:nvSpPr>
          <p:cNvPr id="27" name="TextBox 26"/>
          <p:cNvSpPr txBox="1"/>
          <p:nvPr/>
        </p:nvSpPr>
        <p:spPr>
          <a:xfrm>
            <a:off x="3767328" y="3726488"/>
            <a:ext cx="3218688" cy="724524"/>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重要度「中」は 30 日以内／「低」は 90 日以内。月 1 回・深夜 2〜4 時の枠で実施し 7 日前に通知【推】</a:t>
            </a:r>
          </a:p>
          <a:p>
            <a:pPr algn="l">
              <a:lnSpc>
                <a:spcPct val="125000"/>
              </a:lnSpc>
            </a:pPr>
            <a:r>
              <a:rPr sz="1050" b="0">
                <a:solidFill>
                  <a:srgbClr val="5A6472"/>
                </a:solidFill>
                <a:latin typeface="Yu Gothic UI"/>
              </a:rPr>
              <a:t>B) 四半期に 1 回まとめて適用／C) 未確定</a:t>
            </a:r>
          </a:p>
        </p:txBody>
      </p:sp>
      <p:sp>
        <p:nvSpPr>
          <p:cNvPr id="28" name="TextBox 27"/>
          <p:cNvSpPr txBox="1"/>
          <p:nvPr/>
        </p:nvSpPr>
        <p:spPr>
          <a:xfrm>
            <a:off x="7114032" y="3726488"/>
            <a:ext cx="4206240" cy="724524"/>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計画停止の頻度が決まります。計画停止の取り決め（Q09）と一体です。</a:t>
            </a:r>
          </a:p>
        </p:txBody>
      </p:sp>
      <p:sp>
        <p:nvSpPr>
          <p:cNvPr id="29" name="Rectangle 28"/>
          <p:cNvSpPr/>
          <p:nvPr/>
        </p:nvSpPr>
        <p:spPr>
          <a:xfrm>
            <a:off x="812800" y="4478444"/>
            <a:ext cx="10566349" cy="1016041"/>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2800" y="5494486"/>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588172"/>
            <a:ext cx="2084831" cy="878881"/>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設定変更の申請・承認の流れと所要日数</a:t>
            </a:r>
          </a:p>
        </p:txBody>
      </p:sp>
      <p:sp>
        <p:nvSpPr>
          <p:cNvPr id="32" name="TextBox 31"/>
          <p:cNvSpPr txBox="1"/>
          <p:nvPr/>
        </p:nvSpPr>
        <p:spPr>
          <a:xfrm>
            <a:off x="3108960" y="4588172"/>
            <a:ext cx="566928" cy="878881"/>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Q59</a:t>
            </a:r>
          </a:p>
        </p:txBody>
      </p:sp>
      <p:sp>
        <p:nvSpPr>
          <p:cNvPr id="33" name="TextBox 32"/>
          <p:cNvSpPr txBox="1"/>
          <p:nvPr/>
        </p:nvSpPr>
        <p:spPr>
          <a:xfrm>
            <a:off x="3767328" y="4588172"/>
            <a:ext cx="3218688" cy="878881"/>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すべてコードで管理する方式に統一（変更を提出 → レビュー → 自動適用）。管理画面からの直接変更は禁止【推】</a:t>
            </a:r>
          </a:p>
          <a:p>
            <a:pPr algn="l">
              <a:lnSpc>
                <a:spcPct val="125000"/>
              </a:lnSpc>
            </a:pPr>
            <a:r>
              <a:rPr sz="1050" b="0">
                <a:solidFill>
                  <a:srgbClr val="5A6472"/>
                </a:solidFill>
                <a:latin typeface="Yu Gothic UI"/>
              </a:rPr>
              <a:t>B) 変更の種類ごとに承認者と日数を分ける／C) 未確定</a:t>
            </a:r>
          </a:p>
        </p:txBody>
      </p:sp>
      <p:sp>
        <p:nvSpPr>
          <p:cNvPr id="34" name="TextBox 33"/>
          <p:cNvSpPr txBox="1"/>
          <p:nvPr/>
        </p:nvSpPr>
        <p:spPr>
          <a:xfrm>
            <a:off x="7114032" y="4588172"/>
            <a:ext cx="4206240" cy="878881"/>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貴社の承認が必要な場合、新しい顧客の開通までの日数（Q07）に影響します。また管理画面に承認機能を作る必要が生じます。</a:t>
            </a:r>
          </a:p>
        </p:txBody>
      </p:sp>
      <p:sp>
        <p:nvSpPr>
          <p:cNvPr id="35" name="Rectangle 34"/>
          <p:cNvSpPr/>
          <p:nvPr/>
        </p:nvSpPr>
        <p:spPr>
          <a:xfrm>
            <a:off x="812800" y="6510528"/>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5604214"/>
            <a:ext cx="2084831" cy="878881"/>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緊急時に手順を飛ばして変更することを認めるか</a:t>
            </a:r>
          </a:p>
        </p:txBody>
      </p:sp>
      <p:sp>
        <p:nvSpPr>
          <p:cNvPr id="37" name="TextBox 36"/>
          <p:cNvSpPr txBox="1"/>
          <p:nvPr/>
        </p:nvSpPr>
        <p:spPr>
          <a:xfrm>
            <a:off x="3108960" y="5604214"/>
            <a:ext cx="566928" cy="878881"/>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Q60</a:t>
            </a:r>
          </a:p>
        </p:txBody>
      </p:sp>
      <p:sp>
        <p:nvSpPr>
          <p:cNvPr id="38" name="TextBox 37"/>
          <p:cNvSpPr txBox="1"/>
          <p:nvPr/>
        </p:nvSpPr>
        <p:spPr>
          <a:xfrm>
            <a:off x="3767328" y="5604214"/>
            <a:ext cx="3218688" cy="878881"/>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認める。ただし発動そのものを障害として扱い、役員 2 名の承認と事後のコード反映を必須とする【推】</a:t>
            </a:r>
          </a:p>
          <a:p>
            <a:pPr algn="l">
              <a:lnSpc>
                <a:spcPct val="125000"/>
              </a:lnSpc>
            </a:pPr>
            <a:r>
              <a:rPr sz="1050" b="0">
                <a:solidFill>
                  <a:srgbClr val="5A6472"/>
                </a:solidFill>
                <a:latin typeface="Yu Gothic UI"/>
              </a:rPr>
              <a:t>B) 認めない（緊急時も通常の承認を通す）／C) 未確定</a:t>
            </a:r>
          </a:p>
        </p:txBody>
      </p:sp>
      <p:sp>
        <p:nvSpPr>
          <p:cNvPr id="39" name="TextBox 38"/>
          <p:cNvSpPr txBox="1"/>
          <p:nvPr/>
        </p:nvSpPr>
        <p:spPr>
          <a:xfrm>
            <a:off x="7114032" y="5604214"/>
            <a:ext cx="4206240" cy="878881"/>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認めない場合、深夜の緊急対応で承認者を起こす運用が必要になります。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運用と監視 ③　体制と、移行時のパスワード</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5 件</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誰が何人で受けるか。旧システムのパスワードを引き継げるか。</a:t>
            </a:r>
          </a:p>
        </p:txBody>
      </p:sp>
      <p:sp>
        <p:nvSpPr>
          <p:cNvPr id="6" name="Rectangle 5"/>
          <p:cNvSpPr/>
          <p:nvPr/>
        </p:nvSpPr>
        <p:spPr>
          <a:xfrm>
            <a:off x="812800" y="1014984"/>
            <a:ext cx="36576" cy="484124"/>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4841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24 時間 365 日への移行時期は、運用リード 3 名の採用リードタイムがあるため早めのご判断が必要です。またこの選択は、契約できる顧客層（金融・医療・官公庁）とも直結します。</a:t>
            </a:r>
          </a:p>
        </p:txBody>
      </p:sp>
      <p:sp>
        <p:nvSpPr>
          <p:cNvPr id="8" name="Rectangle 7"/>
          <p:cNvSpPr/>
          <p:nvPr/>
        </p:nvSpPr>
        <p:spPr>
          <a:xfrm>
            <a:off x="812800" y="1718564"/>
            <a:ext cx="10566349" cy="3291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96288"/>
            <a:ext cx="2084831"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ご確認いただきたいこと</a:t>
            </a:r>
          </a:p>
        </p:txBody>
      </p:sp>
      <p:sp>
        <p:nvSpPr>
          <p:cNvPr id="10" name="TextBox 9"/>
          <p:cNvSpPr txBox="1"/>
          <p:nvPr/>
        </p:nvSpPr>
        <p:spPr>
          <a:xfrm>
            <a:off x="3108960" y="1796288"/>
            <a:ext cx="566928"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設問</a:t>
            </a:r>
          </a:p>
        </p:txBody>
      </p:sp>
      <p:sp>
        <p:nvSpPr>
          <p:cNvPr id="11" name="TextBox 10"/>
          <p:cNvSpPr txBox="1"/>
          <p:nvPr/>
        </p:nvSpPr>
        <p:spPr>
          <a:xfrm>
            <a:off x="3767328" y="1796288"/>
            <a:ext cx="3218688"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選択肢（【推】＝当方の推奨・現行の暫定値）</a:t>
            </a:r>
          </a:p>
        </p:txBody>
      </p:sp>
      <p:sp>
        <p:nvSpPr>
          <p:cNvPr id="12" name="TextBox 11"/>
          <p:cNvSpPr txBox="1"/>
          <p:nvPr/>
        </p:nvSpPr>
        <p:spPr>
          <a:xfrm>
            <a:off x="7114032" y="1796288"/>
            <a:ext cx="420624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未確定だと何が決まらないか</a:t>
            </a:r>
          </a:p>
        </p:txBody>
      </p:sp>
      <p:sp>
        <p:nvSpPr>
          <p:cNvPr id="13" name="Rectangle 12"/>
          <p:cNvSpPr/>
          <p:nvPr/>
        </p:nvSpPr>
        <p:spPr>
          <a:xfrm>
            <a:off x="812800" y="3146330"/>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120900"/>
            <a:ext cx="2084831" cy="997998"/>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24 時間 365 日体制に移る時期</a:t>
            </a:r>
          </a:p>
        </p:txBody>
      </p:sp>
      <p:sp>
        <p:nvSpPr>
          <p:cNvPr id="15" name="TextBox 14"/>
          <p:cNvSpPr txBox="1"/>
          <p:nvPr/>
        </p:nvSpPr>
        <p:spPr>
          <a:xfrm>
            <a:off x="3108960" y="2120900"/>
            <a:ext cx="566928" cy="997998"/>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Q48 ★</a:t>
            </a:r>
          </a:p>
        </p:txBody>
      </p:sp>
      <p:sp>
        <p:nvSpPr>
          <p:cNvPr id="16" name="TextBox 15"/>
          <p:cNvSpPr txBox="1"/>
          <p:nvPr/>
        </p:nvSpPr>
        <p:spPr>
          <a:xfrm>
            <a:off x="3767328" y="2120900"/>
            <a:ext cx="3218688" cy="997998"/>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2 段階。リリース時は平日 9〜18 時（祝日除く）、6 か月後以降に 24 時間 365 日へ移行【推】</a:t>
            </a:r>
          </a:p>
          <a:p>
            <a:pPr algn="l">
              <a:lnSpc>
                <a:spcPct val="125000"/>
              </a:lnSpc>
            </a:pPr>
            <a:r>
              <a:rPr sz="1050" b="0">
                <a:solidFill>
                  <a:srgbClr val="5A6472"/>
                </a:solidFill>
                <a:latin typeface="Yu Gothic UI"/>
              </a:rPr>
              <a:t>B) リリース時点から 24 時間 365 日</a:t>
            </a:r>
          </a:p>
          <a:p>
            <a:pPr algn="l">
              <a:lnSpc>
                <a:spcPct val="125000"/>
              </a:lnSpc>
            </a:pPr>
            <a:r>
              <a:rPr sz="1050" b="0">
                <a:solidFill>
                  <a:srgbClr val="5A6472"/>
                </a:solidFill>
                <a:latin typeface="Yu Gothic UI"/>
              </a:rPr>
              <a:t>C) 平日日中のみ（24 時間化の予定なし）／D) 未確定</a:t>
            </a:r>
          </a:p>
        </p:txBody>
      </p:sp>
      <p:sp>
        <p:nvSpPr>
          <p:cNvPr id="17" name="TextBox 16"/>
          <p:cNvSpPr txBox="1"/>
          <p:nvPr/>
        </p:nvSpPr>
        <p:spPr>
          <a:xfrm>
            <a:off x="7114032" y="2120900"/>
            <a:ext cx="4206240" cy="997998"/>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運用要員 10 名体制の内訳と人件費を決めます。24 時間体制でないと受注できない顧客層があるため、営業計画とも連動します。</a:t>
            </a:r>
          </a:p>
        </p:txBody>
      </p:sp>
      <p:sp>
        <p:nvSpPr>
          <p:cNvPr id="18" name="Rectangle 17"/>
          <p:cNvSpPr/>
          <p:nvPr/>
        </p:nvSpPr>
        <p:spPr>
          <a:xfrm>
            <a:off x="812800" y="3146330"/>
            <a:ext cx="10566349" cy="945158"/>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800" y="4091488"/>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219482"/>
            <a:ext cx="2084831" cy="844574"/>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提供元との有償サポート契約の水準</a:t>
            </a:r>
          </a:p>
        </p:txBody>
      </p:sp>
      <p:sp>
        <p:nvSpPr>
          <p:cNvPr id="21" name="TextBox 20"/>
          <p:cNvSpPr txBox="1"/>
          <p:nvPr/>
        </p:nvSpPr>
        <p:spPr>
          <a:xfrm>
            <a:off x="3108960" y="3219482"/>
            <a:ext cx="566928" cy="844574"/>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Q61</a:t>
            </a:r>
          </a:p>
        </p:txBody>
      </p:sp>
      <p:sp>
        <p:nvSpPr>
          <p:cNvPr id="22" name="TextBox 21"/>
          <p:cNvSpPr txBox="1"/>
          <p:nvPr/>
        </p:nvSpPr>
        <p:spPr>
          <a:xfrm>
            <a:off x="3767328" y="3219482"/>
            <a:ext cx="3218688" cy="844574"/>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基盤ソフトのサポートは利用料に含まれるため追加契約は不要。クラウド側の水準のみ別途決定【推】</a:t>
            </a:r>
          </a:p>
          <a:p>
            <a:pPr algn="l">
              <a:lnSpc>
                <a:spcPct val="125000"/>
              </a:lnSpc>
            </a:pPr>
            <a:r>
              <a:rPr sz="1050" b="0">
                <a:solidFill>
                  <a:srgbClr val="5A6472"/>
                </a:solidFill>
                <a:latin typeface="Yu Gothic UI"/>
              </a:rPr>
              <a:t>B) 上位のサポート契約を追加で結ぶ（対象と水準をご記入）／C) 未確定</a:t>
            </a:r>
          </a:p>
        </p:txBody>
      </p:sp>
      <p:sp>
        <p:nvSpPr>
          <p:cNvPr id="23" name="TextBox 22"/>
          <p:cNvSpPr txBox="1"/>
          <p:nvPr/>
        </p:nvSpPr>
        <p:spPr>
          <a:xfrm>
            <a:off x="7114032" y="3219482"/>
            <a:ext cx="4206240" cy="844574"/>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サポート費用が決まります。基盤ソフト側は追加不要であることを提供元に確認済みです。</a:t>
            </a:r>
          </a:p>
        </p:txBody>
      </p:sp>
      <p:sp>
        <p:nvSpPr>
          <p:cNvPr id="24" name="Rectangle 23"/>
          <p:cNvSpPr/>
          <p:nvPr/>
        </p:nvSpPr>
        <p:spPr>
          <a:xfrm>
            <a:off x="812800" y="4883223"/>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164640"/>
            <a:ext cx="2084831" cy="691150"/>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運用に必要な人手の規模</a:t>
            </a:r>
          </a:p>
        </p:txBody>
      </p:sp>
      <p:sp>
        <p:nvSpPr>
          <p:cNvPr id="26" name="TextBox 25"/>
          <p:cNvSpPr txBox="1"/>
          <p:nvPr/>
        </p:nvSpPr>
        <p:spPr>
          <a:xfrm>
            <a:off x="3108960" y="4164640"/>
            <a:ext cx="566928" cy="691150"/>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Q94</a:t>
            </a:r>
          </a:p>
        </p:txBody>
      </p:sp>
      <p:sp>
        <p:nvSpPr>
          <p:cNvPr id="27" name="TextBox 26"/>
          <p:cNvSpPr txBox="1"/>
          <p:nvPr/>
        </p:nvSpPr>
        <p:spPr>
          <a:xfrm>
            <a:off x="3767328" y="4164640"/>
            <a:ext cx="3218688" cy="691150"/>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A) 運用者 10 名体制（リード 3 名＋各系統の担当＋緊急時の鍵管理者 2 名）【推】</a:t>
            </a:r>
          </a:p>
          <a:p>
            <a:pPr algn="l">
              <a:lnSpc>
                <a:spcPct val="125000"/>
              </a:lnSpc>
            </a:pPr>
            <a:r>
              <a:rPr sz="1050" b="0">
                <a:solidFill>
                  <a:srgbClr val="5A6472"/>
                </a:solidFill>
                <a:latin typeface="Yu Gothic UI"/>
              </a:rPr>
              <a:t>B) これより小さい規模で始めたい（人数をご記入）／C) 未確定</a:t>
            </a:r>
          </a:p>
        </p:txBody>
      </p:sp>
      <p:sp>
        <p:nvSpPr>
          <p:cNvPr id="28" name="TextBox 27"/>
          <p:cNvSpPr txBox="1"/>
          <p:nvPr/>
        </p:nvSpPr>
        <p:spPr>
          <a:xfrm>
            <a:off x="7114032" y="4164640"/>
            <a:ext cx="4206240" cy="691150"/>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運用費用の見積りの根拠になります。役割の内訳（監視・障害対応・顧客追加・変更管理）を併せてご確認ください。</a:t>
            </a:r>
          </a:p>
        </p:txBody>
      </p:sp>
      <p:sp>
        <p:nvSpPr>
          <p:cNvPr id="29" name="Rectangle 28"/>
          <p:cNvSpPr/>
          <p:nvPr/>
        </p:nvSpPr>
        <p:spPr>
          <a:xfrm>
            <a:off x="812800" y="4883223"/>
            <a:ext cx="10566349" cy="528722"/>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2800" y="5411945"/>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956375"/>
            <a:ext cx="2084831" cy="428138"/>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新しい顧客の追加にかかる日数のお約束</a:t>
            </a:r>
          </a:p>
        </p:txBody>
      </p:sp>
      <p:sp>
        <p:nvSpPr>
          <p:cNvPr id="32" name="TextBox 31"/>
          <p:cNvSpPr txBox="1"/>
          <p:nvPr/>
        </p:nvSpPr>
        <p:spPr>
          <a:xfrm>
            <a:off x="3108960" y="4956375"/>
            <a:ext cx="566928" cy="428138"/>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Q07 と同じ</a:t>
            </a:r>
          </a:p>
        </p:txBody>
      </p:sp>
      <p:sp>
        <p:nvSpPr>
          <p:cNvPr id="33" name="TextBox 32"/>
          <p:cNvSpPr txBox="1"/>
          <p:nvPr/>
        </p:nvSpPr>
        <p:spPr>
          <a:xfrm>
            <a:off x="3767328" y="4956375"/>
            <a:ext cx="3218688" cy="428138"/>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設問は Q07 に統合しています</a:t>
            </a:r>
          </a:p>
        </p:txBody>
      </p:sp>
      <p:sp>
        <p:nvSpPr>
          <p:cNvPr id="34" name="TextBox 33"/>
          <p:cNvSpPr txBox="1"/>
          <p:nvPr/>
        </p:nvSpPr>
        <p:spPr>
          <a:xfrm>
            <a:off x="7114032" y="4956375"/>
            <a:ext cx="4206240" cy="428138"/>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開通日数のお約束が決まります。</a:t>
            </a:r>
          </a:p>
        </p:txBody>
      </p:sp>
      <p:sp>
        <p:nvSpPr>
          <p:cNvPr id="35" name="Rectangle 34"/>
          <p:cNvSpPr/>
          <p:nvPr/>
        </p:nvSpPr>
        <p:spPr>
          <a:xfrm>
            <a:off x="812800" y="6510528"/>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5485097"/>
            <a:ext cx="2084831" cy="997998"/>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旧システムのパスワードを引き継げるか</a:t>
            </a:r>
          </a:p>
        </p:txBody>
      </p:sp>
      <p:sp>
        <p:nvSpPr>
          <p:cNvPr id="37" name="TextBox 36"/>
          <p:cNvSpPr txBox="1"/>
          <p:nvPr/>
        </p:nvSpPr>
        <p:spPr>
          <a:xfrm>
            <a:off x="3108960" y="5485097"/>
            <a:ext cx="566928" cy="997998"/>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アプリ確認</a:t>
            </a:r>
          </a:p>
        </p:txBody>
      </p:sp>
      <p:sp>
        <p:nvSpPr>
          <p:cNvPr id="38" name="TextBox 37"/>
          <p:cNvSpPr txBox="1"/>
          <p:nvPr/>
        </p:nvSpPr>
        <p:spPr>
          <a:xfrm>
            <a:off x="3767328" y="5485097"/>
            <a:ext cx="3218688" cy="997998"/>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引き継ぎは可能です。条件は 2 つ。</a:t>
            </a:r>
          </a:p>
          <a:p>
            <a:pPr algn="l">
              <a:lnSpc>
                <a:spcPct val="125000"/>
              </a:lnSpc>
            </a:pPr>
            <a:r>
              <a:rPr sz="1050" b="0">
                <a:solidFill>
                  <a:srgbClr val="5A6472"/>
                </a:solidFill>
                <a:latin typeface="Yu Gothic UI"/>
              </a:rPr>
              <a:t>① 投入に管理 API（idm-api）を使うこと</a:t>
            </a:r>
          </a:p>
          <a:p>
            <a:pPr algn="l">
              <a:lnSpc>
                <a:spcPct val="125000"/>
              </a:lnSpc>
            </a:pPr>
            <a:r>
              <a:rPr sz="1050" b="0">
                <a:solidFill>
                  <a:srgbClr val="5A6472"/>
                </a:solidFill>
                <a:latin typeface="Yu Gothic UI"/>
              </a:rPr>
              <a:t>② 旧方式が PBKDF2-SHA256／PBKDF2-SHA512／Argon2id のいずれかであること</a:t>
            </a:r>
          </a:p>
        </p:txBody>
      </p:sp>
      <p:sp>
        <p:nvSpPr>
          <p:cNvPr id="39" name="TextBox 38"/>
          <p:cNvSpPr txBox="1"/>
          <p:nvPr/>
        </p:nvSpPr>
        <p:spPr>
          <a:xfrm>
            <a:off x="7114032" y="5485097"/>
            <a:ext cx="4206240" cy="997998"/>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2 条件を満たせば利用者への再設定は不要です。満たさない場合は変換部品の追加開発が必要になるか、利用者全員に再設定をお願いすることになります。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514600"/>
            <a:ext cx="9692640" cy="292608"/>
          </a:xfrm>
          <a:prstGeom prst="rect">
            <a:avLst/>
          </a:prstGeom>
          <a:noFill/>
        </p:spPr>
        <p:txBody>
          <a:bodyPr wrap="square" lIns="0" rIns="0" tIns="0" bIns="0" anchor="t">
            <a:spAutoFit/>
          </a:bodyPr>
          <a:lstStyle/>
          <a:p>
            <a:pPr algn="l">
              <a:lnSpc>
                <a:spcPct val="125000"/>
              </a:lnSpc>
            </a:pPr>
            <a:r>
              <a:rPr sz="1400" b="1">
                <a:solidFill>
                  <a:srgbClr val="1E7B4D"/>
                </a:solidFill>
                <a:latin typeface="Yu Gothic UI"/>
              </a:rPr>
              <a:t>第 2 部</a:t>
            </a:r>
          </a:p>
        </p:txBody>
      </p:sp>
      <p:sp>
        <p:nvSpPr>
          <p:cNvPr id="4" name="TextBox 3"/>
          <p:cNvSpPr txBox="1"/>
          <p:nvPr/>
        </p:nvSpPr>
        <p:spPr>
          <a:xfrm>
            <a:off x="1097280" y="2926080"/>
            <a:ext cx="9692640" cy="731520"/>
          </a:xfrm>
          <a:prstGeom prst="rect">
            <a:avLst/>
          </a:prstGeom>
          <a:noFill/>
        </p:spPr>
        <p:txBody>
          <a:bodyPr wrap="square" lIns="0" rIns="0" tIns="0" bIns="0" anchor="t">
            <a:spAutoFit/>
          </a:bodyPr>
          <a:lstStyle/>
          <a:p>
            <a:pPr algn="l">
              <a:lnSpc>
                <a:spcPct val="125000"/>
              </a:lnSpc>
            </a:pPr>
            <a:r>
              <a:rPr sz="3400" b="1">
                <a:solidFill>
                  <a:srgbClr val="1F3864"/>
                </a:solidFill>
                <a:latin typeface="Yu Gothic UI"/>
              </a:rPr>
              <a:t>概念のご説明</a:t>
            </a:r>
          </a:p>
        </p:txBody>
      </p:sp>
      <p:sp>
        <p:nvSpPr>
          <p:cNvPr id="5" name="Rectangle 4"/>
          <p:cNvSpPr/>
          <p:nvPr/>
        </p:nvSpPr>
        <p:spPr>
          <a:xfrm>
            <a:off x="1097280" y="3931920"/>
            <a:ext cx="2011680" cy="45720"/>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4224528"/>
            <a:ext cx="9692640" cy="731520"/>
          </a:xfrm>
          <a:prstGeom prst="rect">
            <a:avLst/>
          </a:prstGeom>
          <a:noFill/>
        </p:spPr>
        <p:txBody>
          <a:bodyPr wrap="square" lIns="0" rIns="0" tIns="0" bIns="0" anchor="t">
            <a:spAutoFit/>
          </a:bodyPr>
          <a:lstStyle/>
          <a:p>
            <a:pPr algn="l">
              <a:lnSpc>
                <a:spcPct val="125000"/>
              </a:lnSpc>
            </a:pPr>
            <a:r>
              <a:rPr sz="1400" b="0">
                <a:solidFill>
                  <a:srgbClr val="1D2125"/>
                </a:solidFill>
                <a:latin typeface="Yu Gothic UI"/>
              </a:rPr>
              <a:t>設問だけでは判断しづらい 6 つのテーマについて、仕組みからご説明します。</a:t>
            </a:r>
          </a:p>
          <a:p>
            <a:pPr algn="l">
              <a:lnSpc>
                <a:spcPct val="125000"/>
              </a:lnSpc>
            </a:pPr>
            <a:r>
              <a:rPr sz="1400" b="0">
                <a:solidFill>
                  <a:srgbClr val="1D2125"/>
                </a:solidFill>
                <a:latin typeface="Yu Gothic UI"/>
              </a:rPr>
              <a:t>IaC 管理／自動スケーリング／脆弱性検査／アラート通知／バージョンアップ／運用体制</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IaC 管理 ①　設定変更をどう流すか</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概念</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IaC ＝ 環境の設定を「文書」ではなく「コード」で持ち、そのコードから環境を作る考え方。</a:t>
            </a:r>
          </a:p>
        </p:txBody>
      </p:sp>
      <p:sp>
        <p:nvSpPr>
          <p:cNvPr id="6" name="Rectangle 5"/>
          <p:cNvSpPr/>
          <p:nvPr/>
        </p:nvSpPr>
        <p:spPr>
          <a:xfrm>
            <a:off x="812800" y="1014984"/>
            <a:ext cx="36576" cy="484124"/>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4841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人が本番を直接触らないことが出発点です。設定ファイルが唯一の正であり、実際の環境はそこから作られます。だから「今どうなっているか」を人に聞かなくても分かります。</a:t>
            </a:r>
          </a:p>
        </p:txBody>
      </p:sp>
      <p:sp>
        <p:nvSpPr>
          <p:cNvPr id="8" name="Rectangle 7"/>
          <p:cNvSpPr/>
          <p:nvPr/>
        </p:nvSpPr>
        <p:spPr>
          <a:xfrm>
            <a:off x="812800" y="1718564"/>
            <a:ext cx="1874519" cy="146304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800" y="1718564"/>
            <a:ext cx="1874519" cy="457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9103" y="1901444"/>
            <a:ext cx="1581911" cy="201168"/>
          </a:xfrm>
          <a:prstGeom prst="rect">
            <a:avLst/>
          </a:prstGeom>
          <a:noFill/>
        </p:spPr>
        <p:txBody>
          <a:bodyPr wrap="square" lIns="0" rIns="0" tIns="0" bIns="0" anchor="t">
            <a:spAutoFit/>
          </a:bodyPr>
          <a:lstStyle/>
          <a:p>
            <a:pPr algn="l">
              <a:lnSpc>
                <a:spcPct val="125000"/>
              </a:lnSpc>
            </a:pPr>
            <a:r>
              <a:rPr sz="1000" b="1">
                <a:solidFill>
                  <a:srgbClr val="1F3864"/>
                </a:solidFill>
                <a:latin typeface="Yu Gothic UI"/>
              </a:rPr>
              <a:t>①</a:t>
            </a:r>
          </a:p>
        </p:txBody>
      </p:sp>
      <p:sp>
        <p:nvSpPr>
          <p:cNvPr id="11" name="TextBox 10"/>
          <p:cNvSpPr txBox="1"/>
          <p:nvPr/>
        </p:nvSpPr>
        <p:spPr>
          <a:xfrm>
            <a:off x="959103" y="2139188"/>
            <a:ext cx="1581911" cy="457200"/>
          </a:xfrm>
          <a:prstGeom prst="rect">
            <a:avLst/>
          </a:prstGeom>
          <a:noFill/>
        </p:spPr>
        <p:txBody>
          <a:bodyPr wrap="square" lIns="0" rIns="0" tIns="0" bIns="0" anchor="t">
            <a:spAutoFit/>
          </a:bodyPr>
          <a:lstStyle/>
          <a:p>
            <a:pPr algn="l">
              <a:lnSpc>
                <a:spcPct val="125000"/>
              </a:lnSpc>
            </a:pPr>
            <a:r>
              <a:rPr sz="1250" b="1">
                <a:solidFill>
                  <a:srgbClr val="1D2125"/>
                </a:solidFill>
                <a:latin typeface="Yu Gothic UI"/>
              </a:rPr>
              <a:t>変更を提出する</a:t>
            </a:r>
          </a:p>
        </p:txBody>
      </p:sp>
      <p:sp>
        <p:nvSpPr>
          <p:cNvPr id="12" name="TextBox 11"/>
          <p:cNvSpPr txBox="1"/>
          <p:nvPr/>
        </p:nvSpPr>
        <p:spPr>
          <a:xfrm>
            <a:off x="959103" y="2540000"/>
            <a:ext cx="1581911" cy="495299"/>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「こう変えたい」を設定ファイルの変更として提出する</a:t>
            </a:r>
          </a:p>
        </p:txBody>
      </p:sp>
      <p:sp>
        <p:nvSpPr>
          <p:cNvPr id="13" name="Right Arrow 12"/>
          <p:cNvSpPr/>
          <p:nvPr/>
        </p:nvSpPr>
        <p:spPr>
          <a:xfrm>
            <a:off x="2728467" y="2331212"/>
            <a:ext cx="219456" cy="237744"/>
          </a:xfrm>
          <a:prstGeom prst="rightArrow">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89072" y="1718564"/>
            <a:ext cx="1874519" cy="146304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9072" y="1718564"/>
            <a:ext cx="1874519" cy="457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35376" y="1901444"/>
            <a:ext cx="1581911" cy="201168"/>
          </a:xfrm>
          <a:prstGeom prst="rect">
            <a:avLst/>
          </a:prstGeom>
          <a:noFill/>
        </p:spPr>
        <p:txBody>
          <a:bodyPr wrap="square" lIns="0" rIns="0" tIns="0" bIns="0" anchor="t">
            <a:spAutoFit/>
          </a:bodyPr>
          <a:lstStyle/>
          <a:p>
            <a:pPr algn="l">
              <a:lnSpc>
                <a:spcPct val="125000"/>
              </a:lnSpc>
            </a:pPr>
            <a:r>
              <a:rPr sz="1000" b="1">
                <a:solidFill>
                  <a:srgbClr val="1F3864"/>
                </a:solidFill>
                <a:latin typeface="Yu Gothic UI"/>
              </a:rPr>
              <a:t>②</a:t>
            </a:r>
          </a:p>
        </p:txBody>
      </p:sp>
      <p:sp>
        <p:nvSpPr>
          <p:cNvPr id="17" name="TextBox 16"/>
          <p:cNvSpPr txBox="1"/>
          <p:nvPr/>
        </p:nvSpPr>
        <p:spPr>
          <a:xfrm>
            <a:off x="3135376" y="2139188"/>
            <a:ext cx="1581911" cy="457200"/>
          </a:xfrm>
          <a:prstGeom prst="rect">
            <a:avLst/>
          </a:prstGeom>
          <a:noFill/>
        </p:spPr>
        <p:txBody>
          <a:bodyPr wrap="square" lIns="0" rIns="0" tIns="0" bIns="0" anchor="t">
            <a:spAutoFit/>
          </a:bodyPr>
          <a:lstStyle/>
          <a:p>
            <a:pPr algn="l">
              <a:lnSpc>
                <a:spcPct val="125000"/>
              </a:lnSpc>
            </a:pPr>
            <a:r>
              <a:rPr sz="1250" b="1">
                <a:solidFill>
                  <a:srgbClr val="1D2125"/>
                </a:solidFill>
                <a:latin typeface="Yu Gothic UI"/>
              </a:rPr>
              <a:t>機械が検査する</a:t>
            </a:r>
          </a:p>
        </p:txBody>
      </p:sp>
      <p:sp>
        <p:nvSpPr>
          <p:cNvPr id="18" name="TextBox 17"/>
          <p:cNvSpPr txBox="1"/>
          <p:nvPr/>
        </p:nvSpPr>
        <p:spPr>
          <a:xfrm>
            <a:off x="3135376" y="2540000"/>
            <a:ext cx="1581911" cy="495299"/>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秘密情報の直書き・書式違反・禁止事項を自動検査。違反なら受け付けない</a:t>
            </a:r>
          </a:p>
        </p:txBody>
      </p:sp>
      <p:sp>
        <p:nvSpPr>
          <p:cNvPr id="19" name="Right Arrow 18"/>
          <p:cNvSpPr/>
          <p:nvPr/>
        </p:nvSpPr>
        <p:spPr>
          <a:xfrm>
            <a:off x="4904740" y="2331212"/>
            <a:ext cx="219456" cy="237744"/>
          </a:xfrm>
          <a:prstGeom prst="rightArrow">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65344" y="1718564"/>
            <a:ext cx="1874519" cy="146304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65344" y="1718564"/>
            <a:ext cx="1874519" cy="457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11648" y="1901444"/>
            <a:ext cx="1581911" cy="201168"/>
          </a:xfrm>
          <a:prstGeom prst="rect">
            <a:avLst/>
          </a:prstGeom>
          <a:noFill/>
        </p:spPr>
        <p:txBody>
          <a:bodyPr wrap="square" lIns="0" rIns="0" tIns="0" bIns="0" anchor="t">
            <a:spAutoFit/>
          </a:bodyPr>
          <a:lstStyle/>
          <a:p>
            <a:pPr algn="l">
              <a:lnSpc>
                <a:spcPct val="125000"/>
              </a:lnSpc>
            </a:pPr>
            <a:r>
              <a:rPr sz="1000" b="1">
                <a:solidFill>
                  <a:srgbClr val="1F3864"/>
                </a:solidFill>
                <a:latin typeface="Yu Gothic UI"/>
              </a:rPr>
              <a:t>③</a:t>
            </a:r>
          </a:p>
        </p:txBody>
      </p:sp>
      <p:sp>
        <p:nvSpPr>
          <p:cNvPr id="23" name="TextBox 22"/>
          <p:cNvSpPr txBox="1"/>
          <p:nvPr/>
        </p:nvSpPr>
        <p:spPr>
          <a:xfrm>
            <a:off x="5311648" y="2139188"/>
            <a:ext cx="1581911" cy="457200"/>
          </a:xfrm>
          <a:prstGeom prst="rect">
            <a:avLst/>
          </a:prstGeom>
          <a:noFill/>
        </p:spPr>
        <p:txBody>
          <a:bodyPr wrap="square" lIns="0" rIns="0" tIns="0" bIns="0" anchor="t">
            <a:spAutoFit/>
          </a:bodyPr>
          <a:lstStyle/>
          <a:p>
            <a:pPr algn="l">
              <a:lnSpc>
                <a:spcPct val="125000"/>
              </a:lnSpc>
            </a:pPr>
            <a:r>
              <a:rPr sz="1250" b="1">
                <a:solidFill>
                  <a:srgbClr val="1D2125"/>
                </a:solidFill>
                <a:latin typeface="Yu Gothic UI"/>
              </a:rPr>
              <a:t>2 名で確認する</a:t>
            </a:r>
          </a:p>
        </p:txBody>
      </p:sp>
      <p:sp>
        <p:nvSpPr>
          <p:cNvPr id="24" name="TextBox 23"/>
          <p:cNvSpPr txBox="1"/>
          <p:nvPr/>
        </p:nvSpPr>
        <p:spPr>
          <a:xfrm>
            <a:off x="5311648" y="2540000"/>
            <a:ext cx="1581911" cy="495299"/>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適用前に「何がどう変わるか」の差分を人が 2 名で確認</a:t>
            </a:r>
          </a:p>
        </p:txBody>
      </p:sp>
      <p:sp>
        <p:nvSpPr>
          <p:cNvPr id="25" name="Right Arrow 24"/>
          <p:cNvSpPr/>
          <p:nvPr/>
        </p:nvSpPr>
        <p:spPr>
          <a:xfrm>
            <a:off x="7081012" y="2331212"/>
            <a:ext cx="219456" cy="237744"/>
          </a:xfrm>
          <a:prstGeom prst="rightArrow">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1615" y="1718564"/>
            <a:ext cx="1874519" cy="1463040"/>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41615" y="1718564"/>
            <a:ext cx="1874519" cy="45720"/>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87919" y="1901444"/>
            <a:ext cx="1581911" cy="201168"/>
          </a:xfrm>
          <a:prstGeom prst="rect">
            <a:avLst/>
          </a:prstGeom>
          <a:noFill/>
        </p:spPr>
        <p:txBody>
          <a:bodyPr wrap="square" lIns="0" rIns="0" tIns="0" bIns="0" anchor="t">
            <a:spAutoFit/>
          </a:bodyPr>
          <a:lstStyle/>
          <a:p>
            <a:pPr algn="l">
              <a:lnSpc>
                <a:spcPct val="125000"/>
              </a:lnSpc>
            </a:pPr>
            <a:r>
              <a:rPr sz="1000" b="1">
                <a:solidFill>
                  <a:srgbClr val="1E7B4D"/>
                </a:solidFill>
                <a:latin typeface="Yu Gothic UI"/>
              </a:rPr>
              <a:t>④</a:t>
            </a:r>
          </a:p>
        </p:txBody>
      </p:sp>
      <p:sp>
        <p:nvSpPr>
          <p:cNvPr id="29" name="TextBox 28"/>
          <p:cNvSpPr txBox="1"/>
          <p:nvPr/>
        </p:nvSpPr>
        <p:spPr>
          <a:xfrm>
            <a:off x="7487919" y="2139188"/>
            <a:ext cx="1581911" cy="457200"/>
          </a:xfrm>
          <a:prstGeom prst="rect">
            <a:avLst/>
          </a:prstGeom>
          <a:noFill/>
        </p:spPr>
        <p:txBody>
          <a:bodyPr wrap="square" lIns="0" rIns="0" tIns="0" bIns="0" anchor="t">
            <a:spAutoFit/>
          </a:bodyPr>
          <a:lstStyle/>
          <a:p>
            <a:pPr algn="l">
              <a:lnSpc>
                <a:spcPct val="125000"/>
              </a:lnSpc>
            </a:pPr>
            <a:r>
              <a:rPr sz="1250" b="1">
                <a:solidFill>
                  <a:srgbClr val="1D2125"/>
                </a:solidFill>
                <a:latin typeface="Yu Gothic UI"/>
              </a:rPr>
              <a:t>自動で反映する</a:t>
            </a:r>
          </a:p>
        </p:txBody>
      </p:sp>
      <p:sp>
        <p:nvSpPr>
          <p:cNvPr id="30" name="TextBox 29"/>
          <p:cNvSpPr txBox="1"/>
          <p:nvPr/>
        </p:nvSpPr>
        <p:spPr>
          <a:xfrm>
            <a:off x="7487919" y="2705100"/>
            <a:ext cx="1581911" cy="33020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承認後に自動適用。人が本番環境を直接操作しない</a:t>
            </a:r>
          </a:p>
        </p:txBody>
      </p:sp>
      <p:sp>
        <p:nvSpPr>
          <p:cNvPr id="31" name="Right Arrow 30"/>
          <p:cNvSpPr/>
          <p:nvPr/>
        </p:nvSpPr>
        <p:spPr>
          <a:xfrm>
            <a:off x="9257283" y="2331212"/>
            <a:ext cx="219456" cy="237744"/>
          </a:xfrm>
          <a:prstGeom prst="rightArrow">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17888" y="1718564"/>
            <a:ext cx="1874519" cy="1463040"/>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517888" y="1718564"/>
            <a:ext cx="1874519" cy="45720"/>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64192" y="1901444"/>
            <a:ext cx="1581911" cy="201168"/>
          </a:xfrm>
          <a:prstGeom prst="rect">
            <a:avLst/>
          </a:prstGeom>
          <a:noFill/>
        </p:spPr>
        <p:txBody>
          <a:bodyPr wrap="square" lIns="0" rIns="0" tIns="0" bIns="0" anchor="t">
            <a:spAutoFit/>
          </a:bodyPr>
          <a:lstStyle/>
          <a:p>
            <a:pPr algn="l">
              <a:lnSpc>
                <a:spcPct val="125000"/>
              </a:lnSpc>
            </a:pPr>
            <a:r>
              <a:rPr sz="1000" b="1">
                <a:solidFill>
                  <a:srgbClr val="1E7B4D"/>
                </a:solidFill>
                <a:latin typeface="Yu Gothic UI"/>
              </a:rPr>
              <a:t>⑤</a:t>
            </a:r>
          </a:p>
        </p:txBody>
      </p:sp>
      <p:sp>
        <p:nvSpPr>
          <p:cNvPr id="35" name="TextBox 34"/>
          <p:cNvSpPr txBox="1"/>
          <p:nvPr/>
        </p:nvSpPr>
        <p:spPr>
          <a:xfrm>
            <a:off x="9664192" y="2139188"/>
            <a:ext cx="1581911" cy="457200"/>
          </a:xfrm>
          <a:prstGeom prst="rect">
            <a:avLst/>
          </a:prstGeom>
          <a:noFill/>
        </p:spPr>
        <p:txBody>
          <a:bodyPr wrap="square" lIns="0" rIns="0" tIns="0" bIns="0" anchor="t">
            <a:spAutoFit/>
          </a:bodyPr>
          <a:lstStyle/>
          <a:p>
            <a:pPr algn="l">
              <a:lnSpc>
                <a:spcPct val="125000"/>
              </a:lnSpc>
            </a:pPr>
            <a:r>
              <a:rPr sz="1250" b="1">
                <a:solidFill>
                  <a:srgbClr val="1D2125"/>
                </a:solidFill>
                <a:latin typeface="Yu Gothic UI"/>
              </a:rPr>
              <a:t>毎日照合する</a:t>
            </a:r>
          </a:p>
        </p:txBody>
      </p:sp>
      <p:sp>
        <p:nvSpPr>
          <p:cNvPr id="36" name="TextBox 35"/>
          <p:cNvSpPr txBox="1"/>
          <p:nvPr/>
        </p:nvSpPr>
        <p:spPr>
          <a:xfrm>
            <a:off x="9664192" y="2540000"/>
            <a:ext cx="1581911" cy="495299"/>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設定ファイルの内容と実際の姿を日次で突き合わせ、ずれを検知</a:t>
            </a:r>
          </a:p>
        </p:txBody>
      </p:sp>
      <p:sp>
        <p:nvSpPr>
          <p:cNvPr id="37" name="Rectangle 36"/>
          <p:cNvSpPr/>
          <p:nvPr/>
        </p:nvSpPr>
        <p:spPr>
          <a:xfrm>
            <a:off x="812800" y="3382772"/>
            <a:ext cx="10566349" cy="63754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12800" y="3382772"/>
            <a:ext cx="45720" cy="63754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0544" y="3519932"/>
            <a:ext cx="10109149" cy="363220"/>
          </a:xfrm>
          <a:prstGeom prst="rect">
            <a:avLst/>
          </a:prstGeom>
          <a:noFill/>
        </p:spPr>
        <p:txBody>
          <a:bodyPr wrap="square" lIns="0" rIns="0" tIns="0" bIns="0" anchor="t">
            <a:spAutoFit/>
          </a:bodyPr>
          <a:lstStyle/>
          <a:p>
            <a:pPr algn="l">
              <a:lnSpc>
                <a:spcPct val="125000"/>
              </a:lnSpc>
            </a:pPr>
            <a:r>
              <a:rPr sz="1100" b="1">
                <a:solidFill>
                  <a:srgbClr val="1D2125"/>
                </a:solidFill>
                <a:latin typeface="Yu Gothic UI"/>
              </a:rPr>
              <a:t>管理画面から直接変更することは禁止しています（禁則 K-5）。緊急時のみ例外を認めますが、その場合も発動そのものを障害として扱い、事後に設定ファイルへ反映することを必須にしています。</a:t>
            </a:r>
          </a:p>
        </p:txBody>
      </p:sp>
      <p:sp>
        <p:nvSpPr>
          <p:cNvPr id="40" name="Rectangle 39"/>
          <p:cNvSpPr/>
          <p:nvPr/>
        </p:nvSpPr>
        <p:spPr>
          <a:xfrm>
            <a:off x="812800" y="4166616"/>
            <a:ext cx="10566349" cy="637540"/>
          </a:xfrm>
          <a:prstGeom prst="rect">
            <a:avLst/>
          </a:prstGeom>
          <a:solidFill>
            <a:srgbClr val="FF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12800" y="4166616"/>
            <a:ext cx="45720" cy="6375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0544" y="4303776"/>
            <a:ext cx="10109149" cy="363220"/>
          </a:xfrm>
          <a:prstGeom prst="rect">
            <a:avLst/>
          </a:prstGeom>
          <a:noFill/>
        </p:spPr>
        <p:txBody>
          <a:bodyPr wrap="square" lIns="0" rIns="0" tIns="0" bIns="0" anchor="t">
            <a:spAutoFit/>
          </a:bodyPr>
          <a:lstStyle/>
          <a:p>
            <a:pPr algn="l">
              <a:lnSpc>
                <a:spcPct val="125000"/>
              </a:lnSpc>
            </a:pPr>
            <a:r>
              <a:rPr sz="1100" b="1">
                <a:solidFill>
                  <a:srgbClr val="1D2125"/>
                </a:solidFill>
                <a:latin typeface="Yu Gothic UI"/>
              </a:rPr>
              <a:t>⑤ の日次照合があるため「設定ファイル ＝ 実際の姿」と言い切れます。ずれが見つかったら、正当な変更（緊急対応など）なら設定ファイルへ逆反映し、身に覚えのない変更なら不正変更の疑いとして調査に回します。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IaC 管理 ②　土台と顧客ごとの設定を分ける</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概念</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変わる頻度がまったく違うものを、同じ管理単位に入れない。</a:t>
            </a:r>
          </a:p>
        </p:txBody>
      </p:sp>
      <p:sp>
        <p:nvSpPr>
          <p:cNvPr id="6" name="Rectangle 5"/>
          <p:cNvSpPr/>
          <p:nvPr/>
        </p:nvSpPr>
        <p:spPr>
          <a:xfrm>
            <a:off x="812800" y="1014984"/>
            <a:ext cx="36576" cy="484124"/>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4841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土台（ネットワークや製品の設定）は滅多に変わりませんが、顧客ごとの接続設定は毎月増えます。これを一緒に管理すると、顧客を 1 社足すたびに土台全体の点検が走ることになります。</a:t>
            </a:r>
          </a:p>
        </p:txBody>
      </p:sp>
      <p:sp>
        <p:nvSpPr>
          <p:cNvPr id="8" name="Rectangle 7"/>
          <p:cNvSpPr/>
          <p:nvPr/>
        </p:nvSpPr>
        <p:spPr>
          <a:xfrm>
            <a:off x="812800" y="1718564"/>
            <a:ext cx="5138928" cy="306324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800" y="1718564"/>
            <a:ext cx="5138928" cy="457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0544" y="1938020"/>
            <a:ext cx="4681728" cy="292608"/>
          </a:xfrm>
          <a:prstGeom prst="rect">
            <a:avLst/>
          </a:prstGeom>
          <a:noFill/>
        </p:spPr>
        <p:txBody>
          <a:bodyPr wrap="square" lIns="0" rIns="0" tIns="0" bIns="0" anchor="t">
            <a:spAutoFit/>
          </a:bodyPr>
          <a:lstStyle/>
          <a:p>
            <a:pPr algn="l">
              <a:lnSpc>
                <a:spcPct val="125000"/>
              </a:lnSpc>
            </a:pPr>
            <a:r>
              <a:rPr sz="1600" b="1">
                <a:solidFill>
                  <a:srgbClr val="1F3864"/>
                </a:solidFill>
                <a:latin typeface="Yu Gothic UI"/>
              </a:rPr>
              <a:t>土台（基盤層）</a:t>
            </a:r>
          </a:p>
        </p:txBody>
      </p:sp>
      <p:sp>
        <p:nvSpPr>
          <p:cNvPr id="11" name="TextBox 10"/>
          <p:cNvSpPr txBox="1"/>
          <p:nvPr/>
        </p:nvSpPr>
        <p:spPr>
          <a:xfrm>
            <a:off x="1050544" y="2285492"/>
            <a:ext cx="4681728" cy="219456"/>
          </a:xfrm>
          <a:prstGeom prst="rect">
            <a:avLst/>
          </a:prstGeom>
          <a:noFill/>
        </p:spPr>
        <p:txBody>
          <a:bodyPr wrap="square" lIns="0" rIns="0" tIns="0" bIns="0" anchor="t">
            <a:spAutoFit/>
          </a:bodyPr>
          <a:lstStyle/>
          <a:p>
            <a:pPr algn="l">
              <a:lnSpc>
                <a:spcPct val="125000"/>
              </a:lnSpc>
            </a:pPr>
            <a:r>
              <a:rPr sz="1100" b="1">
                <a:solidFill>
                  <a:srgbClr val="1F3864"/>
                </a:solidFill>
                <a:latin typeface="Yu Gothic UI"/>
              </a:rPr>
              <a:t>変更頻度 — 低（数か月に一度）</a:t>
            </a:r>
          </a:p>
        </p:txBody>
      </p:sp>
      <p:sp>
        <p:nvSpPr>
          <p:cNvPr id="12" name="TextBox 11"/>
          <p:cNvSpPr txBox="1"/>
          <p:nvPr/>
        </p:nvSpPr>
        <p:spPr>
          <a:xfrm>
            <a:off x="1050544" y="2651252"/>
            <a:ext cx="1417320" cy="54864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管理の仕方</a:t>
            </a:r>
          </a:p>
        </p:txBody>
      </p:sp>
      <p:sp>
        <p:nvSpPr>
          <p:cNvPr id="13" name="TextBox 12"/>
          <p:cNvSpPr txBox="1"/>
          <p:nvPr/>
        </p:nvSpPr>
        <p:spPr>
          <a:xfrm>
            <a:off x="2550160" y="2632964"/>
            <a:ext cx="3163824" cy="548640"/>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Terraform ＋ 6 つに分けた管理単位</a:t>
            </a:r>
          </a:p>
        </p:txBody>
      </p:sp>
      <p:sp>
        <p:nvSpPr>
          <p:cNvPr id="14" name="TextBox 13"/>
          <p:cNvSpPr txBox="1"/>
          <p:nvPr/>
        </p:nvSpPr>
        <p:spPr>
          <a:xfrm>
            <a:off x="1050544" y="2925572"/>
            <a:ext cx="1417320" cy="54864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入っているもの</a:t>
            </a:r>
          </a:p>
        </p:txBody>
      </p:sp>
      <p:sp>
        <p:nvSpPr>
          <p:cNvPr id="15" name="TextBox 14"/>
          <p:cNvSpPr txBox="1"/>
          <p:nvPr/>
        </p:nvSpPr>
        <p:spPr>
          <a:xfrm>
            <a:off x="2550160" y="2907284"/>
            <a:ext cx="3163824" cy="548640"/>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ネットワーク／クラスタ／データベース／暗号鍵／</a:t>
            </a:r>
          </a:p>
          <a:p>
            <a:pPr algn="l">
              <a:lnSpc>
                <a:spcPct val="125000"/>
              </a:lnSpc>
            </a:pPr>
            <a:r>
              <a:rPr sz="1100" b="0">
                <a:solidFill>
                  <a:srgbClr val="1D2125"/>
                </a:solidFill>
                <a:latin typeface="Yu Gothic UI"/>
              </a:rPr>
              <a:t>認証の設定／ログイン画面の流れ</a:t>
            </a:r>
          </a:p>
        </p:txBody>
      </p:sp>
      <p:sp>
        <p:nvSpPr>
          <p:cNvPr id="16" name="TextBox 15"/>
          <p:cNvSpPr txBox="1"/>
          <p:nvPr/>
        </p:nvSpPr>
        <p:spPr>
          <a:xfrm>
            <a:off x="1050544" y="3382772"/>
            <a:ext cx="1417320" cy="54864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反映の仕方</a:t>
            </a:r>
          </a:p>
        </p:txBody>
      </p:sp>
      <p:sp>
        <p:nvSpPr>
          <p:cNvPr id="17" name="TextBox 16"/>
          <p:cNvSpPr txBox="1"/>
          <p:nvPr/>
        </p:nvSpPr>
        <p:spPr>
          <a:xfrm>
            <a:off x="2550160" y="3364484"/>
            <a:ext cx="3163824" cy="548640"/>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提出 → 検査 → 2 名レビュー → 自動適用</a:t>
            </a:r>
          </a:p>
        </p:txBody>
      </p:sp>
      <p:sp>
        <p:nvSpPr>
          <p:cNvPr id="18" name="Rectangle 17"/>
          <p:cNvSpPr/>
          <p:nvPr/>
        </p:nvSpPr>
        <p:spPr>
          <a:xfrm>
            <a:off x="6244336" y="1718564"/>
            <a:ext cx="5138928" cy="3063240"/>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44336" y="1718564"/>
            <a:ext cx="5138928" cy="45720"/>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82080" y="1938020"/>
            <a:ext cx="4681728" cy="292608"/>
          </a:xfrm>
          <a:prstGeom prst="rect">
            <a:avLst/>
          </a:prstGeom>
          <a:noFill/>
        </p:spPr>
        <p:txBody>
          <a:bodyPr wrap="square" lIns="0" rIns="0" tIns="0" bIns="0" anchor="t">
            <a:spAutoFit/>
          </a:bodyPr>
          <a:lstStyle/>
          <a:p>
            <a:pPr algn="l">
              <a:lnSpc>
                <a:spcPct val="125000"/>
              </a:lnSpc>
            </a:pPr>
            <a:r>
              <a:rPr sz="1600" b="1">
                <a:solidFill>
                  <a:srgbClr val="1F3864"/>
                </a:solidFill>
                <a:latin typeface="Yu Gothic UI"/>
              </a:rPr>
              <a:t>顧客ごと（テナント層）</a:t>
            </a:r>
          </a:p>
        </p:txBody>
      </p:sp>
      <p:sp>
        <p:nvSpPr>
          <p:cNvPr id="21" name="TextBox 20"/>
          <p:cNvSpPr txBox="1"/>
          <p:nvPr/>
        </p:nvSpPr>
        <p:spPr>
          <a:xfrm>
            <a:off x="6482080" y="2285492"/>
            <a:ext cx="4681728" cy="219456"/>
          </a:xfrm>
          <a:prstGeom prst="rect">
            <a:avLst/>
          </a:prstGeom>
          <a:noFill/>
        </p:spPr>
        <p:txBody>
          <a:bodyPr wrap="square" lIns="0" rIns="0" tIns="0" bIns="0" anchor="t">
            <a:spAutoFit/>
          </a:bodyPr>
          <a:lstStyle/>
          <a:p>
            <a:pPr algn="l">
              <a:lnSpc>
                <a:spcPct val="125000"/>
              </a:lnSpc>
            </a:pPr>
            <a:r>
              <a:rPr sz="1100" b="1">
                <a:solidFill>
                  <a:srgbClr val="1E7B4D"/>
                </a:solidFill>
                <a:latin typeface="Yu Gothic UI"/>
              </a:rPr>
              <a:t>変更頻度 — 高（月に数社〜）</a:t>
            </a:r>
          </a:p>
        </p:txBody>
      </p:sp>
      <p:sp>
        <p:nvSpPr>
          <p:cNvPr id="22" name="TextBox 21"/>
          <p:cNvSpPr txBox="1"/>
          <p:nvPr/>
        </p:nvSpPr>
        <p:spPr>
          <a:xfrm>
            <a:off x="6482080" y="2651252"/>
            <a:ext cx="1417320" cy="54864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管理の仕方</a:t>
            </a:r>
          </a:p>
        </p:txBody>
      </p:sp>
      <p:sp>
        <p:nvSpPr>
          <p:cNvPr id="23" name="TextBox 22"/>
          <p:cNvSpPr txBox="1"/>
          <p:nvPr/>
        </p:nvSpPr>
        <p:spPr>
          <a:xfrm>
            <a:off x="7981696" y="2632964"/>
            <a:ext cx="3163824" cy="548640"/>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専用のオンボーディング処理（管理単位を持たない）</a:t>
            </a:r>
          </a:p>
        </p:txBody>
      </p:sp>
      <p:sp>
        <p:nvSpPr>
          <p:cNvPr id="24" name="TextBox 23"/>
          <p:cNvSpPr txBox="1"/>
          <p:nvPr/>
        </p:nvSpPr>
        <p:spPr>
          <a:xfrm>
            <a:off x="6482080" y="2925572"/>
            <a:ext cx="1417320" cy="54864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入っているもの</a:t>
            </a:r>
          </a:p>
        </p:txBody>
      </p:sp>
      <p:sp>
        <p:nvSpPr>
          <p:cNvPr id="25" name="TextBox 24"/>
          <p:cNvSpPr txBox="1"/>
          <p:nvPr/>
        </p:nvSpPr>
        <p:spPr>
          <a:xfrm>
            <a:off x="7981696" y="2907284"/>
            <a:ext cx="3163824" cy="548640"/>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顧客の接続先情報／項目の対応表／</a:t>
            </a:r>
          </a:p>
          <a:p>
            <a:pPr algn="l">
              <a:lnSpc>
                <a:spcPct val="125000"/>
              </a:lnSpc>
            </a:pPr>
            <a:r>
              <a:rPr sz="1100" b="0">
                <a:solidFill>
                  <a:srgbClr val="1D2125"/>
                </a:solidFill>
                <a:latin typeface="Yu Gothic UI"/>
              </a:rPr>
              <a:t>ログイン画面の振り分けキー</a:t>
            </a:r>
          </a:p>
        </p:txBody>
      </p:sp>
      <p:sp>
        <p:nvSpPr>
          <p:cNvPr id="26" name="TextBox 25"/>
          <p:cNvSpPr txBox="1"/>
          <p:nvPr/>
        </p:nvSpPr>
        <p:spPr>
          <a:xfrm>
            <a:off x="6482080" y="3382772"/>
            <a:ext cx="1417320" cy="54864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反映の仕方</a:t>
            </a:r>
          </a:p>
        </p:txBody>
      </p:sp>
      <p:sp>
        <p:nvSpPr>
          <p:cNvPr id="27" name="TextBox 26"/>
          <p:cNvSpPr txBox="1"/>
          <p:nvPr/>
        </p:nvSpPr>
        <p:spPr>
          <a:xfrm>
            <a:off x="7981696" y="3364484"/>
            <a:ext cx="3163824" cy="548640"/>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顧客ごとの宣言ファイル → 差分だけを適用</a:t>
            </a:r>
          </a:p>
        </p:txBody>
      </p:sp>
      <p:sp>
        <p:nvSpPr>
          <p:cNvPr id="28" name="Rectangle 27"/>
          <p:cNvSpPr/>
          <p:nvPr/>
        </p:nvSpPr>
        <p:spPr>
          <a:xfrm>
            <a:off x="812800" y="4982972"/>
            <a:ext cx="10566349" cy="637540"/>
          </a:xfrm>
          <a:prstGeom prst="rect">
            <a:avLst/>
          </a:prstGeom>
          <a:solidFill>
            <a:srgbClr val="FF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2800" y="4982972"/>
            <a:ext cx="45720" cy="6375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0544" y="5120132"/>
            <a:ext cx="10109149" cy="363220"/>
          </a:xfrm>
          <a:prstGeom prst="rect">
            <a:avLst/>
          </a:prstGeom>
          <a:noFill/>
        </p:spPr>
        <p:txBody>
          <a:bodyPr wrap="square" lIns="0" rIns="0" tIns="0" bIns="0" anchor="t">
            <a:spAutoFit/>
          </a:bodyPr>
          <a:lstStyle/>
          <a:p>
            <a:pPr algn="l">
              <a:lnSpc>
                <a:spcPct val="125000"/>
              </a:lnSpc>
            </a:pPr>
            <a:r>
              <a:rPr sz="1100" b="1">
                <a:solidFill>
                  <a:srgbClr val="1D2125"/>
                </a:solidFill>
                <a:latin typeface="Yu Gothic UI"/>
              </a:rPr>
              <a:t>なぜ分けるか — 1,000 社ぶんの接続設定を土台と同じ管理単位に入れると、変更前の下見だけで数十分かかり、運用として成立しません（禁則 K-9）。分けたことで、顧客の追加は土台にいっさい触れずに行えます。</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自動スケーリング ①　増えるものが 3 つある</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概念</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「自動でスケールする」と一口に言っても、増えるものが 3 階層あり、速さも管理者も違います。</a:t>
            </a:r>
          </a:p>
        </p:txBody>
      </p:sp>
      <p:sp>
        <p:nvSpPr>
          <p:cNvPr id="6" name="Rectangle 5"/>
          <p:cNvSpPr/>
          <p:nvPr/>
        </p:nvSpPr>
        <p:spPr>
          <a:xfrm>
            <a:off x="812800" y="1014984"/>
            <a:ext cx="36576" cy="484124"/>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4841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混み合ったときに最初に増えるのは処理の並列数（数十秒）で、それでも足りないときにサーバー台数が増えます（数分）。この 2 つは連鎖しますが、制御はそれぞれ独立しています。</a:t>
            </a:r>
          </a:p>
        </p:txBody>
      </p:sp>
      <p:sp>
        <p:nvSpPr>
          <p:cNvPr id="8" name="Rectangle 7"/>
          <p:cNvSpPr/>
          <p:nvPr/>
        </p:nvSpPr>
        <p:spPr>
          <a:xfrm>
            <a:off x="812800" y="1718564"/>
            <a:ext cx="10566349" cy="859536"/>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800" y="1718564"/>
            <a:ext cx="45720" cy="859536"/>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0544" y="1864868"/>
            <a:ext cx="2606040" cy="585215"/>
          </a:xfrm>
          <a:prstGeom prst="rect">
            <a:avLst/>
          </a:prstGeom>
          <a:noFill/>
        </p:spPr>
        <p:txBody>
          <a:bodyPr wrap="square" lIns="0" rIns="0" tIns="0" bIns="0" anchor="t">
            <a:spAutoFit/>
          </a:bodyPr>
          <a:lstStyle/>
          <a:p>
            <a:pPr algn="l">
              <a:lnSpc>
                <a:spcPct val="125000"/>
              </a:lnSpc>
            </a:pPr>
            <a:r>
              <a:rPr sz="1300" b="1">
                <a:solidFill>
                  <a:srgbClr val="1F3864"/>
                </a:solidFill>
                <a:latin typeface="Yu Gothic UI"/>
              </a:rPr>
              <a:t>① 認証処理の並列数</a:t>
            </a:r>
          </a:p>
        </p:txBody>
      </p:sp>
      <p:sp>
        <p:nvSpPr>
          <p:cNvPr id="11" name="TextBox 10"/>
          <p:cNvSpPr txBox="1"/>
          <p:nvPr/>
        </p:nvSpPr>
        <p:spPr>
          <a:xfrm>
            <a:off x="3830319" y="1864868"/>
            <a:ext cx="5217109" cy="585215"/>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CPU 使用率と「予兆」を見て、認証処理の実体を自動で増減させる（HPA）</a:t>
            </a:r>
          </a:p>
        </p:txBody>
      </p:sp>
      <p:sp>
        <p:nvSpPr>
          <p:cNvPr id="12" name="TextBox 11"/>
          <p:cNvSpPr txBox="1"/>
          <p:nvPr/>
        </p:nvSpPr>
        <p:spPr>
          <a:xfrm>
            <a:off x="9184589" y="1864868"/>
            <a:ext cx="2011680" cy="585215"/>
          </a:xfrm>
          <a:prstGeom prst="rect">
            <a:avLst/>
          </a:prstGeom>
          <a:noFill/>
        </p:spPr>
        <p:txBody>
          <a:bodyPr wrap="square" lIns="0" rIns="0" tIns="0" bIns="0" anchor="t">
            <a:spAutoFit/>
          </a:bodyPr>
          <a:lstStyle/>
          <a:p>
            <a:pPr algn="l">
              <a:lnSpc>
                <a:spcPct val="125000"/>
              </a:lnSpc>
            </a:pPr>
            <a:r>
              <a:rPr sz="1100" b="1">
                <a:solidFill>
                  <a:srgbClr val="1E7B4D"/>
                </a:solidFill>
                <a:latin typeface="Yu Gothic UI"/>
              </a:rPr>
              <a:t>数十秒</a:t>
            </a:r>
          </a:p>
        </p:txBody>
      </p:sp>
      <p:sp>
        <p:nvSpPr>
          <p:cNvPr id="13" name="Down Arrow 12"/>
          <p:cNvSpPr/>
          <p:nvPr/>
        </p:nvSpPr>
        <p:spPr>
          <a:xfrm>
            <a:off x="5949670" y="2623820"/>
            <a:ext cx="292608" cy="219456"/>
          </a:xfrm>
          <a:prstGeom prst="downArrow">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2006" y="2642108"/>
            <a:ext cx="4114800" cy="201168"/>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置き場所が足りなくなったら</a:t>
            </a:r>
          </a:p>
        </p:txBody>
      </p:sp>
      <p:sp>
        <p:nvSpPr>
          <p:cNvPr id="15" name="Rectangle 14"/>
          <p:cNvSpPr/>
          <p:nvPr/>
        </p:nvSpPr>
        <p:spPr>
          <a:xfrm>
            <a:off x="812800" y="2870708"/>
            <a:ext cx="10566349" cy="859536"/>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2800" y="2870708"/>
            <a:ext cx="45720" cy="859536"/>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0544" y="3017012"/>
            <a:ext cx="2606040" cy="585215"/>
          </a:xfrm>
          <a:prstGeom prst="rect">
            <a:avLst/>
          </a:prstGeom>
          <a:noFill/>
        </p:spPr>
        <p:txBody>
          <a:bodyPr wrap="square" lIns="0" rIns="0" tIns="0" bIns="0" anchor="t">
            <a:spAutoFit/>
          </a:bodyPr>
          <a:lstStyle/>
          <a:p>
            <a:pPr algn="l">
              <a:lnSpc>
                <a:spcPct val="125000"/>
              </a:lnSpc>
            </a:pPr>
            <a:r>
              <a:rPr sz="1300" b="1">
                <a:solidFill>
                  <a:srgbClr val="1F3864"/>
                </a:solidFill>
                <a:latin typeface="Yu Gothic UI"/>
              </a:rPr>
              <a:t>② サーバーの台数</a:t>
            </a:r>
          </a:p>
        </p:txBody>
      </p:sp>
      <p:sp>
        <p:nvSpPr>
          <p:cNvPr id="18" name="TextBox 17"/>
          <p:cNvSpPr txBox="1"/>
          <p:nvPr/>
        </p:nvSpPr>
        <p:spPr>
          <a:xfrm>
            <a:off x="3830319" y="3017012"/>
            <a:ext cx="5217109" cy="585215"/>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置き場所が足りなくなると、サーバー（EC2）を自動で追加する（Cluster Autoscaler）</a:t>
            </a:r>
          </a:p>
        </p:txBody>
      </p:sp>
      <p:sp>
        <p:nvSpPr>
          <p:cNvPr id="19" name="TextBox 18"/>
          <p:cNvSpPr txBox="1"/>
          <p:nvPr/>
        </p:nvSpPr>
        <p:spPr>
          <a:xfrm>
            <a:off x="9184589" y="3017012"/>
            <a:ext cx="2011680" cy="585215"/>
          </a:xfrm>
          <a:prstGeom prst="rect">
            <a:avLst/>
          </a:prstGeom>
          <a:noFill/>
        </p:spPr>
        <p:txBody>
          <a:bodyPr wrap="square" lIns="0" rIns="0" tIns="0" bIns="0" anchor="t">
            <a:spAutoFit/>
          </a:bodyPr>
          <a:lstStyle/>
          <a:p>
            <a:pPr algn="l">
              <a:lnSpc>
                <a:spcPct val="125000"/>
              </a:lnSpc>
            </a:pPr>
            <a:r>
              <a:rPr sz="1100" b="1">
                <a:solidFill>
                  <a:srgbClr val="1F3864"/>
                </a:solidFill>
                <a:latin typeface="Yu Gothic UI"/>
              </a:rPr>
              <a:t>数分</a:t>
            </a:r>
          </a:p>
        </p:txBody>
      </p:sp>
      <p:sp>
        <p:nvSpPr>
          <p:cNvPr id="20" name="Rectangle 19"/>
          <p:cNvSpPr/>
          <p:nvPr/>
        </p:nvSpPr>
        <p:spPr>
          <a:xfrm>
            <a:off x="812800" y="3894835"/>
            <a:ext cx="10566349" cy="859536"/>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2800" y="3894835"/>
            <a:ext cx="45720" cy="859536"/>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0544" y="4041140"/>
            <a:ext cx="2606040" cy="585215"/>
          </a:xfrm>
          <a:prstGeom prst="rect">
            <a:avLst/>
          </a:prstGeom>
          <a:noFill/>
        </p:spPr>
        <p:txBody>
          <a:bodyPr wrap="square" lIns="0" rIns="0" tIns="0" bIns="0" anchor="t">
            <a:spAutoFit/>
          </a:bodyPr>
          <a:lstStyle/>
          <a:p>
            <a:pPr algn="l">
              <a:lnSpc>
                <a:spcPct val="125000"/>
              </a:lnSpc>
            </a:pPr>
            <a:r>
              <a:rPr sz="1300" b="1">
                <a:solidFill>
                  <a:srgbClr val="1F3864"/>
                </a:solidFill>
                <a:latin typeface="Yu Gothic UI"/>
              </a:rPr>
              <a:t>③ クラスタの制御部分</a:t>
            </a:r>
          </a:p>
        </p:txBody>
      </p:sp>
      <p:sp>
        <p:nvSpPr>
          <p:cNvPr id="23" name="TextBox 22"/>
          <p:cNvSpPr txBox="1"/>
          <p:nvPr/>
        </p:nvSpPr>
        <p:spPr>
          <a:xfrm>
            <a:off x="3830319" y="4041140"/>
            <a:ext cx="5217109" cy="585215"/>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Red Hat 側で自動的に増減する。当方の操作は不要で、①② とは別系統</a:t>
            </a:r>
          </a:p>
        </p:txBody>
      </p:sp>
      <p:sp>
        <p:nvSpPr>
          <p:cNvPr id="24" name="TextBox 23"/>
          <p:cNvSpPr txBox="1"/>
          <p:nvPr/>
        </p:nvSpPr>
        <p:spPr>
          <a:xfrm>
            <a:off x="9184589" y="4041140"/>
            <a:ext cx="2011680" cy="585215"/>
          </a:xfrm>
          <a:prstGeom prst="rect">
            <a:avLst/>
          </a:prstGeom>
          <a:noFill/>
        </p:spPr>
        <p:txBody>
          <a:bodyPr wrap="square" lIns="0" rIns="0" tIns="0" bIns="0" anchor="t">
            <a:spAutoFit/>
          </a:bodyPr>
          <a:lstStyle/>
          <a:p>
            <a:pPr algn="l">
              <a:lnSpc>
                <a:spcPct val="125000"/>
              </a:lnSpc>
            </a:pPr>
            <a:r>
              <a:rPr sz="1100" b="1">
                <a:solidFill>
                  <a:srgbClr val="5A6472"/>
                </a:solidFill>
                <a:latin typeface="Yu Gothic UI"/>
              </a:rPr>
              <a:t>当方の関与なし</a:t>
            </a:r>
          </a:p>
        </p:txBody>
      </p:sp>
      <p:sp>
        <p:nvSpPr>
          <p:cNvPr id="25" name="Rectangle 24"/>
          <p:cNvSpPr/>
          <p:nvPr/>
        </p:nvSpPr>
        <p:spPr>
          <a:xfrm>
            <a:off x="812800" y="4937251"/>
            <a:ext cx="10566349" cy="63754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2800" y="4937251"/>
            <a:ext cx="45720" cy="6375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0544" y="5074412"/>
            <a:ext cx="10109149" cy="363220"/>
          </a:xfrm>
          <a:prstGeom prst="rect">
            <a:avLst/>
          </a:prstGeom>
          <a:noFill/>
        </p:spPr>
        <p:txBody>
          <a:bodyPr wrap="square" lIns="0" rIns="0" tIns="0" bIns="0" anchor="t">
            <a:spAutoFit/>
          </a:bodyPr>
          <a:lstStyle/>
          <a:p>
            <a:pPr algn="l">
              <a:lnSpc>
                <a:spcPct val="125000"/>
              </a:lnSpc>
            </a:pPr>
            <a:r>
              <a:rPr sz="1100" b="1">
                <a:solidFill>
                  <a:srgbClr val="1D2125"/>
                </a:solidFill>
                <a:latin typeface="Yu Gothic UI"/>
              </a:rPr>
              <a:t>あわせて、認証処理が動くサーバーと、監視・入口処理が動くサーバーはレーンを分けています。分けていないと、ログインの急増が監視を巻き込み「混んでいることに気づけない」状態になります。</a:t>
            </a:r>
          </a:p>
        </p:txBody>
      </p:sp>
      <p:sp>
        <p:nvSpPr>
          <p:cNvPr id="28" name="Rectangle 27"/>
          <p:cNvSpPr/>
          <p:nvPr/>
        </p:nvSpPr>
        <p:spPr>
          <a:xfrm>
            <a:off x="812800" y="5702807"/>
            <a:ext cx="10566349" cy="637540"/>
          </a:xfrm>
          <a:prstGeom prst="rect">
            <a:avLst/>
          </a:prstGeom>
          <a:solidFill>
            <a:srgbClr val="FF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2800" y="5702807"/>
            <a:ext cx="45720" cy="6375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0544" y="5839967"/>
            <a:ext cx="10109149" cy="363220"/>
          </a:xfrm>
          <a:prstGeom prst="rect">
            <a:avLst/>
          </a:prstGeom>
          <a:noFill/>
        </p:spPr>
        <p:txBody>
          <a:bodyPr wrap="square" lIns="0" rIns="0" tIns="0" bIns="0" anchor="t">
            <a:spAutoFit/>
          </a:bodyPr>
          <a:lstStyle/>
          <a:p>
            <a:pPr algn="l">
              <a:lnSpc>
                <a:spcPct val="125000"/>
              </a:lnSpc>
            </a:pPr>
            <a:r>
              <a:rPr sz="1100" b="1">
                <a:solidFill>
                  <a:srgbClr val="1D2125"/>
                </a:solidFill>
                <a:latin typeface="Yu Gothic UI"/>
              </a:rPr>
              <a:t>ご判断いただきたい点 — 朝の始業時にどれだけ集中するか（Q80）が、自動で吸収できる範囲か、あらかじめ増やしておく必要がある山かの分かれ目になります。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自動スケーリング ②　データベースは別の考え方</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概念</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認証処理は横に増やせますが、データベースは同じようには増やせません。</a:t>
            </a:r>
          </a:p>
        </p:txBody>
      </p:sp>
      <p:sp>
        <p:nvSpPr>
          <p:cNvPr id="6" name="Rectangle 5"/>
          <p:cNvSpPr/>
          <p:nvPr/>
        </p:nvSpPr>
        <p:spPr>
          <a:xfrm>
            <a:off x="812800" y="1014984"/>
            <a:ext cx="36576" cy="484124"/>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4841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書き込みを受け付ける本体は 1 台だけで、これは横に増やせません。控えは災害と障害への備えであって、負荷を分け合うためのものではない、というのが設計上の要点です。</a:t>
            </a:r>
          </a:p>
        </p:txBody>
      </p:sp>
      <p:sp>
        <p:nvSpPr>
          <p:cNvPr id="8" name="Rectangle 7"/>
          <p:cNvSpPr/>
          <p:nvPr/>
        </p:nvSpPr>
        <p:spPr>
          <a:xfrm>
            <a:off x="812800" y="1718564"/>
            <a:ext cx="2331720" cy="1298448"/>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800" y="1718564"/>
            <a:ext cx="2331720" cy="45720"/>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7391" y="1956308"/>
            <a:ext cx="2002536" cy="256032"/>
          </a:xfrm>
          <a:prstGeom prst="rect">
            <a:avLst/>
          </a:prstGeom>
          <a:noFill/>
        </p:spPr>
        <p:txBody>
          <a:bodyPr wrap="square" lIns="0" rIns="0" tIns="0" bIns="0" anchor="t">
            <a:spAutoFit/>
          </a:bodyPr>
          <a:lstStyle/>
          <a:p>
            <a:pPr algn="l">
              <a:lnSpc>
                <a:spcPct val="125000"/>
              </a:lnSpc>
            </a:pPr>
            <a:r>
              <a:rPr sz="1300" b="1">
                <a:solidFill>
                  <a:srgbClr val="1F3864"/>
                </a:solidFill>
                <a:latin typeface="Yu Gothic UI"/>
              </a:rPr>
              <a:t>認証サーバー</a:t>
            </a:r>
          </a:p>
        </p:txBody>
      </p:sp>
      <p:sp>
        <p:nvSpPr>
          <p:cNvPr id="11" name="TextBox 10"/>
          <p:cNvSpPr txBox="1"/>
          <p:nvPr/>
        </p:nvSpPr>
        <p:spPr>
          <a:xfrm>
            <a:off x="977391" y="2322068"/>
            <a:ext cx="2002536" cy="548640"/>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複数台。混み具合に応じて</a:t>
            </a:r>
          </a:p>
          <a:p>
            <a:pPr algn="l">
              <a:lnSpc>
                <a:spcPct val="125000"/>
              </a:lnSpc>
            </a:pPr>
            <a:r>
              <a:rPr sz="1050" b="0">
                <a:solidFill>
                  <a:srgbClr val="5A6472"/>
                </a:solidFill>
                <a:latin typeface="Yu Gothic UI"/>
              </a:rPr>
              <a:t>自動で増減する</a:t>
            </a:r>
          </a:p>
        </p:txBody>
      </p:sp>
      <p:sp>
        <p:nvSpPr>
          <p:cNvPr id="12" name="Right Arrow 11"/>
          <p:cNvSpPr/>
          <p:nvPr/>
        </p:nvSpPr>
        <p:spPr>
          <a:xfrm>
            <a:off x="3208527" y="2239771"/>
            <a:ext cx="283464" cy="256032"/>
          </a:xfrm>
          <a:prstGeom prst="rightArrow">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56000" y="1718564"/>
            <a:ext cx="2331720" cy="1298448"/>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6000" y="1718564"/>
            <a:ext cx="2331720" cy="457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20592" y="1956308"/>
            <a:ext cx="2002536" cy="256032"/>
          </a:xfrm>
          <a:prstGeom prst="rect">
            <a:avLst/>
          </a:prstGeom>
          <a:noFill/>
        </p:spPr>
        <p:txBody>
          <a:bodyPr wrap="square" lIns="0" rIns="0" tIns="0" bIns="0" anchor="t">
            <a:spAutoFit/>
          </a:bodyPr>
          <a:lstStyle/>
          <a:p>
            <a:pPr algn="l">
              <a:lnSpc>
                <a:spcPct val="125000"/>
              </a:lnSpc>
            </a:pPr>
            <a:r>
              <a:rPr sz="1300" b="1">
                <a:solidFill>
                  <a:srgbClr val="1F3864"/>
                </a:solidFill>
                <a:latin typeface="Yu Gothic UI"/>
              </a:rPr>
              <a:t>書き込み用の窓口</a:t>
            </a:r>
          </a:p>
        </p:txBody>
      </p:sp>
      <p:sp>
        <p:nvSpPr>
          <p:cNvPr id="16" name="TextBox 15"/>
          <p:cNvSpPr txBox="1"/>
          <p:nvPr/>
        </p:nvSpPr>
        <p:spPr>
          <a:xfrm>
            <a:off x="3720592" y="2322068"/>
            <a:ext cx="2002536" cy="548640"/>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1 つだけ。読み取り用の窓口は</a:t>
            </a:r>
          </a:p>
          <a:p>
            <a:pPr algn="l">
              <a:lnSpc>
                <a:spcPct val="125000"/>
              </a:lnSpc>
            </a:pPr>
            <a:r>
              <a:rPr sz="1050" b="0">
                <a:solidFill>
                  <a:srgbClr val="5A6472"/>
                </a:solidFill>
                <a:latin typeface="Yu Gothic UI"/>
              </a:rPr>
              <a:t>認証サーバーに渡さない</a:t>
            </a:r>
          </a:p>
        </p:txBody>
      </p:sp>
      <p:sp>
        <p:nvSpPr>
          <p:cNvPr id="17" name="Right Arrow 16"/>
          <p:cNvSpPr/>
          <p:nvPr/>
        </p:nvSpPr>
        <p:spPr>
          <a:xfrm>
            <a:off x="5951728" y="2239771"/>
            <a:ext cx="283464" cy="256032"/>
          </a:xfrm>
          <a:prstGeom prst="rightArrow">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99200" y="1718564"/>
            <a:ext cx="2331720" cy="1298448"/>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99200" y="1718564"/>
            <a:ext cx="2331720" cy="457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63792" y="1956308"/>
            <a:ext cx="2002536" cy="256032"/>
          </a:xfrm>
          <a:prstGeom prst="rect">
            <a:avLst/>
          </a:prstGeom>
          <a:noFill/>
        </p:spPr>
        <p:txBody>
          <a:bodyPr wrap="square" lIns="0" rIns="0" tIns="0" bIns="0" anchor="t">
            <a:spAutoFit/>
          </a:bodyPr>
          <a:lstStyle/>
          <a:p>
            <a:pPr algn="l">
              <a:lnSpc>
                <a:spcPct val="125000"/>
              </a:lnSpc>
            </a:pPr>
            <a:r>
              <a:rPr sz="1300" b="1">
                <a:solidFill>
                  <a:srgbClr val="1F3864"/>
                </a:solidFill>
                <a:latin typeface="Yu Gothic UI"/>
              </a:rPr>
              <a:t>本体（東京）</a:t>
            </a:r>
          </a:p>
        </p:txBody>
      </p:sp>
      <p:sp>
        <p:nvSpPr>
          <p:cNvPr id="21" name="TextBox 20"/>
          <p:cNvSpPr txBox="1"/>
          <p:nvPr/>
        </p:nvSpPr>
        <p:spPr>
          <a:xfrm>
            <a:off x="6463792" y="2322068"/>
            <a:ext cx="2002536" cy="548640"/>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1 台 ＋ 控え 2 台。</a:t>
            </a:r>
          </a:p>
          <a:p>
            <a:pPr algn="l">
              <a:lnSpc>
                <a:spcPct val="125000"/>
              </a:lnSpc>
            </a:pPr>
            <a:r>
              <a:rPr sz="1050" b="0">
                <a:solidFill>
                  <a:srgbClr val="5A6472"/>
                </a:solidFill>
                <a:latin typeface="Yu Gothic UI"/>
              </a:rPr>
              <a:t>3 つの区画に分けて配置</a:t>
            </a:r>
          </a:p>
        </p:txBody>
      </p:sp>
      <p:sp>
        <p:nvSpPr>
          <p:cNvPr id="22" name="Right Arrow 21"/>
          <p:cNvSpPr/>
          <p:nvPr/>
        </p:nvSpPr>
        <p:spPr>
          <a:xfrm>
            <a:off x="8694928" y="2239771"/>
            <a:ext cx="283464" cy="256032"/>
          </a:xfrm>
          <a:prstGeom prst="rightArrow">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42400" y="1718564"/>
            <a:ext cx="2331720" cy="1298448"/>
          </a:xfrm>
          <a:prstGeom prst="rect">
            <a:avLst/>
          </a:prstGeom>
          <a:solidFill>
            <a:srgbClr val="FF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42400" y="1718564"/>
            <a:ext cx="2331720" cy="457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06992" y="1956308"/>
            <a:ext cx="2002536" cy="256032"/>
          </a:xfrm>
          <a:prstGeom prst="rect">
            <a:avLst/>
          </a:prstGeom>
          <a:noFill/>
        </p:spPr>
        <p:txBody>
          <a:bodyPr wrap="square" lIns="0" rIns="0" tIns="0" bIns="0" anchor="t">
            <a:spAutoFit/>
          </a:bodyPr>
          <a:lstStyle/>
          <a:p>
            <a:pPr algn="l">
              <a:lnSpc>
                <a:spcPct val="125000"/>
              </a:lnSpc>
            </a:pPr>
            <a:r>
              <a:rPr sz="1300" b="1">
                <a:solidFill>
                  <a:srgbClr val="1F3864"/>
                </a:solidFill>
                <a:latin typeface="Yu Gothic UI"/>
              </a:rPr>
              <a:t>控え（大阪）</a:t>
            </a:r>
          </a:p>
        </p:txBody>
      </p:sp>
      <p:sp>
        <p:nvSpPr>
          <p:cNvPr id="26" name="TextBox 25"/>
          <p:cNvSpPr txBox="1"/>
          <p:nvPr/>
        </p:nvSpPr>
        <p:spPr>
          <a:xfrm>
            <a:off x="9206992" y="2322068"/>
            <a:ext cx="2002536" cy="548640"/>
          </a:xfrm>
          <a:prstGeom prst="rect">
            <a:avLst/>
          </a:prstGeom>
          <a:noFill/>
        </p:spPr>
        <p:txBody>
          <a:bodyPr wrap="square" lIns="0" rIns="0" tIns="0" bIns="0" anchor="t">
            <a:spAutoFit/>
          </a:bodyPr>
          <a:lstStyle/>
          <a:p>
            <a:pPr algn="l">
              <a:lnSpc>
                <a:spcPct val="125000"/>
              </a:lnSpc>
            </a:pPr>
            <a:r>
              <a:rPr sz="1050" b="0">
                <a:solidFill>
                  <a:srgbClr val="5A6472"/>
                </a:solidFill>
                <a:latin typeface="Yu Gothic UI"/>
              </a:rPr>
              <a:t>1 台。常時複製するかは</a:t>
            </a:r>
          </a:p>
          <a:p>
            <a:pPr algn="l">
              <a:lnSpc>
                <a:spcPct val="125000"/>
              </a:lnSpc>
            </a:pPr>
            <a:r>
              <a:rPr sz="1050" b="0">
                <a:solidFill>
                  <a:srgbClr val="5A6472"/>
                </a:solidFill>
                <a:latin typeface="Yu Gothic UI"/>
              </a:rPr>
              <a:t>災害復旧の方式（Q04）次第</a:t>
            </a:r>
          </a:p>
        </p:txBody>
      </p:sp>
      <p:sp>
        <p:nvSpPr>
          <p:cNvPr id="27" name="Rectangle 26"/>
          <p:cNvSpPr/>
          <p:nvPr/>
        </p:nvSpPr>
        <p:spPr>
          <a:xfrm>
            <a:off x="812800" y="3236468"/>
            <a:ext cx="10566349" cy="3291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3314192"/>
            <a:ext cx="237744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論点</a:t>
            </a:r>
          </a:p>
        </p:txBody>
      </p:sp>
      <p:sp>
        <p:nvSpPr>
          <p:cNvPr id="29" name="TextBox 28"/>
          <p:cNvSpPr txBox="1"/>
          <p:nvPr/>
        </p:nvSpPr>
        <p:spPr>
          <a:xfrm>
            <a:off x="3401568" y="3314192"/>
            <a:ext cx="7918704"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考え方</a:t>
            </a:r>
          </a:p>
        </p:txBody>
      </p:sp>
      <p:sp>
        <p:nvSpPr>
          <p:cNvPr id="30" name="Rectangle 29"/>
          <p:cNvSpPr/>
          <p:nvPr/>
        </p:nvSpPr>
        <p:spPr>
          <a:xfrm>
            <a:off x="812800" y="4236211"/>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3675379"/>
            <a:ext cx="2377440" cy="533400"/>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読み取りを控えに</a:t>
            </a:r>
          </a:p>
          <a:p>
            <a:pPr algn="l">
              <a:lnSpc>
                <a:spcPct val="125000"/>
              </a:lnSpc>
            </a:pPr>
            <a:r>
              <a:rPr sz="1200" b="1">
                <a:solidFill>
                  <a:srgbClr val="1D2125"/>
                </a:solidFill>
                <a:latin typeface="Yu Gothic UI"/>
              </a:rPr>
              <a:t>流さない理由</a:t>
            </a:r>
          </a:p>
        </p:txBody>
      </p:sp>
      <p:sp>
        <p:nvSpPr>
          <p:cNvPr id="32" name="TextBox 31"/>
          <p:cNvSpPr txBox="1"/>
          <p:nvPr/>
        </p:nvSpPr>
        <p:spPr>
          <a:xfrm>
            <a:off x="3401568" y="3675379"/>
            <a:ext cx="7918704" cy="533400"/>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ログイン処理は「読んだ直後に書く」動きが多く、複製の遅れで直前の変更が見えない事故が起きます。加えて、生存確認の書き込みが常時走るため、読み取りを分散しても効果が小さいという事情もあります。</a:t>
            </a:r>
          </a:p>
        </p:txBody>
      </p:sp>
      <p:sp>
        <p:nvSpPr>
          <p:cNvPr id="33" name="Rectangle 32"/>
          <p:cNvSpPr/>
          <p:nvPr/>
        </p:nvSpPr>
        <p:spPr>
          <a:xfrm>
            <a:off x="812800" y="4236211"/>
            <a:ext cx="10566349" cy="63754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2800" y="4873751"/>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4345940"/>
            <a:ext cx="2377440" cy="500379"/>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増やすときの順序</a:t>
            </a:r>
          </a:p>
        </p:txBody>
      </p:sp>
      <p:sp>
        <p:nvSpPr>
          <p:cNvPr id="36" name="TextBox 35"/>
          <p:cNvSpPr txBox="1"/>
          <p:nvPr/>
        </p:nvSpPr>
        <p:spPr>
          <a:xfrm>
            <a:off x="3401568" y="4345940"/>
            <a:ext cx="7918704" cy="500379"/>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① 1 台あたりの接続数を固定して無駄をなくす → ② 本体そのものを大きくする（縦に伸ばす）→ ③ その先は接続の取りまとめ役を挟むか、データを分割する。③ は Phase 2 の拡張パスとして置いています。</a:t>
            </a:r>
          </a:p>
        </p:txBody>
      </p:sp>
      <p:sp>
        <p:nvSpPr>
          <p:cNvPr id="37" name="Rectangle 36"/>
          <p:cNvSpPr/>
          <p:nvPr/>
        </p:nvSpPr>
        <p:spPr>
          <a:xfrm>
            <a:off x="812800" y="5511291"/>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4983479"/>
            <a:ext cx="2377440" cy="500379"/>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朝のピークへの備え</a:t>
            </a:r>
          </a:p>
        </p:txBody>
      </p:sp>
      <p:sp>
        <p:nvSpPr>
          <p:cNvPr id="39" name="TextBox 38"/>
          <p:cNvSpPr txBox="1"/>
          <p:nvPr/>
        </p:nvSpPr>
        <p:spPr>
          <a:xfrm>
            <a:off x="3401568" y="4983479"/>
            <a:ext cx="7918704" cy="500379"/>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CPU が上がってから増やしたのでは間に合いません。認証サーバーは起動してから実戦投入できるまでに時間がかかるためです。そこで「パスワード照合の件数」を先行指標にし、CPU 閾値より優先して先回りで増やします。</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脆弱性の検査 ①　何を・誰が・どの頻度で</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概念</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「脆弱性スキャン」は 1 つの作業ではなく、層ごとに道具も担当も頻度も違います。</a:t>
            </a:r>
          </a:p>
        </p:txBody>
      </p:sp>
      <p:sp>
        <p:nvSpPr>
          <p:cNvPr id="6" name="Rectangle 5"/>
          <p:cNvSpPr/>
          <p:nvPr/>
        </p:nvSpPr>
        <p:spPr>
          <a:xfrm>
            <a:off x="812800" y="1014984"/>
            <a:ext cx="36576" cy="484124"/>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4841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下の 6 段はそれぞれ別の検査です。1 つやれば済むものではなく、逆にどれか 1 つが抜けると、そこが侵入経路として残ります。</a:t>
            </a:r>
          </a:p>
        </p:txBody>
      </p:sp>
      <p:sp>
        <p:nvSpPr>
          <p:cNvPr id="8" name="Rectangle 7"/>
          <p:cNvSpPr/>
          <p:nvPr/>
        </p:nvSpPr>
        <p:spPr>
          <a:xfrm>
            <a:off x="812800" y="1718564"/>
            <a:ext cx="10566349" cy="3291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96288"/>
            <a:ext cx="233172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検査する層</a:t>
            </a:r>
          </a:p>
        </p:txBody>
      </p:sp>
      <p:sp>
        <p:nvSpPr>
          <p:cNvPr id="10" name="TextBox 9"/>
          <p:cNvSpPr txBox="1"/>
          <p:nvPr/>
        </p:nvSpPr>
        <p:spPr>
          <a:xfrm>
            <a:off x="3355848" y="1796288"/>
            <a:ext cx="370332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何を見るか</a:t>
            </a:r>
          </a:p>
        </p:txBody>
      </p:sp>
      <p:sp>
        <p:nvSpPr>
          <p:cNvPr id="11" name="TextBox 10"/>
          <p:cNvSpPr txBox="1"/>
          <p:nvPr/>
        </p:nvSpPr>
        <p:spPr>
          <a:xfrm>
            <a:off x="7168896" y="1796288"/>
            <a:ext cx="210312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誰が責任を持つか</a:t>
            </a:r>
          </a:p>
        </p:txBody>
      </p:sp>
      <p:sp>
        <p:nvSpPr>
          <p:cNvPr id="12" name="TextBox 11"/>
          <p:cNvSpPr txBox="1"/>
          <p:nvPr/>
        </p:nvSpPr>
        <p:spPr>
          <a:xfrm>
            <a:off x="9400032" y="1796288"/>
            <a:ext cx="192024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頻度</a:t>
            </a:r>
          </a:p>
        </p:txBody>
      </p:sp>
      <p:sp>
        <p:nvSpPr>
          <p:cNvPr id="13" name="Rectangle 12"/>
          <p:cNvSpPr/>
          <p:nvPr/>
        </p:nvSpPr>
        <p:spPr>
          <a:xfrm>
            <a:off x="812800" y="2630424"/>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130044"/>
            <a:ext cx="2331720" cy="472948"/>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① アプリの部品</a:t>
            </a:r>
          </a:p>
        </p:txBody>
      </p:sp>
      <p:sp>
        <p:nvSpPr>
          <p:cNvPr id="15" name="TextBox 14"/>
          <p:cNvSpPr txBox="1"/>
          <p:nvPr/>
        </p:nvSpPr>
        <p:spPr>
          <a:xfrm>
            <a:off x="3355848" y="2130044"/>
            <a:ext cx="3703320" cy="472948"/>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認証製品と自作部品が使っている外部ライブラリに、既知の弱点がないか</a:t>
            </a:r>
          </a:p>
        </p:txBody>
      </p:sp>
      <p:sp>
        <p:nvSpPr>
          <p:cNvPr id="16" name="TextBox 15"/>
          <p:cNvSpPr txBox="1"/>
          <p:nvPr/>
        </p:nvSpPr>
        <p:spPr>
          <a:xfrm>
            <a:off x="7168896" y="2130044"/>
            <a:ext cx="2103120" cy="4729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当方</a:t>
            </a:r>
          </a:p>
        </p:txBody>
      </p:sp>
      <p:sp>
        <p:nvSpPr>
          <p:cNvPr id="17" name="TextBox 16"/>
          <p:cNvSpPr txBox="1"/>
          <p:nvPr/>
        </p:nvSpPr>
        <p:spPr>
          <a:xfrm>
            <a:off x="9400032" y="2130044"/>
            <a:ext cx="1920240" cy="4729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変更のたび</a:t>
            </a:r>
          </a:p>
          <a:p>
            <a:pPr algn="l">
              <a:lnSpc>
                <a:spcPct val="125000"/>
              </a:lnSpc>
            </a:pPr>
            <a:r>
              <a:rPr sz="1100" b="0">
                <a:solidFill>
                  <a:srgbClr val="1D2125"/>
                </a:solidFill>
                <a:latin typeface="Yu Gothic UI"/>
              </a:rPr>
              <a:t>＋ 日次</a:t>
            </a:r>
          </a:p>
        </p:txBody>
      </p:sp>
      <p:sp>
        <p:nvSpPr>
          <p:cNvPr id="18" name="Rectangle 17"/>
          <p:cNvSpPr/>
          <p:nvPr/>
        </p:nvSpPr>
        <p:spPr>
          <a:xfrm>
            <a:off x="812800" y="2630424"/>
            <a:ext cx="10566349" cy="582676"/>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800" y="3213100"/>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712720"/>
            <a:ext cx="2331720" cy="472948"/>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② 配る単位（コンテナ）</a:t>
            </a:r>
          </a:p>
        </p:txBody>
      </p:sp>
      <p:sp>
        <p:nvSpPr>
          <p:cNvPr id="21" name="TextBox 20"/>
          <p:cNvSpPr txBox="1"/>
          <p:nvPr/>
        </p:nvSpPr>
        <p:spPr>
          <a:xfrm>
            <a:off x="3355848" y="2712720"/>
            <a:ext cx="3703320" cy="472948"/>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中に入る OS のパッケージと、焼き込んだ自作部品</a:t>
            </a:r>
          </a:p>
        </p:txBody>
      </p:sp>
      <p:sp>
        <p:nvSpPr>
          <p:cNvPr id="22" name="TextBox 21"/>
          <p:cNvSpPr txBox="1"/>
          <p:nvPr/>
        </p:nvSpPr>
        <p:spPr>
          <a:xfrm>
            <a:off x="7168896" y="2712720"/>
            <a:ext cx="2103120" cy="4729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当方</a:t>
            </a:r>
          </a:p>
        </p:txBody>
      </p:sp>
      <p:sp>
        <p:nvSpPr>
          <p:cNvPr id="23" name="TextBox 22"/>
          <p:cNvSpPr txBox="1"/>
          <p:nvPr/>
        </p:nvSpPr>
        <p:spPr>
          <a:xfrm>
            <a:off x="9400032" y="2712720"/>
            <a:ext cx="1920240" cy="4729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組み立て時</a:t>
            </a:r>
          </a:p>
          <a:p>
            <a:pPr algn="l">
              <a:lnSpc>
                <a:spcPct val="125000"/>
              </a:lnSpc>
            </a:pPr>
            <a:r>
              <a:rPr sz="1100" b="0">
                <a:solidFill>
                  <a:srgbClr val="1D2125"/>
                </a:solidFill>
                <a:latin typeface="Yu Gothic UI"/>
              </a:rPr>
              <a:t>＋ 保管中も継続</a:t>
            </a:r>
          </a:p>
        </p:txBody>
      </p:sp>
      <p:sp>
        <p:nvSpPr>
          <p:cNvPr id="24" name="Rectangle 23"/>
          <p:cNvSpPr/>
          <p:nvPr/>
        </p:nvSpPr>
        <p:spPr>
          <a:xfrm>
            <a:off x="812800" y="3795776"/>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295396"/>
            <a:ext cx="2331720" cy="472948"/>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③ サーバーの OS</a:t>
            </a:r>
          </a:p>
        </p:txBody>
      </p:sp>
      <p:sp>
        <p:nvSpPr>
          <p:cNvPr id="26" name="TextBox 25"/>
          <p:cNvSpPr txBox="1"/>
          <p:nvPr/>
        </p:nvSpPr>
        <p:spPr>
          <a:xfrm>
            <a:off x="3355848" y="3295396"/>
            <a:ext cx="3703320" cy="472948"/>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認証処理が動くサーバー（EC2）の OS そのもの</a:t>
            </a:r>
          </a:p>
        </p:txBody>
      </p:sp>
      <p:sp>
        <p:nvSpPr>
          <p:cNvPr id="27" name="TextBox 26"/>
          <p:cNvSpPr txBox="1"/>
          <p:nvPr/>
        </p:nvSpPr>
        <p:spPr>
          <a:xfrm>
            <a:off x="7168896" y="3295396"/>
            <a:ext cx="2103120" cy="4729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 未整理</a:t>
            </a:r>
          </a:p>
          <a:p>
            <a:pPr algn="l">
              <a:lnSpc>
                <a:spcPct val="125000"/>
              </a:lnSpc>
            </a:pPr>
            <a:r>
              <a:rPr sz="1100" b="0">
                <a:solidFill>
                  <a:srgbClr val="1D2125"/>
                </a:solidFill>
                <a:latin typeface="Yu Gothic UI"/>
              </a:rPr>
              <a:t>（次ページ）</a:t>
            </a:r>
          </a:p>
        </p:txBody>
      </p:sp>
      <p:sp>
        <p:nvSpPr>
          <p:cNvPr id="28" name="TextBox 27"/>
          <p:cNvSpPr txBox="1"/>
          <p:nvPr/>
        </p:nvSpPr>
        <p:spPr>
          <a:xfrm>
            <a:off x="9400032" y="3295396"/>
            <a:ext cx="1920240" cy="4729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 未定</a:t>
            </a:r>
          </a:p>
        </p:txBody>
      </p:sp>
      <p:sp>
        <p:nvSpPr>
          <p:cNvPr id="29" name="Rectangle 28"/>
          <p:cNvSpPr/>
          <p:nvPr/>
        </p:nvSpPr>
        <p:spPr>
          <a:xfrm>
            <a:off x="812800" y="3795776"/>
            <a:ext cx="10566349" cy="417576"/>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2800" y="4213352"/>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3878072"/>
            <a:ext cx="2331720" cy="307848"/>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④ クラウドの設定</a:t>
            </a:r>
          </a:p>
        </p:txBody>
      </p:sp>
      <p:sp>
        <p:nvSpPr>
          <p:cNvPr id="32" name="TextBox 31"/>
          <p:cNvSpPr txBox="1"/>
          <p:nvPr/>
        </p:nvSpPr>
        <p:spPr>
          <a:xfrm>
            <a:off x="3355848" y="3878072"/>
            <a:ext cx="3703320" cy="307848"/>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権限の与えすぎ、公開範囲の誤り、暗号化の漏れ</a:t>
            </a:r>
          </a:p>
        </p:txBody>
      </p:sp>
      <p:sp>
        <p:nvSpPr>
          <p:cNvPr id="33" name="TextBox 32"/>
          <p:cNvSpPr txBox="1"/>
          <p:nvPr/>
        </p:nvSpPr>
        <p:spPr>
          <a:xfrm>
            <a:off x="7168896" y="3878072"/>
            <a:ext cx="2103120" cy="3078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当方</a:t>
            </a:r>
          </a:p>
        </p:txBody>
      </p:sp>
      <p:sp>
        <p:nvSpPr>
          <p:cNvPr id="34" name="TextBox 33"/>
          <p:cNvSpPr txBox="1"/>
          <p:nvPr/>
        </p:nvSpPr>
        <p:spPr>
          <a:xfrm>
            <a:off x="9400032" y="3878072"/>
            <a:ext cx="1920240" cy="3078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常時</a:t>
            </a:r>
          </a:p>
        </p:txBody>
      </p:sp>
      <p:sp>
        <p:nvSpPr>
          <p:cNvPr id="35" name="Rectangle 34"/>
          <p:cNvSpPr/>
          <p:nvPr/>
        </p:nvSpPr>
        <p:spPr>
          <a:xfrm>
            <a:off x="812800" y="4796028"/>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4295648"/>
            <a:ext cx="2331720" cy="472948"/>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⑤ 稼働中のもの</a:t>
            </a:r>
          </a:p>
        </p:txBody>
      </p:sp>
      <p:sp>
        <p:nvSpPr>
          <p:cNvPr id="37" name="TextBox 36"/>
          <p:cNvSpPr txBox="1"/>
          <p:nvPr/>
        </p:nvSpPr>
        <p:spPr>
          <a:xfrm>
            <a:off x="3355848" y="4295648"/>
            <a:ext cx="3703320" cy="472948"/>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実際に動いている構成に、後から公表された弱点が該当しないか</a:t>
            </a:r>
          </a:p>
        </p:txBody>
      </p:sp>
      <p:sp>
        <p:nvSpPr>
          <p:cNvPr id="38" name="TextBox 37"/>
          <p:cNvSpPr txBox="1"/>
          <p:nvPr/>
        </p:nvSpPr>
        <p:spPr>
          <a:xfrm>
            <a:off x="7168896" y="4295648"/>
            <a:ext cx="2103120" cy="4729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当方</a:t>
            </a:r>
          </a:p>
        </p:txBody>
      </p:sp>
      <p:sp>
        <p:nvSpPr>
          <p:cNvPr id="39" name="TextBox 38"/>
          <p:cNvSpPr txBox="1"/>
          <p:nvPr/>
        </p:nvSpPr>
        <p:spPr>
          <a:xfrm>
            <a:off x="9400032" y="4295648"/>
            <a:ext cx="1920240" cy="4729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常時</a:t>
            </a:r>
          </a:p>
        </p:txBody>
      </p:sp>
      <p:sp>
        <p:nvSpPr>
          <p:cNvPr id="40" name="Rectangle 39"/>
          <p:cNvSpPr/>
          <p:nvPr/>
        </p:nvSpPr>
        <p:spPr>
          <a:xfrm>
            <a:off x="812800" y="4796028"/>
            <a:ext cx="10566349" cy="417576"/>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12800" y="5213604"/>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4878324"/>
            <a:ext cx="2331720" cy="307848"/>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⑥ 外部業者による疑似攻撃</a:t>
            </a:r>
          </a:p>
        </p:txBody>
      </p:sp>
      <p:sp>
        <p:nvSpPr>
          <p:cNvPr id="43" name="TextBox 42"/>
          <p:cNvSpPr txBox="1"/>
          <p:nvPr/>
        </p:nvSpPr>
        <p:spPr>
          <a:xfrm>
            <a:off x="3355848" y="4878324"/>
            <a:ext cx="3703320" cy="307848"/>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攻撃者の視点で実際に破れるかを試す実地検査</a:t>
            </a:r>
          </a:p>
        </p:txBody>
      </p:sp>
      <p:sp>
        <p:nvSpPr>
          <p:cNvPr id="44" name="TextBox 43"/>
          <p:cNvSpPr txBox="1"/>
          <p:nvPr/>
        </p:nvSpPr>
        <p:spPr>
          <a:xfrm>
            <a:off x="7168896" y="4878324"/>
            <a:ext cx="2103120" cy="3078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外部委託</a:t>
            </a:r>
          </a:p>
        </p:txBody>
      </p:sp>
      <p:sp>
        <p:nvSpPr>
          <p:cNvPr id="45" name="TextBox 44"/>
          <p:cNvSpPr txBox="1"/>
          <p:nvPr/>
        </p:nvSpPr>
        <p:spPr>
          <a:xfrm>
            <a:off x="9400032" y="4878324"/>
            <a:ext cx="1920240" cy="3078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Q93 でご判断</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脆弱性の検査 ②　責任の境界に空白があります</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 要ご相談</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サーバーの OS を誰が検査し、誰が直すかが、現時点で整理できていません。</a:t>
            </a:r>
          </a:p>
        </p:txBody>
      </p:sp>
      <p:sp>
        <p:nvSpPr>
          <p:cNvPr id="6" name="Rectangle 5"/>
          <p:cNvSpPr/>
          <p:nvPr/>
        </p:nvSpPr>
        <p:spPr>
          <a:xfrm>
            <a:off x="812800" y="1014984"/>
            <a:ext cx="36576" cy="484124"/>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4841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採用予定の基盤（ROSA）は、サーバーが当方のクラウド環境に立つ一方で、その OS の更新は提供元（Red Hat）の管理領域にあります。この境目が責任分担表に書かれていません。</a:t>
            </a:r>
          </a:p>
        </p:txBody>
      </p:sp>
      <p:sp>
        <p:nvSpPr>
          <p:cNvPr id="8" name="Rectangle 7"/>
          <p:cNvSpPr/>
          <p:nvPr/>
        </p:nvSpPr>
        <p:spPr>
          <a:xfrm>
            <a:off x="812800" y="1718564"/>
            <a:ext cx="3401568" cy="2834640"/>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800" y="1718564"/>
            <a:ext cx="3401568" cy="45720"/>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3967" y="1956308"/>
            <a:ext cx="2999232" cy="292608"/>
          </a:xfrm>
          <a:prstGeom prst="rect">
            <a:avLst/>
          </a:prstGeom>
          <a:noFill/>
        </p:spPr>
        <p:txBody>
          <a:bodyPr wrap="square" lIns="0" rIns="0" tIns="0" bIns="0" anchor="t">
            <a:spAutoFit/>
          </a:bodyPr>
          <a:lstStyle/>
          <a:p>
            <a:pPr algn="l">
              <a:lnSpc>
                <a:spcPct val="125000"/>
              </a:lnSpc>
            </a:pPr>
            <a:r>
              <a:rPr sz="1500" b="1">
                <a:solidFill>
                  <a:srgbClr val="1F3864"/>
                </a:solidFill>
                <a:latin typeface="Yu Gothic UI"/>
              </a:rPr>
              <a:t>当方の責任</a:t>
            </a:r>
          </a:p>
        </p:txBody>
      </p:sp>
      <p:sp>
        <p:nvSpPr>
          <p:cNvPr id="11" name="TextBox 10"/>
          <p:cNvSpPr txBox="1"/>
          <p:nvPr/>
        </p:nvSpPr>
        <p:spPr>
          <a:xfrm>
            <a:off x="1013967" y="2322068"/>
            <a:ext cx="2999232" cy="219456"/>
          </a:xfrm>
          <a:prstGeom prst="rect">
            <a:avLst/>
          </a:prstGeom>
          <a:noFill/>
        </p:spPr>
        <p:txBody>
          <a:bodyPr wrap="square" lIns="0" rIns="0" tIns="0" bIns="0" anchor="t">
            <a:spAutoFit/>
          </a:bodyPr>
          <a:lstStyle/>
          <a:p>
            <a:pPr algn="l">
              <a:lnSpc>
                <a:spcPct val="125000"/>
              </a:lnSpc>
            </a:pPr>
            <a:r>
              <a:rPr sz="1050" b="1">
                <a:solidFill>
                  <a:srgbClr val="1E7B4D"/>
                </a:solidFill>
                <a:latin typeface="Yu Gothic UI"/>
              </a:rPr>
              <a:t>はっきりしている</a:t>
            </a:r>
          </a:p>
        </p:txBody>
      </p:sp>
      <p:sp>
        <p:nvSpPr>
          <p:cNvPr id="12" name="TextBox 11"/>
          <p:cNvSpPr txBox="1"/>
          <p:nvPr/>
        </p:nvSpPr>
        <p:spPr>
          <a:xfrm>
            <a:off x="1013967" y="2651252"/>
            <a:ext cx="2999232" cy="1737360"/>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・アプリの部品</a:t>
            </a:r>
          </a:p>
          <a:p>
            <a:pPr algn="l">
              <a:lnSpc>
                <a:spcPct val="125000"/>
              </a:lnSpc>
            </a:pPr>
            <a:r>
              <a:rPr sz="1100" b="0">
                <a:solidFill>
                  <a:srgbClr val="1D2125"/>
                </a:solidFill>
                <a:latin typeface="Yu Gothic UI"/>
              </a:rPr>
              <a:t>・配る単位（コンテナ）</a:t>
            </a:r>
          </a:p>
          <a:p>
            <a:pPr algn="l">
              <a:lnSpc>
                <a:spcPct val="125000"/>
              </a:lnSpc>
            </a:pPr>
            <a:r>
              <a:rPr sz="1100" b="0">
                <a:solidFill>
                  <a:srgbClr val="1D2125"/>
                </a:solidFill>
                <a:latin typeface="Yu Gothic UI"/>
              </a:rPr>
              <a:t>・クラウドの設定</a:t>
            </a:r>
          </a:p>
          <a:p>
            <a:pPr algn="l">
              <a:lnSpc>
                <a:spcPct val="125000"/>
              </a:lnSpc>
            </a:pPr>
            <a:r>
              <a:rPr sz="1100" b="0">
                <a:solidFill>
                  <a:srgbClr val="1D2125"/>
                </a:solidFill>
                <a:latin typeface="Yu Gothic UI"/>
              </a:rPr>
              <a:t>・稼働中の構成</a:t>
            </a:r>
          </a:p>
          <a:p>
            <a:pPr algn="l">
              <a:lnSpc>
                <a:spcPct val="125000"/>
              </a:lnSpc>
            </a:pPr>
            <a:r>
              <a:rPr sz="1100" b="0">
                <a:solidFill>
                  <a:srgbClr val="1D2125"/>
                </a:solidFill>
                <a:latin typeface="Yu Gothic UI"/>
              </a:rPr>
              <a:t/>
            </a:r>
          </a:p>
          <a:p>
            <a:pPr algn="l">
              <a:lnSpc>
                <a:spcPct val="125000"/>
              </a:lnSpc>
            </a:pPr>
            <a:r>
              <a:rPr sz="1100" b="0">
                <a:solidFill>
                  <a:srgbClr val="1D2125"/>
                </a:solidFill>
                <a:latin typeface="Yu Gothic UI"/>
              </a:rPr>
              <a:t>見つけた弱点は当方が直します。</a:t>
            </a:r>
          </a:p>
        </p:txBody>
      </p:sp>
      <p:sp>
        <p:nvSpPr>
          <p:cNvPr id="13" name="Rectangle 12"/>
          <p:cNvSpPr/>
          <p:nvPr/>
        </p:nvSpPr>
        <p:spPr>
          <a:xfrm>
            <a:off x="4397248" y="1718564"/>
            <a:ext cx="3401568" cy="283464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97248" y="1718564"/>
            <a:ext cx="3401568" cy="4572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8416" y="1956308"/>
            <a:ext cx="2999232" cy="292608"/>
          </a:xfrm>
          <a:prstGeom prst="rect">
            <a:avLst/>
          </a:prstGeom>
          <a:noFill/>
        </p:spPr>
        <p:txBody>
          <a:bodyPr wrap="square" lIns="0" rIns="0" tIns="0" bIns="0" anchor="t">
            <a:spAutoFit/>
          </a:bodyPr>
          <a:lstStyle/>
          <a:p>
            <a:pPr algn="l">
              <a:lnSpc>
                <a:spcPct val="125000"/>
              </a:lnSpc>
            </a:pPr>
            <a:r>
              <a:rPr sz="1500" b="1">
                <a:solidFill>
                  <a:srgbClr val="1F3864"/>
                </a:solidFill>
                <a:latin typeface="Yu Gothic UI"/>
              </a:rPr>
              <a:t>★ 境界（空白）</a:t>
            </a:r>
          </a:p>
        </p:txBody>
      </p:sp>
      <p:sp>
        <p:nvSpPr>
          <p:cNvPr id="16" name="TextBox 15"/>
          <p:cNvSpPr txBox="1"/>
          <p:nvPr/>
        </p:nvSpPr>
        <p:spPr>
          <a:xfrm>
            <a:off x="4598416" y="2322068"/>
            <a:ext cx="2999232" cy="219456"/>
          </a:xfrm>
          <a:prstGeom prst="rect">
            <a:avLst/>
          </a:prstGeom>
          <a:noFill/>
        </p:spPr>
        <p:txBody>
          <a:bodyPr wrap="square" lIns="0" rIns="0" tIns="0" bIns="0" anchor="t">
            <a:spAutoFit/>
          </a:bodyPr>
          <a:lstStyle/>
          <a:p>
            <a:pPr algn="l">
              <a:lnSpc>
                <a:spcPct val="125000"/>
              </a:lnSpc>
            </a:pPr>
            <a:r>
              <a:rPr sz="1050" b="1">
                <a:solidFill>
                  <a:srgbClr val="B03A2E"/>
                </a:solidFill>
                <a:latin typeface="Yu Gothic UI"/>
              </a:rPr>
              <a:t>ここが整理できていない</a:t>
            </a:r>
          </a:p>
        </p:txBody>
      </p:sp>
      <p:sp>
        <p:nvSpPr>
          <p:cNvPr id="17" name="TextBox 16"/>
          <p:cNvSpPr txBox="1"/>
          <p:nvPr/>
        </p:nvSpPr>
        <p:spPr>
          <a:xfrm>
            <a:off x="4598416" y="2651252"/>
            <a:ext cx="2999232" cy="1737360"/>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・OS の検査ツールを入れられるのか</a:t>
            </a:r>
          </a:p>
          <a:p>
            <a:pPr algn="l">
              <a:lnSpc>
                <a:spcPct val="125000"/>
              </a:lnSpc>
            </a:pPr>
            <a:r>
              <a:rPr sz="1100" b="0">
                <a:solidFill>
                  <a:srgbClr val="1D2125"/>
                </a:solidFill>
                <a:latin typeface="Yu Gothic UI"/>
              </a:rPr>
              <a:t>・そもそも入れるべきなのか</a:t>
            </a:r>
          </a:p>
          <a:p>
            <a:pPr algn="l">
              <a:lnSpc>
                <a:spcPct val="125000"/>
              </a:lnSpc>
            </a:pPr>
            <a:r>
              <a:rPr sz="1100" b="0">
                <a:solidFill>
                  <a:srgbClr val="1D2125"/>
                </a:solidFill>
                <a:latin typeface="Yu Gothic UI"/>
              </a:rPr>
              <a:t>・見つかった弱点を直すのは誰か</a:t>
            </a:r>
          </a:p>
          <a:p>
            <a:pPr algn="l">
              <a:lnSpc>
                <a:spcPct val="125000"/>
              </a:lnSpc>
            </a:pPr>
            <a:r>
              <a:rPr sz="1100" b="0">
                <a:solidFill>
                  <a:srgbClr val="1D2125"/>
                </a:solidFill>
                <a:latin typeface="Yu Gothic UI"/>
              </a:rPr>
              <a:t>・提供元が更新で対応する範囲はどこまでか</a:t>
            </a:r>
          </a:p>
        </p:txBody>
      </p:sp>
      <p:sp>
        <p:nvSpPr>
          <p:cNvPr id="18" name="Rectangle 17"/>
          <p:cNvSpPr/>
          <p:nvPr/>
        </p:nvSpPr>
        <p:spPr>
          <a:xfrm>
            <a:off x="7981696" y="1718564"/>
            <a:ext cx="3401568" cy="283464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81696" y="1718564"/>
            <a:ext cx="3401568" cy="45720"/>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82864" y="1956308"/>
            <a:ext cx="2999232" cy="292608"/>
          </a:xfrm>
          <a:prstGeom prst="rect">
            <a:avLst/>
          </a:prstGeom>
          <a:noFill/>
        </p:spPr>
        <p:txBody>
          <a:bodyPr wrap="square" lIns="0" rIns="0" tIns="0" bIns="0" anchor="t">
            <a:spAutoFit/>
          </a:bodyPr>
          <a:lstStyle/>
          <a:p>
            <a:pPr algn="l">
              <a:lnSpc>
                <a:spcPct val="125000"/>
              </a:lnSpc>
            </a:pPr>
            <a:r>
              <a:rPr sz="1500" b="1">
                <a:solidFill>
                  <a:srgbClr val="1F3864"/>
                </a:solidFill>
                <a:latin typeface="Yu Gothic UI"/>
              </a:rPr>
              <a:t>提供元（Red Hat）の責任</a:t>
            </a:r>
          </a:p>
        </p:txBody>
      </p:sp>
      <p:sp>
        <p:nvSpPr>
          <p:cNvPr id="21" name="TextBox 20"/>
          <p:cNvSpPr txBox="1"/>
          <p:nvPr/>
        </p:nvSpPr>
        <p:spPr>
          <a:xfrm>
            <a:off x="8182864" y="2322068"/>
            <a:ext cx="2999232" cy="219456"/>
          </a:xfrm>
          <a:prstGeom prst="rect">
            <a:avLst/>
          </a:prstGeom>
          <a:noFill/>
        </p:spPr>
        <p:txBody>
          <a:bodyPr wrap="square" lIns="0" rIns="0" tIns="0" bIns="0" anchor="t">
            <a:spAutoFit/>
          </a:bodyPr>
          <a:lstStyle/>
          <a:p>
            <a:pPr algn="l">
              <a:lnSpc>
                <a:spcPct val="125000"/>
              </a:lnSpc>
            </a:pPr>
            <a:r>
              <a:rPr sz="1050" b="1">
                <a:solidFill>
                  <a:srgbClr val="5A6472"/>
                </a:solidFill>
                <a:latin typeface="Yu Gothic UI"/>
              </a:rPr>
              <a:t>はっきりしている</a:t>
            </a:r>
          </a:p>
        </p:txBody>
      </p:sp>
      <p:sp>
        <p:nvSpPr>
          <p:cNvPr id="22" name="TextBox 21"/>
          <p:cNvSpPr txBox="1"/>
          <p:nvPr/>
        </p:nvSpPr>
        <p:spPr>
          <a:xfrm>
            <a:off x="8182864" y="2651252"/>
            <a:ext cx="2999232" cy="1737360"/>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・クラスタの制御部分</a:t>
            </a:r>
          </a:p>
          <a:p>
            <a:pPr algn="l">
              <a:lnSpc>
                <a:spcPct val="125000"/>
              </a:lnSpc>
            </a:pPr>
            <a:r>
              <a:rPr sz="1100" b="0">
                <a:solidFill>
                  <a:srgbClr val="1D2125"/>
                </a:solidFill>
                <a:latin typeface="Yu Gothic UI"/>
              </a:rPr>
              <a:t>・サーバー OS の更新そのもの</a:t>
            </a:r>
          </a:p>
          <a:p>
            <a:pPr algn="l">
              <a:lnSpc>
                <a:spcPct val="125000"/>
              </a:lnSpc>
            </a:pPr>
            <a:r>
              <a:rPr sz="1100" b="0">
                <a:solidFill>
                  <a:srgbClr val="1D2125"/>
                </a:solidFill>
                <a:latin typeface="Yu Gothic UI"/>
              </a:rPr>
              <a:t/>
            </a:r>
          </a:p>
          <a:p>
            <a:pPr algn="l">
              <a:lnSpc>
                <a:spcPct val="125000"/>
              </a:lnSpc>
            </a:pPr>
            <a:r>
              <a:rPr sz="1100" b="0">
                <a:solidFill>
                  <a:srgbClr val="1D2125"/>
                </a:solidFill>
                <a:latin typeface="Yu Gothic UI"/>
              </a:rPr>
              <a:t>当方は更新の時期を指示できますが、</a:t>
            </a:r>
          </a:p>
          <a:p>
            <a:pPr algn="l">
              <a:lnSpc>
                <a:spcPct val="125000"/>
              </a:lnSpc>
            </a:pPr>
            <a:r>
              <a:rPr sz="1100" b="0">
                <a:solidFill>
                  <a:srgbClr val="1D2125"/>
                </a:solidFill>
                <a:latin typeface="Yu Gothic UI"/>
              </a:rPr>
              <a:t>中身には手を入れられません。</a:t>
            </a:r>
          </a:p>
        </p:txBody>
      </p:sp>
      <p:sp>
        <p:nvSpPr>
          <p:cNvPr id="23" name="Rectangle 22"/>
          <p:cNvSpPr/>
          <p:nvPr/>
        </p:nvSpPr>
        <p:spPr>
          <a:xfrm>
            <a:off x="812800" y="4736084"/>
            <a:ext cx="10566349" cy="45593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2800" y="4736084"/>
            <a:ext cx="45720" cy="45593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0544" y="4873244"/>
            <a:ext cx="10109149" cy="181610"/>
          </a:xfrm>
          <a:prstGeom prst="rect">
            <a:avLst/>
          </a:prstGeom>
          <a:noFill/>
        </p:spPr>
        <p:txBody>
          <a:bodyPr wrap="square" lIns="0" rIns="0" tIns="0" bIns="0" anchor="t">
            <a:spAutoFit/>
          </a:bodyPr>
          <a:lstStyle/>
          <a:p>
            <a:pPr algn="l">
              <a:lnSpc>
                <a:spcPct val="125000"/>
              </a:lnSpc>
            </a:pPr>
            <a:r>
              <a:rPr sz="1100" b="1">
                <a:solidFill>
                  <a:srgbClr val="1D2125"/>
                </a:solidFill>
                <a:latin typeface="Yu Gothic UI"/>
              </a:rPr>
              <a:t>この点は顧客監査で必ず問われます。Phase 1 の契約前に整理し、責任分担表へ明記する必要があります。</a:t>
            </a:r>
          </a:p>
        </p:txBody>
      </p:sp>
      <p:sp>
        <p:nvSpPr>
          <p:cNvPr id="26" name="Rectangle 25"/>
          <p:cNvSpPr/>
          <p:nvPr/>
        </p:nvSpPr>
        <p:spPr>
          <a:xfrm>
            <a:off x="812800" y="5320030"/>
            <a:ext cx="10566349" cy="637540"/>
          </a:xfrm>
          <a:prstGeom prst="rect">
            <a:avLst/>
          </a:prstGeom>
          <a:solidFill>
            <a:srgbClr val="FF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2800" y="5320030"/>
            <a:ext cx="45720" cy="6375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0544" y="5457190"/>
            <a:ext cx="10109149" cy="363220"/>
          </a:xfrm>
          <a:prstGeom prst="rect">
            <a:avLst/>
          </a:prstGeom>
          <a:noFill/>
        </p:spPr>
        <p:txBody>
          <a:bodyPr wrap="square" lIns="0" rIns="0" tIns="0" bIns="0" anchor="t">
            <a:spAutoFit/>
          </a:bodyPr>
          <a:lstStyle/>
          <a:p>
            <a:pPr algn="l">
              <a:lnSpc>
                <a:spcPct val="125000"/>
              </a:lnSpc>
            </a:pPr>
            <a:r>
              <a:rPr sz="1100" b="1">
                <a:solidFill>
                  <a:srgbClr val="1D2125"/>
                </a:solidFill>
                <a:latin typeface="Yu Gothic UI"/>
              </a:rPr>
              <a:t>ご判断いただきたい点 — 深刻な弱点が出たときの修正期限（Q57）／緊急でない更新をまとめて当てる頻度（Q58）／外部業者による疑似攻撃の頻度（Q93）／検査結果を貴社へどの頻度でご報告するか。</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アラート通知 ①　誰に、何を知らせるか</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アクター整理</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通知の設計は「何を検知するか」ではなく「誰が何を知る必要があるか」から決めます。</a:t>
            </a:r>
          </a:p>
        </p:txBody>
      </p:sp>
      <p:sp>
        <p:nvSpPr>
          <p:cNvPr id="6" name="Rectangle 5"/>
          <p:cNvSpPr/>
          <p:nvPr/>
        </p:nvSpPr>
        <p:spPr>
          <a:xfrm>
            <a:off x="812800" y="1014984"/>
            <a:ext cx="36576" cy="274320"/>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274320"/>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同じ障害でも、必要な情報と急ぎ具合は受け手ごとに違います。全員に同じものを送ると、重要な通知が埋もれて誰も見なくなります。</a:t>
            </a:r>
          </a:p>
        </p:txBody>
      </p:sp>
      <p:sp>
        <p:nvSpPr>
          <p:cNvPr id="8" name="Rectangle 7"/>
          <p:cNvSpPr/>
          <p:nvPr/>
        </p:nvSpPr>
        <p:spPr>
          <a:xfrm>
            <a:off x="812800" y="1508760"/>
            <a:ext cx="10566349" cy="42062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0544" y="1609344"/>
            <a:ext cx="10109149" cy="219456"/>
          </a:xfrm>
          <a:prstGeom prst="rect">
            <a:avLst/>
          </a:prstGeom>
          <a:noFill/>
        </p:spPr>
        <p:txBody>
          <a:bodyPr wrap="square" lIns="0" rIns="0" tIns="0" bIns="0" anchor="t">
            <a:spAutoFit/>
          </a:bodyPr>
          <a:lstStyle/>
          <a:p>
            <a:pPr algn="l">
              <a:lnSpc>
                <a:spcPct val="125000"/>
              </a:lnSpc>
            </a:pPr>
            <a:r>
              <a:rPr sz="1200" b="1">
                <a:solidFill>
                  <a:srgbClr val="FFFFFF"/>
                </a:solidFill>
                <a:latin typeface="Yu Gothic UI"/>
              </a:rPr>
              <a:t>監視基盤（メトリクス／ログ／外形監視）が検知 → 下の 6 者へ、内容と経路を変えて振り分け</a:t>
            </a:r>
          </a:p>
        </p:txBody>
      </p:sp>
      <p:sp>
        <p:nvSpPr>
          <p:cNvPr id="10" name="Down Arrow 9"/>
          <p:cNvSpPr/>
          <p:nvPr/>
        </p:nvSpPr>
        <p:spPr>
          <a:xfrm>
            <a:off x="5949670" y="1984248"/>
            <a:ext cx="292608" cy="201168"/>
          </a:xfrm>
          <a:prstGeom prst="downArrow">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2800" y="2240280"/>
            <a:ext cx="10566349" cy="3291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318004"/>
            <a:ext cx="2395728"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受け取る人</a:t>
            </a:r>
          </a:p>
        </p:txBody>
      </p:sp>
      <p:sp>
        <p:nvSpPr>
          <p:cNvPr id="13" name="TextBox 12"/>
          <p:cNvSpPr txBox="1"/>
          <p:nvPr/>
        </p:nvSpPr>
        <p:spPr>
          <a:xfrm>
            <a:off x="3419856" y="2318004"/>
            <a:ext cx="393192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何を知る必要があるか</a:t>
            </a:r>
          </a:p>
        </p:txBody>
      </p:sp>
      <p:sp>
        <p:nvSpPr>
          <p:cNvPr id="14" name="TextBox 13"/>
          <p:cNvSpPr txBox="1"/>
          <p:nvPr/>
        </p:nvSpPr>
        <p:spPr>
          <a:xfrm>
            <a:off x="7461504" y="2318004"/>
            <a:ext cx="214884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経路</a:t>
            </a:r>
          </a:p>
        </p:txBody>
      </p:sp>
      <p:sp>
        <p:nvSpPr>
          <p:cNvPr id="15" name="TextBox 14"/>
          <p:cNvSpPr txBox="1"/>
          <p:nvPr/>
        </p:nvSpPr>
        <p:spPr>
          <a:xfrm>
            <a:off x="9720072" y="2318004"/>
            <a:ext cx="160020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時間帯</a:t>
            </a:r>
          </a:p>
        </p:txBody>
      </p:sp>
      <p:sp>
        <p:nvSpPr>
          <p:cNvPr id="16" name="Rectangle 15"/>
          <p:cNvSpPr/>
          <p:nvPr/>
        </p:nvSpPr>
        <p:spPr>
          <a:xfrm>
            <a:off x="812800" y="3152140"/>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651760"/>
            <a:ext cx="2395728" cy="472948"/>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基盤運用者（3 チーム）</a:t>
            </a:r>
          </a:p>
        </p:txBody>
      </p:sp>
      <p:sp>
        <p:nvSpPr>
          <p:cNvPr id="18" name="TextBox 17"/>
          <p:cNvSpPr txBox="1"/>
          <p:nvPr/>
        </p:nvSpPr>
        <p:spPr>
          <a:xfrm>
            <a:off x="3419856" y="2651760"/>
            <a:ext cx="3931920" cy="472948"/>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サービスが遅い・落ちた・攻撃を受けている・自動処理が止まった</a:t>
            </a:r>
          </a:p>
        </p:txBody>
      </p:sp>
      <p:sp>
        <p:nvSpPr>
          <p:cNvPr id="19" name="TextBox 18"/>
          <p:cNvSpPr txBox="1"/>
          <p:nvPr/>
        </p:nvSpPr>
        <p:spPr>
          <a:xfrm>
            <a:off x="7461504" y="2651760"/>
            <a:ext cx="2148840" cy="4729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呼出（PagerDuty）</a:t>
            </a:r>
          </a:p>
          <a:p>
            <a:pPr algn="l">
              <a:lnSpc>
                <a:spcPct val="125000"/>
              </a:lnSpc>
            </a:pPr>
            <a:r>
              <a:rPr sz="1100" b="0">
                <a:solidFill>
                  <a:srgbClr val="1D2125"/>
                </a:solidFill>
                <a:latin typeface="Yu Gothic UI"/>
              </a:rPr>
              <a:t>＋ チャット</a:t>
            </a:r>
          </a:p>
        </p:txBody>
      </p:sp>
      <p:sp>
        <p:nvSpPr>
          <p:cNvPr id="20" name="TextBox 19"/>
          <p:cNvSpPr txBox="1"/>
          <p:nvPr/>
        </p:nvSpPr>
        <p:spPr>
          <a:xfrm>
            <a:off x="9720072" y="2651760"/>
            <a:ext cx="1600200" cy="4729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 Q48 で決まる</a:t>
            </a:r>
          </a:p>
        </p:txBody>
      </p:sp>
      <p:sp>
        <p:nvSpPr>
          <p:cNvPr id="21" name="Rectangle 20"/>
          <p:cNvSpPr/>
          <p:nvPr/>
        </p:nvSpPr>
        <p:spPr>
          <a:xfrm>
            <a:off x="812800" y="3152140"/>
            <a:ext cx="10566349" cy="417576"/>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2800" y="3569716"/>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3234436"/>
            <a:ext cx="2395728" cy="307848"/>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顧客の管理者</a:t>
            </a:r>
          </a:p>
        </p:txBody>
      </p:sp>
      <p:sp>
        <p:nvSpPr>
          <p:cNvPr id="24" name="TextBox 23"/>
          <p:cNvSpPr txBox="1"/>
          <p:nvPr/>
        </p:nvSpPr>
        <p:spPr>
          <a:xfrm>
            <a:off x="3419856" y="3234436"/>
            <a:ext cx="3931920" cy="307848"/>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貴社の利用者に影響が出る事象と、計画停止の予告</a:t>
            </a:r>
          </a:p>
        </p:txBody>
      </p:sp>
      <p:sp>
        <p:nvSpPr>
          <p:cNvPr id="25" name="TextBox 24"/>
          <p:cNvSpPr txBox="1"/>
          <p:nvPr/>
        </p:nvSpPr>
        <p:spPr>
          <a:xfrm>
            <a:off x="7461504" y="3234436"/>
            <a:ext cx="2148840" cy="3078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メール／ポータル</a:t>
            </a:r>
          </a:p>
        </p:txBody>
      </p:sp>
      <p:sp>
        <p:nvSpPr>
          <p:cNvPr id="26" name="TextBox 25"/>
          <p:cNvSpPr txBox="1"/>
          <p:nvPr/>
        </p:nvSpPr>
        <p:spPr>
          <a:xfrm>
            <a:off x="9720072" y="3234436"/>
            <a:ext cx="1600200" cy="3078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業務時間</a:t>
            </a:r>
          </a:p>
        </p:txBody>
      </p:sp>
      <p:sp>
        <p:nvSpPr>
          <p:cNvPr id="27" name="Rectangle 26"/>
          <p:cNvSpPr/>
          <p:nvPr/>
        </p:nvSpPr>
        <p:spPr>
          <a:xfrm>
            <a:off x="812800" y="3987292"/>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3652012"/>
            <a:ext cx="2395728" cy="307848"/>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アプリチーム</a:t>
            </a:r>
          </a:p>
        </p:txBody>
      </p:sp>
      <p:sp>
        <p:nvSpPr>
          <p:cNvPr id="29" name="TextBox 28"/>
          <p:cNvSpPr txBox="1"/>
          <p:nvPr/>
        </p:nvSpPr>
        <p:spPr>
          <a:xfrm>
            <a:off x="3419856" y="3652012"/>
            <a:ext cx="3931920" cy="307848"/>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連携先の異常、仕様変更の予告、開通の完了</a:t>
            </a:r>
          </a:p>
        </p:txBody>
      </p:sp>
      <p:sp>
        <p:nvSpPr>
          <p:cNvPr id="30" name="TextBox 29"/>
          <p:cNvSpPr txBox="1"/>
          <p:nvPr/>
        </p:nvSpPr>
        <p:spPr>
          <a:xfrm>
            <a:off x="7461504" y="3652012"/>
            <a:ext cx="2148840" cy="3078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チャット／メール</a:t>
            </a:r>
          </a:p>
        </p:txBody>
      </p:sp>
      <p:sp>
        <p:nvSpPr>
          <p:cNvPr id="31" name="TextBox 30"/>
          <p:cNvSpPr txBox="1"/>
          <p:nvPr/>
        </p:nvSpPr>
        <p:spPr>
          <a:xfrm>
            <a:off x="9720072" y="3652012"/>
            <a:ext cx="1600200" cy="3078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業務時間</a:t>
            </a:r>
          </a:p>
        </p:txBody>
      </p:sp>
      <p:sp>
        <p:nvSpPr>
          <p:cNvPr id="32" name="Rectangle 31"/>
          <p:cNvSpPr/>
          <p:nvPr/>
        </p:nvSpPr>
        <p:spPr>
          <a:xfrm>
            <a:off x="812800" y="3987292"/>
            <a:ext cx="10566349" cy="417576"/>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2800" y="4404868"/>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4069588"/>
            <a:ext cx="2395728" cy="307848"/>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入口を管理する他組織</a:t>
            </a:r>
          </a:p>
        </p:txBody>
      </p:sp>
      <p:sp>
        <p:nvSpPr>
          <p:cNvPr id="35" name="TextBox 34"/>
          <p:cNvSpPr txBox="1"/>
          <p:nvPr/>
        </p:nvSpPr>
        <p:spPr>
          <a:xfrm>
            <a:off x="3419856" y="4069588"/>
            <a:ext cx="3931920" cy="307848"/>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入口が原因の停止（当方の稼働率と切り分けて計上）</a:t>
            </a:r>
          </a:p>
        </p:txBody>
      </p:sp>
      <p:sp>
        <p:nvSpPr>
          <p:cNvPr id="36" name="TextBox 35"/>
          <p:cNvSpPr txBox="1"/>
          <p:nvPr/>
        </p:nvSpPr>
        <p:spPr>
          <a:xfrm>
            <a:off x="7461504" y="4069588"/>
            <a:ext cx="2148840" cy="3078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 取り決めが未合意</a:t>
            </a:r>
          </a:p>
        </p:txBody>
      </p:sp>
      <p:sp>
        <p:nvSpPr>
          <p:cNvPr id="37" name="TextBox 36"/>
          <p:cNvSpPr txBox="1"/>
          <p:nvPr/>
        </p:nvSpPr>
        <p:spPr>
          <a:xfrm>
            <a:off x="9720072" y="4069588"/>
            <a:ext cx="1600200" cy="3078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 未定</a:t>
            </a:r>
          </a:p>
        </p:txBody>
      </p:sp>
      <p:sp>
        <p:nvSpPr>
          <p:cNvPr id="38" name="Rectangle 37"/>
          <p:cNvSpPr/>
          <p:nvPr/>
        </p:nvSpPr>
        <p:spPr>
          <a:xfrm>
            <a:off x="812800" y="4987544"/>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4487164"/>
            <a:ext cx="2395728" cy="472948"/>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経営層</a:t>
            </a:r>
          </a:p>
        </p:txBody>
      </p:sp>
      <p:sp>
        <p:nvSpPr>
          <p:cNvPr id="40" name="TextBox 39"/>
          <p:cNvSpPr txBox="1"/>
          <p:nvPr/>
        </p:nvSpPr>
        <p:spPr>
          <a:xfrm>
            <a:off x="3419856" y="4487164"/>
            <a:ext cx="3931920" cy="472948"/>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重大な障害、緊急時の特権使用（Break-Glass）の発動</a:t>
            </a:r>
          </a:p>
        </p:txBody>
      </p:sp>
      <p:sp>
        <p:nvSpPr>
          <p:cNvPr id="41" name="TextBox 40"/>
          <p:cNvSpPr txBox="1"/>
          <p:nvPr/>
        </p:nvSpPr>
        <p:spPr>
          <a:xfrm>
            <a:off x="7461504" y="4487164"/>
            <a:ext cx="2148840" cy="4729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電話 ＋ 事後報告書</a:t>
            </a:r>
          </a:p>
        </p:txBody>
      </p:sp>
      <p:sp>
        <p:nvSpPr>
          <p:cNvPr id="42" name="TextBox 41"/>
          <p:cNvSpPr txBox="1"/>
          <p:nvPr/>
        </p:nvSpPr>
        <p:spPr>
          <a:xfrm>
            <a:off x="9720072" y="4487164"/>
            <a:ext cx="1600200" cy="4729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即時</a:t>
            </a:r>
          </a:p>
        </p:txBody>
      </p:sp>
      <p:sp>
        <p:nvSpPr>
          <p:cNvPr id="43" name="Rectangle 42"/>
          <p:cNvSpPr/>
          <p:nvPr/>
        </p:nvSpPr>
        <p:spPr>
          <a:xfrm>
            <a:off x="812800" y="4987544"/>
            <a:ext cx="10566349" cy="417576"/>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12800" y="5405120"/>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4400" y="5069840"/>
            <a:ext cx="2395728" cy="307848"/>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利用者ご本人</a:t>
            </a:r>
          </a:p>
        </p:txBody>
      </p:sp>
      <p:sp>
        <p:nvSpPr>
          <p:cNvPr id="46" name="TextBox 45"/>
          <p:cNvSpPr txBox="1"/>
          <p:nvPr/>
        </p:nvSpPr>
        <p:spPr>
          <a:xfrm>
            <a:off x="3419856" y="5069840"/>
            <a:ext cx="3931920" cy="307848"/>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いま障害中であること、復旧の見込み</a:t>
            </a:r>
          </a:p>
        </p:txBody>
      </p:sp>
      <p:sp>
        <p:nvSpPr>
          <p:cNvPr id="47" name="TextBox 46"/>
          <p:cNvSpPr txBox="1"/>
          <p:nvPr/>
        </p:nvSpPr>
        <p:spPr>
          <a:xfrm>
            <a:off x="7461504" y="5069840"/>
            <a:ext cx="2148840" cy="3078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 公開ページの要否が未決</a:t>
            </a:r>
          </a:p>
        </p:txBody>
      </p:sp>
      <p:sp>
        <p:nvSpPr>
          <p:cNvPr id="48" name="TextBox 47"/>
          <p:cNvSpPr txBox="1"/>
          <p:nvPr/>
        </p:nvSpPr>
        <p:spPr>
          <a:xfrm>
            <a:off x="9720072" y="5069840"/>
            <a:ext cx="1600200" cy="3078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 未定</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アラート通知 ②　急ぎ具合の決め方と、見落としやすい型</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概念</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「エラーが N 件出たら鳴らす」ではなく、「約束を使い切る速さ」で判定します。</a:t>
            </a:r>
          </a:p>
        </p:txBody>
      </p:sp>
      <p:sp>
        <p:nvSpPr>
          <p:cNvPr id="6" name="Rectangle 5"/>
          <p:cNvSpPr/>
          <p:nvPr/>
        </p:nvSpPr>
        <p:spPr>
          <a:xfrm>
            <a:off x="812800" y="1014984"/>
            <a:ext cx="36576" cy="484124"/>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4841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稼働率 99.9% なら 1 か月に止まってよい時間は約 43.8 分です。この持ち分をどの速さで使っているかで、起こすか待つかを分けます。2 つの時間窓の両方が成立したときだけ鳴らすのは、一瞬の揺れで夜中に人を起こさないためです。</a:t>
            </a:r>
          </a:p>
        </p:txBody>
      </p:sp>
      <p:sp>
        <p:nvSpPr>
          <p:cNvPr id="8" name="Rectangle 7"/>
          <p:cNvSpPr/>
          <p:nvPr/>
        </p:nvSpPr>
        <p:spPr>
          <a:xfrm>
            <a:off x="812800" y="1718564"/>
            <a:ext cx="10566349" cy="896112"/>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800" y="1718564"/>
            <a:ext cx="45720" cy="896112"/>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0544" y="1864868"/>
            <a:ext cx="2606040" cy="621792"/>
          </a:xfrm>
          <a:prstGeom prst="rect">
            <a:avLst/>
          </a:prstGeom>
          <a:noFill/>
        </p:spPr>
        <p:txBody>
          <a:bodyPr wrap="square" lIns="0" rIns="0" tIns="0" bIns="0" anchor="t">
            <a:spAutoFit/>
          </a:bodyPr>
          <a:lstStyle/>
          <a:p>
            <a:pPr algn="l">
              <a:lnSpc>
                <a:spcPct val="125000"/>
              </a:lnSpc>
            </a:pPr>
            <a:r>
              <a:rPr sz="1300" b="1">
                <a:solidFill>
                  <a:srgbClr val="1F3864"/>
                </a:solidFill>
                <a:latin typeface="Yu Gothic UI"/>
              </a:rPr>
              <a:t>すぐ呼び出す</a:t>
            </a:r>
          </a:p>
        </p:txBody>
      </p:sp>
      <p:sp>
        <p:nvSpPr>
          <p:cNvPr id="11" name="TextBox 10"/>
          <p:cNvSpPr txBox="1"/>
          <p:nvPr/>
        </p:nvSpPr>
        <p:spPr>
          <a:xfrm>
            <a:off x="3830319" y="1864868"/>
            <a:ext cx="5217109" cy="621792"/>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1 か月の持ち分を 14.4 倍の速さで消費（5 分間と 1 時間の両方で成立）</a:t>
            </a:r>
          </a:p>
        </p:txBody>
      </p:sp>
      <p:sp>
        <p:nvSpPr>
          <p:cNvPr id="12" name="TextBox 11"/>
          <p:cNvSpPr txBox="1"/>
          <p:nvPr/>
        </p:nvSpPr>
        <p:spPr>
          <a:xfrm>
            <a:off x="9184589" y="1864868"/>
            <a:ext cx="2011680" cy="621792"/>
          </a:xfrm>
          <a:prstGeom prst="rect">
            <a:avLst/>
          </a:prstGeom>
          <a:noFill/>
        </p:spPr>
        <p:txBody>
          <a:bodyPr wrap="square" lIns="0" rIns="0" tIns="0" bIns="0" anchor="t">
            <a:spAutoFit/>
          </a:bodyPr>
          <a:lstStyle/>
          <a:p>
            <a:pPr algn="l">
              <a:lnSpc>
                <a:spcPct val="125000"/>
              </a:lnSpc>
            </a:pPr>
            <a:r>
              <a:rPr sz="1100" b="1">
                <a:solidFill>
                  <a:srgbClr val="B03A2E"/>
                </a:solidFill>
                <a:latin typeface="Yu Gothic UI"/>
              </a:rPr>
              <a:t>15 分以内に応答</a:t>
            </a:r>
          </a:p>
        </p:txBody>
      </p:sp>
      <p:sp>
        <p:nvSpPr>
          <p:cNvPr id="13" name="Rectangle 12"/>
          <p:cNvSpPr/>
          <p:nvPr/>
        </p:nvSpPr>
        <p:spPr>
          <a:xfrm>
            <a:off x="812800" y="2724404"/>
            <a:ext cx="10566349" cy="896112"/>
          </a:xfrm>
          <a:prstGeom prst="rect">
            <a:avLst/>
          </a:prstGeom>
          <a:solidFill>
            <a:srgbClr val="FF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2800" y="2724404"/>
            <a:ext cx="45720" cy="89611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0544" y="2870708"/>
            <a:ext cx="2606040" cy="621792"/>
          </a:xfrm>
          <a:prstGeom prst="rect">
            <a:avLst/>
          </a:prstGeom>
          <a:noFill/>
        </p:spPr>
        <p:txBody>
          <a:bodyPr wrap="square" lIns="0" rIns="0" tIns="0" bIns="0" anchor="t">
            <a:spAutoFit/>
          </a:bodyPr>
          <a:lstStyle/>
          <a:p>
            <a:pPr algn="l">
              <a:lnSpc>
                <a:spcPct val="125000"/>
              </a:lnSpc>
            </a:pPr>
            <a:r>
              <a:rPr sz="1300" b="1">
                <a:solidFill>
                  <a:srgbClr val="1F3864"/>
                </a:solidFill>
                <a:latin typeface="Yu Gothic UI"/>
              </a:rPr>
              <a:t>業務時間内に対応</a:t>
            </a:r>
          </a:p>
        </p:txBody>
      </p:sp>
      <p:sp>
        <p:nvSpPr>
          <p:cNvPr id="16" name="TextBox 15"/>
          <p:cNvSpPr txBox="1"/>
          <p:nvPr/>
        </p:nvSpPr>
        <p:spPr>
          <a:xfrm>
            <a:off x="3830319" y="2870708"/>
            <a:ext cx="5217109" cy="621792"/>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6 倍の速さで消費（30 分間と 6 時間の両方で成立）</a:t>
            </a:r>
          </a:p>
        </p:txBody>
      </p:sp>
      <p:sp>
        <p:nvSpPr>
          <p:cNvPr id="17" name="TextBox 16"/>
          <p:cNvSpPr txBox="1"/>
          <p:nvPr/>
        </p:nvSpPr>
        <p:spPr>
          <a:xfrm>
            <a:off x="9184589" y="2870708"/>
            <a:ext cx="2011680" cy="621792"/>
          </a:xfrm>
          <a:prstGeom prst="rect">
            <a:avLst/>
          </a:prstGeom>
          <a:noFill/>
        </p:spPr>
        <p:txBody>
          <a:bodyPr wrap="square" lIns="0" rIns="0" tIns="0" bIns="0" anchor="t">
            <a:spAutoFit/>
          </a:bodyPr>
          <a:lstStyle/>
          <a:p>
            <a:pPr algn="l">
              <a:lnSpc>
                <a:spcPct val="125000"/>
              </a:lnSpc>
            </a:pPr>
            <a:r>
              <a:rPr sz="1100" b="1">
                <a:solidFill>
                  <a:srgbClr val="B45309"/>
                </a:solidFill>
                <a:latin typeface="Yu Gothic UI"/>
              </a:rPr>
              <a:t>1 時間以内</a:t>
            </a:r>
          </a:p>
        </p:txBody>
      </p:sp>
      <p:sp>
        <p:nvSpPr>
          <p:cNvPr id="18" name="Rectangle 17"/>
          <p:cNvSpPr/>
          <p:nvPr/>
        </p:nvSpPr>
        <p:spPr>
          <a:xfrm>
            <a:off x="812800" y="3730244"/>
            <a:ext cx="10566349" cy="896112"/>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800" y="3730244"/>
            <a:ext cx="45720" cy="896112"/>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0544" y="3876548"/>
            <a:ext cx="2606040" cy="621792"/>
          </a:xfrm>
          <a:prstGeom prst="rect">
            <a:avLst/>
          </a:prstGeom>
          <a:noFill/>
        </p:spPr>
        <p:txBody>
          <a:bodyPr wrap="square" lIns="0" rIns="0" tIns="0" bIns="0" anchor="t">
            <a:spAutoFit/>
          </a:bodyPr>
          <a:lstStyle/>
          <a:p>
            <a:pPr algn="l">
              <a:lnSpc>
                <a:spcPct val="125000"/>
              </a:lnSpc>
            </a:pPr>
            <a:r>
              <a:rPr sz="1300" b="1">
                <a:solidFill>
                  <a:srgbClr val="1F3864"/>
                </a:solidFill>
                <a:latin typeface="Yu Gothic UI"/>
              </a:rPr>
              <a:t>予兆として記録</a:t>
            </a:r>
          </a:p>
        </p:txBody>
      </p:sp>
      <p:sp>
        <p:nvSpPr>
          <p:cNvPr id="21" name="TextBox 20"/>
          <p:cNvSpPr txBox="1"/>
          <p:nvPr/>
        </p:nvSpPr>
        <p:spPr>
          <a:xfrm>
            <a:off x="3830319" y="3876548"/>
            <a:ext cx="5217109" cy="621792"/>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3 倍の速さで消費（2 時間と 24 時間の両方で成立）</a:t>
            </a:r>
          </a:p>
        </p:txBody>
      </p:sp>
      <p:sp>
        <p:nvSpPr>
          <p:cNvPr id="22" name="TextBox 21"/>
          <p:cNvSpPr txBox="1"/>
          <p:nvPr/>
        </p:nvSpPr>
        <p:spPr>
          <a:xfrm>
            <a:off x="9184589" y="3876548"/>
            <a:ext cx="2011680" cy="621792"/>
          </a:xfrm>
          <a:prstGeom prst="rect">
            <a:avLst/>
          </a:prstGeom>
          <a:noFill/>
        </p:spPr>
        <p:txBody>
          <a:bodyPr wrap="square" lIns="0" rIns="0" tIns="0" bIns="0" anchor="t">
            <a:spAutoFit/>
          </a:bodyPr>
          <a:lstStyle/>
          <a:p>
            <a:pPr algn="l">
              <a:lnSpc>
                <a:spcPct val="125000"/>
              </a:lnSpc>
            </a:pPr>
            <a:r>
              <a:rPr sz="1100" b="1">
                <a:solidFill>
                  <a:srgbClr val="1E7B4D"/>
                </a:solidFill>
                <a:latin typeface="Yu Gothic UI"/>
              </a:rPr>
              <a:t>4 時間以内</a:t>
            </a:r>
          </a:p>
        </p:txBody>
      </p:sp>
      <p:sp>
        <p:nvSpPr>
          <p:cNvPr id="23" name="Rectangle 22"/>
          <p:cNvSpPr/>
          <p:nvPr/>
        </p:nvSpPr>
        <p:spPr>
          <a:xfrm>
            <a:off x="812800" y="4809236"/>
            <a:ext cx="10566349" cy="63754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2800" y="4809236"/>
            <a:ext cx="45720" cy="63754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0544" y="4946396"/>
            <a:ext cx="10109149" cy="363220"/>
          </a:xfrm>
          <a:prstGeom prst="rect">
            <a:avLst/>
          </a:prstGeom>
          <a:noFill/>
        </p:spPr>
        <p:txBody>
          <a:bodyPr wrap="square" lIns="0" rIns="0" tIns="0" bIns="0" anchor="t">
            <a:spAutoFit/>
          </a:bodyPr>
          <a:lstStyle/>
          <a:p>
            <a:pPr algn="l">
              <a:lnSpc>
                <a:spcPct val="125000"/>
              </a:lnSpc>
            </a:pPr>
            <a:r>
              <a:rPr sz="1100" b="1">
                <a:solidFill>
                  <a:srgbClr val="1D2125"/>
                </a:solidFill>
                <a:latin typeface="Yu Gothic UI"/>
              </a:rPr>
              <a:t>見落としやすいのが「沈黙」の型です。異常な値が出るのではなく、何も出なくなる（同期が止まった／マスク処理が 0 件になった／バックアップがそもそも起動していない）。これは閾値では原理的に捉えられないため、「生きているか」を定期的に確かめる形で別に設計しています。</a:t>
            </a:r>
          </a:p>
        </p:txBody>
      </p:sp>
      <p:sp>
        <p:nvSpPr>
          <p:cNvPr id="26" name="Rectangle 25"/>
          <p:cNvSpPr/>
          <p:nvPr/>
        </p:nvSpPr>
        <p:spPr>
          <a:xfrm>
            <a:off x="812800" y="5574792"/>
            <a:ext cx="10566349" cy="637540"/>
          </a:xfrm>
          <a:prstGeom prst="rect">
            <a:avLst/>
          </a:prstGeom>
          <a:solidFill>
            <a:srgbClr val="FF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2800" y="5574792"/>
            <a:ext cx="45720" cy="6375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0544" y="5711952"/>
            <a:ext cx="10109149" cy="363220"/>
          </a:xfrm>
          <a:prstGeom prst="rect">
            <a:avLst/>
          </a:prstGeom>
          <a:noFill/>
        </p:spPr>
        <p:txBody>
          <a:bodyPr wrap="square" lIns="0" rIns="0" tIns="0" bIns="0" anchor="t">
            <a:spAutoFit/>
          </a:bodyPr>
          <a:lstStyle/>
          <a:p>
            <a:pPr algn="l">
              <a:lnSpc>
                <a:spcPct val="125000"/>
              </a:lnSpc>
            </a:pPr>
            <a:r>
              <a:rPr sz="1100" b="1">
                <a:solidFill>
                  <a:srgbClr val="1D2125"/>
                </a:solidFill>
                <a:latin typeface="Yu Gothic UI"/>
              </a:rPr>
              <a:t>ご判断いただきたい点 — 夜間・休日に誰がどこまで受けるか（Q48）／顧客の管理者へどの事象を通知するか／利用者向けの障害情報ページを用意するか。</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バージョンアップ ①　更新するものが 5 系統ある</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 前提は仮</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「バージョンアップ」も 1 つの作業ではなく、担当も停止の要否も別々です。</a:t>
            </a:r>
          </a:p>
        </p:txBody>
      </p:sp>
      <p:sp>
        <p:nvSpPr>
          <p:cNvPr id="6" name="Rectangle 5"/>
          <p:cNvSpPr/>
          <p:nvPr/>
        </p:nvSpPr>
        <p:spPr>
          <a:xfrm>
            <a:off x="812800" y="1014984"/>
            <a:ext cx="36576" cy="484124"/>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4841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現在は ROSA（提供元が運用するマネージド基盤）を前提に整理していますが、この前提自体はまだ確定ではありません。以下は仮置きの整理としてご覧ください。</a:t>
            </a:r>
          </a:p>
        </p:txBody>
      </p:sp>
      <p:sp>
        <p:nvSpPr>
          <p:cNvPr id="8" name="Rectangle 7"/>
          <p:cNvSpPr/>
          <p:nvPr/>
        </p:nvSpPr>
        <p:spPr>
          <a:xfrm>
            <a:off x="812800" y="1718564"/>
            <a:ext cx="10566349" cy="3291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96288"/>
            <a:ext cx="2395728"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更新するもの</a:t>
            </a:r>
          </a:p>
        </p:txBody>
      </p:sp>
      <p:sp>
        <p:nvSpPr>
          <p:cNvPr id="10" name="TextBox 9"/>
          <p:cNvSpPr txBox="1"/>
          <p:nvPr/>
        </p:nvSpPr>
        <p:spPr>
          <a:xfrm>
            <a:off x="3419856" y="1796288"/>
            <a:ext cx="292608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誰が当てるか</a:t>
            </a:r>
          </a:p>
        </p:txBody>
      </p:sp>
      <p:sp>
        <p:nvSpPr>
          <p:cNvPr id="11" name="TextBox 10"/>
          <p:cNvSpPr txBox="1"/>
          <p:nvPr/>
        </p:nvSpPr>
        <p:spPr>
          <a:xfrm>
            <a:off x="6455664" y="1796288"/>
            <a:ext cx="274320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利用者への影響</a:t>
            </a:r>
          </a:p>
        </p:txBody>
      </p:sp>
      <p:sp>
        <p:nvSpPr>
          <p:cNvPr id="12" name="TextBox 11"/>
          <p:cNvSpPr txBox="1"/>
          <p:nvPr/>
        </p:nvSpPr>
        <p:spPr>
          <a:xfrm>
            <a:off x="9308592" y="1796288"/>
            <a:ext cx="201168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頻度</a:t>
            </a:r>
          </a:p>
        </p:txBody>
      </p:sp>
      <p:sp>
        <p:nvSpPr>
          <p:cNvPr id="13" name="Rectangle 12"/>
          <p:cNvSpPr/>
          <p:nvPr/>
        </p:nvSpPr>
        <p:spPr>
          <a:xfrm>
            <a:off x="812800" y="2630424"/>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130044"/>
            <a:ext cx="2395728" cy="472948"/>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① クラスタの制御部分</a:t>
            </a:r>
          </a:p>
        </p:txBody>
      </p:sp>
      <p:sp>
        <p:nvSpPr>
          <p:cNvPr id="15" name="TextBox 14"/>
          <p:cNvSpPr txBox="1"/>
          <p:nvPr/>
        </p:nvSpPr>
        <p:spPr>
          <a:xfrm>
            <a:off x="3419856" y="2130044"/>
            <a:ext cx="2926080" cy="472948"/>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提供元（Red Hat）</a:t>
            </a:r>
          </a:p>
        </p:txBody>
      </p:sp>
      <p:sp>
        <p:nvSpPr>
          <p:cNvPr id="16" name="TextBox 15"/>
          <p:cNvSpPr txBox="1"/>
          <p:nvPr/>
        </p:nvSpPr>
        <p:spPr>
          <a:xfrm>
            <a:off x="6455664" y="2130044"/>
            <a:ext cx="2743200" cy="4729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なし</a:t>
            </a:r>
          </a:p>
        </p:txBody>
      </p:sp>
      <p:sp>
        <p:nvSpPr>
          <p:cNvPr id="17" name="TextBox 16"/>
          <p:cNvSpPr txBox="1"/>
          <p:nvPr/>
        </p:nvSpPr>
        <p:spPr>
          <a:xfrm>
            <a:off x="9308592" y="2130044"/>
            <a:ext cx="2011680" cy="4729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提供元の予定に従う</a:t>
            </a:r>
          </a:p>
          <a:p>
            <a:pPr algn="l">
              <a:lnSpc>
                <a:spcPct val="125000"/>
              </a:lnSpc>
            </a:pPr>
            <a:r>
              <a:rPr sz="1100" b="0">
                <a:solidFill>
                  <a:srgbClr val="1D2125"/>
                </a:solidFill>
                <a:latin typeface="Yu Gothic UI"/>
              </a:rPr>
              <a:t>（★ 仮）</a:t>
            </a:r>
          </a:p>
        </p:txBody>
      </p:sp>
      <p:sp>
        <p:nvSpPr>
          <p:cNvPr id="18" name="Rectangle 17"/>
          <p:cNvSpPr/>
          <p:nvPr/>
        </p:nvSpPr>
        <p:spPr>
          <a:xfrm>
            <a:off x="812800" y="2630424"/>
            <a:ext cx="10566349" cy="582676"/>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800" y="3213100"/>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712720"/>
            <a:ext cx="2395728" cy="472948"/>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② サーバーの OS</a:t>
            </a:r>
          </a:p>
        </p:txBody>
      </p:sp>
      <p:sp>
        <p:nvSpPr>
          <p:cNvPr id="21" name="TextBox 20"/>
          <p:cNvSpPr txBox="1"/>
          <p:nvPr/>
        </p:nvSpPr>
        <p:spPr>
          <a:xfrm>
            <a:off x="3419856" y="2712720"/>
            <a:ext cx="2926080" cy="472948"/>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当方が時期を指示し、</a:t>
            </a:r>
          </a:p>
          <a:p>
            <a:pPr algn="l">
              <a:lnSpc>
                <a:spcPct val="125000"/>
              </a:lnSpc>
            </a:pPr>
            <a:r>
              <a:rPr sz="1100" b="0">
                <a:solidFill>
                  <a:srgbClr val="5A6472"/>
                </a:solidFill>
                <a:latin typeface="Yu Gothic UI"/>
              </a:rPr>
              <a:t>サーバーごと入れ替える</a:t>
            </a:r>
          </a:p>
        </p:txBody>
      </p:sp>
      <p:sp>
        <p:nvSpPr>
          <p:cNvPr id="22" name="TextBox 21"/>
          <p:cNvSpPr txBox="1"/>
          <p:nvPr/>
        </p:nvSpPr>
        <p:spPr>
          <a:xfrm>
            <a:off x="6455664" y="2712720"/>
            <a:ext cx="2743200" cy="4729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なし（1 台余分に立ててから</a:t>
            </a:r>
          </a:p>
          <a:p>
            <a:pPr algn="l">
              <a:lnSpc>
                <a:spcPct val="125000"/>
              </a:lnSpc>
            </a:pPr>
            <a:r>
              <a:rPr sz="1100" b="0">
                <a:solidFill>
                  <a:srgbClr val="1D2125"/>
                </a:solidFill>
                <a:latin typeface="Yu Gothic UI"/>
              </a:rPr>
              <a:t>古い方を抜く）</a:t>
            </a:r>
          </a:p>
        </p:txBody>
      </p:sp>
      <p:sp>
        <p:nvSpPr>
          <p:cNvPr id="23" name="TextBox 22"/>
          <p:cNvSpPr txBox="1"/>
          <p:nvPr/>
        </p:nvSpPr>
        <p:spPr>
          <a:xfrm>
            <a:off x="9308592" y="2712720"/>
            <a:ext cx="2011680" cy="4729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制御部分に追従</a:t>
            </a:r>
          </a:p>
          <a:p>
            <a:pPr algn="l">
              <a:lnSpc>
                <a:spcPct val="125000"/>
              </a:lnSpc>
            </a:pPr>
            <a:r>
              <a:rPr sz="1100" b="0">
                <a:solidFill>
                  <a:srgbClr val="1D2125"/>
                </a:solidFill>
                <a:latin typeface="Yu Gothic UI"/>
              </a:rPr>
              <a:t>（2 世代以内を維持）</a:t>
            </a:r>
          </a:p>
        </p:txBody>
      </p:sp>
      <p:sp>
        <p:nvSpPr>
          <p:cNvPr id="24" name="Rectangle 23"/>
          <p:cNvSpPr/>
          <p:nvPr/>
        </p:nvSpPr>
        <p:spPr>
          <a:xfrm>
            <a:off x="812800" y="3630676"/>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295396"/>
            <a:ext cx="2395728" cy="307848"/>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③ 認証製品（RHBK）</a:t>
            </a:r>
          </a:p>
        </p:txBody>
      </p:sp>
      <p:sp>
        <p:nvSpPr>
          <p:cNvPr id="26" name="TextBox 25"/>
          <p:cNvSpPr txBox="1"/>
          <p:nvPr/>
        </p:nvSpPr>
        <p:spPr>
          <a:xfrm>
            <a:off x="3419856" y="3295396"/>
            <a:ext cx="2926080" cy="307848"/>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当方</a:t>
            </a:r>
          </a:p>
        </p:txBody>
      </p:sp>
      <p:sp>
        <p:nvSpPr>
          <p:cNvPr id="27" name="TextBox 26"/>
          <p:cNvSpPr txBox="1"/>
          <p:nvPr/>
        </p:nvSpPr>
        <p:spPr>
          <a:xfrm>
            <a:off x="6455664" y="3295396"/>
            <a:ext cx="2743200" cy="3078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なし（順番に入れ替える）</a:t>
            </a:r>
          </a:p>
        </p:txBody>
      </p:sp>
      <p:sp>
        <p:nvSpPr>
          <p:cNvPr id="28" name="TextBox 27"/>
          <p:cNvSpPr txBox="1"/>
          <p:nvPr/>
        </p:nvSpPr>
        <p:spPr>
          <a:xfrm>
            <a:off x="9308592" y="3295396"/>
            <a:ext cx="2011680" cy="3078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年 1〜2 回 ＋ 緊急</a:t>
            </a:r>
          </a:p>
        </p:txBody>
      </p:sp>
      <p:sp>
        <p:nvSpPr>
          <p:cNvPr id="29" name="Rectangle 28"/>
          <p:cNvSpPr/>
          <p:nvPr/>
        </p:nvSpPr>
        <p:spPr>
          <a:xfrm>
            <a:off x="812800" y="3630676"/>
            <a:ext cx="10566349" cy="582676"/>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2800" y="4213352"/>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3712971"/>
            <a:ext cx="2395728" cy="472948"/>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④ 自作部品（SPI）</a:t>
            </a:r>
          </a:p>
        </p:txBody>
      </p:sp>
      <p:sp>
        <p:nvSpPr>
          <p:cNvPr id="32" name="TextBox 31"/>
          <p:cNvSpPr txBox="1"/>
          <p:nvPr/>
        </p:nvSpPr>
        <p:spPr>
          <a:xfrm>
            <a:off x="3419856" y="3712971"/>
            <a:ext cx="2926080" cy="472948"/>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当方</a:t>
            </a:r>
          </a:p>
        </p:txBody>
      </p:sp>
      <p:sp>
        <p:nvSpPr>
          <p:cNvPr id="33" name="TextBox 32"/>
          <p:cNvSpPr txBox="1"/>
          <p:nvPr/>
        </p:nvSpPr>
        <p:spPr>
          <a:xfrm>
            <a:off x="6455664" y="3712971"/>
            <a:ext cx="2743200" cy="4729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なし</a:t>
            </a:r>
          </a:p>
        </p:txBody>
      </p:sp>
      <p:sp>
        <p:nvSpPr>
          <p:cNvPr id="34" name="TextBox 33"/>
          <p:cNvSpPr txBox="1"/>
          <p:nvPr/>
        </p:nvSpPr>
        <p:spPr>
          <a:xfrm>
            <a:off x="9308592" y="3712971"/>
            <a:ext cx="2011680" cy="4729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随時（認証製品と同じ</a:t>
            </a:r>
          </a:p>
          <a:p>
            <a:pPr algn="l">
              <a:lnSpc>
                <a:spcPct val="125000"/>
              </a:lnSpc>
            </a:pPr>
            <a:r>
              <a:rPr sz="1100" b="0">
                <a:solidFill>
                  <a:srgbClr val="1D2125"/>
                </a:solidFill>
                <a:latin typeface="Yu Gothic UI"/>
              </a:rPr>
              <a:t>配る単位に焼き込む）</a:t>
            </a:r>
          </a:p>
        </p:txBody>
      </p:sp>
      <p:sp>
        <p:nvSpPr>
          <p:cNvPr id="35" name="Rectangle 34"/>
          <p:cNvSpPr/>
          <p:nvPr/>
        </p:nvSpPr>
        <p:spPr>
          <a:xfrm>
            <a:off x="812800" y="4630928"/>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4295648"/>
            <a:ext cx="2395728" cy="307848"/>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⑤ データベース・管理 API</a:t>
            </a:r>
          </a:p>
        </p:txBody>
      </p:sp>
      <p:sp>
        <p:nvSpPr>
          <p:cNvPr id="37" name="TextBox 36"/>
          <p:cNvSpPr txBox="1"/>
          <p:nvPr/>
        </p:nvSpPr>
        <p:spPr>
          <a:xfrm>
            <a:off x="3419856" y="4295648"/>
            <a:ext cx="2926080" cy="307848"/>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当方</a:t>
            </a:r>
          </a:p>
        </p:txBody>
      </p:sp>
      <p:sp>
        <p:nvSpPr>
          <p:cNvPr id="38" name="TextBox 37"/>
          <p:cNvSpPr txBox="1"/>
          <p:nvPr/>
        </p:nvSpPr>
        <p:spPr>
          <a:xfrm>
            <a:off x="6455664" y="4295648"/>
            <a:ext cx="2743200" cy="3078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計画停止の枠を使う場合あり</a:t>
            </a:r>
          </a:p>
        </p:txBody>
      </p:sp>
      <p:sp>
        <p:nvSpPr>
          <p:cNvPr id="39" name="TextBox 38"/>
          <p:cNvSpPr txBox="1"/>
          <p:nvPr/>
        </p:nvSpPr>
        <p:spPr>
          <a:xfrm>
            <a:off x="9308592" y="4295648"/>
            <a:ext cx="2011680" cy="307848"/>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年数回</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バージョンアップ ②　どう当てるか</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概念</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小さな修正（パッチ）も、大きな更新と同じ関門を通します。</a:t>
            </a:r>
          </a:p>
        </p:txBody>
      </p:sp>
      <p:sp>
        <p:nvSpPr>
          <p:cNvPr id="6" name="Rectangle 5"/>
          <p:cNvSpPr/>
          <p:nvPr/>
        </p:nvSpPr>
        <p:spPr>
          <a:xfrm>
            <a:off x="812800" y="1014984"/>
            <a:ext cx="36576" cy="274320"/>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274320"/>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更新は「当てる」より「当てても壊れないと確かめる」ほうが本体です。下の流れの ② と ④ が、その確かめる部分にあたります。</a:t>
            </a:r>
          </a:p>
        </p:txBody>
      </p:sp>
      <p:sp>
        <p:nvSpPr>
          <p:cNvPr id="8" name="Rectangle 7"/>
          <p:cNvSpPr/>
          <p:nvPr/>
        </p:nvSpPr>
        <p:spPr>
          <a:xfrm>
            <a:off x="812800" y="1508760"/>
            <a:ext cx="1874519" cy="146304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800" y="1508760"/>
            <a:ext cx="1874519" cy="457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9103" y="1691640"/>
            <a:ext cx="1581911" cy="201168"/>
          </a:xfrm>
          <a:prstGeom prst="rect">
            <a:avLst/>
          </a:prstGeom>
          <a:noFill/>
        </p:spPr>
        <p:txBody>
          <a:bodyPr wrap="square" lIns="0" rIns="0" tIns="0" bIns="0" anchor="t">
            <a:spAutoFit/>
          </a:bodyPr>
          <a:lstStyle/>
          <a:p>
            <a:pPr algn="l">
              <a:lnSpc>
                <a:spcPct val="125000"/>
              </a:lnSpc>
            </a:pPr>
            <a:r>
              <a:rPr sz="1000" b="1">
                <a:solidFill>
                  <a:srgbClr val="1F3864"/>
                </a:solidFill>
                <a:latin typeface="Yu Gothic UI"/>
              </a:rPr>
              <a:t>①</a:t>
            </a:r>
          </a:p>
        </p:txBody>
      </p:sp>
      <p:sp>
        <p:nvSpPr>
          <p:cNvPr id="11" name="TextBox 10"/>
          <p:cNvSpPr txBox="1"/>
          <p:nvPr/>
        </p:nvSpPr>
        <p:spPr>
          <a:xfrm>
            <a:off x="959103" y="1929384"/>
            <a:ext cx="1581911" cy="457200"/>
          </a:xfrm>
          <a:prstGeom prst="rect">
            <a:avLst/>
          </a:prstGeom>
          <a:noFill/>
        </p:spPr>
        <p:txBody>
          <a:bodyPr wrap="square" lIns="0" rIns="0" tIns="0" bIns="0" anchor="t">
            <a:spAutoFit/>
          </a:bodyPr>
          <a:lstStyle/>
          <a:p>
            <a:pPr algn="l">
              <a:lnSpc>
                <a:spcPct val="125000"/>
              </a:lnSpc>
            </a:pPr>
            <a:r>
              <a:rPr sz="1250" b="1">
                <a:solidFill>
                  <a:srgbClr val="1D2125"/>
                </a:solidFill>
                <a:latin typeface="Yu Gothic UI"/>
              </a:rPr>
              <a:t>組み立てと署名</a:t>
            </a:r>
          </a:p>
        </p:txBody>
      </p:sp>
      <p:sp>
        <p:nvSpPr>
          <p:cNvPr id="12" name="TextBox 11"/>
          <p:cNvSpPr txBox="1"/>
          <p:nvPr/>
        </p:nvSpPr>
        <p:spPr>
          <a:xfrm>
            <a:off x="959103" y="2330196"/>
            <a:ext cx="1581911" cy="495299"/>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部品表を作り、改ざんされていないことを示す署名を付ける</a:t>
            </a:r>
          </a:p>
        </p:txBody>
      </p:sp>
      <p:sp>
        <p:nvSpPr>
          <p:cNvPr id="13" name="Right Arrow 12"/>
          <p:cNvSpPr/>
          <p:nvPr/>
        </p:nvSpPr>
        <p:spPr>
          <a:xfrm>
            <a:off x="2728467" y="2121408"/>
            <a:ext cx="219456" cy="237744"/>
          </a:xfrm>
          <a:prstGeom prst="rightArrow">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89072" y="1508760"/>
            <a:ext cx="1874519" cy="1463040"/>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9072" y="1508760"/>
            <a:ext cx="1874519" cy="45720"/>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35376" y="1691640"/>
            <a:ext cx="1581911" cy="201168"/>
          </a:xfrm>
          <a:prstGeom prst="rect">
            <a:avLst/>
          </a:prstGeom>
          <a:noFill/>
        </p:spPr>
        <p:txBody>
          <a:bodyPr wrap="square" lIns="0" rIns="0" tIns="0" bIns="0" anchor="t">
            <a:spAutoFit/>
          </a:bodyPr>
          <a:lstStyle/>
          <a:p>
            <a:pPr algn="l">
              <a:lnSpc>
                <a:spcPct val="125000"/>
              </a:lnSpc>
            </a:pPr>
            <a:r>
              <a:rPr sz="1000" b="1">
                <a:solidFill>
                  <a:srgbClr val="1E7B4D"/>
                </a:solidFill>
                <a:latin typeface="Yu Gothic UI"/>
              </a:rPr>
              <a:t>②</a:t>
            </a:r>
          </a:p>
        </p:txBody>
      </p:sp>
      <p:sp>
        <p:nvSpPr>
          <p:cNvPr id="17" name="TextBox 16"/>
          <p:cNvSpPr txBox="1"/>
          <p:nvPr/>
        </p:nvSpPr>
        <p:spPr>
          <a:xfrm>
            <a:off x="3135376" y="1929384"/>
            <a:ext cx="1581911" cy="457200"/>
          </a:xfrm>
          <a:prstGeom prst="rect">
            <a:avLst/>
          </a:prstGeom>
          <a:noFill/>
        </p:spPr>
        <p:txBody>
          <a:bodyPr wrap="square" lIns="0" rIns="0" tIns="0" bIns="0" anchor="t">
            <a:spAutoFit/>
          </a:bodyPr>
          <a:lstStyle/>
          <a:p>
            <a:pPr algn="l">
              <a:lnSpc>
                <a:spcPct val="125000"/>
              </a:lnSpc>
            </a:pPr>
            <a:r>
              <a:rPr sz="1250" b="1">
                <a:solidFill>
                  <a:srgbClr val="1D2125"/>
                </a:solidFill>
                <a:latin typeface="Yu Gothic UI"/>
              </a:rPr>
              <a:t>検証環境で回帰</a:t>
            </a:r>
          </a:p>
        </p:txBody>
      </p:sp>
      <p:sp>
        <p:nvSpPr>
          <p:cNvPr id="18" name="TextBox 17"/>
          <p:cNvSpPr txBox="1"/>
          <p:nvPr/>
        </p:nvSpPr>
        <p:spPr>
          <a:xfrm>
            <a:off x="3135376" y="2330196"/>
            <a:ext cx="1581911" cy="495299"/>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1,000 社ぶんの模擬データで、性能が基準比 +10% 以内かを確認</a:t>
            </a:r>
          </a:p>
        </p:txBody>
      </p:sp>
      <p:sp>
        <p:nvSpPr>
          <p:cNvPr id="19" name="Right Arrow 18"/>
          <p:cNvSpPr/>
          <p:nvPr/>
        </p:nvSpPr>
        <p:spPr>
          <a:xfrm>
            <a:off x="4904740" y="2121408"/>
            <a:ext cx="219456" cy="237744"/>
          </a:xfrm>
          <a:prstGeom prst="rightArrow">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65344" y="1508760"/>
            <a:ext cx="1874519" cy="146304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65344" y="1508760"/>
            <a:ext cx="1874519" cy="457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11648" y="1691640"/>
            <a:ext cx="1581911" cy="201168"/>
          </a:xfrm>
          <a:prstGeom prst="rect">
            <a:avLst/>
          </a:prstGeom>
          <a:noFill/>
        </p:spPr>
        <p:txBody>
          <a:bodyPr wrap="square" lIns="0" rIns="0" tIns="0" bIns="0" anchor="t">
            <a:spAutoFit/>
          </a:bodyPr>
          <a:lstStyle/>
          <a:p>
            <a:pPr algn="l">
              <a:lnSpc>
                <a:spcPct val="125000"/>
              </a:lnSpc>
            </a:pPr>
            <a:r>
              <a:rPr sz="1000" b="1">
                <a:solidFill>
                  <a:srgbClr val="1F3864"/>
                </a:solidFill>
                <a:latin typeface="Yu Gothic UI"/>
              </a:rPr>
              <a:t>③</a:t>
            </a:r>
          </a:p>
        </p:txBody>
      </p:sp>
      <p:sp>
        <p:nvSpPr>
          <p:cNvPr id="23" name="TextBox 22"/>
          <p:cNvSpPr txBox="1"/>
          <p:nvPr/>
        </p:nvSpPr>
        <p:spPr>
          <a:xfrm>
            <a:off x="5311648" y="1929384"/>
            <a:ext cx="1581911" cy="457200"/>
          </a:xfrm>
          <a:prstGeom prst="rect">
            <a:avLst/>
          </a:prstGeom>
          <a:noFill/>
        </p:spPr>
        <p:txBody>
          <a:bodyPr wrap="square" lIns="0" rIns="0" tIns="0" bIns="0" anchor="t">
            <a:spAutoFit/>
          </a:bodyPr>
          <a:lstStyle/>
          <a:p>
            <a:pPr algn="l">
              <a:lnSpc>
                <a:spcPct val="125000"/>
              </a:lnSpc>
            </a:pPr>
            <a:r>
              <a:rPr sz="1250" b="1">
                <a:solidFill>
                  <a:srgbClr val="1D2125"/>
                </a:solidFill>
                <a:latin typeface="Yu Gothic UI"/>
              </a:rPr>
              <a:t>本番の 1 台目</a:t>
            </a:r>
          </a:p>
        </p:txBody>
      </p:sp>
      <p:sp>
        <p:nvSpPr>
          <p:cNvPr id="24" name="TextBox 23"/>
          <p:cNvSpPr txBox="1"/>
          <p:nvPr/>
        </p:nvSpPr>
        <p:spPr>
          <a:xfrm>
            <a:off x="5311648" y="2495296"/>
            <a:ext cx="1581911" cy="33020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順番入れ替えで 1 台だけ新しくする</a:t>
            </a:r>
          </a:p>
        </p:txBody>
      </p:sp>
      <p:sp>
        <p:nvSpPr>
          <p:cNvPr id="25" name="Right Arrow 24"/>
          <p:cNvSpPr/>
          <p:nvPr/>
        </p:nvSpPr>
        <p:spPr>
          <a:xfrm>
            <a:off x="7081012" y="2121408"/>
            <a:ext cx="219456" cy="237744"/>
          </a:xfrm>
          <a:prstGeom prst="rightArrow">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1615" y="1508760"/>
            <a:ext cx="1874519" cy="1463040"/>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41615" y="1508760"/>
            <a:ext cx="1874519" cy="45720"/>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87919" y="1691640"/>
            <a:ext cx="1581911" cy="201168"/>
          </a:xfrm>
          <a:prstGeom prst="rect">
            <a:avLst/>
          </a:prstGeom>
          <a:noFill/>
        </p:spPr>
        <p:txBody>
          <a:bodyPr wrap="square" lIns="0" rIns="0" tIns="0" bIns="0" anchor="t">
            <a:spAutoFit/>
          </a:bodyPr>
          <a:lstStyle/>
          <a:p>
            <a:pPr algn="l">
              <a:lnSpc>
                <a:spcPct val="125000"/>
              </a:lnSpc>
            </a:pPr>
            <a:r>
              <a:rPr sz="1000" b="1">
                <a:solidFill>
                  <a:srgbClr val="1E7B4D"/>
                </a:solidFill>
                <a:latin typeface="Yu Gothic UI"/>
              </a:rPr>
              <a:t>④</a:t>
            </a:r>
          </a:p>
        </p:txBody>
      </p:sp>
      <p:sp>
        <p:nvSpPr>
          <p:cNvPr id="29" name="TextBox 28"/>
          <p:cNvSpPr txBox="1"/>
          <p:nvPr/>
        </p:nvSpPr>
        <p:spPr>
          <a:xfrm>
            <a:off x="7487919" y="1929384"/>
            <a:ext cx="1581911" cy="457200"/>
          </a:xfrm>
          <a:prstGeom prst="rect">
            <a:avLst/>
          </a:prstGeom>
          <a:noFill/>
        </p:spPr>
        <p:txBody>
          <a:bodyPr wrap="square" lIns="0" rIns="0" tIns="0" bIns="0" anchor="t">
            <a:spAutoFit/>
          </a:bodyPr>
          <a:lstStyle/>
          <a:p>
            <a:pPr algn="l">
              <a:lnSpc>
                <a:spcPct val="125000"/>
              </a:lnSpc>
            </a:pPr>
            <a:r>
              <a:rPr sz="1250" b="1">
                <a:solidFill>
                  <a:srgbClr val="1D2125"/>
                </a:solidFill>
                <a:latin typeface="Yu Gothic UI"/>
              </a:rPr>
              <a:t>15 分の様子見</a:t>
            </a:r>
          </a:p>
        </p:txBody>
      </p:sp>
      <p:sp>
        <p:nvSpPr>
          <p:cNvPr id="30" name="TextBox 29"/>
          <p:cNvSpPr txBox="1"/>
          <p:nvPr/>
        </p:nvSpPr>
        <p:spPr>
          <a:xfrm>
            <a:off x="7487919" y="2495296"/>
            <a:ext cx="1581911" cy="33020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毎分ログインを試し、失敗すれば自動で元に戻す</a:t>
            </a:r>
          </a:p>
        </p:txBody>
      </p:sp>
      <p:sp>
        <p:nvSpPr>
          <p:cNvPr id="31" name="Right Arrow 30"/>
          <p:cNvSpPr/>
          <p:nvPr/>
        </p:nvSpPr>
        <p:spPr>
          <a:xfrm>
            <a:off x="9257283" y="2121408"/>
            <a:ext cx="219456" cy="237744"/>
          </a:xfrm>
          <a:prstGeom prst="rightArrow">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17888" y="1508760"/>
            <a:ext cx="1874519" cy="146304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517888" y="1508760"/>
            <a:ext cx="1874519" cy="457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64192" y="1691640"/>
            <a:ext cx="1581911" cy="201168"/>
          </a:xfrm>
          <a:prstGeom prst="rect">
            <a:avLst/>
          </a:prstGeom>
          <a:noFill/>
        </p:spPr>
        <p:txBody>
          <a:bodyPr wrap="square" lIns="0" rIns="0" tIns="0" bIns="0" anchor="t">
            <a:spAutoFit/>
          </a:bodyPr>
          <a:lstStyle/>
          <a:p>
            <a:pPr algn="l">
              <a:lnSpc>
                <a:spcPct val="125000"/>
              </a:lnSpc>
            </a:pPr>
            <a:r>
              <a:rPr sz="1000" b="1">
                <a:solidFill>
                  <a:srgbClr val="1F3864"/>
                </a:solidFill>
                <a:latin typeface="Yu Gothic UI"/>
              </a:rPr>
              <a:t>⑤</a:t>
            </a:r>
          </a:p>
        </p:txBody>
      </p:sp>
      <p:sp>
        <p:nvSpPr>
          <p:cNvPr id="35" name="TextBox 34"/>
          <p:cNvSpPr txBox="1"/>
          <p:nvPr/>
        </p:nvSpPr>
        <p:spPr>
          <a:xfrm>
            <a:off x="9664192" y="1929384"/>
            <a:ext cx="1581911" cy="457200"/>
          </a:xfrm>
          <a:prstGeom prst="rect">
            <a:avLst/>
          </a:prstGeom>
          <a:noFill/>
        </p:spPr>
        <p:txBody>
          <a:bodyPr wrap="square" lIns="0" rIns="0" tIns="0" bIns="0" anchor="t">
            <a:spAutoFit/>
          </a:bodyPr>
          <a:lstStyle/>
          <a:p>
            <a:pPr algn="l">
              <a:lnSpc>
                <a:spcPct val="125000"/>
              </a:lnSpc>
            </a:pPr>
            <a:r>
              <a:rPr sz="1250" b="1">
                <a:solidFill>
                  <a:srgbClr val="1D2125"/>
                </a:solidFill>
                <a:latin typeface="Yu Gothic UI"/>
              </a:rPr>
              <a:t>残りへ展開</a:t>
            </a:r>
          </a:p>
        </p:txBody>
      </p:sp>
      <p:sp>
        <p:nvSpPr>
          <p:cNvPr id="36" name="TextBox 35"/>
          <p:cNvSpPr txBox="1"/>
          <p:nvPr/>
        </p:nvSpPr>
        <p:spPr>
          <a:xfrm>
            <a:off x="9664192" y="2495296"/>
            <a:ext cx="1581911" cy="33020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問題なければ残りのサーバーへ順に広げる</a:t>
            </a:r>
          </a:p>
        </p:txBody>
      </p:sp>
      <p:sp>
        <p:nvSpPr>
          <p:cNvPr id="37" name="Rectangle 36"/>
          <p:cNvSpPr/>
          <p:nvPr/>
        </p:nvSpPr>
        <p:spPr>
          <a:xfrm>
            <a:off x="812800" y="3172968"/>
            <a:ext cx="10566349" cy="63754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12800" y="3172968"/>
            <a:ext cx="45720" cy="63754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0544" y="3310128"/>
            <a:ext cx="10109149" cy="363220"/>
          </a:xfrm>
          <a:prstGeom prst="rect">
            <a:avLst/>
          </a:prstGeom>
          <a:noFill/>
        </p:spPr>
        <p:txBody>
          <a:bodyPr wrap="square" lIns="0" rIns="0" tIns="0" bIns="0" anchor="t">
            <a:spAutoFit/>
          </a:bodyPr>
          <a:lstStyle/>
          <a:p>
            <a:pPr algn="l">
              <a:lnSpc>
                <a:spcPct val="125000"/>
              </a:lnSpc>
            </a:pPr>
            <a:r>
              <a:rPr sz="1100" b="1">
                <a:solidFill>
                  <a:srgbClr val="1D2125"/>
                </a:solidFill>
                <a:latin typeface="Yu Gothic UI"/>
              </a:rPr>
              <a:t>自動更新は禁止しています（禁則 K-11）。パッチも例外にしません。実際に 26.5.4 で、処理量が接続先の数の二乗で増える不具合が起きています。接続先が 1,000 社規模になる本基盤では、「パッチだから安全」とは言えません。</a:t>
            </a:r>
          </a:p>
        </p:txBody>
      </p:sp>
      <p:sp>
        <p:nvSpPr>
          <p:cNvPr id="40" name="Rectangle 39"/>
          <p:cNvSpPr/>
          <p:nvPr/>
        </p:nvSpPr>
        <p:spPr>
          <a:xfrm>
            <a:off x="812800" y="3956812"/>
            <a:ext cx="10566349" cy="455930"/>
          </a:xfrm>
          <a:prstGeom prst="rect">
            <a:avLst/>
          </a:prstGeom>
          <a:solidFill>
            <a:srgbClr val="FF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12800" y="3956812"/>
            <a:ext cx="45720" cy="45593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0544" y="4093972"/>
            <a:ext cx="10109149" cy="181610"/>
          </a:xfrm>
          <a:prstGeom prst="rect">
            <a:avLst/>
          </a:prstGeom>
          <a:noFill/>
        </p:spPr>
        <p:txBody>
          <a:bodyPr wrap="square" lIns="0" rIns="0" tIns="0" bIns="0" anchor="t">
            <a:spAutoFit/>
          </a:bodyPr>
          <a:lstStyle/>
          <a:p>
            <a:pPr algn="l">
              <a:lnSpc>
                <a:spcPct val="125000"/>
              </a:lnSpc>
            </a:pPr>
            <a:r>
              <a:rPr sz="1100" b="1">
                <a:solidFill>
                  <a:srgbClr val="1D2125"/>
                </a:solidFill>
                <a:latin typeface="Yu Gothic UI"/>
              </a:rPr>
              <a:t>ご判断いただきたい点 — 計画停止の枠（Q09）／深刻な弱点が出たときの修正期限（Q57）／緊急でない更新をまとめて当てる頻度（Q58）。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運用体制 ①　誰がいて、誰が承認するか</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10 名想定</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役割を分けているのは、1 人で申請から実行まで完結させないためです。</a:t>
            </a:r>
          </a:p>
        </p:txBody>
      </p:sp>
      <p:sp>
        <p:nvSpPr>
          <p:cNvPr id="6" name="Rectangle 5"/>
          <p:cNvSpPr/>
          <p:nvPr/>
        </p:nvSpPr>
        <p:spPr>
          <a:xfrm>
            <a:off x="812800" y="1014984"/>
            <a:ext cx="36576" cy="484124"/>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4841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申請した本人が承認できない形（職務分掌）にするため、3 つのチームに分け、承認は必ず別チームの責任者が行います。1 チームだけでは、この形が作れません。</a:t>
            </a:r>
          </a:p>
        </p:txBody>
      </p:sp>
      <p:sp>
        <p:nvSpPr>
          <p:cNvPr id="8" name="Rectangle 7"/>
          <p:cNvSpPr/>
          <p:nvPr/>
        </p:nvSpPr>
        <p:spPr>
          <a:xfrm>
            <a:off x="812800" y="1718564"/>
            <a:ext cx="3401568" cy="237744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800" y="1718564"/>
            <a:ext cx="3401568" cy="457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3967" y="1919732"/>
            <a:ext cx="2395728" cy="256032"/>
          </a:xfrm>
          <a:prstGeom prst="rect">
            <a:avLst/>
          </a:prstGeom>
          <a:noFill/>
        </p:spPr>
        <p:txBody>
          <a:bodyPr wrap="square" lIns="0" rIns="0" tIns="0" bIns="0" anchor="t">
            <a:spAutoFit/>
          </a:bodyPr>
          <a:lstStyle/>
          <a:p>
            <a:pPr algn="l">
              <a:lnSpc>
                <a:spcPct val="125000"/>
              </a:lnSpc>
            </a:pPr>
            <a:r>
              <a:rPr sz="1400" b="1">
                <a:solidFill>
                  <a:srgbClr val="1F3864"/>
                </a:solidFill>
                <a:latin typeface="Yu Gothic UI"/>
              </a:rPr>
              <a:t>チーム A</a:t>
            </a:r>
          </a:p>
        </p:txBody>
      </p:sp>
      <p:sp>
        <p:nvSpPr>
          <p:cNvPr id="11" name="TextBox 10"/>
          <p:cNvSpPr txBox="1"/>
          <p:nvPr/>
        </p:nvSpPr>
        <p:spPr>
          <a:xfrm>
            <a:off x="1013967" y="2230628"/>
            <a:ext cx="2999232" cy="219456"/>
          </a:xfrm>
          <a:prstGeom prst="rect">
            <a:avLst/>
          </a:prstGeom>
          <a:noFill/>
        </p:spPr>
        <p:txBody>
          <a:bodyPr wrap="square" lIns="0" rIns="0" tIns="0" bIns="0" anchor="t">
            <a:spAutoFit/>
          </a:bodyPr>
          <a:lstStyle/>
          <a:p>
            <a:pPr algn="l">
              <a:lnSpc>
                <a:spcPct val="125000"/>
              </a:lnSpc>
            </a:pPr>
            <a:r>
              <a:rPr sz="1100" b="1">
                <a:solidFill>
                  <a:srgbClr val="1F3864"/>
                </a:solidFill>
                <a:latin typeface="Yu Gothic UI"/>
              </a:rPr>
              <a:t>Infra / AWS</a:t>
            </a:r>
          </a:p>
        </p:txBody>
      </p:sp>
      <p:sp>
        <p:nvSpPr>
          <p:cNvPr id="12" name="TextBox 11"/>
          <p:cNvSpPr txBox="1"/>
          <p:nvPr/>
        </p:nvSpPr>
        <p:spPr>
          <a:xfrm>
            <a:off x="3299968" y="1938020"/>
            <a:ext cx="731520" cy="219456"/>
          </a:xfrm>
          <a:prstGeom prst="rect">
            <a:avLst/>
          </a:prstGeom>
          <a:noFill/>
        </p:spPr>
        <p:txBody>
          <a:bodyPr wrap="square" lIns="0" rIns="0" tIns="0" bIns="0" anchor="t">
            <a:spAutoFit/>
          </a:bodyPr>
          <a:lstStyle/>
          <a:p>
            <a:pPr algn="r">
              <a:lnSpc>
                <a:spcPct val="125000"/>
              </a:lnSpc>
            </a:pPr>
            <a:r>
              <a:rPr sz="1100" b="1">
                <a:solidFill>
                  <a:srgbClr val="5A6472"/>
                </a:solidFill>
                <a:latin typeface="Yu Gothic UI"/>
              </a:rPr>
              <a:t>3〜4 名</a:t>
            </a:r>
          </a:p>
        </p:txBody>
      </p:sp>
      <p:sp>
        <p:nvSpPr>
          <p:cNvPr id="13" name="TextBox 12"/>
          <p:cNvSpPr txBox="1"/>
          <p:nvPr/>
        </p:nvSpPr>
        <p:spPr>
          <a:xfrm>
            <a:off x="1013967" y="2614676"/>
            <a:ext cx="2999232" cy="201168"/>
          </a:xfrm>
          <a:prstGeom prst="rect">
            <a:avLst/>
          </a:prstGeom>
          <a:noFill/>
        </p:spPr>
        <p:txBody>
          <a:bodyPr wrap="square" lIns="0" rIns="0" tIns="0" bIns="0" anchor="t">
            <a:spAutoFit/>
          </a:bodyPr>
          <a:lstStyle/>
          <a:p>
            <a:pPr algn="l">
              <a:lnSpc>
                <a:spcPct val="125000"/>
              </a:lnSpc>
            </a:pPr>
            <a:r>
              <a:rPr sz="1150" b="1">
                <a:solidFill>
                  <a:srgbClr val="1D2125"/>
                </a:solidFill>
                <a:latin typeface="Yu Gothic UI"/>
              </a:rPr>
              <a:t>Infra Lead × 1</a:t>
            </a:r>
          </a:p>
        </p:txBody>
      </p:sp>
      <p:sp>
        <p:nvSpPr>
          <p:cNvPr id="14" name="TextBox 13"/>
          <p:cNvSpPr txBox="1"/>
          <p:nvPr/>
        </p:nvSpPr>
        <p:spPr>
          <a:xfrm>
            <a:off x="1013967" y="2843276"/>
            <a:ext cx="2999232" cy="45720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クラウド権限設計・特権の払い出し・緊急時の経路</a:t>
            </a:r>
          </a:p>
        </p:txBody>
      </p:sp>
      <p:sp>
        <p:nvSpPr>
          <p:cNvPr id="15" name="TextBox 14"/>
          <p:cNvSpPr txBox="1"/>
          <p:nvPr/>
        </p:nvSpPr>
        <p:spPr>
          <a:xfrm>
            <a:off x="1013967" y="3346196"/>
            <a:ext cx="2999232" cy="201168"/>
          </a:xfrm>
          <a:prstGeom prst="rect">
            <a:avLst/>
          </a:prstGeom>
          <a:noFill/>
        </p:spPr>
        <p:txBody>
          <a:bodyPr wrap="square" lIns="0" rIns="0" tIns="0" bIns="0" anchor="t">
            <a:spAutoFit/>
          </a:bodyPr>
          <a:lstStyle/>
          <a:p>
            <a:pPr algn="l">
              <a:lnSpc>
                <a:spcPct val="125000"/>
              </a:lnSpc>
            </a:pPr>
            <a:r>
              <a:rPr sz="1150" b="1">
                <a:solidFill>
                  <a:srgbClr val="1D2125"/>
                </a:solidFill>
                <a:latin typeface="Yu Gothic UI"/>
              </a:rPr>
              <a:t>Infra Ops × 2〜3</a:t>
            </a:r>
          </a:p>
        </p:txBody>
      </p:sp>
      <p:sp>
        <p:nvSpPr>
          <p:cNvPr id="16" name="TextBox 15"/>
          <p:cNvSpPr txBox="1"/>
          <p:nvPr/>
        </p:nvSpPr>
        <p:spPr>
          <a:xfrm>
            <a:off x="1013967" y="3574796"/>
            <a:ext cx="2999232" cy="45720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日々のクラウド運用と変更適用</a:t>
            </a:r>
          </a:p>
        </p:txBody>
      </p:sp>
      <p:sp>
        <p:nvSpPr>
          <p:cNvPr id="17" name="Rectangle 16"/>
          <p:cNvSpPr/>
          <p:nvPr/>
        </p:nvSpPr>
        <p:spPr>
          <a:xfrm>
            <a:off x="4397248" y="1718564"/>
            <a:ext cx="3401568" cy="2377440"/>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97248" y="1718564"/>
            <a:ext cx="3401568" cy="45720"/>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8416" y="1919732"/>
            <a:ext cx="2395728" cy="256032"/>
          </a:xfrm>
          <a:prstGeom prst="rect">
            <a:avLst/>
          </a:prstGeom>
          <a:noFill/>
        </p:spPr>
        <p:txBody>
          <a:bodyPr wrap="square" lIns="0" rIns="0" tIns="0" bIns="0" anchor="t">
            <a:spAutoFit/>
          </a:bodyPr>
          <a:lstStyle/>
          <a:p>
            <a:pPr algn="l">
              <a:lnSpc>
                <a:spcPct val="125000"/>
              </a:lnSpc>
            </a:pPr>
            <a:r>
              <a:rPr sz="1400" b="1">
                <a:solidFill>
                  <a:srgbClr val="1F3864"/>
                </a:solidFill>
                <a:latin typeface="Yu Gothic UI"/>
              </a:rPr>
              <a:t>チーム B</a:t>
            </a:r>
          </a:p>
        </p:txBody>
      </p:sp>
      <p:sp>
        <p:nvSpPr>
          <p:cNvPr id="20" name="TextBox 19"/>
          <p:cNvSpPr txBox="1"/>
          <p:nvPr/>
        </p:nvSpPr>
        <p:spPr>
          <a:xfrm>
            <a:off x="4598416" y="2230628"/>
            <a:ext cx="2999232" cy="219456"/>
          </a:xfrm>
          <a:prstGeom prst="rect">
            <a:avLst/>
          </a:prstGeom>
          <a:noFill/>
        </p:spPr>
        <p:txBody>
          <a:bodyPr wrap="square" lIns="0" rIns="0" tIns="0" bIns="0" anchor="t">
            <a:spAutoFit/>
          </a:bodyPr>
          <a:lstStyle/>
          <a:p>
            <a:pPr algn="l">
              <a:lnSpc>
                <a:spcPct val="125000"/>
              </a:lnSpc>
            </a:pPr>
            <a:r>
              <a:rPr sz="1100" b="1">
                <a:solidFill>
                  <a:srgbClr val="1E7B4D"/>
                </a:solidFill>
                <a:latin typeface="Yu Gothic UI"/>
              </a:rPr>
              <a:t>Auth / Keycloak</a:t>
            </a:r>
          </a:p>
        </p:txBody>
      </p:sp>
      <p:sp>
        <p:nvSpPr>
          <p:cNvPr id="21" name="TextBox 20"/>
          <p:cNvSpPr txBox="1"/>
          <p:nvPr/>
        </p:nvSpPr>
        <p:spPr>
          <a:xfrm>
            <a:off x="6884416" y="1938020"/>
            <a:ext cx="731520" cy="219456"/>
          </a:xfrm>
          <a:prstGeom prst="rect">
            <a:avLst/>
          </a:prstGeom>
          <a:noFill/>
        </p:spPr>
        <p:txBody>
          <a:bodyPr wrap="square" lIns="0" rIns="0" tIns="0" bIns="0" anchor="t">
            <a:spAutoFit/>
          </a:bodyPr>
          <a:lstStyle/>
          <a:p>
            <a:pPr algn="r">
              <a:lnSpc>
                <a:spcPct val="125000"/>
              </a:lnSpc>
            </a:pPr>
            <a:r>
              <a:rPr sz="1100" b="1">
                <a:solidFill>
                  <a:srgbClr val="5A6472"/>
                </a:solidFill>
                <a:latin typeface="Yu Gothic UI"/>
              </a:rPr>
              <a:t>3〜4 名</a:t>
            </a:r>
          </a:p>
        </p:txBody>
      </p:sp>
      <p:sp>
        <p:nvSpPr>
          <p:cNvPr id="22" name="TextBox 21"/>
          <p:cNvSpPr txBox="1"/>
          <p:nvPr/>
        </p:nvSpPr>
        <p:spPr>
          <a:xfrm>
            <a:off x="4598416" y="2614676"/>
            <a:ext cx="2999232" cy="201168"/>
          </a:xfrm>
          <a:prstGeom prst="rect">
            <a:avLst/>
          </a:prstGeom>
          <a:noFill/>
        </p:spPr>
        <p:txBody>
          <a:bodyPr wrap="square" lIns="0" rIns="0" tIns="0" bIns="0" anchor="t">
            <a:spAutoFit/>
          </a:bodyPr>
          <a:lstStyle/>
          <a:p>
            <a:pPr algn="l">
              <a:lnSpc>
                <a:spcPct val="125000"/>
              </a:lnSpc>
            </a:pPr>
            <a:r>
              <a:rPr sz="1150" b="1">
                <a:solidFill>
                  <a:srgbClr val="1D2125"/>
                </a:solidFill>
                <a:latin typeface="Yu Gothic UI"/>
              </a:rPr>
              <a:t>Auth Lead × 1</a:t>
            </a:r>
          </a:p>
        </p:txBody>
      </p:sp>
      <p:sp>
        <p:nvSpPr>
          <p:cNvPr id="23" name="TextBox 22"/>
          <p:cNvSpPr txBox="1"/>
          <p:nvPr/>
        </p:nvSpPr>
        <p:spPr>
          <a:xfrm>
            <a:off x="4598416" y="2843276"/>
            <a:ext cx="2999232" cy="45720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認証製品の設定・自作部品・権限モデル</a:t>
            </a:r>
          </a:p>
        </p:txBody>
      </p:sp>
      <p:sp>
        <p:nvSpPr>
          <p:cNvPr id="24" name="TextBox 23"/>
          <p:cNvSpPr txBox="1"/>
          <p:nvPr/>
        </p:nvSpPr>
        <p:spPr>
          <a:xfrm>
            <a:off x="4598416" y="3346196"/>
            <a:ext cx="2999232" cy="201168"/>
          </a:xfrm>
          <a:prstGeom prst="rect">
            <a:avLst/>
          </a:prstGeom>
          <a:noFill/>
        </p:spPr>
        <p:txBody>
          <a:bodyPr wrap="square" lIns="0" rIns="0" tIns="0" bIns="0" anchor="t">
            <a:spAutoFit/>
          </a:bodyPr>
          <a:lstStyle/>
          <a:p>
            <a:pPr algn="l">
              <a:lnSpc>
                <a:spcPct val="125000"/>
              </a:lnSpc>
            </a:pPr>
            <a:r>
              <a:rPr sz="1150" b="1">
                <a:solidFill>
                  <a:srgbClr val="1D2125"/>
                </a:solidFill>
                <a:latin typeface="Yu Gothic UI"/>
              </a:rPr>
              <a:t>Auth Ops × 2〜3</a:t>
            </a:r>
          </a:p>
        </p:txBody>
      </p:sp>
      <p:sp>
        <p:nvSpPr>
          <p:cNvPr id="25" name="TextBox 24"/>
          <p:cNvSpPr txBox="1"/>
          <p:nvPr/>
        </p:nvSpPr>
        <p:spPr>
          <a:xfrm>
            <a:off x="4598416" y="3574796"/>
            <a:ext cx="2999232" cy="45720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顧客の接続追加、認証まわりの障害対応</a:t>
            </a:r>
          </a:p>
        </p:txBody>
      </p:sp>
      <p:sp>
        <p:nvSpPr>
          <p:cNvPr id="26" name="Rectangle 25"/>
          <p:cNvSpPr/>
          <p:nvPr/>
        </p:nvSpPr>
        <p:spPr>
          <a:xfrm>
            <a:off x="7981696" y="1718564"/>
            <a:ext cx="3401568" cy="2377440"/>
          </a:xfrm>
          <a:prstGeom prst="rect">
            <a:avLst/>
          </a:prstGeom>
          <a:solidFill>
            <a:srgbClr val="FF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981696" y="1718564"/>
            <a:ext cx="3401568" cy="457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82864" y="1919732"/>
            <a:ext cx="2395728" cy="256032"/>
          </a:xfrm>
          <a:prstGeom prst="rect">
            <a:avLst/>
          </a:prstGeom>
          <a:noFill/>
        </p:spPr>
        <p:txBody>
          <a:bodyPr wrap="square" lIns="0" rIns="0" tIns="0" bIns="0" anchor="t">
            <a:spAutoFit/>
          </a:bodyPr>
          <a:lstStyle/>
          <a:p>
            <a:pPr algn="l">
              <a:lnSpc>
                <a:spcPct val="125000"/>
              </a:lnSpc>
            </a:pPr>
            <a:r>
              <a:rPr sz="1400" b="1">
                <a:solidFill>
                  <a:srgbClr val="1F3864"/>
                </a:solidFill>
                <a:latin typeface="Yu Gothic UI"/>
              </a:rPr>
              <a:t>チーム C</a:t>
            </a:r>
          </a:p>
        </p:txBody>
      </p:sp>
      <p:sp>
        <p:nvSpPr>
          <p:cNvPr id="29" name="TextBox 28"/>
          <p:cNvSpPr txBox="1"/>
          <p:nvPr/>
        </p:nvSpPr>
        <p:spPr>
          <a:xfrm>
            <a:off x="8182864" y="2230628"/>
            <a:ext cx="2999232" cy="219456"/>
          </a:xfrm>
          <a:prstGeom prst="rect">
            <a:avLst/>
          </a:prstGeom>
          <a:noFill/>
        </p:spPr>
        <p:txBody>
          <a:bodyPr wrap="square" lIns="0" rIns="0" tIns="0" bIns="0" anchor="t">
            <a:spAutoFit/>
          </a:bodyPr>
          <a:lstStyle/>
          <a:p>
            <a:pPr algn="l">
              <a:lnSpc>
                <a:spcPct val="125000"/>
              </a:lnSpc>
            </a:pPr>
            <a:r>
              <a:rPr sz="1100" b="1">
                <a:solidFill>
                  <a:srgbClr val="B45309"/>
                </a:solidFill>
                <a:latin typeface="Yu Gothic UI"/>
              </a:rPr>
              <a:t>Security / Audit</a:t>
            </a:r>
          </a:p>
        </p:txBody>
      </p:sp>
      <p:sp>
        <p:nvSpPr>
          <p:cNvPr id="30" name="TextBox 29"/>
          <p:cNvSpPr txBox="1"/>
          <p:nvPr/>
        </p:nvSpPr>
        <p:spPr>
          <a:xfrm>
            <a:off x="10468864" y="1938020"/>
            <a:ext cx="731520" cy="219456"/>
          </a:xfrm>
          <a:prstGeom prst="rect">
            <a:avLst/>
          </a:prstGeom>
          <a:noFill/>
        </p:spPr>
        <p:txBody>
          <a:bodyPr wrap="square" lIns="0" rIns="0" tIns="0" bIns="0" anchor="t">
            <a:spAutoFit/>
          </a:bodyPr>
          <a:lstStyle/>
          <a:p>
            <a:pPr algn="r">
              <a:lnSpc>
                <a:spcPct val="125000"/>
              </a:lnSpc>
            </a:pPr>
            <a:r>
              <a:rPr sz="1100" b="1">
                <a:solidFill>
                  <a:srgbClr val="5A6472"/>
                </a:solidFill>
                <a:latin typeface="Yu Gothic UI"/>
              </a:rPr>
              <a:t>2〜3 名</a:t>
            </a:r>
          </a:p>
        </p:txBody>
      </p:sp>
      <p:sp>
        <p:nvSpPr>
          <p:cNvPr id="31" name="TextBox 30"/>
          <p:cNvSpPr txBox="1"/>
          <p:nvPr/>
        </p:nvSpPr>
        <p:spPr>
          <a:xfrm>
            <a:off x="8182864" y="2614676"/>
            <a:ext cx="2999232" cy="201168"/>
          </a:xfrm>
          <a:prstGeom prst="rect">
            <a:avLst/>
          </a:prstGeom>
          <a:noFill/>
        </p:spPr>
        <p:txBody>
          <a:bodyPr wrap="square" lIns="0" rIns="0" tIns="0" bIns="0" anchor="t">
            <a:spAutoFit/>
          </a:bodyPr>
          <a:lstStyle/>
          <a:p>
            <a:pPr algn="l">
              <a:lnSpc>
                <a:spcPct val="125000"/>
              </a:lnSpc>
            </a:pPr>
            <a:r>
              <a:rPr sz="1150" b="1">
                <a:solidFill>
                  <a:srgbClr val="1D2125"/>
                </a:solidFill>
                <a:latin typeface="Yu Gothic UI"/>
              </a:rPr>
              <a:t>Security Lead × 1</a:t>
            </a:r>
          </a:p>
        </p:txBody>
      </p:sp>
      <p:sp>
        <p:nvSpPr>
          <p:cNvPr id="32" name="TextBox 31"/>
          <p:cNvSpPr txBox="1"/>
          <p:nvPr/>
        </p:nvSpPr>
        <p:spPr>
          <a:xfrm>
            <a:off x="8182864" y="2843276"/>
            <a:ext cx="2999232" cy="45720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監査対応・権限棚卸し・インシデント指揮</a:t>
            </a:r>
          </a:p>
        </p:txBody>
      </p:sp>
      <p:sp>
        <p:nvSpPr>
          <p:cNvPr id="33" name="TextBox 32"/>
          <p:cNvSpPr txBox="1"/>
          <p:nvPr/>
        </p:nvSpPr>
        <p:spPr>
          <a:xfrm>
            <a:off x="8182864" y="3346196"/>
            <a:ext cx="2999232" cy="201168"/>
          </a:xfrm>
          <a:prstGeom prst="rect">
            <a:avLst/>
          </a:prstGeom>
          <a:noFill/>
        </p:spPr>
        <p:txBody>
          <a:bodyPr wrap="square" lIns="0" rIns="0" tIns="0" bIns="0" anchor="t">
            <a:spAutoFit/>
          </a:bodyPr>
          <a:lstStyle/>
          <a:p>
            <a:pPr algn="l">
              <a:lnSpc>
                <a:spcPct val="125000"/>
              </a:lnSpc>
            </a:pPr>
            <a:r>
              <a:rPr sz="1150" b="1">
                <a:solidFill>
                  <a:srgbClr val="1D2125"/>
                </a:solidFill>
                <a:latin typeface="Yu Gothic UI"/>
              </a:rPr>
              <a:t>Auditor × 1〜2</a:t>
            </a:r>
          </a:p>
        </p:txBody>
      </p:sp>
      <p:sp>
        <p:nvSpPr>
          <p:cNvPr id="34" name="TextBox 33"/>
          <p:cNvSpPr txBox="1"/>
          <p:nvPr/>
        </p:nvSpPr>
        <p:spPr>
          <a:xfrm>
            <a:off x="8182864" y="3574796"/>
            <a:ext cx="2999232" cy="457200"/>
          </a:xfrm>
          <a:prstGeom prst="rect">
            <a:avLst/>
          </a:prstGeom>
          <a:noFill/>
        </p:spPr>
        <p:txBody>
          <a:bodyPr wrap="square" lIns="0" rIns="0" tIns="0" bIns="0" anchor="t">
            <a:spAutoFit/>
          </a:bodyPr>
          <a:lstStyle/>
          <a:p>
            <a:pPr algn="l">
              <a:lnSpc>
                <a:spcPct val="125000"/>
              </a:lnSpc>
            </a:pPr>
            <a:r>
              <a:rPr sz="1000" b="0">
                <a:solidFill>
                  <a:srgbClr val="5A6472"/>
                </a:solidFill>
                <a:latin typeface="Yu Gothic UI"/>
              </a:rPr>
              <a:t>記録の点検、顧客監査への回答</a:t>
            </a:r>
          </a:p>
        </p:txBody>
      </p:sp>
      <p:sp>
        <p:nvSpPr>
          <p:cNvPr id="35" name="Rectangle 34"/>
          <p:cNvSpPr/>
          <p:nvPr/>
        </p:nvSpPr>
        <p:spPr>
          <a:xfrm>
            <a:off x="812800" y="4297172"/>
            <a:ext cx="5191734" cy="129844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800" y="4297172"/>
            <a:ext cx="5191734" cy="4572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3967" y="4516628"/>
            <a:ext cx="4789398" cy="256032"/>
          </a:xfrm>
          <a:prstGeom prst="rect">
            <a:avLst/>
          </a:prstGeom>
          <a:noFill/>
        </p:spPr>
        <p:txBody>
          <a:bodyPr wrap="square" lIns="0" rIns="0" tIns="0" bIns="0" anchor="t">
            <a:spAutoFit/>
          </a:bodyPr>
          <a:lstStyle/>
          <a:p>
            <a:pPr algn="l">
              <a:lnSpc>
                <a:spcPct val="125000"/>
              </a:lnSpc>
            </a:pPr>
            <a:r>
              <a:rPr sz="1300" b="1">
                <a:solidFill>
                  <a:srgbClr val="1F3864"/>
                </a:solidFill>
                <a:latin typeface="Yu Gothic UI"/>
              </a:rPr>
              <a:t>Break-Glass Custodian × 2 名</a:t>
            </a:r>
          </a:p>
        </p:txBody>
      </p:sp>
      <p:sp>
        <p:nvSpPr>
          <p:cNvPr id="38" name="TextBox 37"/>
          <p:cNvSpPr txBox="1"/>
          <p:nvPr/>
        </p:nvSpPr>
        <p:spPr>
          <a:xfrm>
            <a:off x="1013967" y="4882388"/>
            <a:ext cx="4789398" cy="640080"/>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通常の経路が使えないときの最終手段となる資格情報を、物理的な金庫で分割保管します。</a:t>
            </a:r>
          </a:p>
          <a:p>
            <a:pPr algn="l">
              <a:lnSpc>
                <a:spcPct val="125000"/>
              </a:lnSpc>
            </a:pPr>
            <a:r>
              <a:rPr sz="1050" b="0">
                <a:solidFill>
                  <a:srgbClr val="1D2125"/>
                </a:solidFill>
                <a:latin typeface="Yu Gothic UI"/>
              </a:rPr>
              <a:t>使用そのものを障害として扱い、役員承認と事後報告を必須にしています。</a:t>
            </a:r>
          </a:p>
        </p:txBody>
      </p:sp>
      <p:sp>
        <p:nvSpPr>
          <p:cNvPr id="39" name="Rectangle 38"/>
          <p:cNvSpPr/>
          <p:nvPr/>
        </p:nvSpPr>
        <p:spPr>
          <a:xfrm>
            <a:off x="6187414" y="4297172"/>
            <a:ext cx="5191734" cy="1298448"/>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187414" y="4297172"/>
            <a:ext cx="5191734" cy="457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88582" y="4516628"/>
            <a:ext cx="4789398" cy="256032"/>
          </a:xfrm>
          <a:prstGeom prst="rect">
            <a:avLst/>
          </a:prstGeom>
          <a:noFill/>
        </p:spPr>
        <p:txBody>
          <a:bodyPr wrap="square" lIns="0" rIns="0" tIns="0" bIns="0" anchor="t">
            <a:spAutoFit/>
          </a:bodyPr>
          <a:lstStyle/>
          <a:p>
            <a:pPr algn="l">
              <a:lnSpc>
                <a:spcPct val="125000"/>
              </a:lnSpc>
            </a:pPr>
            <a:r>
              <a:rPr sz="1300" b="1">
                <a:solidFill>
                  <a:srgbClr val="1F3864"/>
                </a:solidFill>
                <a:latin typeface="Yu Gothic UI"/>
              </a:rPr>
              <a:t>承認のルール（職務分掌）</a:t>
            </a:r>
          </a:p>
        </p:txBody>
      </p:sp>
      <p:sp>
        <p:nvSpPr>
          <p:cNvPr id="42" name="TextBox 41"/>
          <p:cNvSpPr txBox="1"/>
          <p:nvPr/>
        </p:nvSpPr>
        <p:spPr>
          <a:xfrm>
            <a:off x="6388582" y="4882388"/>
            <a:ext cx="4789398" cy="640080"/>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申請者と承認者は必ず別人。承認は別チームの責任者が行う（チーム間クロス承認）。</a:t>
            </a:r>
          </a:p>
          <a:p>
            <a:pPr algn="l">
              <a:lnSpc>
                <a:spcPct val="125000"/>
              </a:lnSpc>
            </a:pPr>
            <a:r>
              <a:rPr sz="1050" b="0">
                <a:solidFill>
                  <a:srgbClr val="1D2125"/>
                </a:solidFill>
                <a:latin typeface="Yu Gothic UI"/>
              </a:rPr>
              <a:t>承認の目標時間は 4 時間以内。半年ごとに全員の権限を棚卸しします。</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運用体制 ②　何をするか、いつ 24 時間になるか</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Q48 / Q94</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リリース時点から 24 時間 365 日にするか、平日日中から始めて後で移すか。</a:t>
            </a:r>
          </a:p>
        </p:txBody>
      </p:sp>
      <p:sp>
        <p:nvSpPr>
          <p:cNvPr id="6" name="Rectangle 5"/>
          <p:cNvSpPr/>
          <p:nvPr/>
        </p:nvSpPr>
        <p:spPr>
          <a:xfrm>
            <a:off x="812800" y="1014984"/>
            <a:ext cx="36576" cy="484124"/>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484124"/>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責任者 3 名は採用に時間がかかるため、リリースの 1 年前には着手する必要があります。この判断の遅れは、そのままリリース時の体制の穴になります。</a:t>
            </a:r>
          </a:p>
        </p:txBody>
      </p:sp>
      <p:sp>
        <p:nvSpPr>
          <p:cNvPr id="8" name="Rectangle 7"/>
          <p:cNvSpPr/>
          <p:nvPr/>
        </p:nvSpPr>
        <p:spPr>
          <a:xfrm>
            <a:off x="812800" y="1718564"/>
            <a:ext cx="5191734" cy="1572768"/>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800" y="1718564"/>
            <a:ext cx="5191734" cy="45720"/>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3967" y="1919732"/>
            <a:ext cx="4789398" cy="256032"/>
          </a:xfrm>
          <a:prstGeom prst="rect">
            <a:avLst/>
          </a:prstGeom>
          <a:noFill/>
        </p:spPr>
        <p:txBody>
          <a:bodyPr wrap="square" lIns="0" rIns="0" tIns="0" bIns="0" anchor="t">
            <a:spAutoFit/>
          </a:bodyPr>
          <a:lstStyle/>
          <a:p>
            <a:pPr algn="l">
              <a:lnSpc>
                <a:spcPct val="125000"/>
              </a:lnSpc>
            </a:pPr>
            <a:r>
              <a:rPr sz="1400" b="1">
                <a:solidFill>
                  <a:srgbClr val="1F3864"/>
                </a:solidFill>
                <a:latin typeface="Yu Gothic UI"/>
              </a:rPr>
              <a:t>Phase 1 α（リリース時）</a:t>
            </a:r>
          </a:p>
        </p:txBody>
      </p:sp>
      <p:sp>
        <p:nvSpPr>
          <p:cNvPr id="11" name="TextBox 10"/>
          <p:cNvSpPr txBox="1"/>
          <p:nvPr/>
        </p:nvSpPr>
        <p:spPr>
          <a:xfrm>
            <a:off x="1013967" y="2267204"/>
            <a:ext cx="4789398" cy="219456"/>
          </a:xfrm>
          <a:prstGeom prst="rect">
            <a:avLst/>
          </a:prstGeom>
          <a:noFill/>
        </p:spPr>
        <p:txBody>
          <a:bodyPr wrap="square" lIns="0" rIns="0" tIns="0" bIns="0" anchor="t">
            <a:spAutoFit/>
          </a:bodyPr>
          <a:lstStyle/>
          <a:p>
            <a:pPr algn="l">
              <a:lnSpc>
                <a:spcPct val="125000"/>
              </a:lnSpc>
            </a:pPr>
            <a:r>
              <a:rPr sz="1200" b="1">
                <a:solidFill>
                  <a:srgbClr val="1E7B4D"/>
                </a:solidFill>
                <a:latin typeface="Yu Gothic UI"/>
              </a:rPr>
              <a:t>平日 9〜18 時（祝日を除く）</a:t>
            </a:r>
          </a:p>
        </p:txBody>
      </p:sp>
      <p:sp>
        <p:nvSpPr>
          <p:cNvPr id="12" name="TextBox 11"/>
          <p:cNvSpPr txBox="1"/>
          <p:nvPr/>
        </p:nvSpPr>
        <p:spPr>
          <a:xfrm>
            <a:off x="1013967" y="2578100"/>
            <a:ext cx="4789398" cy="640080"/>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受注できる顧客層 — 一般的な法人向けサービス、中堅・中小企業。</a:t>
            </a:r>
          </a:p>
          <a:p>
            <a:pPr algn="l">
              <a:lnSpc>
                <a:spcPct val="125000"/>
              </a:lnSpc>
            </a:pPr>
            <a:r>
              <a:rPr sz="1050" b="0">
                <a:solidFill>
                  <a:srgbClr val="1D2125"/>
                </a:solidFill>
                <a:latin typeface="Yu Gothic UI"/>
              </a:rPr>
              <a:t>特権管理の機能自体はこの時点で全部そろえます。</a:t>
            </a:r>
          </a:p>
        </p:txBody>
      </p:sp>
      <p:sp>
        <p:nvSpPr>
          <p:cNvPr id="13" name="Rectangle 12"/>
          <p:cNvSpPr/>
          <p:nvPr/>
        </p:nvSpPr>
        <p:spPr>
          <a:xfrm>
            <a:off x="6187414" y="1718564"/>
            <a:ext cx="5191734" cy="1572768"/>
          </a:xfrm>
          <a:prstGeom prst="rect">
            <a:avLst/>
          </a:prstGeom>
          <a:solidFill>
            <a:srgbClr val="FF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87414" y="1718564"/>
            <a:ext cx="5191734" cy="457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8582" y="1919732"/>
            <a:ext cx="4789398" cy="256032"/>
          </a:xfrm>
          <a:prstGeom prst="rect">
            <a:avLst/>
          </a:prstGeom>
          <a:noFill/>
        </p:spPr>
        <p:txBody>
          <a:bodyPr wrap="square" lIns="0" rIns="0" tIns="0" bIns="0" anchor="t">
            <a:spAutoFit/>
          </a:bodyPr>
          <a:lstStyle/>
          <a:p>
            <a:pPr algn="l">
              <a:lnSpc>
                <a:spcPct val="125000"/>
              </a:lnSpc>
            </a:pPr>
            <a:r>
              <a:rPr sz="1400" b="1">
                <a:solidFill>
                  <a:srgbClr val="1F3864"/>
                </a:solidFill>
                <a:latin typeface="Yu Gothic UI"/>
              </a:rPr>
              <a:t>Phase 1 β（リリース 6 か月後以降）</a:t>
            </a:r>
          </a:p>
        </p:txBody>
      </p:sp>
      <p:sp>
        <p:nvSpPr>
          <p:cNvPr id="16" name="TextBox 15"/>
          <p:cNvSpPr txBox="1"/>
          <p:nvPr/>
        </p:nvSpPr>
        <p:spPr>
          <a:xfrm>
            <a:off x="6388582" y="2267204"/>
            <a:ext cx="4789398" cy="219456"/>
          </a:xfrm>
          <a:prstGeom prst="rect">
            <a:avLst/>
          </a:prstGeom>
          <a:noFill/>
        </p:spPr>
        <p:txBody>
          <a:bodyPr wrap="square" lIns="0" rIns="0" tIns="0" bIns="0" anchor="t">
            <a:spAutoFit/>
          </a:bodyPr>
          <a:lstStyle/>
          <a:p>
            <a:pPr algn="l">
              <a:lnSpc>
                <a:spcPct val="125000"/>
              </a:lnSpc>
            </a:pPr>
            <a:r>
              <a:rPr sz="1200" b="1">
                <a:solidFill>
                  <a:srgbClr val="B45309"/>
                </a:solidFill>
                <a:latin typeface="Yu Gothic UI"/>
              </a:rPr>
              <a:t>24 時間 365 日</a:t>
            </a:r>
          </a:p>
        </p:txBody>
      </p:sp>
      <p:sp>
        <p:nvSpPr>
          <p:cNvPr id="17" name="TextBox 16"/>
          <p:cNvSpPr txBox="1"/>
          <p:nvPr/>
        </p:nvSpPr>
        <p:spPr>
          <a:xfrm>
            <a:off x="6388582" y="2578100"/>
            <a:ext cx="4789398" cy="640080"/>
          </a:xfrm>
          <a:prstGeom prst="rect">
            <a:avLst/>
          </a:prstGeom>
          <a:noFill/>
        </p:spPr>
        <p:txBody>
          <a:bodyPr wrap="square" lIns="0" rIns="0" tIns="0" bIns="0" anchor="t">
            <a:spAutoFit/>
          </a:bodyPr>
          <a:lstStyle/>
          <a:p>
            <a:pPr algn="l">
              <a:lnSpc>
                <a:spcPct val="125000"/>
              </a:lnSpc>
            </a:pPr>
            <a:r>
              <a:rPr sz="1050" b="0">
                <a:solidFill>
                  <a:srgbClr val="1D2125"/>
                </a:solidFill>
                <a:latin typeface="Yu Gothic UI"/>
              </a:rPr>
              <a:t>受注できる顧客層 — カード決済業界の規格が要る先、金融、医療、官公庁。</a:t>
            </a:r>
          </a:p>
          <a:p>
            <a:pPr algn="l">
              <a:lnSpc>
                <a:spcPct val="125000"/>
              </a:lnSpc>
            </a:pPr>
            <a:r>
              <a:rPr sz="1050" b="0">
                <a:solidFill>
                  <a:srgbClr val="1D2125"/>
                </a:solidFill>
                <a:latin typeface="Yu Gothic UI"/>
              </a:rPr>
              <a:t>移行には 10 名体制の完成と 3 か月の安定稼働など 6 条件を置いています。</a:t>
            </a:r>
          </a:p>
        </p:txBody>
      </p:sp>
      <p:sp>
        <p:nvSpPr>
          <p:cNvPr id="18" name="Rectangle 17"/>
          <p:cNvSpPr/>
          <p:nvPr/>
        </p:nvSpPr>
        <p:spPr>
          <a:xfrm>
            <a:off x="812800" y="3492500"/>
            <a:ext cx="10566349" cy="3291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570224"/>
            <a:ext cx="2395728"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日々の業務</a:t>
            </a:r>
          </a:p>
        </p:txBody>
      </p:sp>
      <p:sp>
        <p:nvSpPr>
          <p:cNvPr id="20" name="TextBox 19"/>
          <p:cNvSpPr txBox="1"/>
          <p:nvPr/>
        </p:nvSpPr>
        <p:spPr>
          <a:xfrm>
            <a:off x="3419856" y="3570224"/>
            <a:ext cx="489204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内容</a:t>
            </a:r>
          </a:p>
        </p:txBody>
      </p:sp>
      <p:sp>
        <p:nvSpPr>
          <p:cNvPr id="21" name="TextBox 20"/>
          <p:cNvSpPr txBox="1"/>
          <p:nvPr/>
        </p:nvSpPr>
        <p:spPr>
          <a:xfrm>
            <a:off x="8421624" y="3570224"/>
            <a:ext cx="146304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担当</a:t>
            </a:r>
          </a:p>
        </p:txBody>
      </p:sp>
      <p:sp>
        <p:nvSpPr>
          <p:cNvPr id="22" name="TextBox 21"/>
          <p:cNvSpPr txBox="1"/>
          <p:nvPr/>
        </p:nvSpPr>
        <p:spPr>
          <a:xfrm>
            <a:off x="9994392" y="3570224"/>
            <a:ext cx="132588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頻度</a:t>
            </a:r>
          </a:p>
        </p:txBody>
      </p:sp>
      <p:sp>
        <p:nvSpPr>
          <p:cNvPr id="23" name="Rectangle 22"/>
          <p:cNvSpPr/>
          <p:nvPr/>
        </p:nvSpPr>
        <p:spPr>
          <a:xfrm>
            <a:off x="812800" y="4220972"/>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894836"/>
            <a:ext cx="2395728" cy="298704"/>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監視当番</a:t>
            </a:r>
          </a:p>
        </p:txBody>
      </p:sp>
      <p:sp>
        <p:nvSpPr>
          <p:cNvPr id="25" name="TextBox 24"/>
          <p:cNvSpPr txBox="1"/>
          <p:nvPr/>
        </p:nvSpPr>
        <p:spPr>
          <a:xfrm>
            <a:off x="3419856" y="3894836"/>
            <a:ext cx="4892040" cy="298704"/>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アラートの一次受け、切り分け、手順書に沿った復旧</a:t>
            </a:r>
          </a:p>
        </p:txBody>
      </p:sp>
      <p:sp>
        <p:nvSpPr>
          <p:cNvPr id="26" name="TextBox 25"/>
          <p:cNvSpPr txBox="1"/>
          <p:nvPr/>
        </p:nvSpPr>
        <p:spPr>
          <a:xfrm>
            <a:off x="8421624" y="3894836"/>
            <a:ext cx="1463040" cy="298704"/>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3 チーム輪番</a:t>
            </a:r>
          </a:p>
        </p:txBody>
      </p:sp>
      <p:sp>
        <p:nvSpPr>
          <p:cNvPr id="27" name="TextBox 26"/>
          <p:cNvSpPr txBox="1"/>
          <p:nvPr/>
        </p:nvSpPr>
        <p:spPr>
          <a:xfrm>
            <a:off x="9994392" y="3894836"/>
            <a:ext cx="1325880" cy="298704"/>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常時</a:t>
            </a:r>
          </a:p>
        </p:txBody>
      </p:sp>
      <p:sp>
        <p:nvSpPr>
          <p:cNvPr id="28" name="Rectangle 27"/>
          <p:cNvSpPr/>
          <p:nvPr/>
        </p:nvSpPr>
        <p:spPr>
          <a:xfrm>
            <a:off x="812800" y="4220972"/>
            <a:ext cx="10566349" cy="399288"/>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2800" y="4620260"/>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294124"/>
            <a:ext cx="2395728" cy="298704"/>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顧客の追加</a:t>
            </a:r>
          </a:p>
        </p:txBody>
      </p:sp>
      <p:sp>
        <p:nvSpPr>
          <p:cNvPr id="31" name="TextBox 30"/>
          <p:cNvSpPr txBox="1"/>
          <p:nvPr/>
        </p:nvSpPr>
        <p:spPr>
          <a:xfrm>
            <a:off x="3419856" y="4294124"/>
            <a:ext cx="4892040" cy="298704"/>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接続先の登録、疎通確認、監視への登録（開通は 1 営業日以内を想定）</a:t>
            </a:r>
          </a:p>
        </p:txBody>
      </p:sp>
      <p:sp>
        <p:nvSpPr>
          <p:cNvPr id="32" name="TextBox 31"/>
          <p:cNvSpPr txBox="1"/>
          <p:nvPr/>
        </p:nvSpPr>
        <p:spPr>
          <a:xfrm>
            <a:off x="8421624" y="4294124"/>
            <a:ext cx="1463040" cy="298704"/>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チーム B</a:t>
            </a:r>
          </a:p>
        </p:txBody>
      </p:sp>
      <p:sp>
        <p:nvSpPr>
          <p:cNvPr id="33" name="TextBox 32"/>
          <p:cNvSpPr txBox="1"/>
          <p:nvPr/>
        </p:nvSpPr>
        <p:spPr>
          <a:xfrm>
            <a:off x="9994392" y="4294124"/>
            <a:ext cx="1325880" cy="298704"/>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月 N 社</a:t>
            </a:r>
          </a:p>
        </p:txBody>
      </p:sp>
      <p:sp>
        <p:nvSpPr>
          <p:cNvPr id="34" name="Rectangle 33"/>
          <p:cNvSpPr/>
          <p:nvPr/>
        </p:nvSpPr>
        <p:spPr>
          <a:xfrm>
            <a:off x="812800" y="5019548"/>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4693412"/>
            <a:ext cx="2395728" cy="298704"/>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変更と更新の適用</a:t>
            </a:r>
          </a:p>
        </p:txBody>
      </p:sp>
      <p:sp>
        <p:nvSpPr>
          <p:cNvPr id="36" name="TextBox 35"/>
          <p:cNvSpPr txBox="1"/>
          <p:nvPr/>
        </p:nvSpPr>
        <p:spPr>
          <a:xfrm>
            <a:off x="3419856" y="4693412"/>
            <a:ext cx="4892040" cy="298704"/>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設定変更のレビューと適用、製品更新の検証と展開</a:t>
            </a:r>
          </a:p>
        </p:txBody>
      </p:sp>
      <p:sp>
        <p:nvSpPr>
          <p:cNvPr id="37" name="TextBox 36"/>
          <p:cNvSpPr txBox="1"/>
          <p:nvPr/>
        </p:nvSpPr>
        <p:spPr>
          <a:xfrm>
            <a:off x="8421624" y="4693412"/>
            <a:ext cx="1463040" cy="298704"/>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チーム A・B</a:t>
            </a:r>
          </a:p>
        </p:txBody>
      </p:sp>
      <p:sp>
        <p:nvSpPr>
          <p:cNvPr id="38" name="TextBox 37"/>
          <p:cNvSpPr txBox="1"/>
          <p:nvPr/>
        </p:nvSpPr>
        <p:spPr>
          <a:xfrm>
            <a:off x="9994392" y="4693412"/>
            <a:ext cx="1325880" cy="298704"/>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随時 ＋ 月 1</a:t>
            </a:r>
          </a:p>
        </p:txBody>
      </p:sp>
      <p:sp>
        <p:nvSpPr>
          <p:cNvPr id="39" name="Rectangle 38"/>
          <p:cNvSpPr/>
          <p:nvPr/>
        </p:nvSpPr>
        <p:spPr>
          <a:xfrm>
            <a:off x="812800" y="5019548"/>
            <a:ext cx="10566349" cy="399288"/>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12800" y="5418836"/>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5092700"/>
            <a:ext cx="2395728" cy="298704"/>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点検・訓練・監査対応</a:t>
            </a:r>
          </a:p>
        </p:txBody>
      </p:sp>
      <p:sp>
        <p:nvSpPr>
          <p:cNvPr id="42" name="TextBox 41"/>
          <p:cNvSpPr txBox="1"/>
          <p:nvPr/>
        </p:nvSpPr>
        <p:spPr>
          <a:xfrm>
            <a:off x="3419856" y="5092700"/>
            <a:ext cx="4892040" cy="298704"/>
          </a:xfrm>
          <a:prstGeom prst="rect">
            <a:avLst/>
          </a:prstGeom>
          <a:noFill/>
        </p:spPr>
        <p:txBody>
          <a:bodyPr wrap="square" lIns="0" rIns="0" tIns="0" bIns="0" anchor="t">
            <a:spAutoFit/>
          </a:bodyPr>
          <a:lstStyle/>
          <a:p>
            <a:pPr algn="l">
              <a:lnSpc>
                <a:spcPct val="125000"/>
              </a:lnSpc>
            </a:pPr>
            <a:r>
              <a:rPr sz="1100" b="0">
                <a:solidFill>
                  <a:srgbClr val="5A6472"/>
                </a:solidFill>
                <a:latin typeface="Yu Gothic UI"/>
              </a:rPr>
              <a:t>権限の棚卸し、切替訓練、顧客監査への回答</a:t>
            </a:r>
          </a:p>
        </p:txBody>
      </p:sp>
      <p:sp>
        <p:nvSpPr>
          <p:cNvPr id="43" name="TextBox 42"/>
          <p:cNvSpPr txBox="1"/>
          <p:nvPr/>
        </p:nvSpPr>
        <p:spPr>
          <a:xfrm>
            <a:off x="8421624" y="5092700"/>
            <a:ext cx="1463040" cy="298704"/>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チーム C</a:t>
            </a:r>
          </a:p>
        </p:txBody>
      </p:sp>
      <p:sp>
        <p:nvSpPr>
          <p:cNvPr id="44" name="TextBox 43"/>
          <p:cNvSpPr txBox="1"/>
          <p:nvPr/>
        </p:nvSpPr>
        <p:spPr>
          <a:xfrm>
            <a:off x="9994392" y="5092700"/>
            <a:ext cx="1325880" cy="298704"/>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四半期／半年</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ご判断がないと止まるもの</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依存関係</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待っている間、当方だけでは前に進められない部分です。</a:t>
            </a:r>
          </a:p>
        </p:txBody>
      </p:sp>
      <p:sp>
        <p:nvSpPr>
          <p:cNvPr id="6" name="Rectangle 5"/>
          <p:cNvSpPr/>
          <p:nvPr/>
        </p:nvSpPr>
        <p:spPr>
          <a:xfrm>
            <a:off x="812800" y="1014984"/>
            <a:ext cx="36576" cy="274320"/>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274320"/>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設計そのものは暫定値で凍結して進めています。ただし以下は、ご判断が確定するまで「確からしい数字」を出せない部分です。</a:t>
            </a:r>
          </a:p>
        </p:txBody>
      </p:sp>
      <p:sp>
        <p:nvSpPr>
          <p:cNvPr id="8" name="Rectangle 7"/>
          <p:cNvSpPr/>
          <p:nvPr/>
        </p:nvSpPr>
        <p:spPr>
          <a:xfrm>
            <a:off x="812800" y="1508760"/>
            <a:ext cx="10566349" cy="3291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86484"/>
            <a:ext cx="146304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設問</a:t>
            </a:r>
          </a:p>
        </p:txBody>
      </p:sp>
      <p:sp>
        <p:nvSpPr>
          <p:cNvPr id="10" name="TextBox 9"/>
          <p:cNvSpPr txBox="1"/>
          <p:nvPr/>
        </p:nvSpPr>
        <p:spPr>
          <a:xfrm>
            <a:off x="2523744" y="1586484"/>
            <a:ext cx="301752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ご判断いただくこと</a:t>
            </a:r>
          </a:p>
        </p:txBody>
      </p:sp>
      <p:sp>
        <p:nvSpPr>
          <p:cNvPr id="11" name="TextBox 10"/>
          <p:cNvSpPr txBox="1"/>
          <p:nvPr/>
        </p:nvSpPr>
        <p:spPr>
          <a:xfrm>
            <a:off x="5650992" y="1586484"/>
            <a:ext cx="566928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確定するまで出せないもの</a:t>
            </a:r>
          </a:p>
        </p:txBody>
      </p:sp>
      <p:sp>
        <p:nvSpPr>
          <p:cNvPr id="12" name="Rectangle 11"/>
          <p:cNvSpPr/>
          <p:nvPr/>
        </p:nvSpPr>
        <p:spPr>
          <a:xfrm>
            <a:off x="812800" y="2541524"/>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1947672"/>
            <a:ext cx="1463040" cy="566420"/>
          </a:xfrm>
          <a:prstGeom prst="rect">
            <a:avLst/>
          </a:prstGeom>
          <a:noFill/>
        </p:spPr>
        <p:txBody>
          <a:bodyPr wrap="square" lIns="0" rIns="0" tIns="0" bIns="0" anchor="t">
            <a:spAutoFit/>
          </a:bodyPr>
          <a:lstStyle/>
          <a:p>
            <a:pPr algn="l">
              <a:lnSpc>
                <a:spcPct val="125000"/>
              </a:lnSpc>
            </a:pPr>
            <a:r>
              <a:rPr sz="1300" b="1">
                <a:solidFill>
                  <a:srgbClr val="1F3864"/>
                </a:solidFill>
                <a:latin typeface="Yu Gothic UI"/>
              </a:rPr>
              <a:t>Q01 / Q02</a:t>
            </a:r>
          </a:p>
        </p:txBody>
      </p:sp>
      <p:sp>
        <p:nvSpPr>
          <p:cNvPr id="14" name="TextBox 13"/>
          <p:cNvSpPr txBox="1"/>
          <p:nvPr/>
        </p:nvSpPr>
        <p:spPr>
          <a:xfrm>
            <a:off x="2523744" y="1947672"/>
            <a:ext cx="3017520" cy="566420"/>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利用者数の上限と増え方</a:t>
            </a:r>
          </a:p>
        </p:txBody>
      </p:sp>
      <p:sp>
        <p:nvSpPr>
          <p:cNvPr id="15" name="TextBox 14"/>
          <p:cNvSpPr txBox="1"/>
          <p:nvPr/>
        </p:nvSpPr>
        <p:spPr>
          <a:xfrm>
            <a:off x="5650992" y="1947672"/>
            <a:ext cx="5669280" cy="566420"/>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設備の規模、初期構築費、3 年間の総費用。現在は上限 1,000 万人という暫定値で試算しており、実数が出れば初期投資を圧縮できる可能性があります。</a:t>
            </a:r>
          </a:p>
        </p:txBody>
      </p:sp>
      <p:sp>
        <p:nvSpPr>
          <p:cNvPr id="16" name="Rectangle 15"/>
          <p:cNvSpPr/>
          <p:nvPr/>
        </p:nvSpPr>
        <p:spPr>
          <a:xfrm>
            <a:off x="812800" y="2541524"/>
            <a:ext cx="10566349" cy="63754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2800" y="3179064"/>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2651252"/>
            <a:ext cx="1463040" cy="500379"/>
          </a:xfrm>
          <a:prstGeom prst="rect">
            <a:avLst/>
          </a:prstGeom>
          <a:noFill/>
        </p:spPr>
        <p:txBody>
          <a:bodyPr wrap="square" lIns="0" rIns="0" tIns="0" bIns="0" anchor="t">
            <a:spAutoFit/>
          </a:bodyPr>
          <a:lstStyle/>
          <a:p>
            <a:pPr algn="l">
              <a:lnSpc>
                <a:spcPct val="125000"/>
              </a:lnSpc>
            </a:pPr>
            <a:r>
              <a:rPr sz="1300" b="1">
                <a:solidFill>
                  <a:srgbClr val="1F3864"/>
                </a:solidFill>
                <a:latin typeface="Yu Gothic UI"/>
              </a:rPr>
              <a:t>Q04</a:t>
            </a:r>
          </a:p>
        </p:txBody>
      </p:sp>
      <p:sp>
        <p:nvSpPr>
          <p:cNvPr id="19" name="TextBox 18"/>
          <p:cNvSpPr txBox="1"/>
          <p:nvPr/>
        </p:nvSpPr>
        <p:spPr>
          <a:xfrm>
            <a:off x="2523744" y="2651252"/>
            <a:ext cx="3017520" cy="500379"/>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復旧の速さと、失ってよいデータ量</a:t>
            </a:r>
          </a:p>
        </p:txBody>
      </p:sp>
      <p:sp>
        <p:nvSpPr>
          <p:cNvPr id="20" name="TextBox 19"/>
          <p:cNvSpPr txBox="1"/>
          <p:nvPr/>
        </p:nvSpPr>
        <p:spPr>
          <a:xfrm>
            <a:off x="5650992" y="2651252"/>
            <a:ext cx="5669280" cy="500379"/>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大阪側に平常時どれだけ設備を置くか。これが決まらないと月額のインフラ費と、災害対策の構築工数が確定しません。案 ② と ③ で月額 36 万円の差があります。</a:t>
            </a:r>
          </a:p>
        </p:txBody>
      </p:sp>
      <p:sp>
        <p:nvSpPr>
          <p:cNvPr id="21" name="Rectangle 20"/>
          <p:cNvSpPr/>
          <p:nvPr/>
        </p:nvSpPr>
        <p:spPr>
          <a:xfrm>
            <a:off x="812800" y="3816603"/>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288792"/>
            <a:ext cx="1463040" cy="500379"/>
          </a:xfrm>
          <a:prstGeom prst="rect">
            <a:avLst/>
          </a:prstGeom>
          <a:noFill/>
        </p:spPr>
        <p:txBody>
          <a:bodyPr wrap="square" lIns="0" rIns="0" tIns="0" bIns="0" anchor="t">
            <a:spAutoFit/>
          </a:bodyPr>
          <a:lstStyle/>
          <a:p>
            <a:pPr algn="l">
              <a:lnSpc>
                <a:spcPct val="125000"/>
              </a:lnSpc>
            </a:pPr>
            <a:r>
              <a:rPr sz="1300" b="1">
                <a:solidFill>
                  <a:srgbClr val="1F3864"/>
                </a:solidFill>
                <a:latin typeface="Yu Gothic UI"/>
              </a:rPr>
              <a:t>Q46</a:t>
            </a:r>
          </a:p>
        </p:txBody>
      </p:sp>
      <p:sp>
        <p:nvSpPr>
          <p:cNvPr id="23" name="TextBox 22"/>
          <p:cNvSpPr txBox="1"/>
          <p:nvPr/>
        </p:nvSpPr>
        <p:spPr>
          <a:xfrm>
            <a:off x="2523744" y="3288792"/>
            <a:ext cx="3017520" cy="500379"/>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日本国外に住む利用者の有無</a:t>
            </a:r>
          </a:p>
        </p:txBody>
      </p:sp>
      <p:sp>
        <p:nvSpPr>
          <p:cNvPr id="24" name="TextBox 23"/>
          <p:cNvSpPr txBox="1"/>
          <p:nvPr/>
        </p:nvSpPr>
        <p:spPr>
          <a:xfrm>
            <a:off x="5650992" y="3288792"/>
            <a:ext cx="5669280" cy="500379"/>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データの置き場所の制約。あわせて、基盤の管理部分の一部が提供元側にあることを「国内限定」の対象に含めるかどうかの整理。</a:t>
            </a:r>
          </a:p>
        </p:txBody>
      </p:sp>
      <p:sp>
        <p:nvSpPr>
          <p:cNvPr id="25" name="Rectangle 24"/>
          <p:cNvSpPr/>
          <p:nvPr/>
        </p:nvSpPr>
        <p:spPr>
          <a:xfrm>
            <a:off x="812800" y="3816603"/>
            <a:ext cx="10566349" cy="63754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2800" y="4454143"/>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3926332"/>
            <a:ext cx="1463040" cy="500379"/>
          </a:xfrm>
          <a:prstGeom prst="rect">
            <a:avLst/>
          </a:prstGeom>
          <a:noFill/>
        </p:spPr>
        <p:txBody>
          <a:bodyPr wrap="square" lIns="0" rIns="0" tIns="0" bIns="0" anchor="t">
            <a:spAutoFit/>
          </a:bodyPr>
          <a:lstStyle/>
          <a:p>
            <a:pPr algn="l">
              <a:lnSpc>
                <a:spcPct val="125000"/>
              </a:lnSpc>
            </a:pPr>
            <a:r>
              <a:rPr sz="1300" b="1">
                <a:solidFill>
                  <a:srgbClr val="1F3864"/>
                </a:solidFill>
                <a:latin typeface="Yu Gothic UI"/>
              </a:rPr>
              <a:t>Q47</a:t>
            </a:r>
          </a:p>
        </p:txBody>
      </p:sp>
      <p:sp>
        <p:nvSpPr>
          <p:cNvPr id="28" name="TextBox 27"/>
          <p:cNvSpPr txBox="1"/>
          <p:nvPr/>
        </p:nvSpPr>
        <p:spPr>
          <a:xfrm>
            <a:off x="2523744" y="3926332"/>
            <a:ext cx="3017520" cy="500379"/>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記録を 7 年残す根拠</a:t>
            </a:r>
          </a:p>
        </p:txBody>
      </p:sp>
      <p:sp>
        <p:nvSpPr>
          <p:cNvPr id="29" name="TextBox 28"/>
          <p:cNvSpPr txBox="1"/>
          <p:nvPr/>
        </p:nvSpPr>
        <p:spPr>
          <a:xfrm>
            <a:off x="5650992" y="3926332"/>
            <a:ext cx="5669280" cy="500379"/>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ログの保管費用と、契約書に書く保存年数の文言。根拠が空白のままだと、7 年という年数の妥当性を説明できません。</a:t>
            </a:r>
          </a:p>
        </p:txBody>
      </p:sp>
      <p:sp>
        <p:nvSpPr>
          <p:cNvPr id="30" name="Rectangle 29"/>
          <p:cNvSpPr/>
          <p:nvPr/>
        </p:nvSpPr>
        <p:spPr>
          <a:xfrm>
            <a:off x="812800" y="5091683"/>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563872"/>
            <a:ext cx="1463040" cy="500379"/>
          </a:xfrm>
          <a:prstGeom prst="rect">
            <a:avLst/>
          </a:prstGeom>
          <a:noFill/>
        </p:spPr>
        <p:txBody>
          <a:bodyPr wrap="square" lIns="0" rIns="0" tIns="0" bIns="0" anchor="t">
            <a:spAutoFit/>
          </a:bodyPr>
          <a:lstStyle/>
          <a:p>
            <a:pPr algn="l">
              <a:lnSpc>
                <a:spcPct val="125000"/>
              </a:lnSpc>
            </a:pPr>
            <a:r>
              <a:rPr sz="1300" b="1">
                <a:solidFill>
                  <a:srgbClr val="1F3864"/>
                </a:solidFill>
                <a:latin typeface="Yu Gothic UI"/>
              </a:rPr>
              <a:t>Q48</a:t>
            </a:r>
          </a:p>
        </p:txBody>
      </p:sp>
      <p:sp>
        <p:nvSpPr>
          <p:cNvPr id="32" name="TextBox 31"/>
          <p:cNvSpPr txBox="1"/>
          <p:nvPr/>
        </p:nvSpPr>
        <p:spPr>
          <a:xfrm>
            <a:off x="2523744" y="4563872"/>
            <a:ext cx="3017520" cy="500379"/>
          </a:xfrm>
          <a:prstGeom prst="rect">
            <a:avLst/>
          </a:prstGeom>
          <a:noFill/>
        </p:spPr>
        <p:txBody>
          <a:bodyPr wrap="square" lIns="0" rIns="0" tIns="0" bIns="0" anchor="t">
            <a:spAutoFit/>
          </a:bodyPr>
          <a:lstStyle/>
          <a:p>
            <a:pPr algn="l">
              <a:lnSpc>
                <a:spcPct val="125000"/>
              </a:lnSpc>
            </a:pPr>
            <a:r>
              <a:rPr sz="1200" b="1">
                <a:solidFill>
                  <a:srgbClr val="1D2125"/>
                </a:solidFill>
                <a:latin typeface="Yu Gothic UI"/>
              </a:rPr>
              <a:t>24 時間 365 日体制に移る時期</a:t>
            </a:r>
          </a:p>
        </p:txBody>
      </p:sp>
      <p:sp>
        <p:nvSpPr>
          <p:cNvPr id="33" name="TextBox 32"/>
          <p:cNvSpPr txBox="1"/>
          <p:nvPr/>
        </p:nvSpPr>
        <p:spPr>
          <a:xfrm>
            <a:off x="5650992" y="4563872"/>
            <a:ext cx="5669280" cy="500379"/>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運用要員 10 名の採用計画。リード 3 名は採用に時間がかかるため、着手の判断が遅れるとリリース時の体制が組めません。契約できる顧客層にも影響します。</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9418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01752"/>
            <a:ext cx="8778240" cy="402336"/>
          </a:xfrm>
          <a:prstGeom prst="rect">
            <a:avLst/>
          </a:prstGeom>
          <a:noFill/>
        </p:spPr>
        <p:txBody>
          <a:bodyPr wrap="square" lIns="0" rIns="0" tIns="0" bIns="0" anchor="t">
            <a:spAutoFit/>
          </a:bodyPr>
          <a:lstStyle/>
          <a:p>
            <a:pPr algn="l">
              <a:lnSpc>
                <a:spcPct val="125000"/>
              </a:lnSpc>
            </a:pPr>
            <a:r>
              <a:rPr sz="2400" b="1">
                <a:solidFill>
                  <a:srgbClr val="1F3864"/>
                </a:solidFill>
                <a:latin typeface="Yu Gothic UI"/>
              </a:rPr>
              <a:t>本日以降の進め方</a:t>
            </a:r>
          </a:p>
        </p:txBody>
      </p:sp>
      <p:sp>
        <p:nvSpPr>
          <p:cNvPr id="4" name="TextBox 3"/>
          <p:cNvSpPr txBox="1"/>
          <p:nvPr/>
        </p:nvSpPr>
        <p:spPr>
          <a:xfrm>
            <a:off x="9601200" y="402336"/>
            <a:ext cx="1773936" cy="283464"/>
          </a:xfrm>
          <a:prstGeom prst="rect">
            <a:avLst/>
          </a:prstGeom>
          <a:noFill/>
        </p:spPr>
        <p:txBody>
          <a:bodyPr wrap="square" lIns="0" rIns="0" tIns="0" bIns="0" anchor="t">
            <a:spAutoFit/>
          </a:bodyPr>
          <a:lstStyle/>
          <a:p>
            <a:pPr algn="r">
              <a:lnSpc>
                <a:spcPct val="125000"/>
              </a:lnSpc>
            </a:pPr>
            <a:r>
              <a:rPr sz="1400" b="1">
                <a:solidFill>
                  <a:srgbClr val="5A6472"/>
                </a:solidFill>
                <a:latin typeface="Yu Gothic UI"/>
              </a:rPr>
              <a:t>次のアクション</a:t>
            </a:r>
          </a:p>
        </p:txBody>
      </p:sp>
      <p:sp>
        <p:nvSpPr>
          <p:cNvPr id="5" name="TextBox 4"/>
          <p:cNvSpPr txBox="1"/>
          <p:nvPr/>
        </p:nvSpPr>
        <p:spPr>
          <a:xfrm>
            <a:off x="812800" y="722376"/>
            <a:ext cx="10566349" cy="256032"/>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ご判断の重さに応じて、3 つに分けてお願いします。</a:t>
            </a:r>
          </a:p>
        </p:txBody>
      </p:sp>
      <p:sp>
        <p:nvSpPr>
          <p:cNvPr id="6" name="Rectangle 5"/>
          <p:cNvSpPr/>
          <p:nvPr/>
        </p:nvSpPr>
        <p:spPr>
          <a:xfrm>
            <a:off x="812800" y="1014984"/>
            <a:ext cx="36576" cy="274320"/>
          </a:xfrm>
          <a:prstGeom prst="rect">
            <a:avLst/>
          </a:prstGeom>
          <a:solidFill>
            <a:srgbClr val="1E7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108" y="996696"/>
            <a:ext cx="10383469" cy="274320"/>
          </a:xfrm>
          <a:prstGeom prst="rect">
            <a:avLst/>
          </a:prstGeom>
          <a:noFill/>
        </p:spPr>
        <p:txBody>
          <a:bodyPr wrap="square" lIns="0" rIns="0" tIns="0" bIns="0" anchor="t">
            <a:spAutoFit/>
          </a:bodyPr>
          <a:lstStyle/>
          <a:p>
            <a:pPr algn="l">
              <a:lnSpc>
                <a:spcPct val="125000"/>
              </a:lnSpc>
            </a:pPr>
            <a:r>
              <a:rPr sz="1300" b="1">
                <a:solidFill>
                  <a:srgbClr val="1D2125"/>
                </a:solidFill>
                <a:latin typeface="Yu Gothic UI"/>
              </a:rPr>
              <a:t>この場ですべてを決めていただく必要はありません。当方の推奨値で進めてよいというご承認だけでも、設計は止まらずに進みます。</a:t>
            </a:r>
          </a:p>
        </p:txBody>
      </p:sp>
      <p:sp>
        <p:nvSpPr>
          <p:cNvPr id="8" name="Rectangle 7"/>
          <p:cNvSpPr/>
          <p:nvPr/>
        </p:nvSpPr>
        <p:spPr>
          <a:xfrm>
            <a:off x="812800" y="1508760"/>
            <a:ext cx="10566349" cy="3291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86484"/>
            <a:ext cx="210312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
            </a:r>
          </a:p>
        </p:txBody>
      </p:sp>
      <p:sp>
        <p:nvSpPr>
          <p:cNvPr id="10" name="TextBox 9"/>
          <p:cNvSpPr txBox="1"/>
          <p:nvPr/>
        </p:nvSpPr>
        <p:spPr>
          <a:xfrm>
            <a:off x="3163824" y="1586484"/>
            <a:ext cx="1005840"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件数</a:t>
            </a:r>
          </a:p>
        </p:txBody>
      </p:sp>
      <p:sp>
        <p:nvSpPr>
          <p:cNvPr id="11" name="TextBox 10"/>
          <p:cNvSpPr txBox="1"/>
          <p:nvPr/>
        </p:nvSpPr>
        <p:spPr>
          <a:xfrm>
            <a:off x="4315968" y="1586484"/>
            <a:ext cx="7004304" cy="201168"/>
          </a:xfrm>
          <a:prstGeom prst="rect">
            <a:avLst/>
          </a:prstGeom>
          <a:noFill/>
        </p:spPr>
        <p:txBody>
          <a:bodyPr wrap="square" lIns="0" rIns="0" tIns="0" bIns="0" anchor="t">
            <a:spAutoFit/>
          </a:bodyPr>
          <a:lstStyle/>
          <a:p>
            <a:pPr algn="l">
              <a:lnSpc>
                <a:spcPct val="125000"/>
              </a:lnSpc>
            </a:pPr>
            <a:r>
              <a:rPr sz="1100" b="1">
                <a:solidFill>
                  <a:srgbClr val="FFFFFF"/>
                </a:solidFill>
                <a:latin typeface="Yu Gothic UI"/>
              </a:rPr>
              <a:t>お願いしたいこと</a:t>
            </a:r>
          </a:p>
        </p:txBody>
      </p:sp>
      <p:sp>
        <p:nvSpPr>
          <p:cNvPr id="12" name="Rectangle 11"/>
          <p:cNvSpPr/>
          <p:nvPr/>
        </p:nvSpPr>
        <p:spPr>
          <a:xfrm>
            <a:off x="812800" y="2541524"/>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1947672"/>
            <a:ext cx="2103120" cy="566420"/>
          </a:xfrm>
          <a:prstGeom prst="rect">
            <a:avLst/>
          </a:prstGeom>
          <a:noFill/>
        </p:spPr>
        <p:txBody>
          <a:bodyPr wrap="square" lIns="0" rIns="0" tIns="0" bIns="0" anchor="t">
            <a:spAutoFit/>
          </a:bodyPr>
          <a:lstStyle/>
          <a:p>
            <a:pPr algn="l">
              <a:lnSpc>
                <a:spcPct val="125000"/>
              </a:lnSpc>
            </a:pPr>
            <a:r>
              <a:rPr sz="1300" b="1">
                <a:solidFill>
                  <a:srgbClr val="1F3864"/>
                </a:solidFill>
                <a:latin typeface="Yu Gothic UI"/>
              </a:rPr>
              <a:t>① 本日ご判断いただきたい</a:t>
            </a:r>
          </a:p>
        </p:txBody>
      </p:sp>
      <p:sp>
        <p:nvSpPr>
          <p:cNvPr id="14" name="TextBox 13"/>
          <p:cNvSpPr txBox="1"/>
          <p:nvPr/>
        </p:nvSpPr>
        <p:spPr>
          <a:xfrm>
            <a:off x="3163824" y="1947672"/>
            <a:ext cx="1005840" cy="566420"/>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14 件</a:t>
            </a:r>
          </a:p>
        </p:txBody>
      </p:sp>
      <p:sp>
        <p:nvSpPr>
          <p:cNvPr id="15" name="TextBox 14"/>
          <p:cNvSpPr txBox="1"/>
          <p:nvPr/>
        </p:nvSpPr>
        <p:spPr>
          <a:xfrm>
            <a:off x="4315968" y="1947672"/>
            <a:ext cx="7004304" cy="566420"/>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構成と費用が直接動く項目です。とくに Q04（災害復旧の 3 案）と Q48（24 時間体制の時期）は、決定が遅れるほど手戻りと採用計画への影響が大きくなります。</a:t>
            </a:r>
          </a:p>
        </p:txBody>
      </p:sp>
      <p:sp>
        <p:nvSpPr>
          <p:cNvPr id="16" name="Rectangle 15"/>
          <p:cNvSpPr/>
          <p:nvPr/>
        </p:nvSpPr>
        <p:spPr>
          <a:xfrm>
            <a:off x="812800" y="2541524"/>
            <a:ext cx="10566349" cy="91821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2800" y="3459734"/>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2651252"/>
            <a:ext cx="2103120" cy="781050"/>
          </a:xfrm>
          <a:prstGeom prst="rect">
            <a:avLst/>
          </a:prstGeom>
          <a:noFill/>
        </p:spPr>
        <p:txBody>
          <a:bodyPr wrap="square" lIns="0" rIns="0" tIns="0" bIns="0" anchor="t">
            <a:spAutoFit/>
          </a:bodyPr>
          <a:lstStyle/>
          <a:p>
            <a:pPr algn="l">
              <a:lnSpc>
                <a:spcPct val="125000"/>
              </a:lnSpc>
            </a:pPr>
            <a:r>
              <a:rPr sz="1300" b="1">
                <a:solidFill>
                  <a:srgbClr val="1F3864"/>
                </a:solidFill>
                <a:latin typeface="Yu Gothic UI"/>
              </a:rPr>
              <a:t>② この場でご説明し</a:t>
            </a:r>
          </a:p>
          <a:p>
            <a:pPr algn="l">
              <a:lnSpc>
                <a:spcPct val="125000"/>
              </a:lnSpc>
            </a:pPr>
            <a:r>
              <a:rPr sz="1300" b="1">
                <a:solidFill>
                  <a:srgbClr val="1F3864"/>
                </a:solidFill>
                <a:latin typeface="Yu Gothic UI"/>
              </a:rPr>
              <a:t>　 合意させていただきたい</a:t>
            </a:r>
          </a:p>
        </p:txBody>
      </p:sp>
      <p:sp>
        <p:nvSpPr>
          <p:cNvPr id="19" name="TextBox 18"/>
          <p:cNvSpPr txBox="1"/>
          <p:nvPr/>
        </p:nvSpPr>
        <p:spPr>
          <a:xfrm>
            <a:off x="3163824" y="2651252"/>
            <a:ext cx="1005840" cy="781050"/>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17 件</a:t>
            </a:r>
          </a:p>
        </p:txBody>
      </p:sp>
      <p:sp>
        <p:nvSpPr>
          <p:cNvPr id="20" name="TextBox 19"/>
          <p:cNvSpPr txBox="1"/>
          <p:nvPr/>
        </p:nvSpPr>
        <p:spPr>
          <a:xfrm>
            <a:off x="4315968" y="2651252"/>
            <a:ext cx="7004304" cy="781050"/>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通行証の有効期間、パスワードの保管方式、監視・通知、ログの保存期間など。設問票には載せず、トレードオフをご説明したうえで当方の推奨値へのご承認をいただく形を想定しています。</a:t>
            </a:r>
          </a:p>
        </p:txBody>
      </p:sp>
      <p:sp>
        <p:nvSpPr>
          <p:cNvPr id="21" name="Rectangle 20"/>
          <p:cNvSpPr/>
          <p:nvPr/>
        </p:nvSpPr>
        <p:spPr>
          <a:xfrm>
            <a:off x="812800" y="4163314"/>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569462"/>
            <a:ext cx="2103120" cy="566420"/>
          </a:xfrm>
          <a:prstGeom prst="rect">
            <a:avLst/>
          </a:prstGeom>
          <a:noFill/>
        </p:spPr>
        <p:txBody>
          <a:bodyPr wrap="square" lIns="0" rIns="0" tIns="0" bIns="0" anchor="t">
            <a:spAutoFit/>
          </a:bodyPr>
          <a:lstStyle/>
          <a:p>
            <a:pPr algn="l">
              <a:lnSpc>
                <a:spcPct val="125000"/>
              </a:lnSpc>
            </a:pPr>
            <a:r>
              <a:rPr sz="1300" b="1">
                <a:solidFill>
                  <a:srgbClr val="1F3864"/>
                </a:solidFill>
                <a:latin typeface="Yu Gothic UI"/>
              </a:rPr>
              <a:t>③ 設問票にご回答いただきたい</a:t>
            </a:r>
          </a:p>
        </p:txBody>
      </p:sp>
      <p:sp>
        <p:nvSpPr>
          <p:cNvPr id="23" name="TextBox 22"/>
          <p:cNvSpPr txBox="1"/>
          <p:nvPr/>
        </p:nvSpPr>
        <p:spPr>
          <a:xfrm>
            <a:off x="3163824" y="3569462"/>
            <a:ext cx="1005840" cy="566420"/>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28 件</a:t>
            </a:r>
          </a:p>
        </p:txBody>
      </p:sp>
      <p:sp>
        <p:nvSpPr>
          <p:cNvPr id="24" name="TextBox 23"/>
          <p:cNvSpPr txBox="1"/>
          <p:nvPr/>
        </p:nvSpPr>
        <p:spPr>
          <a:xfrm>
            <a:off x="4315968" y="3569462"/>
            <a:ext cx="7004304" cy="566420"/>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持ち帰ってご確認が必要なもの、貴社の顧客企業やアプリチームへの確認が必要なものです。設問票の形でお渡しします。回答期限をご相談させてください。</a:t>
            </a:r>
          </a:p>
        </p:txBody>
      </p:sp>
      <p:sp>
        <p:nvSpPr>
          <p:cNvPr id="25" name="Rectangle 24"/>
          <p:cNvSpPr/>
          <p:nvPr/>
        </p:nvSpPr>
        <p:spPr>
          <a:xfrm>
            <a:off x="812800" y="4163314"/>
            <a:ext cx="10566349" cy="63754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2800" y="4800854"/>
            <a:ext cx="10566349" cy="9144"/>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273042"/>
            <a:ext cx="2103120" cy="500379"/>
          </a:xfrm>
          <a:prstGeom prst="rect">
            <a:avLst/>
          </a:prstGeom>
          <a:noFill/>
        </p:spPr>
        <p:txBody>
          <a:bodyPr wrap="square" lIns="0" rIns="0" tIns="0" bIns="0" anchor="t">
            <a:spAutoFit/>
          </a:bodyPr>
          <a:lstStyle/>
          <a:p>
            <a:pPr algn="l">
              <a:lnSpc>
                <a:spcPct val="125000"/>
              </a:lnSpc>
            </a:pPr>
            <a:r>
              <a:rPr sz="1300" b="1">
                <a:solidFill>
                  <a:srgbClr val="1F3864"/>
                </a:solidFill>
                <a:latin typeface="Yu Gothic UI"/>
              </a:rPr>
              <a:t>あわせてお願いしたいこと</a:t>
            </a:r>
          </a:p>
        </p:txBody>
      </p:sp>
      <p:sp>
        <p:nvSpPr>
          <p:cNvPr id="28" name="TextBox 27"/>
          <p:cNvSpPr txBox="1"/>
          <p:nvPr/>
        </p:nvSpPr>
        <p:spPr>
          <a:xfrm>
            <a:off x="3163824" y="4273042"/>
            <a:ext cx="1005840" cy="500379"/>
          </a:xfrm>
          <a:prstGeom prst="rect">
            <a:avLst/>
          </a:prstGeom>
          <a:noFill/>
        </p:spPr>
        <p:txBody>
          <a:bodyPr wrap="square" lIns="0" rIns="0" tIns="0" bIns="0" anchor="t">
            <a:spAutoFit/>
          </a:bodyPr>
          <a:lstStyle/>
          <a:p>
            <a:pPr algn="l">
              <a:lnSpc>
                <a:spcPct val="125000"/>
              </a:lnSpc>
            </a:pPr>
            <a:r>
              <a:rPr sz="1200" b="0">
                <a:solidFill>
                  <a:srgbClr val="5A6472"/>
                </a:solidFill>
                <a:latin typeface="Yu Gothic UI"/>
              </a:rPr>
              <a:t>—</a:t>
            </a:r>
          </a:p>
        </p:txBody>
      </p:sp>
      <p:sp>
        <p:nvSpPr>
          <p:cNvPr id="29" name="TextBox 28"/>
          <p:cNvSpPr txBox="1"/>
          <p:nvPr/>
        </p:nvSpPr>
        <p:spPr>
          <a:xfrm>
            <a:off x="4315968" y="4273042"/>
            <a:ext cx="7004304" cy="500379"/>
          </a:xfrm>
          <a:prstGeom prst="rect">
            <a:avLst/>
          </a:prstGeom>
          <a:noFill/>
        </p:spPr>
        <p:txBody>
          <a:bodyPr wrap="square" lIns="0" rIns="0" tIns="0" bIns="0" anchor="t">
            <a:spAutoFit/>
          </a:bodyPr>
          <a:lstStyle/>
          <a:p>
            <a:pPr algn="l">
              <a:lnSpc>
                <a:spcPct val="125000"/>
              </a:lnSpc>
            </a:pPr>
            <a:r>
              <a:rPr sz="1100" b="0">
                <a:solidFill>
                  <a:srgbClr val="1D2125"/>
                </a:solidFill>
                <a:latin typeface="Yu Gothic UI"/>
              </a:rPr>
              <a:t>Q52 / Q53 / Q65 / Q66 は「現時点では不要」という前提で設計しています。この前提が変わっていないかの再確認と、将来の見込みの有無を、貴社の営業計画の観点からご教示ください。</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AE347A31-9245-7043-97CD-30CDB0015324}">
  <we:reference id="wa200010001" version="1.0.0.1" store="en-US" storeType="OMEX"/>
  <we:alternateReferences>
    <we:reference id="wa200010001" version="1.0.0.1" store="" storeType="OMEX"/>
  </we:alternateReferences>
  <we:properties>
    <we:property name="claude.fileId" value="&quot;3a5e6f03-0453-4769-bc82-3f8b8cf791ae&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AD01E24-87D9-FD49-A71D-7DD4941CCA1D}">
  <we:reference id="wa200010725" version="1.0.0.1" store="en-US" storeType="OMEX"/>
  <we:alternateReferences>
    <we:reference id="WA200010725" version="1.0.0.1" store="" storeType="OMEX"/>
  </we:alternateReferences>
  <we:properties>
    <we:property name="claude.fileId" value="&quot;fa3fab3d-d675-47fe-9eed-913b027c89b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1227</TotalTime>
  <Words>12750</Words>
  <Application>Microsoft Macintosh PowerPoint</Application>
  <PresentationFormat>ワイド画面</PresentationFormat>
  <Paragraphs>1530</Paragraphs>
  <Slides>46</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46</vt:i4>
      </vt:variant>
    </vt:vector>
  </HeadingPairs>
  <TitlesOfParts>
    <vt:vector size="51" baseType="lpstr">
      <vt:lpstr>Yu Gothic UI</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昌平 末永</dc:creator>
  <cp:lastModifiedBy>昌平 末永</cp:lastModifiedBy>
  <cp:revision>5</cp:revision>
  <dcterms:created xsi:type="dcterms:W3CDTF">2026-08-12T02:18:23Z</dcterms:created>
  <dcterms:modified xsi:type="dcterms:W3CDTF">2026-08-12T22:46:06Z</dcterms:modified>
</cp:coreProperties>
</file>