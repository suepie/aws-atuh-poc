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94719"/>
  </p:normalViewPr>
  <p:slideViewPr>
    <p:cSldViewPr snapToGrid="0">
      <p:cViewPr varScale="1">
        <p:scale>
          <a:sx n="111" d="100"/>
          <a:sy n="111" d="100"/>
        </p:scale>
        <p:origin x="232" y="10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4AC23-4BA8-D04E-6E15-11E0AF29461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BECC9FF-F971-F870-71EF-C2EA67DEB5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FF35DFD-C8E4-5CD9-8D92-3F21BB87652B}"/>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4452B2D6-24AA-4D1B-E088-7ADFF3A596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961FB6-CA3A-ACE5-D681-B675E48A2804}"/>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380645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34DDB-810A-6115-FBAE-E3CBE3C63E4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369467-7B3E-02FD-A1C2-C07526C1C4A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E08CBD-26AA-ECB9-67D3-741F2DED8F85}"/>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C746F1C6-49CF-6CB5-037C-30BB1EF7C6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A8108E-CA9C-97CB-491D-4030C4629DF8}"/>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39649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23A1B1-1D82-4A42-8D72-A069ACA8054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BB1DEA-3548-B02D-A433-7D32CAE36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CC00A66-FDC0-8E0C-1D56-667484368E47}"/>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6C877D0A-E5B6-ED6B-3337-0C4A7401E9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22BC2E-9DC2-E70B-E250-9F2D31C76C7E}"/>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9167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2AF793-B5A4-858B-1364-7DEC0FE010A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1421304-45AC-C76C-F8F2-7A123150388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C10BB33-CB93-5EE3-5709-BEF65EA929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5FE2C2F-5B45-A003-8AF2-557F6298A1D5}"/>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7B25CC45-624E-EED4-ADA4-A9C14DD8CE1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2919210-0B0A-377B-750F-01C57DB21AF5}"/>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903845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A3BCD4-AF80-7F39-117D-847CCEE5468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D780C7B-AED2-9D5B-7A94-A2BD58E463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E3E1554-2DD1-5785-A55C-002F14A04FA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5179B8A-1072-7C61-26FA-0E79CF101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E016D35-0A06-4EF0-6A86-2794A0ACB42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B5C2768-2549-A32E-718B-6E9F27544206}"/>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8" name="フッター プレースホルダー 7">
            <a:extLst>
              <a:ext uri="{FF2B5EF4-FFF2-40B4-BE49-F238E27FC236}">
                <a16:creationId xmlns:a16="http://schemas.microsoft.com/office/drawing/2014/main" id="{5120AE72-7831-FBAD-E800-7908264171D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DBEB329-FED7-5F80-8FAB-ABC33AAB9CEF}"/>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537837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B88171-8AAF-3079-0368-4F4AFA49B94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8B7FB2B-7A1B-8007-B023-FE72589A553D}"/>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4" name="フッター プレースホルダー 3">
            <a:extLst>
              <a:ext uri="{FF2B5EF4-FFF2-40B4-BE49-F238E27FC236}">
                <a16:creationId xmlns:a16="http://schemas.microsoft.com/office/drawing/2014/main" id="{894CBF6C-D9F7-DF28-C16F-2387786C49C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1F75DA6-5ACB-FF7E-A5A0-2C6F2AEA3CDC}"/>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279234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FD67874-0E76-5084-DE99-81FBC5B525AA}"/>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3" name="フッター プレースホルダー 2">
            <a:extLst>
              <a:ext uri="{FF2B5EF4-FFF2-40B4-BE49-F238E27FC236}">
                <a16:creationId xmlns:a16="http://schemas.microsoft.com/office/drawing/2014/main" id="{DD3E678D-FB49-6795-7010-4AB082F0AD4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7FDE9A8-A8EA-E8FE-93FF-EDEE1755E921}"/>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138444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BFED4B-2D5C-D432-83BE-C3CB5909350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205FFD1-3D94-C238-02F9-8FD7DD5D4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5105069-8878-505C-FE74-61A40BF09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AC941A1-050E-6CA7-A0C3-4F80C7B1B33F}"/>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49A22078-9846-4CE3-930C-3E4773371E5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551019-BF3A-9455-C25C-5BBD92D114F3}"/>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45790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EDB7B1-AC42-4132-FBCF-E1F02F78FCE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4B8E463-3A6A-E67F-C133-BF08341923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4E56142-9417-380F-C0AF-AAC64BDB4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16591F-E41D-07CC-C775-79953E1F67BD}"/>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6" name="フッター プレースホルダー 5">
            <a:extLst>
              <a:ext uri="{FF2B5EF4-FFF2-40B4-BE49-F238E27FC236}">
                <a16:creationId xmlns:a16="http://schemas.microsoft.com/office/drawing/2014/main" id="{716BF8DB-6E1D-FE57-6378-BE76ACD6C7F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A86B169-DCB4-8EA9-CEBC-24115FEAB6E5}"/>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003420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1ACA5-7D10-900F-CA99-0E27238720F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80D3710-3B39-A920-0E6A-AE6390A9B6F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0DCBF0-CB28-BCCF-67FE-932B76934711}"/>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CB5136D0-B087-0EFC-A203-C2FF7E7035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33F15D7-A990-C289-851E-6E2023929197}"/>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1046189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FC87DEE-C640-0EF3-AE48-58BF82F5F4A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804E34A-258F-8DBA-075B-272F1C2B87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8F941D-2665-686F-AC09-EF4539B0A1E9}"/>
              </a:ext>
            </a:extLst>
          </p:cNvPr>
          <p:cNvSpPr>
            <a:spLocks noGrp="1"/>
          </p:cNvSpPr>
          <p:nvPr>
            <p:ph type="dt" sz="half" idx="10"/>
          </p:nvPr>
        </p:nvSpPr>
        <p:spPr/>
        <p:txBody>
          <a:body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123D3EC2-6996-B453-040C-1BDB97AB5EB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78022A-9F9C-C7EC-A612-799C7241735B}"/>
              </a:ext>
            </a:extLst>
          </p:cNvPr>
          <p:cNvSpPr>
            <a:spLocks noGrp="1"/>
          </p:cNvSpPr>
          <p:nvPr>
            <p:ph type="sldNum" sz="quarter" idx="12"/>
          </p:nvPr>
        </p:nvSpPr>
        <p:spPr/>
        <p:txBody>
          <a:body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338799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5BD8A59-2E7C-F838-1F12-F6010B958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12F2DF-368E-6DCD-F2DF-C3C3608E8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B70E8A-A4C4-1E34-A395-7B05CCD2FC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958B59-98F5-3E41-9AAD-0F94AAD89E8B}" type="datetimeFigureOut">
              <a:rPr kumimoji="1" lang="ja-JP" altLang="en-US" smtClean="0"/>
              <a:t>2026/8/12</a:t>
            </a:fld>
            <a:endParaRPr kumimoji="1" lang="ja-JP" altLang="en-US"/>
          </a:p>
        </p:txBody>
      </p:sp>
      <p:sp>
        <p:nvSpPr>
          <p:cNvPr id="5" name="フッター プレースホルダー 4">
            <a:extLst>
              <a:ext uri="{FF2B5EF4-FFF2-40B4-BE49-F238E27FC236}">
                <a16:creationId xmlns:a16="http://schemas.microsoft.com/office/drawing/2014/main" id="{B8AD8CC6-1221-C360-3BCD-12DB45998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14E038-0041-5089-0219-7FE2EAFB0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094B34-E409-3245-B9D3-118419088145}" type="slidenum">
              <a:rPr kumimoji="1" lang="ja-JP" altLang="en-US" smtClean="0"/>
              <a:t>‹#›</a:t>
            </a:fld>
            <a:endParaRPr kumimoji="1" lang="ja-JP" altLang="en-US"/>
          </a:p>
        </p:txBody>
      </p:sp>
    </p:spTree>
    <p:extLst>
      <p:ext uri="{BB962C8B-B14F-4D97-AF65-F5344CB8AC3E}">
        <p14:creationId xmlns:p14="http://schemas.microsoft.com/office/powerpoint/2010/main" val="423448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F185891-6B78-3542-AA21-39373455CCDD}"/>
              </a:ext>
            </a:extLst>
          </p:cNvPr>
          <p:cNvSpPr/>
          <p:nvPr/>
        </p:nvSpPr>
        <p:spPr>
          <a:xfrm>
            <a:off x="0" y="0"/>
            <a:ext cx="114300" cy="15240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85A3289C-4B10-3943-B840-B27EC83632A5}"/>
              </a:ext>
            </a:extLst>
          </p:cNvPr>
          <p:cNvSpPr/>
          <p:nvPr/>
        </p:nvSpPr>
        <p:spPr>
          <a:xfrm>
            <a:off x="812800" y="1498600"/>
            <a:ext cx="10566400" cy="25400"/>
          </a:xfrm>
          <a:prstGeom prst="rect">
            <a:avLst/>
          </a:prstGeom>
          <a:solidFill>
            <a:srgbClr val="D3DAE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835D39C-7345-FE4B-9C99-EAEB4AB92C32}"/>
              </a:ext>
            </a:extLst>
          </p:cNvPr>
          <p:cNvSpPr txBox="1"/>
          <p:nvPr/>
        </p:nvSpPr>
        <p:spPr>
          <a:xfrm>
            <a:off x="812800" y="533400"/>
            <a:ext cx="7620000" cy="254000"/>
          </a:xfrm>
          <a:prstGeom prst="rect">
            <a:avLst/>
          </a:prstGeom>
          <a:noFill/>
        </p:spPr>
        <p:txBody>
          <a:bodyPr vertOverflow="overflow" vert="horz" wrap="square" rtlCol="0" anchor="t" anchorCtr="0">
            <a:noAutofit/>
          </a:bodyPr>
          <a:lstStyle/>
          <a:p>
            <a:pPr algn="l"/>
            <a:r>
              <a:rPr lang="en" altLang="ja-JP" sz="1600" b="1">
                <a:solidFill>
                  <a:srgbClr val="5A6472"/>
                </a:solidFill>
                <a:latin typeface="Yu Gothic UI"/>
                <a:ea typeface="Yu Gothic UI"/>
              </a:rPr>
              <a:t>AWS </a:t>
            </a:r>
            <a:r>
              <a:rPr lang="ja-JP" altLang="en-US" sz="1600" b="1">
                <a:solidFill>
                  <a:srgbClr val="5A6472"/>
                </a:solidFill>
                <a:latin typeface="Yu Gothic UI"/>
                <a:ea typeface="Yu Gothic UI"/>
              </a:rPr>
              <a:t>統合認証基盤</a:t>
            </a:r>
          </a:p>
        </p:txBody>
      </p:sp>
      <p:sp>
        <p:nvSpPr>
          <p:cNvPr id="7" name="テキスト ボックス 6">
            <a:extLst>
              <a:ext uri="{FF2B5EF4-FFF2-40B4-BE49-F238E27FC236}">
                <a16:creationId xmlns:a16="http://schemas.microsoft.com/office/drawing/2014/main" id="{1AD8AB87-8C52-284A-B444-6823C4625CBC}"/>
              </a:ext>
            </a:extLst>
          </p:cNvPr>
          <p:cNvSpPr txBox="1"/>
          <p:nvPr/>
        </p:nvSpPr>
        <p:spPr>
          <a:xfrm>
            <a:off x="812800" y="812800"/>
            <a:ext cx="10566400" cy="609600"/>
          </a:xfrm>
          <a:prstGeom prst="rect">
            <a:avLst/>
          </a:prstGeom>
          <a:noFill/>
        </p:spPr>
        <p:txBody>
          <a:bodyPr vertOverflow="overflow" vert="horz" wrap="square" rtlCol="0" anchor="t" anchorCtr="0">
            <a:noAutofit/>
          </a:bodyPr>
          <a:lstStyle/>
          <a:p>
            <a:pPr algn="l"/>
            <a:r>
              <a:rPr lang="ja-JP" altLang="en-US" sz="3400" b="1">
                <a:solidFill>
                  <a:srgbClr val="1F3864"/>
                </a:solidFill>
                <a:latin typeface="Yu Gothic UI"/>
                <a:ea typeface="Yu Gothic UI"/>
              </a:rPr>
              <a:t>基本設計 詰め切りフェーズ　現状報告</a:t>
            </a:r>
          </a:p>
        </p:txBody>
      </p:sp>
      <p:sp>
        <p:nvSpPr>
          <p:cNvPr id="8" name="テキスト ボックス 7">
            <a:extLst>
              <a:ext uri="{FF2B5EF4-FFF2-40B4-BE49-F238E27FC236}">
                <a16:creationId xmlns:a16="http://schemas.microsoft.com/office/drawing/2014/main" id="{AFC3AD9B-1003-1046-AC70-D396A5F982B7}"/>
              </a:ext>
            </a:extLst>
          </p:cNvPr>
          <p:cNvSpPr txBox="1"/>
          <p:nvPr/>
        </p:nvSpPr>
        <p:spPr>
          <a:xfrm>
            <a:off x="812800" y="1778000"/>
            <a:ext cx="10566400" cy="406400"/>
          </a:xfrm>
          <a:prstGeom prst="rect">
            <a:avLst/>
          </a:prstGeom>
          <a:noFill/>
        </p:spPr>
        <p:txBody>
          <a:bodyPr vertOverflow="overflow" vert="horz" wrap="square" rtlCol="0" anchor="t" anchorCtr="0">
            <a:noAutofit/>
          </a:bodyPr>
          <a:lstStyle/>
          <a:p>
            <a:pPr algn="l"/>
            <a:r>
              <a:rPr lang="ja-JP" altLang="en-US" sz="2200" b="1">
                <a:solidFill>
                  <a:srgbClr val="1D2125"/>
                </a:solidFill>
                <a:latin typeface="Yu Gothic UI"/>
                <a:ea typeface="Yu Gothic UI"/>
              </a:rPr>
              <a:t>基本設計は初版完了。現在は「詰め切り」中</a:t>
            </a:r>
          </a:p>
        </p:txBody>
      </p:sp>
      <p:sp>
        <p:nvSpPr>
          <p:cNvPr id="9" name="テキスト ボックス 8">
            <a:extLst>
              <a:ext uri="{FF2B5EF4-FFF2-40B4-BE49-F238E27FC236}">
                <a16:creationId xmlns:a16="http://schemas.microsoft.com/office/drawing/2014/main" id="{3EA069AC-0D50-EC4F-A6CF-E3E48F991FEA}"/>
              </a:ext>
            </a:extLst>
          </p:cNvPr>
          <p:cNvSpPr txBox="1"/>
          <p:nvPr/>
        </p:nvSpPr>
        <p:spPr>
          <a:xfrm>
            <a:off x="812800" y="2235200"/>
            <a:ext cx="10566400" cy="558800"/>
          </a:xfrm>
          <a:prstGeom prst="rect">
            <a:avLst/>
          </a:prstGeom>
          <a:noFill/>
        </p:spPr>
        <p:txBody>
          <a:bodyPr vertOverflow="overflow" vert="horz" wrap="square" rtlCol="0" anchor="t" anchorCtr="0">
            <a:noAutofit/>
          </a:bodyPr>
          <a:lstStyle/>
          <a:p>
            <a:pPr algn="l"/>
            <a:r>
              <a:rPr lang="ja-JP" altLang="en-US" sz="1500">
                <a:solidFill>
                  <a:srgbClr val="5A6472"/>
                </a:solidFill>
                <a:latin typeface="Yu Gothic UI"/>
                <a:ea typeface="Yu Gothic UI"/>
              </a:rPr>
              <a:t>詳細設計への着手には次の</a:t>
            </a:r>
            <a:r>
              <a:rPr lang="en-US" altLang="ja-JP" sz="1500">
                <a:solidFill>
                  <a:srgbClr val="5A6472"/>
                </a:solidFill>
                <a:latin typeface="Yu Gothic UI"/>
                <a:ea typeface="Yu Gothic UI"/>
              </a:rPr>
              <a:t>3</a:t>
            </a:r>
            <a:r>
              <a:rPr lang="ja-JP" altLang="en-US" sz="1500">
                <a:solidFill>
                  <a:srgbClr val="5A6472"/>
                </a:solidFill>
                <a:latin typeface="Yu Gothic UI"/>
                <a:ea typeface="Yu Gothic UI"/>
              </a:rPr>
              <a:t>点の解消が必要です </a:t>
            </a:r>
            <a:r>
              <a:rPr lang="en-US" altLang="ja-JP" sz="1500">
                <a:solidFill>
                  <a:srgbClr val="5A6472"/>
                </a:solidFill>
                <a:latin typeface="Yu Gothic UI"/>
                <a:ea typeface="Yu Gothic UI"/>
              </a:rPr>
              <a:t>— ① </a:t>
            </a:r>
            <a:r>
              <a:rPr lang="en" altLang="ja-JP" sz="1500">
                <a:solidFill>
                  <a:srgbClr val="5A6472"/>
                </a:solidFill>
                <a:latin typeface="Yu Gothic UI"/>
                <a:ea typeface="Yu Gothic UI"/>
              </a:rPr>
              <a:t>PoC </a:t>
            </a:r>
            <a:r>
              <a:rPr lang="ja-JP" altLang="en-US" sz="1500">
                <a:solidFill>
                  <a:srgbClr val="5A6472"/>
                </a:solidFill>
                <a:latin typeface="Yu Gothic UI"/>
                <a:ea typeface="Yu Gothic UI"/>
              </a:rPr>
              <a:t>実測（自社で着手可）　</a:t>
            </a:r>
            <a:r>
              <a:rPr lang="en-US" altLang="ja-JP" sz="1500">
                <a:solidFill>
                  <a:srgbClr val="5A6472"/>
                </a:solidFill>
                <a:latin typeface="Yu Gothic UI"/>
                <a:ea typeface="Yu Gothic UI"/>
              </a:rPr>
              <a:t>② </a:t>
            </a:r>
            <a:r>
              <a:rPr lang="ja-JP" altLang="en-US" sz="1500">
                <a:solidFill>
                  <a:srgbClr val="5A6472"/>
                </a:solidFill>
                <a:latin typeface="Yu Gothic UI"/>
                <a:ea typeface="Yu Gothic UI"/>
              </a:rPr>
              <a:t>他組織の要求仕様回答　</a:t>
            </a:r>
            <a:r>
              <a:rPr lang="en-US" altLang="ja-JP" sz="1500">
                <a:solidFill>
                  <a:srgbClr val="5A6472"/>
                </a:solidFill>
                <a:latin typeface="Yu Gothic UI"/>
                <a:ea typeface="Yu Gothic UI"/>
              </a:rPr>
              <a:t>③ </a:t>
            </a:r>
            <a:r>
              <a:rPr lang="ja-JP" altLang="en-US" sz="1500">
                <a:solidFill>
                  <a:srgbClr val="5A6472"/>
                </a:solidFill>
                <a:latin typeface="Yu Gothic UI"/>
                <a:ea typeface="Yu Gothic UI"/>
              </a:rPr>
              <a:t>顧客ヒアリング回答</a:t>
            </a:r>
          </a:p>
        </p:txBody>
      </p:sp>
      <p:sp>
        <p:nvSpPr>
          <p:cNvPr id="10" name="正方形/長方形 9">
            <a:extLst>
              <a:ext uri="{FF2B5EF4-FFF2-40B4-BE49-F238E27FC236}">
                <a16:creationId xmlns:a16="http://schemas.microsoft.com/office/drawing/2014/main" id="{49FA8BD5-3ACA-3E4B-A428-44964C977363}"/>
              </a:ext>
            </a:extLst>
          </p:cNvPr>
          <p:cNvSpPr/>
          <p:nvPr/>
        </p:nvSpPr>
        <p:spPr>
          <a:xfrm>
            <a:off x="812800" y="3022600"/>
            <a:ext cx="3403600" cy="1701800"/>
          </a:xfrm>
          <a:prstGeom prst="rect">
            <a:avLst/>
          </a:prstGeom>
          <a:solidFill>
            <a:srgbClr val="F1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正方形/長方形 10">
            <a:extLst>
              <a:ext uri="{FF2B5EF4-FFF2-40B4-BE49-F238E27FC236}">
                <a16:creationId xmlns:a16="http://schemas.microsoft.com/office/drawing/2014/main" id="{2FF4F547-17D6-B143-AA8E-9959316CA4DD}"/>
              </a:ext>
            </a:extLst>
          </p:cNvPr>
          <p:cNvSpPr/>
          <p:nvPr/>
        </p:nvSpPr>
        <p:spPr>
          <a:xfrm>
            <a:off x="812800" y="3022600"/>
            <a:ext cx="3403600" cy="50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6BDDB9A2-B34B-034B-86AA-0A3A13FAD1C0}"/>
              </a:ext>
            </a:extLst>
          </p:cNvPr>
          <p:cNvSpPr txBox="1"/>
          <p:nvPr/>
        </p:nvSpPr>
        <p:spPr>
          <a:xfrm>
            <a:off x="1041400" y="3251200"/>
            <a:ext cx="294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要件・論点の確定率</a:t>
            </a:r>
          </a:p>
        </p:txBody>
      </p:sp>
      <p:sp>
        <p:nvSpPr>
          <p:cNvPr id="13" name="テキスト ボックス 12">
            <a:extLst>
              <a:ext uri="{FF2B5EF4-FFF2-40B4-BE49-F238E27FC236}">
                <a16:creationId xmlns:a16="http://schemas.microsoft.com/office/drawing/2014/main" id="{F8E3726A-08F4-9044-A887-87655551AD6E}"/>
              </a:ext>
            </a:extLst>
          </p:cNvPr>
          <p:cNvSpPr txBox="1"/>
          <p:nvPr/>
        </p:nvSpPr>
        <p:spPr>
          <a:xfrm>
            <a:off x="1041400" y="3530600"/>
            <a:ext cx="2946400" cy="635000"/>
          </a:xfrm>
          <a:prstGeom prst="rect">
            <a:avLst/>
          </a:prstGeom>
          <a:noFill/>
        </p:spPr>
        <p:txBody>
          <a:bodyPr vertOverflow="overflow" vert="horz" wrap="square" rtlCol="0" anchor="t" anchorCtr="0">
            <a:noAutofit/>
          </a:bodyPr>
          <a:lstStyle/>
          <a:p>
            <a:pPr algn="l"/>
            <a:r>
              <a:rPr lang="en-US" altLang="ja-JP" sz="4000" b="1">
                <a:solidFill>
                  <a:srgbClr val="1E7B4D"/>
                </a:solidFill>
                <a:latin typeface="Yu Gothic UI"/>
                <a:ea typeface="Yu Gothic UI"/>
              </a:rPr>
              <a:t>54%</a:t>
            </a:r>
            <a:endParaRPr lang="ja-JP" altLang="en-US" sz="4000" b="1">
              <a:solidFill>
                <a:srgbClr val="1E7B4D"/>
              </a:solidFill>
              <a:latin typeface="Yu Gothic UI"/>
              <a:ea typeface="Yu Gothic UI"/>
            </a:endParaRPr>
          </a:p>
        </p:txBody>
      </p:sp>
      <p:sp>
        <p:nvSpPr>
          <p:cNvPr id="14" name="テキスト ボックス 13">
            <a:extLst>
              <a:ext uri="{FF2B5EF4-FFF2-40B4-BE49-F238E27FC236}">
                <a16:creationId xmlns:a16="http://schemas.microsoft.com/office/drawing/2014/main" id="{2CC66362-EE3E-2248-A774-072EADF6A8D0}"/>
              </a:ext>
            </a:extLst>
          </p:cNvPr>
          <p:cNvSpPr txBox="1"/>
          <p:nvPr/>
        </p:nvSpPr>
        <p:spPr>
          <a:xfrm>
            <a:off x="1041400" y="4191000"/>
            <a:ext cx="2946400" cy="482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282</a:t>
            </a:r>
            <a:r>
              <a:rPr lang="ja-JP" altLang="en-US" sz="1200">
                <a:solidFill>
                  <a:srgbClr val="5A6472"/>
                </a:solidFill>
                <a:latin typeface="Yu Gothic UI"/>
                <a:ea typeface="Yu Gothic UI"/>
              </a:rPr>
              <a:t>論点のうち</a:t>
            </a:r>
            <a:r>
              <a:rPr lang="en-US" altLang="ja-JP" sz="1200">
                <a:solidFill>
                  <a:srgbClr val="5A6472"/>
                </a:solidFill>
                <a:latin typeface="Yu Gothic UI"/>
                <a:ea typeface="Yu Gothic UI"/>
              </a:rPr>
              <a:t>151</a:t>
            </a:r>
            <a:r>
              <a:rPr lang="ja-JP" altLang="en-US" sz="1200">
                <a:solidFill>
                  <a:srgbClr val="5A6472"/>
                </a:solidFill>
                <a:latin typeface="Yu Gothic UI"/>
                <a:ea typeface="Yu Gothic UI"/>
              </a:rPr>
              <a:t>件が決定済み
（確定</a:t>
            </a:r>
            <a:r>
              <a:rPr lang="en-US" altLang="ja-JP" sz="1200">
                <a:solidFill>
                  <a:srgbClr val="5A6472"/>
                </a:solidFill>
                <a:latin typeface="Yu Gothic UI"/>
                <a:ea typeface="Yu Gothic UI"/>
              </a:rPr>
              <a:t>72</a:t>
            </a:r>
            <a:r>
              <a:rPr lang="ja-JP" altLang="en-US" sz="1200">
                <a:solidFill>
                  <a:srgbClr val="5A6472"/>
                </a:solidFill>
                <a:latin typeface="Yu Gothic UI"/>
                <a:ea typeface="Yu Gothic UI"/>
              </a:rPr>
              <a:t>／方向性確定</a:t>
            </a:r>
            <a:r>
              <a:rPr lang="en-US" altLang="ja-JP" sz="1200">
                <a:solidFill>
                  <a:srgbClr val="5A6472"/>
                </a:solidFill>
                <a:latin typeface="Yu Gothic UI"/>
                <a:ea typeface="Yu Gothic UI"/>
              </a:rPr>
              <a:t>79</a:t>
            </a:r>
            <a:r>
              <a:rPr lang="ja-JP" altLang="en-US" sz="1200">
                <a:solidFill>
                  <a:srgbClr val="5A6472"/>
                </a:solidFill>
                <a:latin typeface="Yu Gothic UI"/>
                <a:ea typeface="Yu Gothic UI"/>
              </a:rPr>
              <a:t>）</a:t>
            </a:r>
          </a:p>
        </p:txBody>
      </p:sp>
      <p:sp>
        <p:nvSpPr>
          <p:cNvPr id="15" name="正方形/長方形 14">
            <a:extLst>
              <a:ext uri="{FF2B5EF4-FFF2-40B4-BE49-F238E27FC236}">
                <a16:creationId xmlns:a16="http://schemas.microsoft.com/office/drawing/2014/main" id="{7BD87CEF-D63C-A04E-8B2C-5BB59F628E18}"/>
              </a:ext>
            </a:extLst>
          </p:cNvPr>
          <p:cNvSpPr/>
          <p:nvPr/>
        </p:nvSpPr>
        <p:spPr>
          <a:xfrm>
            <a:off x="4419600" y="3022600"/>
            <a:ext cx="3403600" cy="1701800"/>
          </a:xfrm>
          <a:prstGeom prst="rect">
            <a:avLst/>
          </a:prstGeom>
          <a:solidFill>
            <a:srgbClr val="F1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6CBA5AC0-55BC-094E-9B40-1283AA59F86A}"/>
              </a:ext>
            </a:extLst>
          </p:cNvPr>
          <p:cNvSpPr/>
          <p:nvPr/>
        </p:nvSpPr>
        <p:spPr>
          <a:xfrm>
            <a:off x="4419600" y="3022600"/>
            <a:ext cx="3403600" cy="50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9A20E3E9-0057-534C-83EF-EC459BCFEE26}"/>
              </a:ext>
            </a:extLst>
          </p:cNvPr>
          <p:cNvSpPr txBox="1"/>
          <p:nvPr/>
        </p:nvSpPr>
        <p:spPr>
          <a:xfrm>
            <a:off x="4648200" y="3251200"/>
            <a:ext cx="294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設計決定の件数</a:t>
            </a:r>
          </a:p>
        </p:txBody>
      </p:sp>
      <p:sp>
        <p:nvSpPr>
          <p:cNvPr id="18" name="テキスト ボックス 17">
            <a:extLst>
              <a:ext uri="{FF2B5EF4-FFF2-40B4-BE49-F238E27FC236}">
                <a16:creationId xmlns:a16="http://schemas.microsoft.com/office/drawing/2014/main" id="{23E3446D-ECF7-3940-AD3C-FEAD63543E71}"/>
              </a:ext>
            </a:extLst>
          </p:cNvPr>
          <p:cNvSpPr txBox="1"/>
          <p:nvPr/>
        </p:nvSpPr>
        <p:spPr>
          <a:xfrm>
            <a:off x="4648200" y="3530600"/>
            <a:ext cx="2946400" cy="635000"/>
          </a:xfrm>
          <a:prstGeom prst="rect">
            <a:avLst/>
          </a:prstGeom>
          <a:noFill/>
        </p:spPr>
        <p:txBody>
          <a:bodyPr vertOverflow="overflow" vert="horz" wrap="square" rtlCol="0" anchor="t" anchorCtr="0">
            <a:noAutofit/>
          </a:bodyPr>
          <a:lstStyle/>
          <a:p>
            <a:pPr algn="l"/>
            <a:r>
              <a:rPr lang="en-US" altLang="ja-JP" sz="4000" b="1">
                <a:solidFill>
                  <a:srgbClr val="1F3864"/>
                </a:solidFill>
                <a:latin typeface="Yu Gothic UI"/>
                <a:ea typeface="Yu Gothic UI"/>
              </a:rPr>
              <a:t>185</a:t>
            </a:r>
            <a:endParaRPr lang="ja-JP" altLang="en-US" sz="4000" b="1">
              <a:solidFill>
                <a:srgbClr val="1F3864"/>
              </a:solidFill>
              <a:latin typeface="Yu Gothic UI"/>
              <a:ea typeface="Yu Gothic UI"/>
            </a:endParaRPr>
          </a:p>
        </p:txBody>
      </p:sp>
      <p:sp>
        <p:nvSpPr>
          <p:cNvPr id="19" name="テキスト ボックス 18">
            <a:extLst>
              <a:ext uri="{FF2B5EF4-FFF2-40B4-BE49-F238E27FC236}">
                <a16:creationId xmlns:a16="http://schemas.microsoft.com/office/drawing/2014/main" id="{F9587A3E-0DEC-A14E-A4E6-052D700E9FAF}"/>
              </a:ext>
            </a:extLst>
          </p:cNvPr>
          <p:cNvSpPr txBox="1"/>
          <p:nvPr/>
        </p:nvSpPr>
        <p:spPr>
          <a:xfrm>
            <a:off x="4648200" y="4191000"/>
            <a:ext cx="2946400" cy="4826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基本設計</a:t>
            </a:r>
            <a:r>
              <a:rPr lang="en-US" altLang="ja-JP" sz="1200">
                <a:solidFill>
                  <a:srgbClr val="5A6472"/>
                </a:solidFill>
                <a:latin typeface="Yu Gothic UI"/>
                <a:ea typeface="Yu Gothic UI"/>
              </a:rPr>
              <a:t>10</a:t>
            </a:r>
            <a:r>
              <a:rPr lang="ja-JP" altLang="en-US" sz="1200">
                <a:solidFill>
                  <a:srgbClr val="5A6472"/>
                </a:solidFill>
                <a:latin typeface="Yu Gothic UI"/>
                <a:ea typeface="Yu Gothic UI"/>
              </a:rPr>
              <a:t>冊で正式決定した
設計判断の総数</a:t>
            </a:r>
          </a:p>
        </p:txBody>
      </p:sp>
      <p:sp>
        <p:nvSpPr>
          <p:cNvPr id="20" name="正方形/長方形 19">
            <a:extLst>
              <a:ext uri="{FF2B5EF4-FFF2-40B4-BE49-F238E27FC236}">
                <a16:creationId xmlns:a16="http://schemas.microsoft.com/office/drawing/2014/main" id="{A45C4068-E91F-9F46-B1E5-84EA8A4E366A}"/>
              </a:ext>
            </a:extLst>
          </p:cNvPr>
          <p:cNvSpPr/>
          <p:nvPr/>
        </p:nvSpPr>
        <p:spPr>
          <a:xfrm>
            <a:off x="8026400" y="3022600"/>
            <a:ext cx="3403600" cy="1701800"/>
          </a:xfrm>
          <a:prstGeom prst="rect">
            <a:avLst/>
          </a:prstGeom>
          <a:solidFill>
            <a:srgbClr val="F1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正方形/長方形 20">
            <a:extLst>
              <a:ext uri="{FF2B5EF4-FFF2-40B4-BE49-F238E27FC236}">
                <a16:creationId xmlns:a16="http://schemas.microsoft.com/office/drawing/2014/main" id="{57E5EEC5-8865-DB48-A5DF-E6355CDBA221}"/>
              </a:ext>
            </a:extLst>
          </p:cNvPr>
          <p:cNvSpPr/>
          <p:nvPr/>
        </p:nvSpPr>
        <p:spPr>
          <a:xfrm>
            <a:off x="8026400" y="3022600"/>
            <a:ext cx="3403600" cy="508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69BF2554-B9C0-3341-BA63-2FDFE00F3EA9}"/>
              </a:ext>
            </a:extLst>
          </p:cNvPr>
          <p:cNvSpPr txBox="1"/>
          <p:nvPr/>
        </p:nvSpPr>
        <p:spPr>
          <a:xfrm>
            <a:off x="8255000" y="3251200"/>
            <a:ext cx="294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実質の残ブロッカー</a:t>
            </a:r>
          </a:p>
        </p:txBody>
      </p:sp>
      <p:sp>
        <p:nvSpPr>
          <p:cNvPr id="23" name="テキスト ボックス 22">
            <a:extLst>
              <a:ext uri="{FF2B5EF4-FFF2-40B4-BE49-F238E27FC236}">
                <a16:creationId xmlns:a16="http://schemas.microsoft.com/office/drawing/2014/main" id="{5281FC3E-E8C0-B748-932E-B6CC772475CE}"/>
              </a:ext>
            </a:extLst>
          </p:cNvPr>
          <p:cNvSpPr txBox="1"/>
          <p:nvPr/>
        </p:nvSpPr>
        <p:spPr>
          <a:xfrm>
            <a:off x="8255000" y="3530600"/>
            <a:ext cx="2946400" cy="635000"/>
          </a:xfrm>
          <a:prstGeom prst="rect">
            <a:avLst/>
          </a:prstGeom>
          <a:noFill/>
        </p:spPr>
        <p:txBody>
          <a:bodyPr vertOverflow="overflow" vert="horz" wrap="square" rtlCol="0" anchor="t" anchorCtr="0">
            <a:noAutofit/>
          </a:bodyPr>
          <a:lstStyle/>
          <a:p>
            <a:pPr algn="l"/>
            <a:r>
              <a:rPr lang="en-US" altLang="ja-JP" sz="4000" b="1">
                <a:solidFill>
                  <a:srgbClr val="B26B00"/>
                </a:solidFill>
                <a:latin typeface="Yu Gothic UI"/>
                <a:ea typeface="Yu Gothic UI"/>
              </a:rPr>
              <a:t>2</a:t>
            </a:r>
            <a:endParaRPr lang="ja-JP" altLang="en-US" sz="4000" b="1">
              <a:solidFill>
                <a:srgbClr val="B26B00"/>
              </a:solidFill>
              <a:latin typeface="Yu Gothic UI"/>
              <a:ea typeface="Yu Gothic UI"/>
            </a:endParaRPr>
          </a:p>
        </p:txBody>
      </p:sp>
      <p:sp>
        <p:nvSpPr>
          <p:cNvPr id="24" name="テキスト ボックス 23">
            <a:extLst>
              <a:ext uri="{FF2B5EF4-FFF2-40B4-BE49-F238E27FC236}">
                <a16:creationId xmlns:a16="http://schemas.microsoft.com/office/drawing/2014/main" id="{4F4F030C-5D99-8D43-B17F-A2A4AC14461A}"/>
              </a:ext>
            </a:extLst>
          </p:cNvPr>
          <p:cNvSpPr txBox="1"/>
          <p:nvPr/>
        </p:nvSpPr>
        <p:spPr>
          <a:xfrm>
            <a:off x="8255000" y="4191000"/>
            <a:ext cx="2946400" cy="482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他組織セキュリティ製品との互換性検証／
保守要員のデータ越境閲覧の法務確認</a:t>
            </a:r>
          </a:p>
        </p:txBody>
      </p:sp>
      <p:sp>
        <p:nvSpPr>
          <p:cNvPr id="25" name="テキスト ボックス 24">
            <a:extLst>
              <a:ext uri="{FF2B5EF4-FFF2-40B4-BE49-F238E27FC236}">
                <a16:creationId xmlns:a16="http://schemas.microsoft.com/office/drawing/2014/main" id="{21446FCB-D2AA-DB4F-9709-1A6A3F82F056}"/>
              </a:ext>
            </a:extLst>
          </p:cNvPr>
          <p:cNvSpPr txBox="1"/>
          <p:nvPr/>
        </p:nvSpPr>
        <p:spPr>
          <a:xfrm>
            <a:off x="812800" y="4953000"/>
            <a:ext cx="10566400" cy="330200"/>
          </a:xfrm>
          <a:prstGeom prst="rect">
            <a:avLst/>
          </a:prstGeom>
          <a:noFill/>
        </p:spPr>
        <p:txBody>
          <a:bodyPr vertOverflow="overflow" vert="horz" wrap="square" rtlCol="0" anchor="t" anchorCtr="0">
            <a:noAutofit/>
          </a:bodyPr>
          <a:lstStyle/>
          <a:p>
            <a:pPr algn="l"/>
            <a:r>
              <a:rPr lang="ja-JP" altLang="en-US" sz="1500" b="1">
                <a:solidFill>
                  <a:srgbClr val="1D2125"/>
                </a:solidFill>
                <a:latin typeface="Yu Gothic UI"/>
                <a:ea typeface="Yu Gothic UI"/>
              </a:rPr>
              <a:t>詰め切りに必要な残論点は </a:t>
            </a:r>
            <a:r>
              <a:rPr lang="en-US" altLang="ja-JP" sz="1500" b="1">
                <a:solidFill>
                  <a:srgbClr val="1D2125"/>
                </a:solidFill>
                <a:latin typeface="Yu Gothic UI"/>
                <a:ea typeface="Yu Gothic UI"/>
              </a:rPr>
              <a:t>127 </a:t>
            </a:r>
            <a:r>
              <a:rPr lang="ja-JP" altLang="en-US" sz="1500" b="1">
                <a:solidFill>
                  <a:srgbClr val="1D2125"/>
                </a:solidFill>
                <a:latin typeface="Yu Gothic UI"/>
                <a:ea typeface="Yu Gothic UI"/>
              </a:rPr>
              <a:t>件（社内で決める </a:t>
            </a:r>
            <a:r>
              <a:rPr lang="en-US" altLang="ja-JP" sz="1500" b="1">
                <a:solidFill>
                  <a:srgbClr val="1D2125"/>
                </a:solidFill>
                <a:latin typeface="Yu Gothic UI"/>
                <a:ea typeface="Yu Gothic UI"/>
              </a:rPr>
              <a:t>55 </a:t>
            </a:r>
            <a:r>
              <a:rPr lang="ja-JP" altLang="en-US" sz="1500" b="1">
                <a:solidFill>
                  <a:srgbClr val="1D2125"/>
                </a:solidFill>
                <a:latin typeface="Yu Gothic UI"/>
                <a:ea typeface="Yu Gothic UI"/>
              </a:rPr>
              <a:t>件 ＋ 外部回答待ち </a:t>
            </a:r>
            <a:r>
              <a:rPr lang="en-US" altLang="ja-JP" sz="1500" b="1">
                <a:solidFill>
                  <a:srgbClr val="1D2125"/>
                </a:solidFill>
                <a:latin typeface="Yu Gothic UI"/>
                <a:ea typeface="Yu Gothic UI"/>
              </a:rPr>
              <a:t>72 </a:t>
            </a:r>
            <a:r>
              <a:rPr lang="ja-JP" altLang="en-US" sz="1500" b="1">
                <a:solidFill>
                  <a:srgbClr val="1D2125"/>
                </a:solidFill>
                <a:latin typeface="Yu Gothic UI"/>
                <a:ea typeface="Yu Gothic UI"/>
              </a:rPr>
              <a:t>件）。外部待ちは遅れではなく依存です。</a:t>
            </a:r>
          </a:p>
        </p:txBody>
      </p:sp>
      <p:sp>
        <p:nvSpPr>
          <p:cNvPr id="26" name="正方形/長方形 25">
            <a:extLst>
              <a:ext uri="{FF2B5EF4-FFF2-40B4-BE49-F238E27FC236}">
                <a16:creationId xmlns:a16="http://schemas.microsoft.com/office/drawing/2014/main" id="{250DA6A7-8E19-B840-84D9-55AEE6B68636}"/>
              </a:ext>
            </a:extLst>
          </p:cNvPr>
          <p:cNvSpPr/>
          <p:nvPr/>
        </p:nvSpPr>
        <p:spPr>
          <a:xfrm>
            <a:off x="812800" y="5461000"/>
            <a:ext cx="10566400" cy="12700"/>
          </a:xfrm>
          <a:prstGeom prst="rect">
            <a:avLst/>
          </a:prstGeom>
          <a:solidFill>
            <a:srgbClr val="D3DAE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FD3D8A14-1EA8-DF40-A085-88359B5EB5ED}"/>
              </a:ext>
            </a:extLst>
          </p:cNvPr>
          <p:cNvSpPr txBox="1"/>
          <p:nvPr/>
        </p:nvSpPr>
        <p:spPr>
          <a:xfrm>
            <a:off x="812800" y="5588000"/>
            <a:ext cx="10566400" cy="558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出典：要件定義資料（機能要件一覧／非機能要件一覧／ヒアリング項目表 </a:t>
            </a:r>
            <a:r>
              <a:rPr lang="en-US" altLang="ja-JP" sz="1100">
                <a:solidFill>
                  <a:srgbClr val="5A6472"/>
                </a:solidFill>
                <a:latin typeface="Yu Gothic UI"/>
                <a:ea typeface="Yu Gothic UI"/>
              </a:rPr>
              <a:t>127</a:t>
            </a:r>
            <a:r>
              <a:rPr lang="ja-JP" altLang="en-US" sz="1100">
                <a:solidFill>
                  <a:srgbClr val="5A6472"/>
                </a:solidFill>
                <a:latin typeface="Yu Gothic UI"/>
                <a:ea typeface="Yu Gothic UI"/>
              </a:rPr>
              <a:t>項目）、基本設計書 全</a:t>
            </a:r>
            <a:r>
              <a:rPr lang="en-US" altLang="ja-JP" sz="1100">
                <a:solidFill>
                  <a:srgbClr val="5A6472"/>
                </a:solidFill>
                <a:latin typeface="Yu Gothic UI"/>
                <a:ea typeface="Yu Gothic UI"/>
              </a:rPr>
              <a:t>10</a:t>
            </a:r>
            <a:r>
              <a:rPr lang="ja-JP" altLang="en-US" sz="1100">
                <a:solidFill>
                  <a:srgbClr val="5A6472"/>
                </a:solidFill>
                <a:latin typeface="Yu Gothic UI"/>
                <a:ea typeface="Yu Gothic UI"/>
              </a:rPr>
              <a:t>単元および設計判断記録、要件・設計台帳（要件・論点 </a:t>
            </a:r>
            <a:r>
              <a:rPr lang="en-US" altLang="ja-JP" sz="1100">
                <a:solidFill>
                  <a:srgbClr val="5A6472"/>
                </a:solidFill>
                <a:latin typeface="Yu Gothic UI"/>
                <a:ea typeface="Yu Gothic UI"/>
              </a:rPr>
              <a:t>282</a:t>
            </a:r>
            <a:r>
              <a:rPr lang="ja-JP" altLang="en-US" sz="1100">
                <a:solidFill>
                  <a:srgbClr val="5A6472"/>
                </a:solidFill>
                <a:latin typeface="Yu Gothic UI"/>
                <a:ea typeface="Yu Gothic UI"/>
              </a:rPr>
              <a:t>件／設計決定 </a:t>
            </a:r>
            <a:r>
              <a:rPr lang="en-US" altLang="ja-JP" sz="1100">
                <a:solidFill>
                  <a:srgbClr val="5A6472"/>
                </a:solidFill>
                <a:latin typeface="Yu Gothic UI"/>
                <a:ea typeface="Yu Gothic UI"/>
              </a:rPr>
              <a:t>185</a:t>
            </a:r>
            <a:r>
              <a:rPr lang="ja-JP" altLang="en-US" sz="1100">
                <a:solidFill>
                  <a:srgbClr val="5A6472"/>
                </a:solidFill>
                <a:latin typeface="Yu Gothic UI"/>
                <a:ea typeface="Yu Gothic UI"/>
              </a:rPr>
              <a:t>件）
報告基準日 </a:t>
            </a:r>
            <a:r>
              <a:rPr lang="en-US" altLang="ja-JP" sz="1100">
                <a:solidFill>
                  <a:srgbClr val="5A6472"/>
                </a:solidFill>
                <a:latin typeface="Yu Gothic UI"/>
                <a:ea typeface="Yu Gothic UI"/>
              </a:rPr>
              <a:t>2026-08-12</a:t>
            </a:r>
            <a:r>
              <a:rPr lang="ja-JP" altLang="en-US" sz="1100">
                <a:solidFill>
                  <a:srgbClr val="5A6472"/>
                </a:solidFill>
                <a:latin typeface="Yu Gothic UI"/>
                <a:ea typeface="Yu Gothic UI"/>
              </a:rPr>
              <a:t>。本資料の数値はすべて上記台帳の集計値であり、個別の値は原典に当たって確認できます。</a:t>
            </a:r>
          </a:p>
        </p:txBody>
      </p:sp>
    </p:spTree>
    <p:extLst>
      <p:ext uri="{BB962C8B-B14F-4D97-AF65-F5344CB8AC3E}">
        <p14:creationId xmlns:p14="http://schemas.microsoft.com/office/powerpoint/2010/main" val="1649963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正方形/長方形 161">
            <a:extLst>
              <a:ext uri="{FF2B5EF4-FFF2-40B4-BE49-F238E27FC236}">
                <a16:creationId xmlns:a16="http://schemas.microsoft.com/office/drawing/2014/main" id="{E67A8E10-BE87-E64D-961F-CCC45E18640F}"/>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3" name="テキスト ボックス 162">
            <a:extLst>
              <a:ext uri="{FF2B5EF4-FFF2-40B4-BE49-F238E27FC236}">
                <a16:creationId xmlns:a16="http://schemas.microsoft.com/office/drawing/2014/main" id="{5B37282B-EE79-9543-B058-078E32866D13}"/>
              </a:ext>
            </a:extLst>
          </p:cNvPr>
          <p:cNvSpPr txBox="1"/>
          <p:nvPr/>
        </p:nvSpPr>
        <p:spPr>
          <a:xfrm>
            <a:off x="812800" y="304800"/>
            <a:ext cx="8382000" cy="406400"/>
          </a:xfrm>
          <a:prstGeom prst="rect">
            <a:avLst/>
          </a:prstGeom>
          <a:noFill/>
        </p:spPr>
        <p:txBody>
          <a:bodyPr vertOverflow="overflow" vert="horz" wrap="square" rtlCol="0" anchor="t" anchorCtr="0">
            <a:noAutofit/>
          </a:bodyPr>
          <a:lstStyle/>
          <a:p>
            <a:pPr algn="l"/>
            <a:r>
              <a:rPr lang="ja-JP" altLang="en-US" sz="2500" b="1">
                <a:solidFill>
                  <a:srgbClr val="1F3864"/>
                </a:solidFill>
                <a:latin typeface="Yu Gothic UI"/>
                <a:ea typeface="Yu Gothic UI"/>
              </a:rPr>
              <a:t>今回の対象範囲と基盤の全体像</a:t>
            </a:r>
          </a:p>
        </p:txBody>
      </p:sp>
      <p:sp>
        <p:nvSpPr>
          <p:cNvPr id="164" name="テキスト ボックス 163">
            <a:extLst>
              <a:ext uri="{FF2B5EF4-FFF2-40B4-BE49-F238E27FC236}">
                <a16:creationId xmlns:a16="http://schemas.microsoft.com/office/drawing/2014/main" id="{70013CE4-643B-E748-A21E-7BC1B12479C2}"/>
              </a:ext>
            </a:extLst>
          </p:cNvPr>
          <p:cNvSpPr txBox="1"/>
          <p:nvPr/>
        </p:nvSpPr>
        <p:spPr>
          <a:xfrm>
            <a:off x="812800" y="762000"/>
            <a:ext cx="10566400" cy="2794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顧客ごとに</a:t>
            </a:r>
            <a:r>
              <a:rPr lang="en" altLang="ja-JP" sz="1300">
                <a:solidFill>
                  <a:srgbClr val="5A6472"/>
                </a:solidFill>
                <a:latin typeface="Yu Gothic UI"/>
                <a:ea typeface="Yu Gothic UI"/>
              </a:rPr>
              <a:t>ID</a:t>
            </a:r>
            <a:r>
              <a:rPr lang="ja-JP" altLang="en-US" sz="1300">
                <a:solidFill>
                  <a:srgbClr val="5A6472"/>
                </a:solidFill>
                <a:latin typeface="Yu Gothic UI"/>
                <a:ea typeface="Yu Gothic UI"/>
              </a:rPr>
              <a:t>基盤を作らず、共有の認証基盤へ集約する。顧客が既に持つ</a:t>
            </a:r>
            <a:r>
              <a:rPr lang="en" altLang="ja-JP" sz="1300">
                <a:solidFill>
                  <a:srgbClr val="5A6472"/>
                </a:solidFill>
                <a:latin typeface="Yu Gothic UI"/>
                <a:ea typeface="Yu Gothic UI"/>
              </a:rPr>
              <a:t>ID</a:t>
            </a:r>
            <a:r>
              <a:rPr lang="ja-JP" altLang="en-US" sz="1300">
                <a:solidFill>
                  <a:srgbClr val="5A6472"/>
                </a:solidFill>
                <a:latin typeface="Yu Gothic UI"/>
                <a:ea typeface="Yu Gothic UI"/>
              </a:rPr>
              <a:t>基盤をそのまま受け入れ、利用者にパスワードを新規発行しない構成。</a:t>
            </a:r>
          </a:p>
        </p:txBody>
      </p:sp>
      <p:sp>
        <p:nvSpPr>
          <p:cNvPr id="165" name="正方形/長方形 164">
            <a:extLst>
              <a:ext uri="{FF2B5EF4-FFF2-40B4-BE49-F238E27FC236}">
                <a16:creationId xmlns:a16="http://schemas.microsoft.com/office/drawing/2014/main" id="{8271B760-E218-8B48-B89D-E43AD8B520A0}"/>
              </a:ext>
            </a:extLst>
          </p:cNvPr>
          <p:cNvSpPr/>
          <p:nvPr/>
        </p:nvSpPr>
        <p:spPr>
          <a:xfrm>
            <a:off x="812800" y="1320800"/>
            <a:ext cx="1841500" cy="1422400"/>
          </a:xfrm>
          <a:prstGeom prst="rect">
            <a:avLst/>
          </a:prstGeom>
          <a:solidFill>
            <a:srgbClr val="F1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a:solidFill>
                  <a:srgbClr val="1D2125"/>
                </a:solidFill>
                <a:latin typeface="Yu Gothic UI"/>
                <a:ea typeface="Yu Gothic UI"/>
              </a:rPr>
              <a:t>利用者
顧客企業の社員・
エンドユーザー</a:t>
            </a:r>
          </a:p>
        </p:txBody>
      </p:sp>
      <p:sp>
        <p:nvSpPr>
          <p:cNvPr id="166" name="正方形/長方形 165">
            <a:extLst>
              <a:ext uri="{FF2B5EF4-FFF2-40B4-BE49-F238E27FC236}">
                <a16:creationId xmlns:a16="http://schemas.microsoft.com/office/drawing/2014/main" id="{506D71B0-9890-0849-9F66-5E241B68267A}"/>
              </a:ext>
            </a:extLst>
          </p:cNvPr>
          <p:cNvSpPr/>
          <p:nvPr/>
        </p:nvSpPr>
        <p:spPr>
          <a:xfrm>
            <a:off x="2959100" y="1320800"/>
            <a:ext cx="2349500" cy="1422400"/>
          </a:xfrm>
          <a:prstGeom prst="rect">
            <a:avLst/>
          </a:prstGeom>
          <a:solidFill>
            <a:srgbClr val="EAF0F8"/>
          </a:solidFill>
          <a:ln w="12700" cap="flat" cmpd="sng" algn="ctr">
            <a:solidFill>
              <a:srgbClr val="2E5F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a:solidFill>
                  <a:srgbClr val="1D2125"/>
                </a:solidFill>
                <a:latin typeface="Yu Gothic UI"/>
                <a:ea typeface="Yu Gothic UI"/>
              </a:rPr>
              <a:t>顧客が持つ</a:t>
            </a:r>
            <a:r>
              <a:rPr lang="en" altLang="ja-JP" sz="1200">
                <a:solidFill>
                  <a:srgbClr val="1D2125"/>
                </a:solidFill>
                <a:latin typeface="Yu Gothic UI"/>
                <a:ea typeface="Yu Gothic UI"/>
              </a:rPr>
              <a:t>ID</a:t>
            </a:r>
            <a:r>
              <a:rPr lang="ja-JP" altLang="en-US" sz="1200">
                <a:solidFill>
                  <a:srgbClr val="1D2125"/>
                </a:solidFill>
                <a:latin typeface="Yu Gothic UI"/>
                <a:ea typeface="Yu Gothic UI"/>
              </a:rPr>
              <a:t>基盤
</a:t>
            </a:r>
            <a:r>
              <a:rPr lang="en-US" altLang="ja-JP" sz="1200">
                <a:solidFill>
                  <a:srgbClr val="1D2125"/>
                </a:solidFill>
                <a:latin typeface="Yu Gothic UI"/>
                <a:ea typeface="Yu Gothic UI"/>
              </a:rPr>
              <a:t>1,000</a:t>
            </a:r>
            <a:r>
              <a:rPr lang="ja-JP" altLang="en-US" sz="1200">
                <a:solidFill>
                  <a:srgbClr val="1D2125"/>
                </a:solidFill>
                <a:latin typeface="Yu Gothic UI"/>
                <a:ea typeface="Yu Gothic UI"/>
              </a:rPr>
              <a:t>社超を想定
</a:t>
            </a:r>
            <a:r>
              <a:rPr lang="en" altLang="ja-JP" sz="1200">
                <a:solidFill>
                  <a:srgbClr val="1D2125"/>
                </a:solidFill>
                <a:latin typeface="Yu Gothic UI"/>
                <a:ea typeface="Yu Gothic UI"/>
              </a:rPr>
              <a:t>OIDC</a:t>
            </a:r>
            <a:r>
              <a:rPr lang="ja-JP" altLang="en" sz="1200">
                <a:solidFill>
                  <a:srgbClr val="1D2125"/>
                </a:solidFill>
                <a:latin typeface="Yu Gothic UI"/>
                <a:ea typeface="Yu Gothic UI"/>
              </a:rPr>
              <a:t>／</a:t>
            </a:r>
            <a:r>
              <a:rPr lang="en" altLang="ja-JP" sz="1200">
                <a:solidFill>
                  <a:srgbClr val="1D2125"/>
                </a:solidFill>
                <a:latin typeface="Yu Gothic UI"/>
                <a:ea typeface="Yu Gothic UI"/>
              </a:rPr>
              <a:t>SAML 2.0 </a:t>
            </a:r>
            <a:r>
              <a:rPr lang="ja-JP" altLang="en-US" sz="1200">
                <a:solidFill>
                  <a:srgbClr val="1D2125"/>
                </a:solidFill>
                <a:latin typeface="Yu Gothic UI"/>
                <a:ea typeface="Yu Gothic UI"/>
              </a:rPr>
              <a:t>で受け入れ</a:t>
            </a:r>
          </a:p>
        </p:txBody>
      </p:sp>
      <p:sp>
        <p:nvSpPr>
          <p:cNvPr id="167" name="正方形/長方形 166">
            <a:extLst>
              <a:ext uri="{FF2B5EF4-FFF2-40B4-BE49-F238E27FC236}">
                <a16:creationId xmlns:a16="http://schemas.microsoft.com/office/drawing/2014/main" id="{5467833B-0F75-444C-B243-DA22B8BBB276}"/>
              </a:ext>
            </a:extLst>
          </p:cNvPr>
          <p:cNvSpPr/>
          <p:nvPr/>
        </p:nvSpPr>
        <p:spPr>
          <a:xfrm>
            <a:off x="5613400" y="1320800"/>
            <a:ext cx="3111500" cy="14224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b="1">
                <a:solidFill>
                  <a:srgbClr val="FFFFFF"/>
                </a:solidFill>
                <a:latin typeface="Yu Gothic UI"/>
                <a:ea typeface="Yu Gothic UI"/>
              </a:rPr>
              <a:t>統合認証基盤（</a:t>
            </a:r>
            <a:r>
              <a:rPr lang="en-US" altLang="ja-JP" sz="1200" b="1">
                <a:solidFill>
                  <a:srgbClr val="FFFFFF"/>
                </a:solidFill>
                <a:latin typeface="Yu Gothic UI"/>
                <a:ea typeface="Yu Gothic UI"/>
              </a:rPr>
              <a:t>2</a:t>
            </a:r>
            <a:r>
              <a:rPr lang="ja-JP" altLang="en-US" sz="1200" b="1">
                <a:solidFill>
                  <a:srgbClr val="FFFFFF"/>
                </a:solidFill>
                <a:latin typeface="Yu Gothic UI"/>
                <a:ea typeface="Yu Gothic UI"/>
              </a:rPr>
              <a:t>階層）
受付層：全顧客で共有する</a:t>
            </a:r>
            <a:r>
              <a:rPr lang="en-US" altLang="ja-JP" sz="1200" b="1">
                <a:solidFill>
                  <a:srgbClr val="FFFFFF"/>
                </a:solidFill>
                <a:latin typeface="Yu Gothic UI"/>
                <a:ea typeface="Yu Gothic UI"/>
              </a:rPr>
              <a:t>1</a:t>
            </a:r>
            <a:r>
              <a:rPr lang="ja-JP" altLang="en-US" sz="1200" b="1">
                <a:solidFill>
                  <a:srgbClr val="FFFFFF"/>
                </a:solidFill>
                <a:latin typeface="Yu Gothic UI"/>
                <a:ea typeface="Yu Gothic UI"/>
              </a:rPr>
              <a:t>つ
発行層：ブランド単位に分離
上限 </a:t>
            </a:r>
            <a:r>
              <a:rPr lang="en-US" altLang="ja-JP" sz="1200" b="1">
                <a:solidFill>
                  <a:srgbClr val="FFFFFF"/>
                </a:solidFill>
                <a:latin typeface="Yu Gothic UI"/>
                <a:ea typeface="Yu Gothic UI"/>
              </a:rPr>
              <a:t>1,000</a:t>
            </a:r>
            <a:r>
              <a:rPr lang="ja-JP" altLang="en-US" sz="1200" b="1">
                <a:solidFill>
                  <a:srgbClr val="FFFFFF"/>
                </a:solidFill>
                <a:latin typeface="Yu Gothic UI"/>
                <a:ea typeface="Yu Gothic UI"/>
              </a:rPr>
              <a:t>万 </a:t>
            </a:r>
            <a:r>
              <a:rPr lang="en" altLang="ja-JP" sz="1200" b="1">
                <a:solidFill>
                  <a:srgbClr val="FFFFFF"/>
                </a:solidFill>
                <a:latin typeface="Yu Gothic UI"/>
                <a:ea typeface="Yu Gothic UI"/>
              </a:rPr>
              <a:t>MAU</a:t>
            </a:r>
            <a:endParaRPr lang="ja-JP" altLang="en-US" sz="1200" b="1">
              <a:solidFill>
                <a:srgbClr val="FFFFFF"/>
              </a:solidFill>
              <a:latin typeface="Yu Gothic UI"/>
              <a:ea typeface="Yu Gothic UI"/>
            </a:endParaRPr>
          </a:p>
        </p:txBody>
      </p:sp>
      <p:sp>
        <p:nvSpPr>
          <p:cNvPr id="168" name="正方形/長方形 167">
            <a:extLst>
              <a:ext uri="{FF2B5EF4-FFF2-40B4-BE49-F238E27FC236}">
                <a16:creationId xmlns:a16="http://schemas.microsoft.com/office/drawing/2014/main" id="{E04ACA51-0A19-7948-B8DA-A5E964EEB076}"/>
              </a:ext>
            </a:extLst>
          </p:cNvPr>
          <p:cNvSpPr/>
          <p:nvPr/>
        </p:nvSpPr>
        <p:spPr>
          <a:xfrm>
            <a:off x="9029700" y="1320800"/>
            <a:ext cx="2349500" cy="1422400"/>
          </a:xfrm>
          <a:prstGeom prst="rect">
            <a:avLst/>
          </a:prstGeom>
          <a:solidFill>
            <a:srgbClr val="F1F4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a:solidFill>
                  <a:srgbClr val="1D2125"/>
                </a:solidFill>
                <a:latin typeface="Yu Gothic UI"/>
                <a:ea typeface="Yu Gothic UI"/>
              </a:rPr>
              <a:t>業務アプリケーション
コア層 約</a:t>
            </a:r>
            <a:r>
              <a:rPr lang="en-US" altLang="ja-JP" sz="1200">
                <a:solidFill>
                  <a:srgbClr val="1D2125"/>
                </a:solidFill>
                <a:latin typeface="Yu Gothic UI"/>
                <a:ea typeface="Yu Gothic UI"/>
              </a:rPr>
              <a:t>80%</a:t>
            </a:r>
            <a:r>
              <a:rPr lang="ja-JP" altLang="en-US" sz="1200">
                <a:solidFill>
                  <a:srgbClr val="1D2125"/>
                </a:solidFill>
                <a:latin typeface="Yu Gothic UI"/>
                <a:ea typeface="Yu Gothic UI"/>
              </a:rPr>
              <a:t>は本基盤に統合
エッジ層 最大</a:t>
            </a:r>
            <a:r>
              <a:rPr lang="en-US" altLang="ja-JP" sz="1200">
                <a:solidFill>
                  <a:srgbClr val="1D2125"/>
                </a:solidFill>
                <a:latin typeface="Yu Gothic UI"/>
                <a:ea typeface="Yu Gothic UI"/>
              </a:rPr>
              <a:t>20%</a:t>
            </a:r>
            <a:r>
              <a:rPr lang="ja-JP" altLang="en-US" sz="1200">
                <a:solidFill>
                  <a:srgbClr val="1D2125"/>
                </a:solidFill>
                <a:latin typeface="Yu Gothic UI"/>
                <a:ea typeface="Yu Gothic UI"/>
              </a:rPr>
              <a:t>は個別を許容</a:t>
            </a:r>
          </a:p>
        </p:txBody>
      </p:sp>
      <p:sp>
        <p:nvSpPr>
          <p:cNvPr id="169" name="右矢印 168">
            <a:extLst>
              <a:ext uri="{FF2B5EF4-FFF2-40B4-BE49-F238E27FC236}">
                <a16:creationId xmlns:a16="http://schemas.microsoft.com/office/drawing/2014/main" id="{6B0D610D-38AB-3142-A986-1B3E48B2263F}"/>
              </a:ext>
            </a:extLst>
          </p:cNvPr>
          <p:cNvSpPr/>
          <p:nvPr/>
        </p:nvSpPr>
        <p:spPr>
          <a:xfrm>
            <a:off x="2667000" y="1866900"/>
            <a:ext cx="279400" cy="330200"/>
          </a:xfrm>
          <a:prstGeom prst="rightArrow">
            <a:avLst/>
          </a:prstGeom>
          <a:solidFill>
            <a:srgbClr val="9BA7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0" name="右矢印 169">
            <a:extLst>
              <a:ext uri="{FF2B5EF4-FFF2-40B4-BE49-F238E27FC236}">
                <a16:creationId xmlns:a16="http://schemas.microsoft.com/office/drawing/2014/main" id="{1E1985CC-836E-F543-8FBF-CC379D3C8ABC}"/>
              </a:ext>
            </a:extLst>
          </p:cNvPr>
          <p:cNvSpPr/>
          <p:nvPr/>
        </p:nvSpPr>
        <p:spPr>
          <a:xfrm>
            <a:off x="5321300" y="1866900"/>
            <a:ext cx="279400" cy="330200"/>
          </a:xfrm>
          <a:prstGeom prst="rightArrow">
            <a:avLst/>
          </a:prstGeom>
          <a:solidFill>
            <a:srgbClr val="9BA7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1" name="右矢印 170">
            <a:extLst>
              <a:ext uri="{FF2B5EF4-FFF2-40B4-BE49-F238E27FC236}">
                <a16:creationId xmlns:a16="http://schemas.microsoft.com/office/drawing/2014/main" id="{139F6E08-8ED4-A649-A89F-6CCFB3EDB422}"/>
              </a:ext>
            </a:extLst>
          </p:cNvPr>
          <p:cNvSpPr/>
          <p:nvPr/>
        </p:nvSpPr>
        <p:spPr>
          <a:xfrm>
            <a:off x="8737600" y="1866900"/>
            <a:ext cx="279400" cy="330200"/>
          </a:xfrm>
          <a:prstGeom prst="rightArrow">
            <a:avLst/>
          </a:prstGeom>
          <a:solidFill>
            <a:srgbClr val="9BA7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2" name="テキスト ボックス 171">
            <a:extLst>
              <a:ext uri="{FF2B5EF4-FFF2-40B4-BE49-F238E27FC236}">
                <a16:creationId xmlns:a16="http://schemas.microsoft.com/office/drawing/2014/main" id="{0BA73DC4-7853-D547-B8F8-4CAC066631C1}"/>
              </a:ext>
            </a:extLst>
          </p:cNvPr>
          <p:cNvSpPr txBox="1"/>
          <p:nvPr/>
        </p:nvSpPr>
        <p:spPr>
          <a:xfrm>
            <a:off x="812800" y="2921000"/>
            <a:ext cx="5080000" cy="228600"/>
          </a:xfrm>
          <a:prstGeom prst="rect">
            <a:avLst/>
          </a:prstGeom>
          <a:noFill/>
        </p:spPr>
        <p:txBody>
          <a:bodyPr vertOverflow="overflow" vert="horz" wrap="square" rtlCol="0" anchor="t" anchorCtr="0">
            <a:noAutofit/>
          </a:bodyPr>
          <a:lstStyle/>
          <a:p>
            <a:pPr algn="l"/>
            <a:r>
              <a:rPr lang="ja-JP" altLang="en-US" sz="1300" b="1">
                <a:solidFill>
                  <a:srgbClr val="1F3864"/>
                </a:solidFill>
                <a:latin typeface="Yu Gothic UI"/>
                <a:ea typeface="Yu Gothic UI"/>
              </a:rPr>
              <a:t>設計の前提（凍結済み）</a:t>
            </a:r>
          </a:p>
        </p:txBody>
      </p:sp>
      <p:sp>
        <p:nvSpPr>
          <p:cNvPr id="173" name="正方形/長方形 172">
            <a:extLst>
              <a:ext uri="{FF2B5EF4-FFF2-40B4-BE49-F238E27FC236}">
                <a16:creationId xmlns:a16="http://schemas.microsoft.com/office/drawing/2014/main" id="{18677B9F-A547-AA4C-AE15-79835A244E78}"/>
              </a:ext>
            </a:extLst>
          </p:cNvPr>
          <p:cNvSpPr/>
          <p:nvPr/>
        </p:nvSpPr>
        <p:spPr>
          <a:xfrm>
            <a:off x="812800" y="3200400"/>
            <a:ext cx="2540000" cy="685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4" name="正方形/長方形 173">
            <a:extLst>
              <a:ext uri="{FF2B5EF4-FFF2-40B4-BE49-F238E27FC236}">
                <a16:creationId xmlns:a16="http://schemas.microsoft.com/office/drawing/2014/main" id="{70DE625F-7C83-6544-860D-124D360524AD}"/>
              </a:ext>
            </a:extLst>
          </p:cNvPr>
          <p:cNvSpPr/>
          <p:nvPr/>
        </p:nvSpPr>
        <p:spPr>
          <a:xfrm>
            <a:off x="812800" y="3200400"/>
            <a:ext cx="38100" cy="6858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5" name="テキスト ボックス 174">
            <a:extLst>
              <a:ext uri="{FF2B5EF4-FFF2-40B4-BE49-F238E27FC236}">
                <a16:creationId xmlns:a16="http://schemas.microsoft.com/office/drawing/2014/main" id="{9B4C9978-2124-0D40-B79A-C221BBBFE524}"/>
              </a:ext>
            </a:extLst>
          </p:cNvPr>
          <p:cNvSpPr txBox="1"/>
          <p:nvPr/>
        </p:nvSpPr>
        <p:spPr>
          <a:xfrm>
            <a:off x="990600" y="3302000"/>
            <a:ext cx="22098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利用者規模の上限</a:t>
            </a:r>
          </a:p>
        </p:txBody>
      </p:sp>
      <p:sp>
        <p:nvSpPr>
          <p:cNvPr id="176" name="テキスト ボックス 175">
            <a:extLst>
              <a:ext uri="{FF2B5EF4-FFF2-40B4-BE49-F238E27FC236}">
                <a16:creationId xmlns:a16="http://schemas.microsoft.com/office/drawing/2014/main" id="{5F925F99-3CDA-8D44-8CA5-C9C5C2958BD6}"/>
              </a:ext>
            </a:extLst>
          </p:cNvPr>
          <p:cNvSpPr txBox="1"/>
          <p:nvPr/>
        </p:nvSpPr>
        <p:spPr>
          <a:xfrm>
            <a:off x="990600" y="3517900"/>
            <a:ext cx="2209800" cy="279400"/>
          </a:xfrm>
          <a:prstGeom prst="rect">
            <a:avLst/>
          </a:prstGeom>
          <a:noFill/>
        </p:spPr>
        <p:txBody>
          <a:bodyPr vertOverflow="overflow" vert="horz" wrap="square" rtlCol="0" anchor="t" anchorCtr="0">
            <a:noAutofit/>
          </a:bodyPr>
          <a:lstStyle/>
          <a:p>
            <a:pPr algn="l"/>
            <a:r>
              <a:rPr lang="en-US" altLang="ja-JP" sz="1400" b="1">
                <a:solidFill>
                  <a:srgbClr val="1D2125"/>
                </a:solidFill>
                <a:latin typeface="Yu Gothic UI"/>
                <a:ea typeface="Yu Gothic UI"/>
              </a:rPr>
              <a:t>1,000</a:t>
            </a:r>
            <a:r>
              <a:rPr lang="ja-JP" altLang="en-US" sz="1400" b="1">
                <a:solidFill>
                  <a:srgbClr val="1D2125"/>
                </a:solidFill>
                <a:latin typeface="Yu Gothic UI"/>
                <a:ea typeface="Yu Gothic UI"/>
              </a:rPr>
              <a:t>万 </a:t>
            </a:r>
            <a:r>
              <a:rPr lang="en" altLang="ja-JP" sz="1400" b="1">
                <a:solidFill>
                  <a:srgbClr val="1D2125"/>
                </a:solidFill>
                <a:latin typeface="Yu Gothic UI"/>
                <a:ea typeface="Yu Gothic UI"/>
              </a:rPr>
              <a:t>MAU</a:t>
            </a:r>
            <a:endParaRPr lang="ja-JP" altLang="en-US" sz="1400" b="1">
              <a:solidFill>
                <a:srgbClr val="1D2125"/>
              </a:solidFill>
              <a:latin typeface="Yu Gothic UI"/>
              <a:ea typeface="Yu Gothic UI"/>
            </a:endParaRPr>
          </a:p>
        </p:txBody>
      </p:sp>
      <p:sp>
        <p:nvSpPr>
          <p:cNvPr id="177" name="正方形/長方形 176">
            <a:extLst>
              <a:ext uri="{FF2B5EF4-FFF2-40B4-BE49-F238E27FC236}">
                <a16:creationId xmlns:a16="http://schemas.microsoft.com/office/drawing/2014/main" id="{86A3857A-3C5A-0B49-99B6-3A852230C48C}"/>
              </a:ext>
            </a:extLst>
          </p:cNvPr>
          <p:cNvSpPr/>
          <p:nvPr/>
        </p:nvSpPr>
        <p:spPr>
          <a:xfrm>
            <a:off x="3479800" y="3200400"/>
            <a:ext cx="2540000" cy="685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8" name="正方形/長方形 177">
            <a:extLst>
              <a:ext uri="{FF2B5EF4-FFF2-40B4-BE49-F238E27FC236}">
                <a16:creationId xmlns:a16="http://schemas.microsoft.com/office/drawing/2014/main" id="{76E7B801-839A-B74A-9E83-0867A3ADF9BD}"/>
              </a:ext>
            </a:extLst>
          </p:cNvPr>
          <p:cNvSpPr/>
          <p:nvPr/>
        </p:nvSpPr>
        <p:spPr>
          <a:xfrm>
            <a:off x="3479800" y="3200400"/>
            <a:ext cx="38100" cy="6858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9" name="テキスト ボックス 178">
            <a:extLst>
              <a:ext uri="{FF2B5EF4-FFF2-40B4-BE49-F238E27FC236}">
                <a16:creationId xmlns:a16="http://schemas.microsoft.com/office/drawing/2014/main" id="{27CC09D9-D979-1C4B-8153-0C86F814D2CD}"/>
              </a:ext>
            </a:extLst>
          </p:cNvPr>
          <p:cNvSpPr txBox="1"/>
          <p:nvPr/>
        </p:nvSpPr>
        <p:spPr>
          <a:xfrm>
            <a:off x="3657600" y="3302000"/>
            <a:ext cx="22098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稼働率の目標</a:t>
            </a:r>
          </a:p>
        </p:txBody>
      </p:sp>
      <p:sp>
        <p:nvSpPr>
          <p:cNvPr id="180" name="テキスト ボックス 179">
            <a:extLst>
              <a:ext uri="{FF2B5EF4-FFF2-40B4-BE49-F238E27FC236}">
                <a16:creationId xmlns:a16="http://schemas.microsoft.com/office/drawing/2014/main" id="{0002C01B-FF7E-2043-8D09-D319DB8FAC00}"/>
              </a:ext>
            </a:extLst>
          </p:cNvPr>
          <p:cNvSpPr txBox="1"/>
          <p:nvPr/>
        </p:nvSpPr>
        <p:spPr>
          <a:xfrm>
            <a:off x="3657600" y="3517900"/>
            <a:ext cx="2209800" cy="279400"/>
          </a:xfrm>
          <a:prstGeom prst="rect">
            <a:avLst/>
          </a:prstGeom>
          <a:noFill/>
        </p:spPr>
        <p:txBody>
          <a:bodyPr vertOverflow="overflow" vert="horz" wrap="square" rtlCol="0" anchor="t" anchorCtr="0">
            <a:noAutofit/>
          </a:bodyPr>
          <a:lstStyle/>
          <a:p>
            <a:pPr algn="l"/>
            <a:r>
              <a:rPr lang="en-US" altLang="ja-JP" sz="1400" b="1">
                <a:solidFill>
                  <a:srgbClr val="1D2125"/>
                </a:solidFill>
                <a:latin typeface="Yu Gothic UI"/>
                <a:ea typeface="Yu Gothic UI"/>
              </a:rPr>
              <a:t>99.9%</a:t>
            </a:r>
            <a:r>
              <a:rPr lang="ja-JP" altLang="en-US" sz="1400" b="1">
                <a:solidFill>
                  <a:srgbClr val="1D2125"/>
                </a:solidFill>
                <a:latin typeface="Yu Gothic UI"/>
                <a:ea typeface="Yu Gothic UI"/>
              </a:rPr>
              <a:t>（暫定値）</a:t>
            </a:r>
          </a:p>
        </p:txBody>
      </p:sp>
      <p:sp>
        <p:nvSpPr>
          <p:cNvPr id="181" name="正方形/長方形 180">
            <a:extLst>
              <a:ext uri="{FF2B5EF4-FFF2-40B4-BE49-F238E27FC236}">
                <a16:creationId xmlns:a16="http://schemas.microsoft.com/office/drawing/2014/main" id="{8C19AF10-9CAD-764A-91C7-334331E9448E}"/>
              </a:ext>
            </a:extLst>
          </p:cNvPr>
          <p:cNvSpPr/>
          <p:nvPr/>
        </p:nvSpPr>
        <p:spPr>
          <a:xfrm>
            <a:off x="6159500" y="3200400"/>
            <a:ext cx="2540000" cy="685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2" name="正方形/長方形 181">
            <a:extLst>
              <a:ext uri="{FF2B5EF4-FFF2-40B4-BE49-F238E27FC236}">
                <a16:creationId xmlns:a16="http://schemas.microsoft.com/office/drawing/2014/main" id="{CED00E33-DBCF-A444-A1BD-DBD73172BACA}"/>
              </a:ext>
            </a:extLst>
          </p:cNvPr>
          <p:cNvSpPr/>
          <p:nvPr/>
        </p:nvSpPr>
        <p:spPr>
          <a:xfrm>
            <a:off x="6159500" y="3200400"/>
            <a:ext cx="38100" cy="6858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3" name="テキスト ボックス 182">
            <a:extLst>
              <a:ext uri="{FF2B5EF4-FFF2-40B4-BE49-F238E27FC236}">
                <a16:creationId xmlns:a16="http://schemas.microsoft.com/office/drawing/2014/main" id="{C669B995-684E-2A4B-93CF-32556D5BC2C2}"/>
              </a:ext>
            </a:extLst>
          </p:cNvPr>
          <p:cNvSpPr txBox="1"/>
          <p:nvPr/>
        </p:nvSpPr>
        <p:spPr>
          <a:xfrm>
            <a:off x="6337300" y="3302000"/>
            <a:ext cx="22098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災害復旧の目標</a:t>
            </a:r>
          </a:p>
        </p:txBody>
      </p:sp>
      <p:sp>
        <p:nvSpPr>
          <p:cNvPr id="184" name="テキスト ボックス 183">
            <a:extLst>
              <a:ext uri="{FF2B5EF4-FFF2-40B4-BE49-F238E27FC236}">
                <a16:creationId xmlns:a16="http://schemas.microsoft.com/office/drawing/2014/main" id="{42ACE32A-AC1A-304D-8D6F-8BCC95AE7484}"/>
              </a:ext>
            </a:extLst>
          </p:cNvPr>
          <p:cNvSpPr txBox="1"/>
          <p:nvPr/>
        </p:nvSpPr>
        <p:spPr>
          <a:xfrm>
            <a:off x="6337300" y="3517900"/>
            <a:ext cx="2209800" cy="279400"/>
          </a:xfrm>
          <a:prstGeom prst="rect">
            <a:avLst/>
          </a:prstGeom>
          <a:noFill/>
        </p:spPr>
        <p:txBody>
          <a:bodyPr vertOverflow="overflow" vert="horz" wrap="square" rtlCol="0" anchor="t" anchorCtr="0">
            <a:noAutofit/>
          </a:bodyPr>
          <a:lstStyle/>
          <a:p>
            <a:pPr algn="l"/>
            <a:r>
              <a:rPr lang="ja-JP" altLang="en-US" sz="1400" b="1">
                <a:solidFill>
                  <a:srgbClr val="1D2125"/>
                </a:solidFill>
                <a:latin typeface="Yu Gothic UI"/>
                <a:ea typeface="Yu Gothic UI"/>
              </a:rPr>
              <a:t>約</a:t>
            </a:r>
            <a:r>
              <a:rPr lang="en-US" altLang="ja-JP" sz="1400" b="1">
                <a:solidFill>
                  <a:srgbClr val="1D2125"/>
                </a:solidFill>
                <a:latin typeface="Yu Gothic UI"/>
                <a:ea typeface="Yu Gothic UI"/>
              </a:rPr>
              <a:t>14</a:t>
            </a:r>
            <a:r>
              <a:rPr lang="ja-JP" altLang="en-US" sz="1400" b="1">
                <a:solidFill>
                  <a:srgbClr val="1D2125"/>
                </a:solidFill>
                <a:latin typeface="Yu Gothic UI"/>
                <a:ea typeface="Yu Gothic UI"/>
              </a:rPr>
              <a:t>日・手動復旧</a:t>
            </a:r>
          </a:p>
        </p:txBody>
      </p:sp>
      <p:sp>
        <p:nvSpPr>
          <p:cNvPr id="185" name="正方形/長方形 184">
            <a:extLst>
              <a:ext uri="{FF2B5EF4-FFF2-40B4-BE49-F238E27FC236}">
                <a16:creationId xmlns:a16="http://schemas.microsoft.com/office/drawing/2014/main" id="{387AB386-3BBF-8047-BCE9-3ADC6598CD73}"/>
              </a:ext>
            </a:extLst>
          </p:cNvPr>
          <p:cNvSpPr/>
          <p:nvPr/>
        </p:nvSpPr>
        <p:spPr>
          <a:xfrm>
            <a:off x="8826500" y="3200400"/>
            <a:ext cx="2540000" cy="685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6" name="正方形/長方形 185">
            <a:extLst>
              <a:ext uri="{FF2B5EF4-FFF2-40B4-BE49-F238E27FC236}">
                <a16:creationId xmlns:a16="http://schemas.microsoft.com/office/drawing/2014/main" id="{B319287D-A474-4F4E-93AF-6E623BED64C6}"/>
              </a:ext>
            </a:extLst>
          </p:cNvPr>
          <p:cNvSpPr/>
          <p:nvPr/>
        </p:nvSpPr>
        <p:spPr>
          <a:xfrm>
            <a:off x="8826500" y="3200400"/>
            <a:ext cx="38100" cy="6858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7" name="テキスト ボックス 186">
            <a:extLst>
              <a:ext uri="{FF2B5EF4-FFF2-40B4-BE49-F238E27FC236}">
                <a16:creationId xmlns:a16="http://schemas.microsoft.com/office/drawing/2014/main" id="{5F7A824D-EF47-714D-BD69-FC008D6F0E8E}"/>
              </a:ext>
            </a:extLst>
          </p:cNvPr>
          <p:cNvSpPr txBox="1"/>
          <p:nvPr/>
        </p:nvSpPr>
        <p:spPr>
          <a:xfrm>
            <a:off x="9004300" y="3302000"/>
            <a:ext cx="22098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稼働リージョン</a:t>
            </a:r>
          </a:p>
        </p:txBody>
      </p:sp>
      <p:sp>
        <p:nvSpPr>
          <p:cNvPr id="188" name="テキスト ボックス 187">
            <a:extLst>
              <a:ext uri="{FF2B5EF4-FFF2-40B4-BE49-F238E27FC236}">
                <a16:creationId xmlns:a16="http://schemas.microsoft.com/office/drawing/2014/main" id="{DF4468C8-4AA1-9A44-B523-63F29B6D93E2}"/>
              </a:ext>
            </a:extLst>
          </p:cNvPr>
          <p:cNvSpPr txBox="1"/>
          <p:nvPr/>
        </p:nvSpPr>
        <p:spPr>
          <a:xfrm>
            <a:off x="9004300" y="3517900"/>
            <a:ext cx="2209800" cy="279400"/>
          </a:xfrm>
          <a:prstGeom prst="rect">
            <a:avLst/>
          </a:prstGeom>
          <a:noFill/>
        </p:spPr>
        <p:txBody>
          <a:bodyPr vertOverflow="overflow" vert="horz" wrap="square" rtlCol="0" anchor="t" anchorCtr="0">
            <a:noAutofit/>
          </a:bodyPr>
          <a:lstStyle/>
          <a:p>
            <a:pPr algn="l"/>
            <a:r>
              <a:rPr lang="ja-JP" altLang="en-US" sz="1400" b="1">
                <a:solidFill>
                  <a:srgbClr val="1D2125"/>
                </a:solidFill>
                <a:latin typeface="Yu Gothic UI"/>
                <a:ea typeface="Yu Gothic UI"/>
              </a:rPr>
              <a:t>東京常用＋大阪で復旧</a:t>
            </a:r>
          </a:p>
        </p:txBody>
      </p:sp>
      <p:sp>
        <p:nvSpPr>
          <p:cNvPr id="189" name="テキスト ボックス 188">
            <a:extLst>
              <a:ext uri="{FF2B5EF4-FFF2-40B4-BE49-F238E27FC236}">
                <a16:creationId xmlns:a16="http://schemas.microsoft.com/office/drawing/2014/main" id="{C2C68821-F3F3-CD4B-8798-1548E93CD9F5}"/>
              </a:ext>
            </a:extLst>
          </p:cNvPr>
          <p:cNvSpPr txBox="1"/>
          <p:nvPr/>
        </p:nvSpPr>
        <p:spPr>
          <a:xfrm>
            <a:off x="812800" y="4089400"/>
            <a:ext cx="6350000" cy="228600"/>
          </a:xfrm>
          <a:prstGeom prst="rect">
            <a:avLst/>
          </a:prstGeom>
          <a:noFill/>
        </p:spPr>
        <p:txBody>
          <a:bodyPr vertOverflow="overflow" vert="horz" wrap="square" rtlCol="0" anchor="t" anchorCtr="0">
            <a:noAutofit/>
          </a:bodyPr>
          <a:lstStyle/>
          <a:p>
            <a:pPr algn="l"/>
            <a:r>
              <a:rPr lang="en" altLang="ja-JP" sz="1300" b="1">
                <a:solidFill>
                  <a:srgbClr val="1F3864"/>
                </a:solidFill>
                <a:latin typeface="Yu Gothic UI"/>
                <a:ea typeface="Yu Gothic UI"/>
              </a:rPr>
              <a:t>AWS </a:t>
            </a:r>
            <a:r>
              <a:rPr lang="ja-JP" altLang="en-US" sz="1300" b="1">
                <a:solidFill>
                  <a:srgbClr val="1F3864"/>
                </a:solidFill>
                <a:latin typeface="Yu Gothic UI"/>
                <a:ea typeface="Yu Gothic UI"/>
              </a:rPr>
              <a:t>アカウント構成（</a:t>
            </a:r>
            <a:r>
              <a:rPr lang="en-US" altLang="ja-JP" sz="1300" b="1">
                <a:solidFill>
                  <a:srgbClr val="1F3864"/>
                </a:solidFill>
                <a:latin typeface="Yu Gothic UI"/>
                <a:ea typeface="Yu Gothic UI"/>
              </a:rPr>
              <a:t>6</a:t>
            </a:r>
            <a:r>
              <a:rPr lang="ja-JP" altLang="en-US" sz="1300" b="1">
                <a:solidFill>
                  <a:srgbClr val="1F3864"/>
                </a:solidFill>
                <a:latin typeface="Yu Gothic UI"/>
                <a:ea typeface="Yu Gothic UI"/>
              </a:rPr>
              <a:t>アカウント）</a:t>
            </a:r>
          </a:p>
        </p:txBody>
      </p:sp>
      <p:sp>
        <p:nvSpPr>
          <p:cNvPr id="190" name="正方形/長方形 189">
            <a:extLst>
              <a:ext uri="{FF2B5EF4-FFF2-40B4-BE49-F238E27FC236}">
                <a16:creationId xmlns:a16="http://schemas.microsoft.com/office/drawing/2014/main" id="{22AEABC5-7BEB-8B4E-ADBA-202E96CAE002}"/>
              </a:ext>
            </a:extLst>
          </p:cNvPr>
          <p:cNvSpPr/>
          <p:nvPr/>
        </p:nvSpPr>
        <p:spPr>
          <a:xfrm>
            <a:off x="812800" y="4368800"/>
            <a:ext cx="1676400" cy="787400"/>
          </a:xfrm>
          <a:prstGeom prst="rect">
            <a:avLst/>
          </a:prstGeom>
          <a:solidFill>
            <a:srgbClr val="F0F0F2"/>
          </a:solidFill>
          <a:ln w="12700" cap="flat" cmpd="sng" algn="ctr">
            <a:solidFill>
              <a:srgbClr val="BFC4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1" name="テキスト ボックス 190">
            <a:extLst>
              <a:ext uri="{FF2B5EF4-FFF2-40B4-BE49-F238E27FC236}">
                <a16:creationId xmlns:a16="http://schemas.microsoft.com/office/drawing/2014/main" id="{FDEC3891-038B-0644-8EFB-9637D081D423}"/>
              </a:ext>
            </a:extLst>
          </p:cNvPr>
          <p:cNvSpPr txBox="1"/>
          <p:nvPr/>
        </p:nvSpPr>
        <p:spPr>
          <a:xfrm>
            <a:off x="914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インターネット境界
の監査</a:t>
            </a:r>
          </a:p>
        </p:txBody>
      </p:sp>
      <p:sp>
        <p:nvSpPr>
          <p:cNvPr id="192" name="テキスト ボックス 191">
            <a:extLst>
              <a:ext uri="{FF2B5EF4-FFF2-40B4-BE49-F238E27FC236}">
                <a16:creationId xmlns:a16="http://schemas.microsoft.com/office/drawing/2014/main" id="{04A9191E-0278-7B4E-B1A7-B61DC5345ADB}"/>
              </a:ext>
            </a:extLst>
          </p:cNvPr>
          <p:cNvSpPr txBox="1"/>
          <p:nvPr/>
        </p:nvSpPr>
        <p:spPr>
          <a:xfrm>
            <a:off x="914400" y="4876800"/>
            <a:ext cx="1473200" cy="177800"/>
          </a:xfrm>
          <a:prstGeom prst="rect">
            <a:avLst/>
          </a:prstGeom>
          <a:noFill/>
        </p:spPr>
        <p:txBody>
          <a:bodyPr vertOverflow="overflow" vert="horz" wrap="square" rtlCol="0" anchor="t" anchorCtr="0">
            <a:noAutofit/>
          </a:bodyPr>
          <a:lstStyle/>
          <a:p>
            <a:pPr algn="l"/>
            <a:r>
              <a:rPr lang="ja-JP" altLang="en-US" sz="1000">
                <a:solidFill>
                  <a:srgbClr val="B26B00"/>
                </a:solidFill>
                <a:latin typeface="Yu Gothic UI"/>
                <a:ea typeface="Yu Gothic UI"/>
              </a:rPr>
              <a:t>他組織が管理</a:t>
            </a:r>
          </a:p>
        </p:txBody>
      </p:sp>
      <p:sp>
        <p:nvSpPr>
          <p:cNvPr id="193" name="正方形/長方形 192">
            <a:extLst>
              <a:ext uri="{FF2B5EF4-FFF2-40B4-BE49-F238E27FC236}">
                <a16:creationId xmlns:a16="http://schemas.microsoft.com/office/drawing/2014/main" id="{79D2BCF4-0FB1-654A-9FAA-A51895AD4195}"/>
              </a:ext>
            </a:extLst>
          </p:cNvPr>
          <p:cNvSpPr/>
          <p:nvPr/>
        </p:nvSpPr>
        <p:spPr>
          <a:xfrm>
            <a:off x="2590800" y="4368800"/>
            <a:ext cx="1676400" cy="787400"/>
          </a:xfrm>
          <a:prstGeom prst="rect">
            <a:avLst/>
          </a:prstGeom>
          <a:solidFill>
            <a:srgbClr val="F0F0F2"/>
          </a:solidFill>
          <a:ln w="12700" cap="flat" cmpd="sng" algn="ctr">
            <a:solidFill>
              <a:srgbClr val="BFC4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4" name="テキスト ボックス 193">
            <a:extLst>
              <a:ext uri="{FF2B5EF4-FFF2-40B4-BE49-F238E27FC236}">
                <a16:creationId xmlns:a16="http://schemas.microsoft.com/office/drawing/2014/main" id="{2B9E0C93-2946-7D4E-9C5F-FFC528E78165}"/>
              </a:ext>
            </a:extLst>
          </p:cNvPr>
          <p:cNvSpPr txBox="1"/>
          <p:nvPr/>
        </p:nvSpPr>
        <p:spPr>
          <a:xfrm>
            <a:off x="2692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ネットワーク</a:t>
            </a:r>
          </a:p>
        </p:txBody>
      </p:sp>
      <p:sp>
        <p:nvSpPr>
          <p:cNvPr id="195" name="テキスト ボックス 194">
            <a:extLst>
              <a:ext uri="{FF2B5EF4-FFF2-40B4-BE49-F238E27FC236}">
                <a16:creationId xmlns:a16="http://schemas.microsoft.com/office/drawing/2014/main" id="{C665ED41-E027-2B47-A86C-D4FB389A9EAA}"/>
              </a:ext>
            </a:extLst>
          </p:cNvPr>
          <p:cNvSpPr txBox="1"/>
          <p:nvPr/>
        </p:nvSpPr>
        <p:spPr>
          <a:xfrm>
            <a:off x="2692400" y="4876800"/>
            <a:ext cx="1473200" cy="177800"/>
          </a:xfrm>
          <a:prstGeom prst="rect">
            <a:avLst/>
          </a:prstGeom>
          <a:noFill/>
        </p:spPr>
        <p:txBody>
          <a:bodyPr vertOverflow="overflow" vert="horz" wrap="square" rtlCol="0" anchor="t" anchorCtr="0">
            <a:noAutofit/>
          </a:bodyPr>
          <a:lstStyle/>
          <a:p>
            <a:pPr algn="l"/>
            <a:r>
              <a:rPr lang="ja-JP" altLang="en-US" sz="1000">
                <a:solidFill>
                  <a:srgbClr val="B26B00"/>
                </a:solidFill>
                <a:latin typeface="Yu Gothic UI"/>
                <a:ea typeface="Yu Gothic UI"/>
              </a:rPr>
              <a:t>他組織想定</a:t>
            </a:r>
          </a:p>
        </p:txBody>
      </p:sp>
      <p:sp>
        <p:nvSpPr>
          <p:cNvPr id="196" name="正方形/長方形 195">
            <a:extLst>
              <a:ext uri="{FF2B5EF4-FFF2-40B4-BE49-F238E27FC236}">
                <a16:creationId xmlns:a16="http://schemas.microsoft.com/office/drawing/2014/main" id="{9E778BB4-91D6-DF42-A50F-4F325F1EB14F}"/>
              </a:ext>
            </a:extLst>
          </p:cNvPr>
          <p:cNvSpPr/>
          <p:nvPr/>
        </p:nvSpPr>
        <p:spPr>
          <a:xfrm>
            <a:off x="4368800" y="4368800"/>
            <a:ext cx="1676400" cy="787400"/>
          </a:xfrm>
          <a:prstGeom prst="rect">
            <a:avLst/>
          </a:prstGeom>
          <a:solidFill>
            <a:srgbClr val="EAF0F8"/>
          </a:solidFill>
          <a:ln w="12700" cap="flat" cmpd="sng" algn="ctr">
            <a:solidFill>
              <a:srgbClr val="2E5F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7" name="テキスト ボックス 196">
            <a:extLst>
              <a:ext uri="{FF2B5EF4-FFF2-40B4-BE49-F238E27FC236}">
                <a16:creationId xmlns:a16="http://schemas.microsoft.com/office/drawing/2014/main" id="{A2A7AF63-982A-7343-878E-57089DD25B7C}"/>
              </a:ext>
            </a:extLst>
          </p:cNvPr>
          <p:cNvSpPr txBox="1"/>
          <p:nvPr/>
        </p:nvSpPr>
        <p:spPr>
          <a:xfrm>
            <a:off x="4470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監査・ログ</a:t>
            </a:r>
          </a:p>
        </p:txBody>
      </p:sp>
      <p:sp>
        <p:nvSpPr>
          <p:cNvPr id="198" name="テキスト ボックス 197">
            <a:extLst>
              <a:ext uri="{FF2B5EF4-FFF2-40B4-BE49-F238E27FC236}">
                <a16:creationId xmlns:a16="http://schemas.microsoft.com/office/drawing/2014/main" id="{1689B6A8-85D2-1744-A132-47332D9D658E}"/>
              </a:ext>
            </a:extLst>
          </p:cNvPr>
          <p:cNvSpPr txBox="1"/>
          <p:nvPr/>
        </p:nvSpPr>
        <p:spPr>
          <a:xfrm>
            <a:off x="4470400" y="4876800"/>
            <a:ext cx="14732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自社</a:t>
            </a:r>
          </a:p>
        </p:txBody>
      </p:sp>
      <p:sp>
        <p:nvSpPr>
          <p:cNvPr id="199" name="正方形/長方形 198">
            <a:extLst>
              <a:ext uri="{FF2B5EF4-FFF2-40B4-BE49-F238E27FC236}">
                <a16:creationId xmlns:a16="http://schemas.microsoft.com/office/drawing/2014/main" id="{2A4AC927-CB14-2945-8BC3-C674E4041AD7}"/>
              </a:ext>
            </a:extLst>
          </p:cNvPr>
          <p:cNvSpPr/>
          <p:nvPr/>
        </p:nvSpPr>
        <p:spPr>
          <a:xfrm>
            <a:off x="6146800" y="4368800"/>
            <a:ext cx="1676400" cy="787400"/>
          </a:xfrm>
          <a:prstGeom prst="rect">
            <a:avLst/>
          </a:prstGeom>
          <a:solidFill>
            <a:srgbClr val="EAF0F8"/>
          </a:solidFill>
          <a:ln w="12700" cap="flat" cmpd="sng" algn="ctr">
            <a:solidFill>
              <a:srgbClr val="2E5F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0" name="テキスト ボックス 199">
            <a:extLst>
              <a:ext uri="{FF2B5EF4-FFF2-40B4-BE49-F238E27FC236}">
                <a16:creationId xmlns:a16="http://schemas.microsoft.com/office/drawing/2014/main" id="{023DFEDF-24BD-E749-B5C1-6D4FE4733426}"/>
              </a:ext>
            </a:extLst>
          </p:cNvPr>
          <p:cNvSpPr txBox="1"/>
          <p:nvPr/>
        </p:nvSpPr>
        <p:spPr>
          <a:xfrm>
            <a:off x="6248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受付層（共有）</a:t>
            </a:r>
          </a:p>
        </p:txBody>
      </p:sp>
      <p:sp>
        <p:nvSpPr>
          <p:cNvPr id="201" name="テキスト ボックス 200">
            <a:extLst>
              <a:ext uri="{FF2B5EF4-FFF2-40B4-BE49-F238E27FC236}">
                <a16:creationId xmlns:a16="http://schemas.microsoft.com/office/drawing/2014/main" id="{A3C4B13C-73D7-C746-91A5-271B3EDADB44}"/>
              </a:ext>
            </a:extLst>
          </p:cNvPr>
          <p:cNvSpPr txBox="1"/>
          <p:nvPr/>
        </p:nvSpPr>
        <p:spPr>
          <a:xfrm>
            <a:off x="6248400" y="4876800"/>
            <a:ext cx="14732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自社</a:t>
            </a:r>
          </a:p>
        </p:txBody>
      </p:sp>
      <p:sp>
        <p:nvSpPr>
          <p:cNvPr id="202" name="正方形/長方形 201">
            <a:extLst>
              <a:ext uri="{FF2B5EF4-FFF2-40B4-BE49-F238E27FC236}">
                <a16:creationId xmlns:a16="http://schemas.microsoft.com/office/drawing/2014/main" id="{DBA5EC53-FEB5-9348-9332-B2616F2ECD40}"/>
              </a:ext>
            </a:extLst>
          </p:cNvPr>
          <p:cNvSpPr/>
          <p:nvPr/>
        </p:nvSpPr>
        <p:spPr>
          <a:xfrm>
            <a:off x="7924800" y="4368800"/>
            <a:ext cx="1676400" cy="787400"/>
          </a:xfrm>
          <a:prstGeom prst="rect">
            <a:avLst/>
          </a:prstGeom>
          <a:solidFill>
            <a:srgbClr val="EAF0F8"/>
          </a:solidFill>
          <a:ln w="12700" cap="flat" cmpd="sng" algn="ctr">
            <a:solidFill>
              <a:srgbClr val="2E5F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3" name="テキスト ボックス 202">
            <a:extLst>
              <a:ext uri="{FF2B5EF4-FFF2-40B4-BE49-F238E27FC236}">
                <a16:creationId xmlns:a16="http://schemas.microsoft.com/office/drawing/2014/main" id="{4366E69C-1E67-824A-8747-A68E2D2DAFB3}"/>
              </a:ext>
            </a:extLst>
          </p:cNvPr>
          <p:cNvSpPr txBox="1"/>
          <p:nvPr/>
        </p:nvSpPr>
        <p:spPr>
          <a:xfrm>
            <a:off x="8026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発行層（ブランド単位）</a:t>
            </a:r>
          </a:p>
        </p:txBody>
      </p:sp>
      <p:sp>
        <p:nvSpPr>
          <p:cNvPr id="204" name="テキスト ボックス 203">
            <a:extLst>
              <a:ext uri="{FF2B5EF4-FFF2-40B4-BE49-F238E27FC236}">
                <a16:creationId xmlns:a16="http://schemas.microsoft.com/office/drawing/2014/main" id="{9A6C559E-2A0E-E04C-9AC9-1DD6E65B6AA7}"/>
              </a:ext>
            </a:extLst>
          </p:cNvPr>
          <p:cNvSpPr txBox="1"/>
          <p:nvPr/>
        </p:nvSpPr>
        <p:spPr>
          <a:xfrm>
            <a:off x="8026400" y="4876800"/>
            <a:ext cx="14732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自社</a:t>
            </a:r>
          </a:p>
        </p:txBody>
      </p:sp>
      <p:sp>
        <p:nvSpPr>
          <p:cNvPr id="205" name="正方形/長方形 204">
            <a:extLst>
              <a:ext uri="{FF2B5EF4-FFF2-40B4-BE49-F238E27FC236}">
                <a16:creationId xmlns:a16="http://schemas.microsoft.com/office/drawing/2014/main" id="{E28BE3EC-6083-AE40-AFEB-4C26F0E7D881}"/>
              </a:ext>
            </a:extLst>
          </p:cNvPr>
          <p:cNvSpPr/>
          <p:nvPr/>
        </p:nvSpPr>
        <p:spPr>
          <a:xfrm>
            <a:off x="9702800" y="4368800"/>
            <a:ext cx="1676400" cy="787400"/>
          </a:xfrm>
          <a:prstGeom prst="rect">
            <a:avLst/>
          </a:prstGeom>
          <a:solidFill>
            <a:srgbClr val="EAF0F8"/>
          </a:solidFill>
          <a:ln w="12700" cap="flat" cmpd="sng" algn="ctr">
            <a:solidFill>
              <a:srgbClr val="2E5FA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6" name="テキスト ボックス 205">
            <a:extLst>
              <a:ext uri="{FF2B5EF4-FFF2-40B4-BE49-F238E27FC236}">
                <a16:creationId xmlns:a16="http://schemas.microsoft.com/office/drawing/2014/main" id="{898042C0-BCBC-8044-A47A-2B0C39508FCD}"/>
              </a:ext>
            </a:extLst>
          </p:cNvPr>
          <p:cNvSpPr txBox="1"/>
          <p:nvPr/>
        </p:nvSpPr>
        <p:spPr>
          <a:xfrm>
            <a:off x="9804400" y="4470400"/>
            <a:ext cx="1473200" cy="381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業務アプリ </a:t>
            </a:r>
            <a:r>
              <a:rPr lang="en-US" altLang="ja-JP" sz="1100" b="1">
                <a:solidFill>
                  <a:srgbClr val="1D2125"/>
                </a:solidFill>
                <a:latin typeface="Yu Gothic UI"/>
                <a:ea typeface="Yu Gothic UI"/>
              </a:rPr>
              <a:t>×</a:t>
            </a:r>
            <a:r>
              <a:rPr lang="en" altLang="ja-JP" sz="1100" b="1">
                <a:solidFill>
                  <a:srgbClr val="1D2125"/>
                </a:solidFill>
                <a:latin typeface="Yu Gothic UI"/>
                <a:ea typeface="Yu Gothic UI"/>
              </a:rPr>
              <a:t>N</a:t>
            </a:r>
            <a:endParaRPr lang="ja-JP" altLang="en-US" sz="1100" b="1">
              <a:solidFill>
                <a:srgbClr val="1D2125"/>
              </a:solidFill>
              <a:latin typeface="Yu Gothic UI"/>
              <a:ea typeface="Yu Gothic UI"/>
            </a:endParaRPr>
          </a:p>
        </p:txBody>
      </p:sp>
      <p:sp>
        <p:nvSpPr>
          <p:cNvPr id="207" name="テキスト ボックス 206">
            <a:extLst>
              <a:ext uri="{FF2B5EF4-FFF2-40B4-BE49-F238E27FC236}">
                <a16:creationId xmlns:a16="http://schemas.microsoft.com/office/drawing/2014/main" id="{F577A0E2-FD74-794B-A603-16CE97DB6033}"/>
              </a:ext>
            </a:extLst>
          </p:cNvPr>
          <p:cNvSpPr txBox="1"/>
          <p:nvPr/>
        </p:nvSpPr>
        <p:spPr>
          <a:xfrm>
            <a:off x="9804400" y="4876800"/>
            <a:ext cx="14732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自社</a:t>
            </a:r>
          </a:p>
        </p:txBody>
      </p:sp>
      <p:sp>
        <p:nvSpPr>
          <p:cNvPr id="208" name="テキスト ボックス 207">
            <a:extLst>
              <a:ext uri="{FF2B5EF4-FFF2-40B4-BE49-F238E27FC236}">
                <a16:creationId xmlns:a16="http://schemas.microsoft.com/office/drawing/2014/main" id="{8A093783-6713-6E4C-BE95-216888889B8E}"/>
              </a:ext>
            </a:extLst>
          </p:cNvPr>
          <p:cNvSpPr txBox="1"/>
          <p:nvPr/>
        </p:nvSpPr>
        <p:spPr>
          <a:xfrm>
            <a:off x="812800" y="5283200"/>
            <a:ext cx="10566400" cy="2540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 </a:t>
            </a:r>
            <a:r>
              <a:rPr lang="ja-JP" altLang="en-US" sz="1200">
                <a:solidFill>
                  <a:srgbClr val="5A6472"/>
                </a:solidFill>
                <a:latin typeface="Yu Gothic UI"/>
                <a:ea typeface="Yu Gothic UI"/>
              </a:rPr>
              <a:t>インターネットの出入口は他組織が管理するため、必要な設定は要求仕様として提示し回答を待つ関係にあります。左の</a:t>
            </a:r>
            <a:r>
              <a:rPr lang="en-US" altLang="ja-JP" sz="1200">
                <a:solidFill>
                  <a:srgbClr val="5A6472"/>
                </a:solidFill>
                <a:latin typeface="Yu Gothic UI"/>
                <a:ea typeface="Yu Gothic UI"/>
              </a:rPr>
              <a:t>2</a:t>
            </a:r>
            <a:r>
              <a:rPr lang="ja-JP" altLang="en-US" sz="1200">
                <a:solidFill>
                  <a:srgbClr val="5A6472"/>
                </a:solidFill>
                <a:latin typeface="Yu Gothic UI"/>
                <a:ea typeface="Yu Gothic UI"/>
              </a:rPr>
              <a:t>アカウントが本基盤側の裁量外です。</a:t>
            </a:r>
          </a:p>
        </p:txBody>
      </p:sp>
      <p:sp>
        <p:nvSpPr>
          <p:cNvPr id="209" name="テキスト ボックス 208">
            <a:extLst>
              <a:ext uri="{FF2B5EF4-FFF2-40B4-BE49-F238E27FC236}">
                <a16:creationId xmlns:a16="http://schemas.microsoft.com/office/drawing/2014/main" id="{9A93AF03-BDD8-0C42-A158-9F61CD9A8736}"/>
              </a:ext>
            </a:extLst>
          </p:cNvPr>
          <p:cNvSpPr txBox="1"/>
          <p:nvPr/>
        </p:nvSpPr>
        <p:spPr>
          <a:xfrm>
            <a:off x="812800" y="64008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出典：基本設計書「アーキテクチャ前提」（前提</a:t>
            </a:r>
            <a:r>
              <a:rPr lang="en-US" altLang="ja-JP" sz="1000">
                <a:solidFill>
                  <a:srgbClr val="5A6472"/>
                </a:solidFill>
                <a:latin typeface="Yu Gothic UI"/>
                <a:ea typeface="Yu Gothic UI"/>
              </a:rPr>
              <a:t>18</a:t>
            </a:r>
            <a:r>
              <a:rPr lang="ja-JP" altLang="en-US" sz="1000">
                <a:solidFill>
                  <a:srgbClr val="5A6472"/>
                </a:solidFill>
                <a:latin typeface="Yu Gothic UI"/>
                <a:ea typeface="Yu Gothic UI"/>
              </a:rPr>
              <a:t>件・アカウント構成・コア／エッジ方針）</a:t>
            </a:r>
          </a:p>
        </p:txBody>
      </p:sp>
    </p:spTree>
    <p:extLst>
      <p:ext uri="{BB962C8B-B14F-4D97-AF65-F5344CB8AC3E}">
        <p14:creationId xmlns:p14="http://schemas.microsoft.com/office/powerpoint/2010/main" val="616240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117042A-6B78-9743-9DFD-6FF7DFC8CDC4}"/>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94024E2-85D2-EE46-84B5-B799CD764610}"/>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500" b="1">
                <a:solidFill>
                  <a:srgbClr val="1F3864"/>
                </a:solidFill>
                <a:latin typeface="Yu Gothic UI"/>
                <a:ea typeface="Yu Gothic UI"/>
              </a:rPr>
              <a:t>スコープの境界 </a:t>
            </a:r>
            <a:r>
              <a:rPr lang="en-US" altLang="ja-JP" sz="2500" b="1">
                <a:solidFill>
                  <a:srgbClr val="1F3864"/>
                </a:solidFill>
                <a:latin typeface="Yu Gothic UI"/>
                <a:ea typeface="Yu Gothic UI"/>
              </a:rPr>
              <a:t>— </a:t>
            </a:r>
            <a:r>
              <a:rPr lang="ja-JP" altLang="en-US" sz="2500" b="1">
                <a:solidFill>
                  <a:srgbClr val="1F3864"/>
                </a:solidFill>
                <a:latin typeface="Yu Gothic UI"/>
                <a:ea typeface="Yu Gothic UI"/>
              </a:rPr>
              <a:t>今回扱うもの／扱わないもの</a:t>
            </a:r>
          </a:p>
        </p:txBody>
      </p:sp>
      <p:sp>
        <p:nvSpPr>
          <p:cNvPr id="4" name="テキスト ボックス 3">
            <a:extLst>
              <a:ext uri="{FF2B5EF4-FFF2-40B4-BE49-F238E27FC236}">
                <a16:creationId xmlns:a16="http://schemas.microsoft.com/office/drawing/2014/main" id="{DD628464-44F7-1047-BD36-1F6FEDED86F1}"/>
              </a:ext>
            </a:extLst>
          </p:cNvPr>
          <p:cNvSpPr txBox="1"/>
          <p:nvPr/>
        </p:nvSpPr>
        <p:spPr>
          <a:xfrm>
            <a:off x="812800" y="762000"/>
            <a:ext cx="10566400" cy="2794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境界を先に固定したことで、設計を止めずに進められています。除外したものは「やらない」ではなく「今回は置く」という整理です。</a:t>
            </a:r>
          </a:p>
        </p:txBody>
      </p:sp>
      <p:sp>
        <p:nvSpPr>
          <p:cNvPr id="5" name="正方形/長方形 4">
            <a:extLst>
              <a:ext uri="{FF2B5EF4-FFF2-40B4-BE49-F238E27FC236}">
                <a16:creationId xmlns:a16="http://schemas.microsoft.com/office/drawing/2014/main" id="{1ECCE80B-6754-6B4F-AF0A-299B97705549}"/>
              </a:ext>
            </a:extLst>
          </p:cNvPr>
          <p:cNvSpPr/>
          <p:nvPr/>
        </p:nvSpPr>
        <p:spPr>
          <a:xfrm>
            <a:off x="812800" y="1270000"/>
            <a:ext cx="5181600" cy="2489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90241B09-B2ED-8340-83F4-DD1B63D8102E}"/>
              </a:ext>
            </a:extLst>
          </p:cNvPr>
          <p:cNvSpPr/>
          <p:nvPr/>
        </p:nvSpPr>
        <p:spPr>
          <a:xfrm>
            <a:off x="812800" y="1270000"/>
            <a:ext cx="5181600" cy="50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27020432-0583-124A-B340-66557B82BF98}"/>
              </a:ext>
            </a:extLst>
          </p:cNvPr>
          <p:cNvSpPr txBox="1"/>
          <p:nvPr/>
        </p:nvSpPr>
        <p:spPr>
          <a:xfrm>
            <a:off x="1041400" y="1447800"/>
            <a:ext cx="4724400" cy="2794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今回のスコープに含めるもの</a:t>
            </a:r>
          </a:p>
        </p:txBody>
      </p:sp>
      <p:sp>
        <p:nvSpPr>
          <p:cNvPr id="8" name="テキスト ボックス 7">
            <a:extLst>
              <a:ext uri="{FF2B5EF4-FFF2-40B4-BE49-F238E27FC236}">
                <a16:creationId xmlns:a16="http://schemas.microsoft.com/office/drawing/2014/main" id="{689C3D6F-9B36-F347-8967-80C7C658808D}"/>
              </a:ext>
            </a:extLst>
          </p:cNvPr>
          <p:cNvSpPr txBox="1"/>
          <p:nvPr/>
        </p:nvSpPr>
        <p:spPr>
          <a:xfrm>
            <a:off x="1041400" y="1778000"/>
            <a:ext cx="4724400" cy="1854200"/>
          </a:xfrm>
          <a:prstGeom prst="rect">
            <a:avLst/>
          </a:prstGeom>
          <a:noFill/>
        </p:spPr>
        <p:txBody>
          <a:bodyPr vertOverflow="overflow" vert="horz" wrap="square" rtlCol="0" anchor="t" anchorCtr="0">
            <a:noAutofit/>
          </a:bodyPr>
          <a:lstStyle/>
          <a:p>
            <a:pPr algn="l"/>
            <a:r>
              <a:rPr lang="ja-JP" altLang="en-US" sz="1200">
                <a:solidFill>
                  <a:srgbClr val="1D2125"/>
                </a:solidFill>
                <a:latin typeface="Yu Gothic UI"/>
                <a:ea typeface="Yu Gothic UI"/>
              </a:rPr>
              <a:t>・顧客の受け入れ方</a:t>
            </a:r>
            <a:r>
              <a:rPr lang="en-US" altLang="ja-JP" sz="1200">
                <a:solidFill>
                  <a:srgbClr val="1D2125"/>
                </a:solidFill>
                <a:latin typeface="Yu Gothic UI"/>
                <a:ea typeface="Yu Gothic UI"/>
              </a:rPr>
              <a:t>4</a:t>
            </a:r>
            <a:r>
              <a:rPr lang="ja-JP" altLang="en-US" sz="1200">
                <a:solidFill>
                  <a:srgbClr val="1D2125"/>
                </a:solidFill>
                <a:latin typeface="Yu Gothic UI"/>
                <a:ea typeface="Yu Gothic UI"/>
              </a:rPr>
              <a:t>パターンすべてに対応する
・テナント管理者を含む全ての顧客利用者を、顧客側の
　</a:t>
            </a:r>
            <a:r>
              <a:rPr lang="en" altLang="ja-JP" sz="1200">
                <a:solidFill>
                  <a:srgbClr val="1D2125"/>
                </a:solidFill>
                <a:latin typeface="Yu Gothic UI"/>
                <a:ea typeface="Yu Gothic UI"/>
              </a:rPr>
              <a:t>ID</a:t>
            </a:r>
            <a:r>
              <a:rPr lang="ja-JP" altLang="en-US" sz="1200">
                <a:solidFill>
                  <a:srgbClr val="1D2125"/>
                </a:solidFill>
                <a:latin typeface="Yu Gothic UI"/>
                <a:ea typeface="Yu Gothic UI"/>
              </a:rPr>
              <a:t>基盤を経由した認証にする
・本基盤が直接持つアカウントは、運用担当者と緊急時
　用の最小限のみ
・多要素認証、シングルサインオン、ログアウト連動、
　認可、利用者情報の自動連携までを一式で提供する</a:t>
            </a:r>
          </a:p>
        </p:txBody>
      </p:sp>
      <p:sp>
        <p:nvSpPr>
          <p:cNvPr id="9" name="正方形/長方形 8">
            <a:extLst>
              <a:ext uri="{FF2B5EF4-FFF2-40B4-BE49-F238E27FC236}">
                <a16:creationId xmlns:a16="http://schemas.microsoft.com/office/drawing/2014/main" id="{93DEE04C-5ADB-214E-8FD8-7D69DBA671F8}"/>
              </a:ext>
            </a:extLst>
          </p:cNvPr>
          <p:cNvSpPr/>
          <p:nvPr/>
        </p:nvSpPr>
        <p:spPr>
          <a:xfrm>
            <a:off x="6197600" y="1270000"/>
            <a:ext cx="5181600" cy="2489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正方形/長方形 9">
            <a:extLst>
              <a:ext uri="{FF2B5EF4-FFF2-40B4-BE49-F238E27FC236}">
                <a16:creationId xmlns:a16="http://schemas.microsoft.com/office/drawing/2014/main" id="{05F29E18-6D37-7141-A773-AF01139FB6EC}"/>
              </a:ext>
            </a:extLst>
          </p:cNvPr>
          <p:cNvSpPr/>
          <p:nvPr/>
        </p:nvSpPr>
        <p:spPr>
          <a:xfrm>
            <a:off x="6197600" y="1270000"/>
            <a:ext cx="5181600" cy="508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DD9D6F46-DD3D-6B46-8089-8B1DB529A730}"/>
              </a:ext>
            </a:extLst>
          </p:cNvPr>
          <p:cNvSpPr txBox="1"/>
          <p:nvPr/>
        </p:nvSpPr>
        <p:spPr>
          <a:xfrm>
            <a:off x="6426200" y="1447800"/>
            <a:ext cx="4724400" cy="279400"/>
          </a:xfrm>
          <a:prstGeom prst="rect">
            <a:avLst/>
          </a:prstGeom>
          <a:noFill/>
        </p:spPr>
        <p:txBody>
          <a:bodyPr vertOverflow="overflow" vert="horz" wrap="square" rtlCol="0" anchor="t" anchorCtr="0">
            <a:noAutofit/>
          </a:bodyPr>
          <a:lstStyle/>
          <a:p>
            <a:pPr algn="l"/>
            <a:r>
              <a:rPr lang="ja-JP" altLang="en-US" sz="1500" b="1">
                <a:solidFill>
                  <a:srgbClr val="B26B00"/>
                </a:solidFill>
                <a:latin typeface="Yu Gothic UI"/>
                <a:ea typeface="Yu Gothic UI"/>
              </a:rPr>
              <a:t>今回のスコープから外すもの</a:t>
            </a:r>
          </a:p>
        </p:txBody>
      </p:sp>
      <p:sp>
        <p:nvSpPr>
          <p:cNvPr id="12" name="テキスト ボックス 11">
            <a:extLst>
              <a:ext uri="{FF2B5EF4-FFF2-40B4-BE49-F238E27FC236}">
                <a16:creationId xmlns:a16="http://schemas.microsoft.com/office/drawing/2014/main" id="{7E2BA1FA-3879-6C43-BE62-0EF4ADE6E2A8}"/>
              </a:ext>
            </a:extLst>
          </p:cNvPr>
          <p:cNvSpPr txBox="1"/>
          <p:nvPr/>
        </p:nvSpPr>
        <p:spPr>
          <a:xfrm>
            <a:off x="6426200" y="1778000"/>
            <a:ext cx="4724400" cy="1854200"/>
          </a:xfrm>
          <a:prstGeom prst="rect">
            <a:avLst/>
          </a:prstGeom>
          <a:noFill/>
        </p:spPr>
        <p:txBody>
          <a:bodyPr vertOverflow="overflow" vert="horz" wrap="square" rtlCol="0" anchor="t" anchorCtr="0">
            <a:noAutofit/>
          </a:bodyPr>
          <a:lstStyle/>
          <a:p>
            <a:pPr algn="l"/>
            <a:r>
              <a:rPr lang="ja-JP" altLang="en-US" sz="1200">
                <a:solidFill>
                  <a:srgbClr val="1D2125"/>
                </a:solidFill>
                <a:latin typeface="Yu Gothic UI"/>
                <a:ea typeface="Yu Gothic UI"/>
              </a:rPr>
              <a:t>・旧方式のディレクトリ基盤への直結
　→ 該当する顧客が存在しないため除外
・クレジットカード業界基準への準拠
　→ 将来必要になれば再開できる形で保留
・エッジ層アプリが個別に持つ</a:t>
            </a:r>
            <a:r>
              <a:rPr lang="en" altLang="ja-JP" sz="1200">
                <a:solidFill>
                  <a:srgbClr val="1D2125"/>
                </a:solidFill>
                <a:latin typeface="Yu Gothic UI"/>
                <a:ea typeface="Yu Gothic UI"/>
              </a:rPr>
              <a:t>ID</a:t>
            </a:r>
            <a:r>
              <a:rPr lang="ja-JP" altLang="en-US" sz="1200">
                <a:solidFill>
                  <a:srgbClr val="1D2125"/>
                </a:solidFill>
                <a:latin typeface="Yu Gothic UI"/>
                <a:ea typeface="Yu Gothic UI"/>
              </a:rPr>
              <a:t>基盤の設計そのもの
　→ 本基盤とのつなぎ方のみを規定する
・費用の詳細見積り
　→ 提案書側の文書で扱う</a:t>
            </a:r>
          </a:p>
        </p:txBody>
      </p:sp>
      <p:sp>
        <p:nvSpPr>
          <p:cNvPr id="13" name="テキスト ボックス 12">
            <a:extLst>
              <a:ext uri="{FF2B5EF4-FFF2-40B4-BE49-F238E27FC236}">
                <a16:creationId xmlns:a16="http://schemas.microsoft.com/office/drawing/2014/main" id="{897299DF-04F8-014F-A430-FAEDB5BFF8D1}"/>
              </a:ext>
            </a:extLst>
          </p:cNvPr>
          <p:cNvSpPr txBox="1"/>
          <p:nvPr/>
        </p:nvSpPr>
        <p:spPr>
          <a:xfrm>
            <a:off x="812800" y="3987800"/>
            <a:ext cx="5080000" cy="2540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業務アプリ側の統合方針</a:t>
            </a:r>
          </a:p>
        </p:txBody>
      </p:sp>
      <p:sp>
        <p:nvSpPr>
          <p:cNvPr id="14" name="正方形/長方形 13">
            <a:extLst>
              <a:ext uri="{FF2B5EF4-FFF2-40B4-BE49-F238E27FC236}">
                <a16:creationId xmlns:a16="http://schemas.microsoft.com/office/drawing/2014/main" id="{8D513C36-061B-6C40-91C3-6FDF2BC52E7C}"/>
              </a:ext>
            </a:extLst>
          </p:cNvPr>
          <p:cNvSpPr/>
          <p:nvPr/>
        </p:nvSpPr>
        <p:spPr>
          <a:xfrm>
            <a:off x="812800" y="4343400"/>
            <a:ext cx="8458200" cy="558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正方形/長方形 14">
            <a:extLst>
              <a:ext uri="{FF2B5EF4-FFF2-40B4-BE49-F238E27FC236}">
                <a16:creationId xmlns:a16="http://schemas.microsoft.com/office/drawing/2014/main" id="{6BA1B226-149E-6449-ADD8-9C6CD349666B}"/>
              </a:ext>
            </a:extLst>
          </p:cNvPr>
          <p:cNvSpPr/>
          <p:nvPr/>
        </p:nvSpPr>
        <p:spPr>
          <a:xfrm>
            <a:off x="9271000" y="4343400"/>
            <a:ext cx="2108200" cy="558800"/>
          </a:xfrm>
          <a:prstGeom prst="rect">
            <a:avLst/>
          </a:prstGeom>
          <a:solidFill>
            <a:srgbClr val="BFC4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665AECD4-4114-034C-9AFD-19A37B16194F}"/>
              </a:ext>
            </a:extLst>
          </p:cNvPr>
          <p:cNvSpPr txBox="1"/>
          <p:nvPr/>
        </p:nvSpPr>
        <p:spPr>
          <a:xfrm>
            <a:off x="1016000" y="4508500"/>
            <a:ext cx="8051800" cy="254000"/>
          </a:xfrm>
          <a:prstGeom prst="rect">
            <a:avLst/>
          </a:prstGeom>
          <a:noFill/>
        </p:spPr>
        <p:txBody>
          <a:bodyPr vertOverflow="overflow" vert="horz" wrap="square" rtlCol="0" anchor="t" anchorCtr="0">
            <a:noAutofit/>
          </a:bodyPr>
          <a:lstStyle/>
          <a:p>
            <a:pPr algn="l"/>
            <a:r>
              <a:rPr lang="ja-JP" altLang="en-US" sz="1400" b="1">
                <a:solidFill>
                  <a:srgbClr val="FFFFFF"/>
                </a:solidFill>
                <a:latin typeface="Yu Gothic UI"/>
                <a:ea typeface="Yu Gothic UI"/>
              </a:rPr>
              <a:t>コア層　約</a:t>
            </a:r>
            <a:r>
              <a:rPr lang="en-US" altLang="ja-JP" sz="1400" b="1">
                <a:solidFill>
                  <a:srgbClr val="FFFFFF"/>
                </a:solidFill>
                <a:latin typeface="Yu Gothic UI"/>
                <a:ea typeface="Yu Gothic UI"/>
              </a:rPr>
              <a:t>80%</a:t>
            </a:r>
            <a:r>
              <a:rPr lang="ja-JP" altLang="en-US" sz="1400" b="1">
                <a:solidFill>
                  <a:srgbClr val="FFFFFF"/>
                </a:solidFill>
                <a:latin typeface="Yu Gothic UI"/>
                <a:ea typeface="Yu Gothic UI"/>
              </a:rPr>
              <a:t>　</a:t>
            </a:r>
            <a:r>
              <a:rPr lang="en-US" altLang="ja-JP" sz="1400" b="1">
                <a:solidFill>
                  <a:srgbClr val="FFFFFF"/>
                </a:solidFill>
                <a:latin typeface="Yu Gothic UI"/>
                <a:ea typeface="Yu Gothic UI"/>
              </a:rPr>
              <a:t>—</a:t>
            </a:r>
            <a:r>
              <a:rPr lang="ja-JP" altLang="en-US" sz="1400" b="1">
                <a:solidFill>
                  <a:srgbClr val="FFFFFF"/>
                </a:solidFill>
                <a:latin typeface="Yu Gothic UI"/>
                <a:ea typeface="Yu Gothic UI"/>
              </a:rPr>
              <a:t>　本基盤に統合する</a:t>
            </a:r>
          </a:p>
        </p:txBody>
      </p:sp>
      <p:sp>
        <p:nvSpPr>
          <p:cNvPr id="17" name="テキスト ボックス 16">
            <a:extLst>
              <a:ext uri="{FF2B5EF4-FFF2-40B4-BE49-F238E27FC236}">
                <a16:creationId xmlns:a16="http://schemas.microsoft.com/office/drawing/2014/main" id="{4B53C041-36F7-4F4B-A8B3-972D990B07EE}"/>
              </a:ext>
            </a:extLst>
          </p:cNvPr>
          <p:cNvSpPr txBox="1"/>
          <p:nvPr/>
        </p:nvSpPr>
        <p:spPr>
          <a:xfrm>
            <a:off x="9423400" y="4508500"/>
            <a:ext cx="1803400" cy="254000"/>
          </a:xfrm>
          <a:prstGeom prst="rect">
            <a:avLst/>
          </a:prstGeom>
          <a:noFill/>
        </p:spPr>
        <p:txBody>
          <a:bodyPr vertOverflow="overflow" vert="horz" wrap="square" rtlCol="0" anchor="t" anchorCtr="0">
            <a:noAutofit/>
          </a:bodyPr>
          <a:lstStyle/>
          <a:p>
            <a:pPr algn="l"/>
            <a:r>
              <a:rPr lang="ja-JP" altLang="en-US" sz="1300" b="1">
                <a:solidFill>
                  <a:srgbClr val="3A3F45"/>
                </a:solidFill>
                <a:latin typeface="Yu Gothic UI"/>
                <a:ea typeface="Yu Gothic UI"/>
              </a:rPr>
              <a:t>エッジ層　最大</a:t>
            </a:r>
            <a:r>
              <a:rPr lang="en-US" altLang="ja-JP" sz="1300" b="1">
                <a:solidFill>
                  <a:srgbClr val="3A3F45"/>
                </a:solidFill>
                <a:latin typeface="Yu Gothic UI"/>
                <a:ea typeface="Yu Gothic UI"/>
              </a:rPr>
              <a:t>20%</a:t>
            </a:r>
            <a:endParaRPr lang="ja-JP" altLang="en-US" sz="1300" b="1">
              <a:solidFill>
                <a:srgbClr val="3A3F45"/>
              </a:solidFill>
              <a:latin typeface="Yu Gothic UI"/>
              <a:ea typeface="Yu Gothic UI"/>
            </a:endParaRPr>
          </a:p>
        </p:txBody>
      </p:sp>
      <p:sp>
        <p:nvSpPr>
          <p:cNvPr id="18" name="テキスト ボックス 17">
            <a:extLst>
              <a:ext uri="{FF2B5EF4-FFF2-40B4-BE49-F238E27FC236}">
                <a16:creationId xmlns:a16="http://schemas.microsoft.com/office/drawing/2014/main" id="{04144024-C38B-ED48-B6E1-0E926ED18350}"/>
              </a:ext>
            </a:extLst>
          </p:cNvPr>
          <p:cNvSpPr txBox="1"/>
          <p:nvPr/>
        </p:nvSpPr>
        <p:spPr>
          <a:xfrm>
            <a:off x="812800" y="5029200"/>
            <a:ext cx="10566400" cy="508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エッジ層は、</a:t>
            </a:r>
            <a:r>
              <a:rPr lang="en-US" altLang="ja-JP" sz="1200">
                <a:solidFill>
                  <a:srgbClr val="5A6472"/>
                </a:solidFill>
                <a:latin typeface="Yu Gothic UI"/>
                <a:ea typeface="Yu Gothic UI"/>
              </a:rPr>
              <a:t>5</a:t>
            </a:r>
            <a:r>
              <a:rPr lang="ja-JP" altLang="en-US" sz="1200">
                <a:solidFill>
                  <a:srgbClr val="5A6472"/>
                </a:solidFill>
                <a:latin typeface="Yu Gothic UI"/>
                <a:ea typeface="Yu Gothic UI"/>
              </a:rPr>
              <a:t>つの条件のいずれかに該当する場合に限り個別の</a:t>
            </a:r>
            <a:r>
              <a:rPr lang="en" altLang="ja-JP" sz="1200">
                <a:solidFill>
                  <a:srgbClr val="5A6472"/>
                </a:solidFill>
                <a:latin typeface="Yu Gothic UI"/>
                <a:ea typeface="Yu Gothic UI"/>
              </a:rPr>
              <a:t>ID</a:t>
            </a:r>
            <a:r>
              <a:rPr lang="ja-JP" altLang="en-US" sz="1200">
                <a:solidFill>
                  <a:srgbClr val="5A6472"/>
                </a:solidFill>
                <a:latin typeface="Yu Gothic UI"/>
                <a:ea typeface="Yu Gothic UI"/>
              </a:rPr>
              <a:t>基盤を許容します。その場合もフェデレーションで接続し、利用者から見たシングルサインオンは維持されます。上限を</a:t>
            </a:r>
            <a:r>
              <a:rPr lang="en-US" altLang="ja-JP" sz="1200">
                <a:solidFill>
                  <a:srgbClr val="5A6472"/>
                </a:solidFill>
                <a:latin typeface="Yu Gothic UI"/>
                <a:ea typeface="Yu Gothic UI"/>
              </a:rPr>
              <a:t>20%</a:t>
            </a:r>
            <a:r>
              <a:rPr lang="ja-JP" altLang="en-US" sz="1200">
                <a:solidFill>
                  <a:srgbClr val="5A6472"/>
                </a:solidFill>
                <a:latin typeface="Yu Gothic UI"/>
                <a:ea typeface="Yu Gothic UI"/>
              </a:rPr>
              <a:t>と先に決めているため、例外が無制限に増えることはありません。</a:t>
            </a:r>
          </a:p>
        </p:txBody>
      </p:sp>
      <p:sp>
        <p:nvSpPr>
          <p:cNvPr id="19" name="テキスト ボックス 18">
            <a:extLst>
              <a:ext uri="{FF2B5EF4-FFF2-40B4-BE49-F238E27FC236}">
                <a16:creationId xmlns:a16="http://schemas.microsoft.com/office/drawing/2014/main" id="{BA03BD33-81E3-BC41-9584-7AFBED7BAA8C}"/>
              </a:ext>
            </a:extLst>
          </p:cNvPr>
          <p:cNvSpPr txBox="1"/>
          <p:nvPr/>
        </p:nvSpPr>
        <p:spPr>
          <a:xfrm>
            <a:off x="812800" y="64008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出典：基本設計書「アーキテクチャ前提」（受け入れパターンと前提条件、コア／エッジ統合方針）</a:t>
            </a:r>
          </a:p>
        </p:txBody>
      </p:sp>
    </p:spTree>
    <p:extLst>
      <p:ext uri="{BB962C8B-B14F-4D97-AF65-F5344CB8AC3E}">
        <p14:creationId xmlns:p14="http://schemas.microsoft.com/office/powerpoint/2010/main" val="4023447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78D9D3D-14A9-1E49-A26C-BE668E36DB20}"/>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1F28B516-C46E-8643-801B-989C2EB97049}"/>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500" b="1">
                <a:solidFill>
                  <a:srgbClr val="1F3864"/>
                </a:solidFill>
                <a:latin typeface="Yu Gothic UI"/>
                <a:ea typeface="Yu Gothic UI"/>
              </a:rPr>
              <a:t>決定したこと </a:t>
            </a:r>
            <a:r>
              <a:rPr lang="en-US" altLang="ja-JP" sz="2500" b="1">
                <a:solidFill>
                  <a:srgbClr val="1F3864"/>
                </a:solidFill>
                <a:latin typeface="Yu Gothic UI"/>
                <a:ea typeface="Yu Gothic UI"/>
              </a:rPr>
              <a:t>— </a:t>
            </a:r>
            <a:r>
              <a:rPr lang="ja-JP" altLang="en-US" sz="2500" b="1">
                <a:solidFill>
                  <a:srgbClr val="1F3864"/>
                </a:solidFill>
                <a:latin typeface="Yu Gothic UI"/>
                <a:ea typeface="Yu Gothic UI"/>
              </a:rPr>
              <a:t>設計の骨格は固まっている</a:t>
            </a:r>
          </a:p>
        </p:txBody>
      </p:sp>
      <p:sp>
        <p:nvSpPr>
          <p:cNvPr id="4" name="テキスト ボックス 3">
            <a:extLst>
              <a:ext uri="{FF2B5EF4-FFF2-40B4-BE49-F238E27FC236}">
                <a16:creationId xmlns:a16="http://schemas.microsoft.com/office/drawing/2014/main" id="{C4EE28D1-C2E7-C84C-BC97-4C44BE4B7209}"/>
              </a:ext>
            </a:extLst>
          </p:cNvPr>
          <p:cNvSpPr txBox="1"/>
          <p:nvPr/>
        </p:nvSpPr>
        <p:spPr>
          <a:xfrm>
            <a:off x="812800" y="762000"/>
            <a:ext cx="10566400" cy="2794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基本設計として</a:t>
            </a:r>
            <a:r>
              <a:rPr lang="en-US" altLang="ja-JP" sz="1300">
                <a:solidFill>
                  <a:srgbClr val="5A6472"/>
                </a:solidFill>
                <a:latin typeface="Yu Gothic UI"/>
                <a:ea typeface="Yu Gothic UI"/>
              </a:rPr>
              <a:t>185</a:t>
            </a:r>
            <a:r>
              <a:rPr lang="ja-JP" altLang="en-US" sz="1300">
                <a:solidFill>
                  <a:srgbClr val="5A6472"/>
                </a:solidFill>
                <a:latin typeface="Yu Gothic UI"/>
                <a:ea typeface="Yu Gothic UI"/>
              </a:rPr>
              <a:t>件の設計判断を確定済み。以下は、後戻りが最も高くつく骨格部分の決定です。いずれも判断理由を記録に残しています。</a:t>
            </a:r>
          </a:p>
        </p:txBody>
      </p:sp>
      <p:sp>
        <p:nvSpPr>
          <p:cNvPr id="5" name="正方形/長方形 4">
            <a:extLst>
              <a:ext uri="{FF2B5EF4-FFF2-40B4-BE49-F238E27FC236}">
                <a16:creationId xmlns:a16="http://schemas.microsoft.com/office/drawing/2014/main" id="{242A7FF2-E143-1548-B3DC-6BB238FE31B5}"/>
              </a:ext>
            </a:extLst>
          </p:cNvPr>
          <p:cNvSpPr/>
          <p:nvPr/>
        </p:nvSpPr>
        <p:spPr>
          <a:xfrm>
            <a:off x="812800" y="12700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CE96940E-7F8A-B94D-9B78-1502CD1507F3}"/>
              </a:ext>
            </a:extLst>
          </p:cNvPr>
          <p:cNvSpPr/>
          <p:nvPr/>
        </p:nvSpPr>
        <p:spPr>
          <a:xfrm>
            <a:off x="812800" y="12700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D488B9F5-FC37-BA4C-A8B4-AE1CE5DF985A}"/>
              </a:ext>
            </a:extLst>
          </p:cNvPr>
          <p:cNvSpPr txBox="1"/>
          <p:nvPr/>
        </p:nvSpPr>
        <p:spPr>
          <a:xfrm>
            <a:off x="990600" y="1384300"/>
            <a:ext cx="3073400" cy="2540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2</a:t>
            </a:r>
            <a:r>
              <a:rPr lang="ja-JP" altLang="en-US" sz="1300" b="1">
                <a:solidFill>
                  <a:srgbClr val="1F3864"/>
                </a:solidFill>
                <a:latin typeface="Yu Gothic UI"/>
                <a:ea typeface="Yu Gothic UI"/>
              </a:rPr>
              <a:t>階層に分ける構成</a:t>
            </a:r>
          </a:p>
        </p:txBody>
      </p:sp>
      <p:sp>
        <p:nvSpPr>
          <p:cNvPr id="8" name="テキスト ボックス 7">
            <a:extLst>
              <a:ext uri="{FF2B5EF4-FFF2-40B4-BE49-F238E27FC236}">
                <a16:creationId xmlns:a16="http://schemas.microsoft.com/office/drawing/2014/main" id="{BB410BB5-0199-8D43-BE8E-C95B78EEF95F}"/>
              </a:ext>
            </a:extLst>
          </p:cNvPr>
          <p:cNvSpPr txBox="1"/>
          <p:nvPr/>
        </p:nvSpPr>
        <p:spPr>
          <a:xfrm>
            <a:off x="990600" y="16637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顧客</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基盤の受け入れ役と、認証情報を発行する役を分離。片方の障害や設定変更が全体に波及しない。</a:t>
            </a:r>
          </a:p>
        </p:txBody>
      </p:sp>
      <p:sp>
        <p:nvSpPr>
          <p:cNvPr id="9" name="正方形/長方形 8">
            <a:extLst>
              <a:ext uri="{FF2B5EF4-FFF2-40B4-BE49-F238E27FC236}">
                <a16:creationId xmlns:a16="http://schemas.microsoft.com/office/drawing/2014/main" id="{37346AE8-6727-A042-8815-53BC85FC598D}"/>
              </a:ext>
            </a:extLst>
          </p:cNvPr>
          <p:cNvSpPr/>
          <p:nvPr/>
        </p:nvSpPr>
        <p:spPr>
          <a:xfrm>
            <a:off x="4419600" y="12700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正方形/長方形 9">
            <a:extLst>
              <a:ext uri="{FF2B5EF4-FFF2-40B4-BE49-F238E27FC236}">
                <a16:creationId xmlns:a16="http://schemas.microsoft.com/office/drawing/2014/main" id="{25ED6B9A-DE55-F34A-A8BD-3A0947E67D4E}"/>
              </a:ext>
            </a:extLst>
          </p:cNvPr>
          <p:cNvSpPr/>
          <p:nvPr/>
        </p:nvSpPr>
        <p:spPr>
          <a:xfrm>
            <a:off x="4419600" y="12700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CEC9A9BB-B028-044E-A296-32886165908E}"/>
              </a:ext>
            </a:extLst>
          </p:cNvPr>
          <p:cNvSpPr txBox="1"/>
          <p:nvPr/>
        </p:nvSpPr>
        <p:spPr>
          <a:xfrm>
            <a:off x="4597400" y="1384300"/>
            <a:ext cx="3073400" cy="254000"/>
          </a:xfrm>
          <a:prstGeom prst="rect">
            <a:avLst/>
          </a:prstGeom>
          <a:noFill/>
        </p:spPr>
        <p:txBody>
          <a:bodyPr vertOverflow="overflow" vert="horz" wrap="square" rtlCol="0" anchor="t" anchorCtr="0">
            <a:noAutofit/>
          </a:bodyPr>
          <a:lstStyle/>
          <a:p>
            <a:pPr algn="l"/>
            <a:r>
              <a:rPr lang="ja-JP" altLang="en-US" sz="1300" b="1">
                <a:solidFill>
                  <a:srgbClr val="1F3864"/>
                </a:solidFill>
                <a:latin typeface="Yu Gothic UI"/>
                <a:ea typeface="Yu Gothic UI"/>
              </a:rPr>
              <a:t>ブランド単位で発行層を分離</a:t>
            </a:r>
          </a:p>
        </p:txBody>
      </p:sp>
      <p:sp>
        <p:nvSpPr>
          <p:cNvPr id="12" name="テキスト ボックス 11">
            <a:extLst>
              <a:ext uri="{FF2B5EF4-FFF2-40B4-BE49-F238E27FC236}">
                <a16:creationId xmlns:a16="http://schemas.microsoft.com/office/drawing/2014/main" id="{E3AB8BA0-DBB7-BE4B-AC8D-A46AA0D6A266}"/>
              </a:ext>
            </a:extLst>
          </p:cNvPr>
          <p:cNvSpPr txBox="1"/>
          <p:nvPr/>
        </p:nvSpPr>
        <p:spPr>
          <a:xfrm>
            <a:off x="4597400" y="16637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受付層は全顧客で共有し</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つ。発行層はブランドごとに別アカウント。第</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段階は</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ブランドで開始。</a:t>
            </a:r>
          </a:p>
        </p:txBody>
      </p:sp>
      <p:sp>
        <p:nvSpPr>
          <p:cNvPr id="13" name="正方形/長方形 12">
            <a:extLst>
              <a:ext uri="{FF2B5EF4-FFF2-40B4-BE49-F238E27FC236}">
                <a16:creationId xmlns:a16="http://schemas.microsoft.com/office/drawing/2014/main" id="{0EB3631C-6090-F24C-A92F-473046983F3B}"/>
              </a:ext>
            </a:extLst>
          </p:cNvPr>
          <p:cNvSpPr/>
          <p:nvPr/>
        </p:nvSpPr>
        <p:spPr>
          <a:xfrm>
            <a:off x="8026400" y="12700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B90D10BD-002A-144C-83D6-C1696389EE91}"/>
              </a:ext>
            </a:extLst>
          </p:cNvPr>
          <p:cNvSpPr/>
          <p:nvPr/>
        </p:nvSpPr>
        <p:spPr>
          <a:xfrm>
            <a:off x="8026400" y="12700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F20F3426-26C9-BA4D-907E-4C5ABBC4FB11}"/>
              </a:ext>
            </a:extLst>
          </p:cNvPr>
          <p:cNvSpPr txBox="1"/>
          <p:nvPr/>
        </p:nvSpPr>
        <p:spPr>
          <a:xfrm>
            <a:off x="8204200" y="1384300"/>
            <a:ext cx="3073400" cy="254000"/>
          </a:xfrm>
          <a:prstGeom prst="rect">
            <a:avLst/>
          </a:prstGeom>
          <a:noFill/>
        </p:spPr>
        <p:txBody>
          <a:bodyPr vertOverflow="overflow" vert="horz" wrap="square" rtlCol="0" anchor="t" anchorCtr="0">
            <a:noAutofit/>
          </a:bodyPr>
          <a:lstStyle/>
          <a:p>
            <a:pPr algn="l"/>
            <a:r>
              <a:rPr lang="ja-JP" altLang="en-US" sz="1300" b="1">
                <a:solidFill>
                  <a:srgbClr val="1F3864"/>
                </a:solidFill>
                <a:latin typeface="Yu Gothic UI"/>
                <a:ea typeface="Yu Gothic UI"/>
              </a:rPr>
              <a:t>テナントの分離方式</a:t>
            </a:r>
          </a:p>
        </p:txBody>
      </p:sp>
      <p:sp>
        <p:nvSpPr>
          <p:cNvPr id="16" name="テキスト ボックス 15">
            <a:extLst>
              <a:ext uri="{FF2B5EF4-FFF2-40B4-BE49-F238E27FC236}">
                <a16:creationId xmlns:a16="http://schemas.microsoft.com/office/drawing/2014/main" id="{BFBC8449-CC6F-8E40-83CB-0A9DF2038338}"/>
              </a:ext>
            </a:extLst>
          </p:cNvPr>
          <p:cNvSpPr txBox="1"/>
          <p:nvPr/>
        </p:nvSpPr>
        <p:spPr>
          <a:xfrm>
            <a:off x="8204200" y="16637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単一の管理領域に組織機能とテナント識別子を組み合わせる方式。</a:t>
            </a:r>
            <a:r>
              <a:rPr lang="en-US" altLang="ja-JP" sz="1100">
                <a:solidFill>
                  <a:srgbClr val="1D2125"/>
                </a:solidFill>
                <a:latin typeface="Yu Gothic UI"/>
                <a:ea typeface="Yu Gothic UI"/>
              </a:rPr>
              <a:t>1,000</a:t>
            </a:r>
            <a:r>
              <a:rPr lang="ja-JP" altLang="en-US" sz="1100">
                <a:solidFill>
                  <a:srgbClr val="1D2125"/>
                </a:solidFill>
                <a:latin typeface="Yu Gothic UI"/>
                <a:ea typeface="Yu Gothic UI"/>
              </a:rPr>
              <a:t>社超でも設定が破綻しない。</a:t>
            </a:r>
          </a:p>
        </p:txBody>
      </p:sp>
      <p:sp>
        <p:nvSpPr>
          <p:cNvPr id="17" name="正方形/長方形 16">
            <a:extLst>
              <a:ext uri="{FF2B5EF4-FFF2-40B4-BE49-F238E27FC236}">
                <a16:creationId xmlns:a16="http://schemas.microsoft.com/office/drawing/2014/main" id="{E2393DC1-9620-FD43-A218-DAC732BED33C}"/>
              </a:ext>
            </a:extLst>
          </p:cNvPr>
          <p:cNvSpPr/>
          <p:nvPr/>
        </p:nvSpPr>
        <p:spPr>
          <a:xfrm>
            <a:off x="812800" y="24384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正方形/長方形 17">
            <a:extLst>
              <a:ext uri="{FF2B5EF4-FFF2-40B4-BE49-F238E27FC236}">
                <a16:creationId xmlns:a16="http://schemas.microsoft.com/office/drawing/2014/main" id="{4F324BFA-1F85-704D-AC25-687DA93245F2}"/>
              </a:ext>
            </a:extLst>
          </p:cNvPr>
          <p:cNvSpPr/>
          <p:nvPr/>
        </p:nvSpPr>
        <p:spPr>
          <a:xfrm>
            <a:off x="812800" y="24384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テキスト ボックス 18">
            <a:extLst>
              <a:ext uri="{FF2B5EF4-FFF2-40B4-BE49-F238E27FC236}">
                <a16:creationId xmlns:a16="http://schemas.microsoft.com/office/drawing/2014/main" id="{DFED0F90-53E0-BE49-973B-5048432E5381}"/>
              </a:ext>
            </a:extLst>
          </p:cNvPr>
          <p:cNvSpPr txBox="1"/>
          <p:nvPr/>
        </p:nvSpPr>
        <p:spPr>
          <a:xfrm>
            <a:off x="990600" y="2552700"/>
            <a:ext cx="3073400" cy="254000"/>
          </a:xfrm>
          <a:prstGeom prst="rect">
            <a:avLst/>
          </a:prstGeom>
          <a:noFill/>
        </p:spPr>
        <p:txBody>
          <a:bodyPr vertOverflow="overflow" vert="horz" wrap="square" rtlCol="0" anchor="t" anchorCtr="0">
            <a:noAutofit/>
          </a:bodyPr>
          <a:lstStyle/>
          <a:p>
            <a:pPr algn="l"/>
            <a:r>
              <a:rPr lang="ja-JP" altLang="en-US" sz="1300" b="1">
                <a:solidFill>
                  <a:srgbClr val="1F3864"/>
                </a:solidFill>
                <a:latin typeface="Yu Gothic UI"/>
                <a:ea typeface="Yu Gothic UI"/>
              </a:rPr>
              <a:t>利用者情報の連携方式</a:t>
            </a:r>
          </a:p>
        </p:txBody>
      </p:sp>
      <p:sp>
        <p:nvSpPr>
          <p:cNvPr id="20" name="テキスト ボックス 19">
            <a:extLst>
              <a:ext uri="{FF2B5EF4-FFF2-40B4-BE49-F238E27FC236}">
                <a16:creationId xmlns:a16="http://schemas.microsoft.com/office/drawing/2014/main" id="{2964A492-C13E-0D45-A0A4-E05970B2FE35}"/>
              </a:ext>
            </a:extLst>
          </p:cNvPr>
          <p:cNvSpPr txBox="1"/>
          <p:nvPr/>
        </p:nvSpPr>
        <p:spPr>
          <a:xfrm>
            <a:off x="990600" y="28321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初回ログイン時の自動作成と、外部からの一括同期を併用。顧客の運用実態どちらにも対応できる。</a:t>
            </a:r>
          </a:p>
        </p:txBody>
      </p:sp>
      <p:sp>
        <p:nvSpPr>
          <p:cNvPr id="21" name="正方形/長方形 20">
            <a:extLst>
              <a:ext uri="{FF2B5EF4-FFF2-40B4-BE49-F238E27FC236}">
                <a16:creationId xmlns:a16="http://schemas.microsoft.com/office/drawing/2014/main" id="{A86945B4-353C-BD4F-A059-9EF294132E89}"/>
              </a:ext>
            </a:extLst>
          </p:cNvPr>
          <p:cNvSpPr/>
          <p:nvPr/>
        </p:nvSpPr>
        <p:spPr>
          <a:xfrm>
            <a:off x="4419600" y="24384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正方形/長方形 21">
            <a:extLst>
              <a:ext uri="{FF2B5EF4-FFF2-40B4-BE49-F238E27FC236}">
                <a16:creationId xmlns:a16="http://schemas.microsoft.com/office/drawing/2014/main" id="{F137CF48-0C15-284E-9405-0B7650147100}"/>
              </a:ext>
            </a:extLst>
          </p:cNvPr>
          <p:cNvSpPr/>
          <p:nvPr/>
        </p:nvSpPr>
        <p:spPr>
          <a:xfrm>
            <a:off x="4419600" y="24384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テキスト ボックス 22">
            <a:extLst>
              <a:ext uri="{FF2B5EF4-FFF2-40B4-BE49-F238E27FC236}">
                <a16:creationId xmlns:a16="http://schemas.microsoft.com/office/drawing/2014/main" id="{E0DD4569-88FF-2C4B-801D-DED1884A0E8A}"/>
              </a:ext>
            </a:extLst>
          </p:cNvPr>
          <p:cNvSpPr txBox="1"/>
          <p:nvPr/>
        </p:nvSpPr>
        <p:spPr>
          <a:xfrm>
            <a:off x="4597400" y="2552700"/>
            <a:ext cx="3073400" cy="254000"/>
          </a:xfrm>
          <a:prstGeom prst="rect">
            <a:avLst/>
          </a:prstGeom>
          <a:noFill/>
        </p:spPr>
        <p:txBody>
          <a:bodyPr vertOverflow="overflow" vert="horz" wrap="square" rtlCol="0" anchor="t" anchorCtr="0">
            <a:noAutofit/>
          </a:bodyPr>
          <a:lstStyle/>
          <a:p>
            <a:pPr algn="l"/>
            <a:r>
              <a:rPr lang="en" altLang="ja-JP" sz="1300" b="1">
                <a:solidFill>
                  <a:srgbClr val="1F3864"/>
                </a:solidFill>
                <a:latin typeface="Yu Gothic UI"/>
                <a:ea typeface="Yu Gothic UI"/>
              </a:rPr>
              <a:t>ID</a:t>
            </a:r>
            <a:r>
              <a:rPr lang="ja-JP" altLang="en-US" sz="1300" b="1">
                <a:solidFill>
                  <a:srgbClr val="1F3864"/>
                </a:solidFill>
                <a:latin typeface="Yu Gothic UI"/>
                <a:ea typeface="Yu Gothic UI"/>
              </a:rPr>
              <a:t>管理</a:t>
            </a:r>
            <a:r>
              <a:rPr lang="en" altLang="ja-JP" sz="1300" b="1">
                <a:solidFill>
                  <a:srgbClr val="1F3864"/>
                </a:solidFill>
                <a:latin typeface="Yu Gothic UI"/>
                <a:ea typeface="Yu Gothic UI"/>
              </a:rPr>
              <a:t>API</a:t>
            </a:r>
            <a:r>
              <a:rPr lang="ja-JP" altLang="en-US" sz="1300" b="1">
                <a:solidFill>
                  <a:srgbClr val="1F3864"/>
                </a:solidFill>
                <a:latin typeface="Yu Gothic UI"/>
                <a:ea typeface="Yu Gothic UI"/>
              </a:rPr>
              <a:t>の実行形態</a:t>
            </a:r>
          </a:p>
        </p:txBody>
      </p:sp>
      <p:sp>
        <p:nvSpPr>
          <p:cNvPr id="24" name="テキスト ボックス 23">
            <a:extLst>
              <a:ext uri="{FF2B5EF4-FFF2-40B4-BE49-F238E27FC236}">
                <a16:creationId xmlns:a16="http://schemas.microsoft.com/office/drawing/2014/main" id="{2377561D-9D56-B147-BB22-FBC22B19EE6C}"/>
              </a:ext>
            </a:extLst>
          </p:cNvPr>
          <p:cNvSpPr txBox="1"/>
          <p:nvPr/>
        </p:nvSpPr>
        <p:spPr>
          <a:xfrm>
            <a:off x="4597400" y="28321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サーバーレスで確定。常時稼働のサーバーを持たず、利用量に応じた費用構造にする。</a:t>
            </a:r>
          </a:p>
        </p:txBody>
      </p:sp>
      <p:sp>
        <p:nvSpPr>
          <p:cNvPr id="25" name="正方形/長方形 24">
            <a:extLst>
              <a:ext uri="{FF2B5EF4-FFF2-40B4-BE49-F238E27FC236}">
                <a16:creationId xmlns:a16="http://schemas.microsoft.com/office/drawing/2014/main" id="{436D3441-161D-8241-ADDF-A7EDBDDC23D3}"/>
              </a:ext>
            </a:extLst>
          </p:cNvPr>
          <p:cNvSpPr/>
          <p:nvPr/>
        </p:nvSpPr>
        <p:spPr>
          <a:xfrm>
            <a:off x="8026400" y="2438400"/>
            <a:ext cx="34036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6" name="正方形/長方形 25">
            <a:extLst>
              <a:ext uri="{FF2B5EF4-FFF2-40B4-BE49-F238E27FC236}">
                <a16:creationId xmlns:a16="http://schemas.microsoft.com/office/drawing/2014/main" id="{0B07410C-A327-854F-AA4D-329226812276}"/>
              </a:ext>
            </a:extLst>
          </p:cNvPr>
          <p:cNvSpPr/>
          <p:nvPr/>
        </p:nvSpPr>
        <p:spPr>
          <a:xfrm>
            <a:off x="8026400" y="2438400"/>
            <a:ext cx="38100" cy="1066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E9B21758-A714-A244-847F-49F47BE151ED}"/>
              </a:ext>
            </a:extLst>
          </p:cNvPr>
          <p:cNvSpPr txBox="1"/>
          <p:nvPr/>
        </p:nvSpPr>
        <p:spPr>
          <a:xfrm>
            <a:off x="8204200" y="2552700"/>
            <a:ext cx="3073400" cy="254000"/>
          </a:xfrm>
          <a:prstGeom prst="rect">
            <a:avLst/>
          </a:prstGeom>
          <a:noFill/>
        </p:spPr>
        <p:txBody>
          <a:bodyPr vertOverflow="overflow" vert="horz" wrap="square" rtlCol="0" anchor="t" anchorCtr="0">
            <a:noAutofit/>
          </a:bodyPr>
          <a:lstStyle/>
          <a:p>
            <a:pPr algn="l"/>
            <a:r>
              <a:rPr lang="ja-JP" altLang="en-US" sz="1300" b="1">
                <a:solidFill>
                  <a:srgbClr val="1F3864"/>
                </a:solidFill>
                <a:latin typeface="Yu Gothic UI"/>
                <a:ea typeface="Yu Gothic UI"/>
              </a:rPr>
              <a:t>有効期間とセッション方針</a:t>
            </a:r>
          </a:p>
        </p:txBody>
      </p:sp>
      <p:sp>
        <p:nvSpPr>
          <p:cNvPr id="28" name="テキスト ボックス 27">
            <a:extLst>
              <a:ext uri="{FF2B5EF4-FFF2-40B4-BE49-F238E27FC236}">
                <a16:creationId xmlns:a16="http://schemas.microsoft.com/office/drawing/2014/main" id="{2DD2E85D-B708-BF43-AC48-F79C7191045C}"/>
              </a:ext>
            </a:extLst>
          </p:cNvPr>
          <p:cNvSpPr txBox="1"/>
          <p:nvPr/>
        </p:nvSpPr>
        <p:spPr>
          <a:xfrm>
            <a:off x="8204200" y="2832100"/>
            <a:ext cx="3073400" cy="584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アクセス</a:t>
            </a:r>
            <a:r>
              <a:rPr lang="en-US" altLang="ja-JP" sz="1100">
                <a:solidFill>
                  <a:srgbClr val="1D2125"/>
                </a:solidFill>
                <a:latin typeface="Yu Gothic UI"/>
                <a:ea typeface="Yu Gothic UI"/>
              </a:rPr>
              <a:t>30</a:t>
            </a:r>
            <a:r>
              <a:rPr lang="ja-JP" altLang="en-US" sz="1100">
                <a:solidFill>
                  <a:srgbClr val="1D2125"/>
                </a:solidFill>
                <a:latin typeface="Yu Gothic UI"/>
                <a:ea typeface="Yu Gothic UI"/>
              </a:rPr>
              <a:t>分／更新</a:t>
            </a:r>
            <a:r>
              <a:rPr lang="en-US" altLang="ja-JP" sz="1100">
                <a:solidFill>
                  <a:srgbClr val="1D2125"/>
                </a:solidFill>
                <a:latin typeface="Yu Gothic UI"/>
                <a:ea typeface="Yu Gothic UI"/>
              </a:rPr>
              <a:t>30</a:t>
            </a:r>
            <a:r>
              <a:rPr lang="ja-JP" altLang="en-US" sz="1100">
                <a:solidFill>
                  <a:srgbClr val="1D2125"/>
                </a:solidFill>
                <a:latin typeface="Yu Gothic UI"/>
                <a:ea typeface="Yu Gothic UI"/>
              </a:rPr>
              <a:t>日／絶対上限</a:t>
            </a:r>
            <a:r>
              <a:rPr lang="en-US" altLang="ja-JP" sz="1100">
                <a:solidFill>
                  <a:srgbClr val="1D2125"/>
                </a:solidFill>
                <a:latin typeface="Yu Gothic UI"/>
                <a:ea typeface="Yu Gothic UI"/>
              </a:rPr>
              <a:t>24</a:t>
            </a:r>
            <a:r>
              <a:rPr lang="ja-JP" altLang="en-US" sz="1100">
                <a:solidFill>
                  <a:srgbClr val="1D2125"/>
                </a:solidFill>
                <a:latin typeface="Yu Gothic UI"/>
                <a:ea typeface="Yu Gothic UI"/>
              </a:rPr>
              <a:t>時間／無操作</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時間で確定。安全性と使い勝手の折り合いを明示。</a:t>
            </a:r>
          </a:p>
        </p:txBody>
      </p:sp>
      <p:sp>
        <p:nvSpPr>
          <p:cNvPr id="29" name="テキスト ボックス 28">
            <a:extLst>
              <a:ext uri="{FF2B5EF4-FFF2-40B4-BE49-F238E27FC236}">
                <a16:creationId xmlns:a16="http://schemas.microsoft.com/office/drawing/2014/main" id="{25229D0D-FCF7-694D-B856-52D37F7BBC96}"/>
              </a:ext>
            </a:extLst>
          </p:cNvPr>
          <p:cNvSpPr txBox="1"/>
          <p:nvPr/>
        </p:nvSpPr>
        <p:spPr>
          <a:xfrm>
            <a:off x="812800" y="36576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加えて、網羅性の再監査で「継続的なアクセス評価」「人以外の</a:t>
            </a:r>
            <a:r>
              <a:rPr lang="en" altLang="ja-JP" sz="1200">
                <a:solidFill>
                  <a:srgbClr val="5A6472"/>
                </a:solidFill>
                <a:latin typeface="Yu Gothic UI"/>
                <a:ea typeface="Yu Gothic UI"/>
              </a:rPr>
              <a:t>ID</a:t>
            </a:r>
            <a:r>
              <a:rPr lang="ja-JP" altLang="en-US" sz="1200">
                <a:solidFill>
                  <a:srgbClr val="5A6472"/>
                </a:solidFill>
                <a:latin typeface="Yu Gothic UI"/>
                <a:ea typeface="Yu Gothic UI"/>
              </a:rPr>
              <a:t>の管理」「認可判定の記録」の</a:t>
            </a:r>
            <a:r>
              <a:rPr lang="en-US" altLang="ja-JP" sz="1200">
                <a:solidFill>
                  <a:srgbClr val="5A6472"/>
                </a:solidFill>
                <a:latin typeface="Yu Gothic UI"/>
                <a:ea typeface="Yu Gothic UI"/>
              </a:rPr>
              <a:t>3</a:t>
            </a:r>
            <a:r>
              <a:rPr lang="ja-JP" altLang="en-US" sz="1200">
                <a:solidFill>
                  <a:srgbClr val="5A6472"/>
                </a:solidFill>
                <a:latin typeface="Yu Gothic UI"/>
                <a:ea typeface="Yu Gothic UI"/>
              </a:rPr>
              <a:t>点を新たに要件化し、設計へ反映済みです。</a:t>
            </a:r>
          </a:p>
        </p:txBody>
      </p:sp>
      <p:sp>
        <p:nvSpPr>
          <p:cNvPr id="30" name="テキスト ボックス 29">
            <a:extLst>
              <a:ext uri="{FF2B5EF4-FFF2-40B4-BE49-F238E27FC236}">
                <a16:creationId xmlns:a16="http://schemas.microsoft.com/office/drawing/2014/main" id="{C0B2EDC5-EB3E-2F4D-855D-092C6AEF668A}"/>
              </a:ext>
            </a:extLst>
          </p:cNvPr>
          <p:cNvSpPr txBox="1"/>
          <p:nvPr/>
        </p:nvSpPr>
        <p:spPr>
          <a:xfrm>
            <a:off x="812800" y="4089400"/>
            <a:ext cx="5080000" cy="2540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要件・論点 </a:t>
            </a:r>
            <a:r>
              <a:rPr lang="en-US" altLang="ja-JP" sz="1500" b="1">
                <a:solidFill>
                  <a:srgbClr val="1F3864"/>
                </a:solidFill>
                <a:latin typeface="Yu Gothic UI"/>
                <a:ea typeface="Yu Gothic UI"/>
              </a:rPr>
              <a:t>282</a:t>
            </a:r>
            <a:r>
              <a:rPr lang="ja-JP" altLang="en-US" sz="1500" b="1">
                <a:solidFill>
                  <a:srgbClr val="1F3864"/>
                </a:solidFill>
                <a:latin typeface="Yu Gothic UI"/>
                <a:ea typeface="Yu Gothic UI"/>
              </a:rPr>
              <a:t>件の決定状況</a:t>
            </a:r>
          </a:p>
        </p:txBody>
      </p:sp>
      <p:sp>
        <p:nvSpPr>
          <p:cNvPr id="31" name="正方形/長方形 30">
            <a:extLst>
              <a:ext uri="{FF2B5EF4-FFF2-40B4-BE49-F238E27FC236}">
                <a16:creationId xmlns:a16="http://schemas.microsoft.com/office/drawing/2014/main" id="{C282BD75-3B2C-8043-A754-1F271116E06A}"/>
              </a:ext>
            </a:extLst>
          </p:cNvPr>
          <p:cNvSpPr/>
          <p:nvPr/>
        </p:nvSpPr>
        <p:spPr>
          <a:xfrm>
            <a:off x="812800" y="4445000"/>
            <a:ext cx="26924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テキスト ボックス 31">
            <a:extLst>
              <a:ext uri="{FF2B5EF4-FFF2-40B4-BE49-F238E27FC236}">
                <a16:creationId xmlns:a16="http://schemas.microsoft.com/office/drawing/2014/main" id="{71A2EB80-DDD9-7244-AB3D-206EB322EA58}"/>
              </a:ext>
            </a:extLst>
          </p:cNvPr>
          <p:cNvSpPr txBox="1"/>
          <p:nvPr/>
        </p:nvSpPr>
        <p:spPr>
          <a:xfrm>
            <a:off x="812800" y="4597400"/>
            <a:ext cx="2692400" cy="228600"/>
          </a:xfrm>
          <a:prstGeom prst="rect">
            <a:avLst/>
          </a:prstGeom>
          <a:noFill/>
        </p:spPr>
        <p:txBody>
          <a:bodyPr vertOverflow="overflow" vert="horz" wrap="square" rtlCol="0" anchor="t" anchorCtr="0">
            <a:noAutofit/>
          </a:bodyPr>
          <a:lstStyle/>
          <a:p>
            <a:pPr algn="l"/>
            <a:r>
              <a:rPr lang="en-US" altLang="ja-JP" sz="1400" b="1">
                <a:solidFill>
                  <a:srgbClr val="FFFFFF"/>
                </a:solidFill>
                <a:latin typeface="Yu Gothic UI"/>
                <a:ea typeface="Yu Gothic UI"/>
              </a:rPr>
              <a:t>72</a:t>
            </a:r>
            <a:endParaRPr lang="ja-JP" altLang="en-US" sz="1400" b="1">
              <a:solidFill>
                <a:srgbClr val="FFFFFF"/>
              </a:solidFill>
              <a:latin typeface="Yu Gothic UI"/>
              <a:ea typeface="Yu Gothic UI"/>
            </a:endParaRPr>
          </a:p>
        </p:txBody>
      </p:sp>
      <p:sp>
        <p:nvSpPr>
          <p:cNvPr id="33" name="正方形/長方形 32">
            <a:extLst>
              <a:ext uri="{FF2B5EF4-FFF2-40B4-BE49-F238E27FC236}">
                <a16:creationId xmlns:a16="http://schemas.microsoft.com/office/drawing/2014/main" id="{0D0693F9-A122-C547-B98F-0BCDCBC663FA}"/>
              </a:ext>
            </a:extLst>
          </p:cNvPr>
          <p:cNvSpPr/>
          <p:nvPr/>
        </p:nvSpPr>
        <p:spPr>
          <a:xfrm>
            <a:off x="3505200" y="4445000"/>
            <a:ext cx="2959100" cy="5080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4" name="テキスト ボックス 33">
            <a:extLst>
              <a:ext uri="{FF2B5EF4-FFF2-40B4-BE49-F238E27FC236}">
                <a16:creationId xmlns:a16="http://schemas.microsoft.com/office/drawing/2014/main" id="{6523E83A-5854-294B-888A-D1DDE6D31EFA}"/>
              </a:ext>
            </a:extLst>
          </p:cNvPr>
          <p:cNvSpPr txBox="1"/>
          <p:nvPr/>
        </p:nvSpPr>
        <p:spPr>
          <a:xfrm>
            <a:off x="3505200" y="4597400"/>
            <a:ext cx="2959100" cy="228600"/>
          </a:xfrm>
          <a:prstGeom prst="rect">
            <a:avLst/>
          </a:prstGeom>
          <a:noFill/>
        </p:spPr>
        <p:txBody>
          <a:bodyPr vertOverflow="overflow" vert="horz" wrap="square" rtlCol="0" anchor="t" anchorCtr="0">
            <a:noAutofit/>
          </a:bodyPr>
          <a:lstStyle/>
          <a:p>
            <a:pPr algn="l"/>
            <a:r>
              <a:rPr lang="en-US" altLang="ja-JP" sz="1400" b="1">
                <a:solidFill>
                  <a:srgbClr val="FFFFFF"/>
                </a:solidFill>
                <a:latin typeface="Yu Gothic UI"/>
                <a:ea typeface="Yu Gothic UI"/>
              </a:rPr>
              <a:t>79</a:t>
            </a:r>
            <a:endParaRPr lang="ja-JP" altLang="en-US" sz="1400" b="1">
              <a:solidFill>
                <a:srgbClr val="FFFFFF"/>
              </a:solidFill>
              <a:latin typeface="Yu Gothic UI"/>
              <a:ea typeface="Yu Gothic UI"/>
            </a:endParaRPr>
          </a:p>
        </p:txBody>
      </p:sp>
      <p:sp>
        <p:nvSpPr>
          <p:cNvPr id="35" name="正方形/長方形 34">
            <a:extLst>
              <a:ext uri="{FF2B5EF4-FFF2-40B4-BE49-F238E27FC236}">
                <a16:creationId xmlns:a16="http://schemas.microsoft.com/office/drawing/2014/main" id="{C20218C4-9AFB-A040-B041-87CC676A55C1}"/>
              </a:ext>
            </a:extLst>
          </p:cNvPr>
          <p:cNvSpPr/>
          <p:nvPr/>
        </p:nvSpPr>
        <p:spPr>
          <a:xfrm>
            <a:off x="6464300" y="4445000"/>
            <a:ext cx="2057400" cy="5080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F14DE489-1A9D-E94E-81CA-BEA37497F343}"/>
              </a:ext>
            </a:extLst>
          </p:cNvPr>
          <p:cNvSpPr txBox="1"/>
          <p:nvPr/>
        </p:nvSpPr>
        <p:spPr>
          <a:xfrm>
            <a:off x="6464300" y="4597400"/>
            <a:ext cx="2057400" cy="228600"/>
          </a:xfrm>
          <a:prstGeom prst="rect">
            <a:avLst/>
          </a:prstGeom>
          <a:noFill/>
        </p:spPr>
        <p:txBody>
          <a:bodyPr vertOverflow="overflow" vert="horz" wrap="square" rtlCol="0" anchor="t" anchorCtr="0">
            <a:noAutofit/>
          </a:bodyPr>
          <a:lstStyle/>
          <a:p>
            <a:pPr algn="l"/>
            <a:r>
              <a:rPr lang="en-US" altLang="ja-JP" sz="1400" b="1">
                <a:solidFill>
                  <a:srgbClr val="FFFFFF"/>
                </a:solidFill>
                <a:latin typeface="Yu Gothic UI"/>
                <a:ea typeface="Yu Gothic UI"/>
              </a:rPr>
              <a:t>55</a:t>
            </a:r>
            <a:endParaRPr lang="ja-JP" altLang="en-US" sz="1400" b="1">
              <a:solidFill>
                <a:srgbClr val="FFFFFF"/>
              </a:solidFill>
              <a:latin typeface="Yu Gothic UI"/>
              <a:ea typeface="Yu Gothic UI"/>
            </a:endParaRPr>
          </a:p>
        </p:txBody>
      </p:sp>
      <p:sp>
        <p:nvSpPr>
          <p:cNvPr id="37" name="正方形/長方形 36">
            <a:extLst>
              <a:ext uri="{FF2B5EF4-FFF2-40B4-BE49-F238E27FC236}">
                <a16:creationId xmlns:a16="http://schemas.microsoft.com/office/drawing/2014/main" id="{1FAE4AEC-EC10-D94D-A3AB-5EECCA31DE9C}"/>
              </a:ext>
            </a:extLst>
          </p:cNvPr>
          <p:cNvSpPr/>
          <p:nvPr/>
        </p:nvSpPr>
        <p:spPr>
          <a:xfrm>
            <a:off x="8521700" y="4445000"/>
            <a:ext cx="2692400" cy="508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テキスト ボックス 37">
            <a:extLst>
              <a:ext uri="{FF2B5EF4-FFF2-40B4-BE49-F238E27FC236}">
                <a16:creationId xmlns:a16="http://schemas.microsoft.com/office/drawing/2014/main" id="{6DBDC049-1CDE-5A4D-BE41-DB20692F5D90}"/>
              </a:ext>
            </a:extLst>
          </p:cNvPr>
          <p:cNvSpPr txBox="1"/>
          <p:nvPr/>
        </p:nvSpPr>
        <p:spPr>
          <a:xfrm>
            <a:off x="8521700" y="4597400"/>
            <a:ext cx="2692400" cy="228600"/>
          </a:xfrm>
          <a:prstGeom prst="rect">
            <a:avLst/>
          </a:prstGeom>
          <a:noFill/>
        </p:spPr>
        <p:txBody>
          <a:bodyPr vertOverflow="overflow" vert="horz" wrap="square" rtlCol="0" anchor="t" anchorCtr="0">
            <a:noAutofit/>
          </a:bodyPr>
          <a:lstStyle/>
          <a:p>
            <a:pPr algn="l"/>
            <a:r>
              <a:rPr lang="en-US" altLang="ja-JP" sz="1400" b="1">
                <a:solidFill>
                  <a:srgbClr val="FFFFFF"/>
                </a:solidFill>
                <a:latin typeface="Yu Gothic UI"/>
                <a:ea typeface="Yu Gothic UI"/>
              </a:rPr>
              <a:t>72</a:t>
            </a:r>
            <a:endParaRPr lang="ja-JP" altLang="en-US" sz="1400" b="1">
              <a:solidFill>
                <a:srgbClr val="FFFFFF"/>
              </a:solidFill>
              <a:latin typeface="Yu Gothic UI"/>
              <a:ea typeface="Yu Gothic UI"/>
            </a:endParaRPr>
          </a:p>
        </p:txBody>
      </p:sp>
      <p:sp>
        <p:nvSpPr>
          <p:cNvPr id="39" name="正方形/長方形 38">
            <a:extLst>
              <a:ext uri="{FF2B5EF4-FFF2-40B4-BE49-F238E27FC236}">
                <a16:creationId xmlns:a16="http://schemas.microsoft.com/office/drawing/2014/main" id="{F16E2B1C-320C-3442-86BE-AF4515EEC7B5}"/>
              </a:ext>
            </a:extLst>
          </p:cNvPr>
          <p:cNvSpPr/>
          <p:nvPr/>
        </p:nvSpPr>
        <p:spPr>
          <a:xfrm>
            <a:off x="11226800" y="4445000"/>
            <a:ext cx="139700" cy="508000"/>
          </a:xfrm>
          <a:prstGeom prst="rect">
            <a:avLst/>
          </a:prstGeom>
          <a:solidFill>
            <a:srgbClr val="6B70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正方形/長方形 39">
            <a:extLst>
              <a:ext uri="{FF2B5EF4-FFF2-40B4-BE49-F238E27FC236}">
                <a16:creationId xmlns:a16="http://schemas.microsoft.com/office/drawing/2014/main" id="{6D83CD9E-1EC0-EE47-9F74-2ACA18751F44}"/>
              </a:ext>
            </a:extLst>
          </p:cNvPr>
          <p:cNvSpPr/>
          <p:nvPr/>
        </p:nvSpPr>
        <p:spPr>
          <a:xfrm>
            <a:off x="812800" y="5054600"/>
            <a:ext cx="165100" cy="1651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1" name="テキスト ボックス 40">
            <a:extLst>
              <a:ext uri="{FF2B5EF4-FFF2-40B4-BE49-F238E27FC236}">
                <a16:creationId xmlns:a16="http://schemas.microsoft.com/office/drawing/2014/main" id="{7195FCC2-1B87-2D40-882C-CD0304607CA9}"/>
              </a:ext>
            </a:extLst>
          </p:cNvPr>
          <p:cNvSpPr txBox="1"/>
          <p:nvPr/>
        </p:nvSpPr>
        <p:spPr>
          <a:xfrm>
            <a:off x="1016000" y="5029200"/>
            <a:ext cx="19050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確定　</a:t>
            </a:r>
            <a:r>
              <a:rPr lang="en-US" altLang="ja-JP" sz="1100">
                <a:solidFill>
                  <a:srgbClr val="5A6472"/>
                </a:solidFill>
                <a:latin typeface="Yu Gothic UI"/>
                <a:ea typeface="Yu Gothic UI"/>
              </a:rPr>
              <a:t>72</a:t>
            </a:r>
            <a:r>
              <a:rPr lang="ja-JP" altLang="en-US" sz="1100">
                <a:solidFill>
                  <a:srgbClr val="5A6472"/>
                </a:solidFill>
                <a:latin typeface="Yu Gothic UI"/>
                <a:ea typeface="Yu Gothic UI"/>
              </a:rPr>
              <a:t>件</a:t>
            </a:r>
          </a:p>
        </p:txBody>
      </p:sp>
      <p:sp>
        <p:nvSpPr>
          <p:cNvPr id="42" name="正方形/長方形 41">
            <a:extLst>
              <a:ext uri="{FF2B5EF4-FFF2-40B4-BE49-F238E27FC236}">
                <a16:creationId xmlns:a16="http://schemas.microsoft.com/office/drawing/2014/main" id="{BFAE2235-92C7-9F4E-AAF8-45077E295873}"/>
              </a:ext>
            </a:extLst>
          </p:cNvPr>
          <p:cNvSpPr/>
          <p:nvPr/>
        </p:nvSpPr>
        <p:spPr>
          <a:xfrm>
            <a:off x="2997200" y="5054600"/>
            <a:ext cx="165100" cy="1651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3" name="テキスト ボックス 42">
            <a:extLst>
              <a:ext uri="{FF2B5EF4-FFF2-40B4-BE49-F238E27FC236}">
                <a16:creationId xmlns:a16="http://schemas.microsoft.com/office/drawing/2014/main" id="{990830D2-E1E2-2F44-83FD-D576B616BB82}"/>
              </a:ext>
            </a:extLst>
          </p:cNvPr>
          <p:cNvSpPr txBox="1"/>
          <p:nvPr/>
        </p:nvSpPr>
        <p:spPr>
          <a:xfrm>
            <a:off x="3200400" y="5029200"/>
            <a:ext cx="19050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方向性確定　</a:t>
            </a:r>
            <a:r>
              <a:rPr lang="en-US" altLang="ja-JP" sz="1100">
                <a:solidFill>
                  <a:srgbClr val="5A6472"/>
                </a:solidFill>
                <a:latin typeface="Yu Gothic UI"/>
                <a:ea typeface="Yu Gothic UI"/>
              </a:rPr>
              <a:t>79</a:t>
            </a:r>
            <a:r>
              <a:rPr lang="ja-JP" altLang="en-US" sz="1100">
                <a:solidFill>
                  <a:srgbClr val="5A6472"/>
                </a:solidFill>
                <a:latin typeface="Yu Gothic UI"/>
                <a:ea typeface="Yu Gothic UI"/>
              </a:rPr>
              <a:t>件</a:t>
            </a:r>
          </a:p>
        </p:txBody>
      </p:sp>
      <p:sp>
        <p:nvSpPr>
          <p:cNvPr id="44" name="正方形/長方形 43">
            <a:extLst>
              <a:ext uri="{FF2B5EF4-FFF2-40B4-BE49-F238E27FC236}">
                <a16:creationId xmlns:a16="http://schemas.microsoft.com/office/drawing/2014/main" id="{1B8051ED-087B-7A4C-88EA-8B6E64CBE024}"/>
              </a:ext>
            </a:extLst>
          </p:cNvPr>
          <p:cNvSpPr/>
          <p:nvPr/>
        </p:nvSpPr>
        <p:spPr>
          <a:xfrm>
            <a:off x="5181600" y="5054600"/>
            <a:ext cx="165100" cy="1651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5" name="テキスト ボックス 44">
            <a:extLst>
              <a:ext uri="{FF2B5EF4-FFF2-40B4-BE49-F238E27FC236}">
                <a16:creationId xmlns:a16="http://schemas.microsoft.com/office/drawing/2014/main" id="{CB542B4F-9655-2743-AE44-57C442528A57}"/>
              </a:ext>
            </a:extLst>
          </p:cNvPr>
          <p:cNvSpPr txBox="1"/>
          <p:nvPr/>
        </p:nvSpPr>
        <p:spPr>
          <a:xfrm>
            <a:off x="5384800" y="5029200"/>
            <a:ext cx="19050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検討中　</a:t>
            </a:r>
            <a:r>
              <a:rPr lang="en-US" altLang="ja-JP" sz="1100">
                <a:solidFill>
                  <a:srgbClr val="5A6472"/>
                </a:solidFill>
                <a:latin typeface="Yu Gothic UI"/>
                <a:ea typeface="Yu Gothic UI"/>
              </a:rPr>
              <a:t>55</a:t>
            </a:r>
            <a:r>
              <a:rPr lang="ja-JP" altLang="en-US" sz="1100">
                <a:solidFill>
                  <a:srgbClr val="5A6472"/>
                </a:solidFill>
                <a:latin typeface="Yu Gothic UI"/>
                <a:ea typeface="Yu Gothic UI"/>
              </a:rPr>
              <a:t>件</a:t>
            </a:r>
          </a:p>
        </p:txBody>
      </p:sp>
      <p:sp>
        <p:nvSpPr>
          <p:cNvPr id="46" name="正方形/長方形 45">
            <a:extLst>
              <a:ext uri="{FF2B5EF4-FFF2-40B4-BE49-F238E27FC236}">
                <a16:creationId xmlns:a16="http://schemas.microsoft.com/office/drawing/2014/main" id="{92DEF931-E943-EF46-926F-CFC192ED24B5}"/>
              </a:ext>
            </a:extLst>
          </p:cNvPr>
          <p:cNvSpPr/>
          <p:nvPr/>
        </p:nvSpPr>
        <p:spPr>
          <a:xfrm>
            <a:off x="7366000" y="5054600"/>
            <a:ext cx="165100" cy="1651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7" name="テキスト ボックス 46">
            <a:extLst>
              <a:ext uri="{FF2B5EF4-FFF2-40B4-BE49-F238E27FC236}">
                <a16:creationId xmlns:a16="http://schemas.microsoft.com/office/drawing/2014/main" id="{B7172CC8-CACE-8342-A4FE-4E1E668D4221}"/>
              </a:ext>
            </a:extLst>
          </p:cNvPr>
          <p:cNvSpPr txBox="1"/>
          <p:nvPr/>
        </p:nvSpPr>
        <p:spPr>
          <a:xfrm>
            <a:off x="7569200" y="5029200"/>
            <a:ext cx="19050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外部回答待ち　</a:t>
            </a:r>
            <a:r>
              <a:rPr lang="en-US" altLang="ja-JP" sz="1100">
                <a:solidFill>
                  <a:srgbClr val="5A6472"/>
                </a:solidFill>
                <a:latin typeface="Yu Gothic UI"/>
                <a:ea typeface="Yu Gothic UI"/>
              </a:rPr>
              <a:t>72</a:t>
            </a:r>
            <a:r>
              <a:rPr lang="ja-JP" altLang="en-US" sz="1100">
                <a:solidFill>
                  <a:srgbClr val="5A6472"/>
                </a:solidFill>
                <a:latin typeface="Yu Gothic UI"/>
                <a:ea typeface="Yu Gothic UI"/>
              </a:rPr>
              <a:t>件</a:t>
            </a:r>
          </a:p>
        </p:txBody>
      </p:sp>
      <p:sp>
        <p:nvSpPr>
          <p:cNvPr id="48" name="正方形/長方形 47">
            <a:extLst>
              <a:ext uri="{FF2B5EF4-FFF2-40B4-BE49-F238E27FC236}">
                <a16:creationId xmlns:a16="http://schemas.microsoft.com/office/drawing/2014/main" id="{771B44CD-1622-654B-898B-3F5099D3E9A1}"/>
              </a:ext>
            </a:extLst>
          </p:cNvPr>
          <p:cNvSpPr/>
          <p:nvPr/>
        </p:nvSpPr>
        <p:spPr>
          <a:xfrm>
            <a:off x="9550400" y="5054600"/>
            <a:ext cx="165100" cy="165100"/>
          </a:xfrm>
          <a:prstGeom prst="rect">
            <a:avLst/>
          </a:prstGeom>
          <a:solidFill>
            <a:srgbClr val="6B707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テキスト ボックス 48">
            <a:extLst>
              <a:ext uri="{FF2B5EF4-FFF2-40B4-BE49-F238E27FC236}">
                <a16:creationId xmlns:a16="http://schemas.microsoft.com/office/drawing/2014/main" id="{FFEF73D5-5947-0348-9042-F2C990F6FD88}"/>
              </a:ext>
            </a:extLst>
          </p:cNvPr>
          <p:cNvSpPr txBox="1"/>
          <p:nvPr/>
        </p:nvSpPr>
        <p:spPr>
          <a:xfrm>
            <a:off x="9753600" y="5029200"/>
            <a:ext cx="19050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対象外　</a:t>
            </a:r>
            <a:r>
              <a:rPr lang="en-US" altLang="ja-JP" sz="1100">
                <a:solidFill>
                  <a:srgbClr val="5A6472"/>
                </a:solidFill>
                <a:latin typeface="Yu Gothic UI"/>
                <a:ea typeface="Yu Gothic UI"/>
              </a:rPr>
              <a:t>4</a:t>
            </a:r>
            <a:r>
              <a:rPr lang="ja-JP" altLang="en-US" sz="1100">
                <a:solidFill>
                  <a:srgbClr val="5A6472"/>
                </a:solidFill>
                <a:latin typeface="Yu Gothic UI"/>
                <a:ea typeface="Yu Gothic UI"/>
              </a:rPr>
              <a:t>件</a:t>
            </a:r>
          </a:p>
        </p:txBody>
      </p:sp>
      <p:sp>
        <p:nvSpPr>
          <p:cNvPr id="50" name="正方形/長方形 49">
            <a:extLst>
              <a:ext uri="{FF2B5EF4-FFF2-40B4-BE49-F238E27FC236}">
                <a16:creationId xmlns:a16="http://schemas.microsoft.com/office/drawing/2014/main" id="{9C90D25D-4284-B942-A013-61F70EEC73A1}"/>
              </a:ext>
            </a:extLst>
          </p:cNvPr>
          <p:cNvSpPr/>
          <p:nvPr/>
        </p:nvSpPr>
        <p:spPr>
          <a:xfrm>
            <a:off x="812800" y="5435600"/>
            <a:ext cx="10566400" cy="12700"/>
          </a:xfrm>
          <a:prstGeom prst="rect">
            <a:avLst/>
          </a:prstGeom>
          <a:solidFill>
            <a:srgbClr val="D3DAE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2B2EC138-A3F1-134C-9A48-55C491D4A41D}"/>
              </a:ext>
            </a:extLst>
          </p:cNvPr>
          <p:cNvSpPr txBox="1"/>
          <p:nvPr/>
        </p:nvSpPr>
        <p:spPr>
          <a:xfrm>
            <a:off x="812800" y="5588000"/>
            <a:ext cx="10566400" cy="254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決定済み </a:t>
            </a:r>
            <a:r>
              <a:rPr lang="en-US" altLang="ja-JP" sz="1300" b="1">
                <a:solidFill>
                  <a:srgbClr val="1D2125"/>
                </a:solidFill>
                <a:latin typeface="Yu Gothic UI"/>
                <a:ea typeface="Yu Gothic UI"/>
              </a:rPr>
              <a:t>151</a:t>
            </a:r>
            <a:r>
              <a:rPr lang="ja-JP" altLang="en-US" sz="1300" b="1">
                <a:solidFill>
                  <a:srgbClr val="1D2125"/>
                </a:solidFill>
                <a:latin typeface="Yu Gothic UI"/>
                <a:ea typeface="Yu Gothic UI"/>
              </a:rPr>
              <a:t>件（</a:t>
            </a:r>
            <a:r>
              <a:rPr lang="en-US" altLang="ja-JP" sz="1300" b="1">
                <a:solidFill>
                  <a:srgbClr val="1D2125"/>
                </a:solidFill>
                <a:latin typeface="Yu Gothic UI"/>
                <a:ea typeface="Yu Gothic UI"/>
              </a:rPr>
              <a:t>54%</a:t>
            </a:r>
            <a:r>
              <a:rPr lang="ja-JP" altLang="en-US" sz="1300" b="1">
                <a:solidFill>
                  <a:srgbClr val="1D2125"/>
                </a:solidFill>
                <a:latin typeface="Yu Gothic UI"/>
                <a:ea typeface="Yu Gothic UI"/>
              </a:rPr>
              <a:t>）＝ 確定</a:t>
            </a:r>
            <a:r>
              <a:rPr lang="en-US" altLang="ja-JP" sz="1300" b="1">
                <a:solidFill>
                  <a:srgbClr val="1D2125"/>
                </a:solidFill>
                <a:latin typeface="Yu Gothic UI"/>
                <a:ea typeface="Yu Gothic UI"/>
              </a:rPr>
              <a:t>72</a:t>
            </a:r>
            <a:r>
              <a:rPr lang="ja-JP" altLang="en-US" sz="1300" b="1">
                <a:solidFill>
                  <a:srgbClr val="1D2125"/>
                </a:solidFill>
                <a:latin typeface="Yu Gothic UI"/>
                <a:ea typeface="Yu Gothic UI"/>
              </a:rPr>
              <a:t>件 ＋ 推奨値を用意して承認待ち</a:t>
            </a:r>
            <a:r>
              <a:rPr lang="en-US" altLang="ja-JP" sz="1300" b="1">
                <a:solidFill>
                  <a:srgbClr val="1D2125"/>
                </a:solidFill>
                <a:latin typeface="Yu Gothic UI"/>
                <a:ea typeface="Yu Gothic UI"/>
              </a:rPr>
              <a:t>79</a:t>
            </a:r>
            <a:r>
              <a:rPr lang="ja-JP" altLang="en-US" sz="1300" b="1">
                <a:solidFill>
                  <a:srgbClr val="1D2125"/>
                </a:solidFill>
                <a:latin typeface="Yu Gothic UI"/>
                <a:ea typeface="Yu Gothic UI"/>
              </a:rPr>
              <a:t>件。「方向性確定」は判断材料が揃っており、承認さえ取れれば確定に移ります。</a:t>
            </a:r>
          </a:p>
        </p:txBody>
      </p:sp>
      <p:sp>
        <p:nvSpPr>
          <p:cNvPr id="52" name="テキスト ボックス 51">
            <a:extLst>
              <a:ext uri="{FF2B5EF4-FFF2-40B4-BE49-F238E27FC236}">
                <a16:creationId xmlns:a16="http://schemas.microsoft.com/office/drawing/2014/main" id="{5B6DEBF2-71E3-DA43-B955-A98903DCAE4C}"/>
              </a:ext>
            </a:extLst>
          </p:cNvPr>
          <p:cNvSpPr txBox="1"/>
          <p:nvPr/>
        </p:nvSpPr>
        <p:spPr>
          <a:xfrm>
            <a:off x="812800" y="64008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出典：要件・設計台帳（要件・論点</a:t>
            </a:r>
            <a:r>
              <a:rPr lang="en-US" altLang="ja-JP" sz="1000">
                <a:solidFill>
                  <a:srgbClr val="5A6472"/>
                </a:solidFill>
                <a:latin typeface="Yu Gothic UI"/>
                <a:ea typeface="Yu Gothic UI"/>
              </a:rPr>
              <a:t>282</a:t>
            </a:r>
            <a:r>
              <a:rPr lang="ja-JP" altLang="en-US" sz="1000">
                <a:solidFill>
                  <a:srgbClr val="5A6472"/>
                </a:solidFill>
                <a:latin typeface="Yu Gothic UI"/>
                <a:ea typeface="Yu Gothic UI"/>
              </a:rPr>
              <a:t>件、設計決定</a:t>
            </a:r>
            <a:r>
              <a:rPr lang="en-US" altLang="ja-JP" sz="1000">
                <a:solidFill>
                  <a:srgbClr val="5A6472"/>
                </a:solidFill>
                <a:latin typeface="Yu Gothic UI"/>
                <a:ea typeface="Yu Gothic UI"/>
              </a:rPr>
              <a:t>185</a:t>
            </a:r>
            <a:r>
              <a:rPr lang="ja-JP" altLang="en-US" sz="1000">
                <a:solidFill>
                  <a:srgbClr val="5A6472"/>
                </a:solidFill>
                <a:latin typeface="Yu Gothic UI"/>
                <a:ea typeface="Yu Gothic UI"/>
              </a:rPr>
              <a:t>件）</a:t>
            </a:r>
            <a:r>
              <a:rPr lang="en-US" altLang="ja-JP" sz="1000">
                <a:solidFill>
                  <a:srgbClr val="5A6472"/>
                </a:solidFill>
                <a:latin typeface="Yu Gothic UI"/>
                <a:ea typeface="Yu Gothic UI"/>
              </a:rPr>
              <a:t>2026-08-12 </a:t>
            </a:r>
            <a:r>
              <a:rPr lang="ja-JP" altLang="en-US" sz="1000">
                <a:solidFill>
                  <a:srgbClr val="5A6472"/>
                </a:solidFill>
                <a:latin typeface="Yu Gothic UI"/>
                <a:ea typeface="Yu Gothic UI"/>
              </a:rPr>
              <a:t>時点／基本設計書 全</a:t>
            </a:r>
            <a:r>
              <a:rPr lang="en-US" altLang="ja-JP" sz="1000">
                <a:solidFill>
                  <a:srgbClr val="5A6472"/>
                </a:solidFill>
                <a:latin typeface="Yu Gothic UI"/>
                <a:ea typeface="Yu Gothic UI"/>
              </a:rPr>
              <a:t>10</a:t>
            </a:r>
            <a:r>
              <a:rPr lang="ja-JP" altLang="en-US" sz="1000">
                <a:solidFill>
                  <a:srgbClr val="5A6472"/>
                </a:solidFill>
                <a:latin typeface="Yu Gothic UI"/>
                <a:ea typeface="Yu Gothic UI"/>
              </a:rPr>
              <a:t>単元および設計判断記録</a:t>
            </a:r>
          </a:p>
        </p:txBody>
      </p:sp>
    </p:spTree>
    <p:extLst>
      <p:ext uri="{BB962C8B-B14F-4D97-AF65-F5344CB8AC3E}">
        <p14:creationId xmlns:p14="http://schemas.microsoft.com/office/powerpoint/2010/main" val="1961698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E34AA03-F6B6-B343-83CE-8AEA555B4E27}"/>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9CC88B5D-2051-5D48-B048-9418EA1EB246}"/>
              </a:ext>
            </a:extLst>
          </p:cNvPr>
          <p:cNvSpPr txBox="1"/>
          <p:nvPr/>
        </p:nvSpPr>
        <p:spPr>
          <a:xfrm>
            <a:off x="812800" y="304800"/>
            <a:ext cx="9652000" cy="406400"/>
          </a:xfrm>
          <a:prstGeom prst="rect">
            <a:avLst/>
          </a:prstGeom>
          <a:noFill/>
        </p:spPr>
        <p:txBody>
          <a:bodyPr vertOverflow="overflow" vert="horz" wrap="square" rtlCol="0" anchor="t" anchorCtr="0">
            <a:noAutofit/>
          </a:bodyPr>
          <a:lstStyle/>
          <a:p>
            <a:pPr algn="l"/>
            <a:r>
              <a:rPr lang="ja-JP" altLang="en-US" sz="2500" b="1">
                <a:solidFill>
                  <a:srgbClr val="1F3864"/>
                </a:solidFill>
                <a:latin typeface="Yu Gothic UI"/>
                <a:ea typeface="Yu Gothic UI"/>
              </a:rPr>
              <a:t>決定していないこと </a:t>
            </a:r>
            <a:r>
              <a:rPr lang="en-US" altLang="ja-JP" sz="2500" b="1">
                <a:solidFill>
                  <a:srgbClr val="1F3864"/>
                </a:solidFill>
                <a:latin typeface="Yu Gothic UI"/>
                <a:ea typeface="Yu Gothic UI"/>
              </a:rPr>
              <a:t>— </a:t>
            </a:r>
            <a:r>
              <a:rPr lang="ja-JP" altLang="en-US" sz="2500" b="1">
                <a:solidFill>
                  <a:srgbClr val="1F3864"/>
                </a:solidFill>
                <a:latin typeface="Yu Gothic UI"/>
                <a:ea typeface="Yu Gothic UI"/>
              </a:rPr>
              <a:t>内訳と、止まっている理由</a:t>
            </a:r>
          </a:p>
        </p:txBody>
      </p:sp>
      <p:sp>
        <p:nvSpPr>
          <p:cNvPr id="4" name="テキスト ボックス 3">
            <a:extLst>
              <a:ext uri="{FF2B5EF4-FFF2-40B4-BE49-F238E27FC236}">
                <a16:creationId xmlns:a16="http://schemas.microsoft.com/office/drawing/2014/main" id="{40338723-1CCD-174D-B5CD-583959E01210}"/>
              </a:ext>
            </a:extLst>
          </p:cNvPr>
          <p:cNvSpPr txBox="1"/>
          <p:nvPr/>
        </p:nvSpPr>
        <p:spPr>
          <a:xfrm>
            <a:off x="812800" y="762000"/>
            <a:ext cx="10566400" cy="2794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残り</a:t>
            </a:r>
            <a:r>
              <a:rPr lang="en-US" altLang="ja-JP" sz="1300">
                <a:solidFill>
                  <a:srgbClr val="5A6472"/>
                </a:solidFill>
                <a:latin typeface="Yu Gothic UI"/>
                <a:ea typeface="Yu Gothic UI"/>
              </a:rPr>
              <a:t>127</a:t>
            </a:r>
            <a:r>
              <a:rPr lang="ja-JP" altLang="en-US" sz="1300">
                <a:solidFill>
                  <a:srgbClr val="5A6472"/>
                </a:solidFill>
                <a:latin typeface="Yu Gothic UI"/>
                <a:ea typeface="Yu Gothic UI"/>
              </a:rPr>
              <a:t>件。うち</a:t>
            </a:r>
            <a:r>
              <a:rPr lang="en-US" altLang="ja-JP" sz="1300">
                <a:solidFill>
                  <a:srgbClr val="5A6472"/>
                </a:solidFill>
                <a:latin typeface="Yu Gothic UI"/>
                <a:ea typeface="Yu Gothic UI"/>
              </a:rPr>
              <a:t>55</a:t>
            </a:r>
            <a:r>
              <a:rPr lang="ja-JP" altLang="en-US" sz="1300">
                <a:solidFill>
                  <a:srgbClr val="5A6472"/>
                </a:solidFill>
                <a:latin typeface="Yu Gothic UI"/>
                <a:ea typeface="Yu Gothic UI"/>
              </a:rPr>
              <a:t>件は自社だけで決められ、</a:t>
            </a:r>
            <a:r>
              <a:rPr lang="en-US" altLang="ja-JP" sz="1300">
                <a:solidFill>
                  <a:srgbClr val="5A6472"/>
                </a:solidFill>
                <a:latin typeface="Yu Gothic UI"/>
                <a:ea typeface="Yu Gothic UI"/>
              </a:rPr>
              <a:t>72</a:t>
            </a:r>
            <a:r>
              <a:rPr lang="ja-JP" altLang="en-US" sz="1300">
                <a:solidFill>
                  <a:srgbClr val="5A6472"/>
                </a:solidFill>
                <a:latin typeface="Yu Gothic UI"/>
                <a:ea typeface="Yu Gothic UI"/>
              </a:rPr>
              <a:t>件は他者の回答を待つものです。低い進捗率は品質の問題ではなく、依存関係の表れです。</a:t>
            </a:r>
          </a:p>
        </p:txBody>
      </p:sp>
      <p:sp>
        <p:nvSpPr>
          <p:cNvPr id="5" name="正方形/長方形 4">
            <a:extLst>
              <a:ext uri="{FF2B5EF4-FFF2-40B4-BE49-F238E27FC236}">
                <a16:creationId xmlns:a16="http://schemas.microsoft.com/office/drawing/2014/main" id="{86058FDF-A410-5441-9D0D-FFD66C625727}"/>
              </a:ext>
            </a:extLst>
          </p:cNvPr>
          <p:cNvSpPr/>
          <p:nvPr/>
        </p:nvSpPr>
        <p:spPr>
          <a:xfrm>
            <a:off x="812800" y="1270000"/>
            <a:ext cx="3403600" cy="1422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5B2A50D5-85CB-F642-8576-3107A563F5B6}"/>
              </a:ext>
            </a:extLst>
          </p:cNvPr>
          <p:cNvSpPr/>
          <p:nvPr/>
        </p:nvSpPr>
        <p:spPr>
          <a:xfrm>
            <a:off x="812800" y="1270000"/>
            <a:ext cx="3403600" cy="508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7B561AA-9EB5-B649-B988-E968ADAF6539}"/>
              </a:ext>
            </a:extLst>
          </p:cNvPr>
          <p:cNvSpPr txBox="1"/>
          <p:nvPr/>
        </p:nvSpPr>
        <p:spPr>
          <a:xfrm>
            <a:off x="1016000" y="1447800"/>
            <a:ext cx="2997200" cy="2540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① </a:t>
            </a:r>
            <a:r>
              <a:rPr lang="ja-JP" altLang="en-US" sz="1300" b="1">
                <a:solidFill>
                  <a:srgbClr val="1F3864"/>
                </a:solidFill>
                <a:latin typeface="Yu Gothic UI"/>
                <a:ea typeface="Yu Gothic UI"/>
              </a:rPr>
              <a:t>技術検証（自社で実測）</a:t>
            </a:r>
          </a:p>
        </p:txBody>
      </p:sp>
      <p:sp>
        <p:nvSpPr>
          <p:cNvPr id="8" name="テキスト ボックス 7">
            <a:extLst>
              <a:ext uri="{FF2B5EF4-FFF2-40B4-BE49-F238E27FC236}">
                <a16:creationId xmlns:a16="http://schemas.microsoft.com/office/drawing/2014/main" id="{67D32509-A7CB-FD46-ABE0-795A549DB6D1}"/>
              </a:ext>
            </a:extLst>
          </p:cNvPr>
          <p:cNvSpPr txBox="1"/>
          <p:nvPr/>
        </p:nvSpPr>
        <p:spPr>
          <a:xfrm>
            <a:off x="1016000" y="1727200"/>
            <a:ext cx="1524000" cy="330200"/>
          </a:xfrm>
          <a:prstGeom prst="rect">
            <a:avLst/>
          </a:prstGeom>
          <a:noFill/>
        </p:spPr>
        <p:txBody>
          <a:bodyPr vertOverflow="overflow" vert="horz" wrap="square" rtlCol="0" anchor="t" anchorCtr="0">
            <a:noAutofit/>
          </a:bodyPr>
          <a:lstStyle/>
          <a:p>
            <a:pPr algn="l"/>
            <a:r>
              <a:rPr lang="ja-JP" altLang="en-US" sz="2000" b="1">
                <a:solidFill>
                  <a:srgbClr val="B26B00"/>
                </a:solidFill>
                <a:latin typeface="Yu Gothic UI"/>
                <a:ea typeface="Yu Gothic UI"/>
              </a:rPr>
              <a:t>残 </a:t>
            </a:r>
            <a:r>
              <a:rPr lang="en-US" altLang="ja-JP" sz="2000" b="1">
                <a:solidFill>
                  <a:srgbClr val="B26B00"/>
                </a:solidFill>
                <a:latin typeface="Yu Gothic UI"/>
                <a:ea typeface="Yu Gothic UI"/>
              </a:rPr>
              <a:t>6 </a:t>
            </a:r>
            <a:r>
              <a:rPr lang="ja-JP" altLang="en-US" sz="2000" b="1">
                <a:solidFill>
                  <a:srgbClr val="B26B00"/>
                </a:solidFill>
                <a:latin typeface="Yu Gothic UI"/>
                <a:ea typeface="Yu Gothic UI"/>
              </a:rPr>
              <a:t>件</a:t>
            </a:r>
          </a:p>
        </p:txBody>
      </p:sp>
      <p:sp>
        <p:nvSpPr>
          <p:cNvPr id="9" name="テキスト ボックス 8">
            <a:extLst>
              <a:ext uri="{FF2B5EF4-FFF2-40B4-BE49-F238E27FC236}">
                <a16:creationId xmlns:a16="http://schemas.microsoft.com/office/drawing/2014/main" id="{E7C3CD5D-A619-CB45-89FB-4A349B232DCB}"/>
              </a:ext>
            </a:extLst>
          </p:cNvPr>
          <p:cNvSpPr txBox="1"/>
          <p:nvPr/>
        </p:nvSpPr>
        <p:spPr>
          <a:xfrm>
            <a:off x="1016000" y="2082800"/>
            <a:ext cx="2997200" cy="533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負荷試験と製品互換性の実機確認。他者を待たずに今すぐ着手できる。人員を割ければ消える。</a:t>
            </a:r>
          </a:p>
        </p:txBody>
      </p:sp>
      <p:sp>
        <p:nvSpPr>
          <p:cNvPr id="10" name="正方形/長方形 9">
            <a:extLst>
              <a:ext uri="{FF2B5EF4-FFF2-40B4-BE49-F238E27FC236}">
                <a16:creationId xmlns:a16="http://schemas.microsoft.com/office/drawing/2014/main" id="{52F46018-3FB1-4944-9D4A-76A4FE179433}"/>
              </a:ext>
            </a:extLst>
          </p:cNvPr>
          <p:cNvSpPr/>
          <p:nvPr/>
        </p:nvSpPr>
        <p:spPr>
          <a:xfrm>
            <a:off x="4419600" y="1270000"/>
            <a:ext cx="3403600" cy="1422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正方形/長方形 10">
            <a:extLst>
              <a:ext uri="{FF2B5EF4-FFF2-40B4-BE49-F238E27FC236}">
                <a16:creationId xmlns:a16="http://schemas.microsoft.com/office/drawing/2014/main" id="{702A39D6-C88B-6F47-9BDE-8A0E109453BF}"/>
              </a:ext>
            </a:extLst>
          </p:cNvPr>
          <p:cNvSpPr/>
          <p:nvPr/>
        </p:nvSpPr>
        <p:spPr>
          <a:xfrm>
            <a:off x="4419600" y="1270000"/>
            <a:ext cx="3403600" cy="508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5104E2D0-9283-AA41-BFE5-57F2C13AAEEE}"/>
              </a:ext>
            </a:extLst>
          </p:cNvPr>
          <p:cNvSpPr txBox="1"/>
          <p:nvPr/>
        </p:nvSpPr>
        <p:spPr>
          <a:xfrm>
            <a:off x="4622800" y="1447800"/>
            <a:ext cx="2997200" cy="2540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② </a:t>
            </a:r>
            <a:r>
              <a:rPr lang="ja-JP" altLang="en-US" sz="1300" b="1">
                <a:solidFill>
                  <a:srgbClr val="1F3864"/>
                </a:solidFill>
                <a:latin typeface="Yu Gothic UI"/>
                <a:ea typeface="Yu Gothic UI"/>
              </a:rPr>
              <a:t>他組織への要求仕様の回答</a:t>
            </a:r>
          </a:p>
        </p:txBody>
      </p:sp>
      <p:sp>
        <p:nvSpPr>
          <p:cNvPr id="13" name="テキスト ボックス 12">
            <a:extLst>
              <a:ext uri="{FF2B5EF4-FFF2-40B4-BE49-F238E27FC236}">
                <a16:creationId xmlns:a16="http://schemas.microsoft.com/office/drawing/2014/main" id="{AF1C1D2B-7FD2-1942-827D-F8FE3ADD3742}"/>
              </a:ext>
            </a:extLst>
          </p:cNvPr>
          <p:cNvSpPr txBox="1"/>
          <p:nvPr/>
        </p:nvSpPr>
        <p:spPr>
          <a:xfrm>
            <a:off x="4622800" y="1727200"/>
            <a:ext cx="1524000" cy="330200"/>
          </a:xfrm>
          <a:prstGeom prst="rect">
            <a:avLst/>
          </a:prstGeom>
          <a:noFill/>
        </p:spPr>
        <p:txBody>
          <a:bodyPr vertOverflow="overflow" vert="horz" wrap="square" rtlCol="0" anchor="t" anchorCtr="0">
            <a:noAutofit/>
          </a:bodyPr>
          <a:lstStyle/>
          <a:p>
            <a:pPr algn="l"/>
            <a:r>
              <a:rPr lang="ja-JP" altLang="en-US" sz="2000" b="1">
                <a:solidFill>
                  <a:srgbClr val="2E5FA3"/>
                </a:solidFill>
                <a:latin typeface="Yu Gothic UI"/>
                <a:ea typeface="Yu Gothic UI"/>
              </a:rPr>
              <a:t>残 </a:t>
            </a:r>
            <a:r>
              <a:rPr lang="en-US" altLang="ja-JP" sz="2000" b="1">
                <a:solidFill>
                  <a:srgbClr val="2E5FA3"/>
                </a:solidFill>
                <a:latin typeface="Yu Gothic UI"/>
                <a:ea typeface="Yu Gothic UI"/>
              </a:rPr>
              <a:t>8 </a:t>
            </a:r>
            <a:r>
              <a:rPr lang="ja-JP" altLang="en-US" sz="2000" b="1">
                <a:solidFill>
                  <a:srgbClr val="2E5FA3"/>
                </a:solidFill>
                <a:latin typeface="Yu Gothic UI"/>
                <a:ea typeface="Yu Gothic UI"/>
              </a:rPr>
              <a:t>件</a:t>
            </a:r>
          </a:p>
        </p:txBody>
      </p:sp>
      <p:sp>
        <p:nvSpPr>
          <p:cNvPr id="14" name="テキスト ボックス 13">
            <a:extLst>
              <a:ext uri="{FF2B5EF4-FFF2-40B4-BE49-F238E27FC236}">
                <a16:creationId xmlns:a16="http://schemas.microsoft.com/office/drawing/2014/main" id="{01DD6370-AB14-D04E-B0E6-8930FD067A1C}"/>
              </a:ext>
            </a:extLst>
          </p:cNvPr>
          <p:cNvSpPr txBox="1"/>
          <p:nvPr/>
        </p:nvSpPr>
        <p:spPr>
          <a:xfrm>
            <a:off x="4622800" y="2082800"/>
            <a:ext cx="2997200" cy="533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インターネットの出入口を管理する他組織へ要求仕様を提示し、回答を得る必要がある。</a:t>
            </a:r>
          </a:p>
        </p:txBody>
      </p:sp>
      <p:sp>
        <p:nvSpPr>
          <p:cNvPr id="15" name="正方形/長方形 14">
            <a:extLst>
              <a:ext uri="{FF2B5EF4-FFF2-40B4-BE49-F238E27FC236}">
                <a16:creationId xmlns:a16="http://schemas.microsoft.com/office/drawing/2014/main" id="{DAC6D479-CA37-6D45-9EBE-7C9803689715}"/>
              </a:ext>
            </a:extLst>
          </p:cNvPr>
          <p:cNvSpPr/>
          <p:nvPr/>
        </p:nvSpPr>
        <p:spPr>
          <a:xfrm>
            <a:off x="8026400" y="1270000"/>
            <a:ext cx="3403600" cy="1422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F48BE919-2321-014B-958F-FE0A1FC8B6BB}"/>
              </a:ext>
            </a:extLst>
          </p:cNvPr>
          <p:cNvSpPr/>
          <p:nvPr/>
        </p:nvSpPr>
        <p:spPr>
          <a:xfrm>
            <a:off x="8026400" y="1270000"/>
            <a:ext cx="3403600" cy="508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D855AC6B-7CBE-9649-BA88-D63F86F61E3D}"/>
              </a:ext>
            </a:extLst>
          </p:cNvPr>
          <p:cNvSpPr txBox="1"/>
          <p:nvPr/>
        </p:nvSpPr>
        <p:spPr>
          <a:xfrm>
            <a:off x="8229600" y="1447800"/>
            <a:ext cx="2997200" cy="2540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③ </a:t>
            </a:r>
            <a:r>
              <a:rPr lang="ja-JP" altLang="en-US" sz="1300" b="1">
                <a:solidFill>
                  <a:srgbClr val="1F3864"/>
                </a:solidFill>
                <a:latin typeface="Yu Gothic UI"/>
                <a:ea typeface="Yu Gothic UI"/>
              </a:rPr>
              <a:t>顧客へのヒアリング回答</a:t>
            </a:r>
          </a:p>
        </p:txBody>
      </p:sp>
      <p:sp>
        <p:nvSpPr>
          <p:cNvPr id="18" name="テキスト ボックス 17">
            <a:extLst>
              <a:ext uri="{FF2B5EF4-FFF2-40B4-BE49-F238E27FC236}">
                <a16:creationId xmlns:a16="http://schemas.microsoft.com/office/drawing/2014/main" id="{5474CED2-BD66-5E41-8DCC-3D94305927CC}"/>
              </a:ext>
            </a:extLst>
          </p:cNvPr>
          <p:cNvSpPr txBox="1"/>
          <p:nvPr/>
        </p:nvSpPr>
        <p:spPr>
          <a:xfrm>
            <a:off x="8229600" y="1727200"/>
            <a:ext cx="1524000" cy="330200"/>
          </a:xfrm>
          <a:prstGeom prst="rect">
            <a:avLst/>
          </a:prstGeom>
          <a:noFill/>
        </p:spPr>
        <p:txBody>
          <a:bodyPr vertOverflow="overflow" vert="horz" wrap="square" rtlCol="0" anchor="t" anchorCtr="0">
            <a:noAutofit/>
          </a:bodyPr>
          <a:lstStyle/>
          <a:p>
            <a:pPr algn="l"/>
            <a:r>
              <a:rPr lang="ja-JP" altLang="en-US" sz="2000" b="1">
                <a:solidFill>
                  <a:srgbClr val="2E5FA3"/>
                </a:solidFill>
                <a:latin typeface="Yu Gothic UI"/>
                <a:ea typeface="Yu Gothic UI"/>
              </a:rPr>
              <a:t>残 </a:t>
            </a:r>
            <a:r>
              <a:rPr lang="en-US" altLang="ja-JP" sz="2000" b="1">
                <a:solidFill>
                  <a:srgbClr val="2E5FA3"/>
                </a:solidFill>
                <a:latin typeface="Yu Gothic UI"/>
                <a:ea typeface="Yu Gothic UI"/>
              </a:rPr>
              <a:t>63 </a:t>
            </a:r>
            <a:r>
              <a:rPr lang="ja-JP" altLang="en-US" sz="2000" b="1">
                <a:solidFill>
                  <a:srgbClr val="2E5FA3"/>
                </a:solidFill>
                <a:latin typeface="Yu Gothic UI"/>
                <a:ea typeface="Yu Gothic UI"/>
              </a:rPr>
              <a:t>件</a:t>
            </a:r>
          </a:p>
        </p:txBody>
      </p:sp>
      <p:sp>
        <p:nvSpPr>
          <p:cNvPr id="19" name="テキスト ボックス 18">
            <a:extLst>
              <a:ext uri="{FF2B5EF4-FFF2-40B4-BE49-F238E27FC236}">
                <a16:creationId xmlns:a16="http://schemas.microsoft.com/office/drawing/2014/main" id="{7134266A-61F7-9F4D-AF66-AA41B044FCA1}"/>
              </a:ext>
            </a:extLst>
          </p:cNvPr>
          <p:cNvSpPr txBox="1"/>
          <p:nvPr/>
        </p:nvSpPr>
        <p:spPr>
          <a:xfrm>
            <a:off x="8229600" y="2082800"/>
            <a:ext cx="2997200" cy="533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質問状</a:t>
            </a:r>
            <a:r>
              <a:rPr lang="en-US" altLang="ja-JP" sz="1100">
                <a:solidFill>
                  <a:srgbClr val="1D2125"/>
                </a:solidFill>
                <a:latin typeface="Yu Gothic UI"/>
                <a:ea typeface="Yu Gothic UI"/>
              </a:rPr>
              <a:t>127</a:t>
            </a:r>
            <a:r>
              <a:rPr lang="ja-JP" altLang="en-US" sz="1100">
                <a:solidFill>
                  <a:srgbClr val="1D2125"/>
                </a:solidFill>
                <a:latin typeface="Yu Gothic UI"/>
                <a:ea typeface="Yu Gothic UI"/>
              </a:rPr>
              <a:t>項目のうち</a:t>
            </a:r>
            <a:r>
              <a:rPr lang="en-US" altLang="ja-JP" sz="1100">
                <a:solidFill>
                  <a:srgbClr val="1D2125"/>
                </a:solidFill>
                <a:latin typeface="Yu Gothic UI"/>
                <a:ea typeface="Yu Gothic UI"/>
              </a:rPr>
              <a:t>123</a:t>
            </a:r>
            <a:r>
              <a:rPr lang="ja-JP" altLang="en-US" sz="1100">
                <a:solidFill>
                  <a:srgbClr val="1D2125"/>
                </a:solidFill>
                <a:latin typeface="Yu Gothic UI"/>
                <a:ea typeface="Yu Gothic UI"/>
              </a:rPr>
              <a:t>項目が未回答。ここが全体の最大の律速要因。</a:t>
            </a:r>
          </a:p>
        </p:txBody>
      </p:sp>
      <p:sp>
        <p:nvSpPr>
          <p:cNvPr id="20" name="テキスト ボックス 19">
            <a:extLst>
              <a:ext uri="{FF2B5EF4-FFF2-40B4-BE49-F238E27FC236}">
                <a16:creationId xmlns:a16="http://schemas.microsoft.com/office/drawing/2014/main" id="{C80D6643-B979-C343-AD05-76AED9AE4825}"/>
              </a:ext>
            </a:extLst>
          </p:cNvPr>
          <p:cNvSpPr txBox="1"/>
          <p:nvPr/>
        </p:nvSpPr>
        <p:spPr>
          <a:xfrm>
            <a:off x="812800" y="2794000"/>
            <a:ext cx="10566400" cy="2540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r>
              <a:rPr lang="ja-JP" altLang="en-US" sz="1200">
                <a:solidFill>
                  <a:srgbClr val="5A6472"/>
                </a:solidFill>
                <a:latin typeface="Yu Gothic UI"/>
                <a:ea typeface="Yu Gothic UI"/>
              </a:rPr>
              <a:t>つのゲートはいずれも未充足ですが、件数の偏りが示すとおり律速は</a:t>
            </a:r>
            <a:r>
              <a:rPr lang="en-US" altLang="ja-JP" sz="1200">
                <a:solidFill>
                  <a:srgbClr val="5A6472"/>
                </a:solidFill>
                <a:latin typeface="Yu Gothic UI"/>
                <a:ea typeface="Yu Gothic UI"/>
              </a:rPr>
              <a:t>③</a:t>
            </a:r>
            <a:r>
              <a:rPr lang="ja-JP" altLang="en-US" sz="1200">
                <a:solidFill>
                  <a:srgbClr val="5A6472"/>
                </a:solidFill>
                <a:latin typeface="Yu Gothic UI"/>
                <a:ea typeface="Yu Gothic UI"/>
              </a:rPr>
              <a:t>です。</a:t>
            </a:r>
            <a:r>
              <a:rPr lang="en-US" altLang="ja-JP" sz="1200">
                <a:solidFill>
                  <a:srgbClr val="5A6472"/>
                </a:solidFill>
                <a:latin typeface="Yu Gothic UI"/>
                <a:ea typeface="Yu Gothic UI"/>
              </a:rPr>
              <a:t>①②</a:t>
            </a:r>
            <a:r>
              <a:rPr lang="ja-JP" altLang="en-US" sz="1200">
                <a:solidFill>
                  <a:srgbClr val="5A6472"/>
                </a:solidFill>
                <a:latin typeface="Yu Gothic UI"/>
                <a:ea typeface="Yu Gothic UI"/>
              </a:rPr>
              <a:t>は着手すれば短期に解消できる規模です。</a:t>
            </a:r>
          </a:p>
        </p:txBody>
      </p:sp>
      <p:sp>
        <p:nvSpPr>
          <p:cNvPr id="21" name="テキスト ボックス 20">
            <a:extLst>
              <a:ext uri="{FF2B5EF4-FFF2-40B4-BE49-F238E27FC236}">
                <a16:creationId xmlns:a16="http://schemas.microsoft.com/office/drawing/2014/main" id="{670CF635-F12A-734E-B7E2-91A8AF6B4C7A}"/>
              </a:ext>
            </a:extLst>
          </p:cNvPr>
          <p:cNvSpPr txBox="1"/>
          <p:nvPr/>
        </p:nvSpPr>
        <p:spPr>
          <a:xfrm>
            <a:off x="812800" y="3200400"/>
            <a:ext cx="6350000" cy="2540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外部の回答を待っている領域と、その理由</a:t>
            </a:r>
          </a:p>
        </p:txBody>
      </p:sp>
      <p:sp>
        <p:nvSpPr>
          <p:cNvPr id="22" name="テキスト ボックス 21">
            <a:extLst>
              <a:ext uri="{FF2B5EF4-FFF2-40B4-BE49-F238E27FC236}">
                <a16:creationId xmlns:a16="http://schemas.microsoft.com/office/drawing/2014/main" id="{52729781-E6C2-3745-844B-4228AD3357F4}"/>
              </a:ext>
            </a:extLst>
          </p:cNvPr>
          <p:cNvSpPr txBox="1"/>
          <p:nvPr/>
        </p:nvSpPr>
        <p:spPr>
          <a:xfrm>
            <a:off x="889000" y="35941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法令・コンプライアンス</a:t>
            </a:r>
          </a:p>
        </p:txBody>
      </p:sp>
      <p:sp>
        <p:nvSpPr>
          <p:cNvPr id="23" name="正方形/長方形 22">
            <a:extLst>
              <a:ext uri="{FF2B5EF4-FFF2-40B4-BE49-F238E27FC236}">
                <a16:creationId xmlns:a16="http://schemas.microsoft.com/office/drawing/2014/main" id="{1E83BFE6-AAC7-AF49-9C59-6421304B49D4}"/>
              </a:ext>
            </a:extLst>
          </p:cNvPr>
          <p:cNvSpPr/>
          <p:nvPr/>
        </p:nvSpPr>
        <p:spPr>
          <a:xfrm>
            <a:off x="2819400" y="3632200"/>
            <a:ext cx="1397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23772294-7E57-1649-B94E-46170A8297D9}"/>
              </a:ext>
            </a:extLst>
          </p:cNvPr>
          <p:cNvSpPr txBox="1"/>
          <p:nvPr/>
        </p:nvSpPr>
        <p:spPr>
          <a:xfrm>
            <a:off x="4292600" y="35941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11</a:t>
            </a:r>
            <a:r>
              <a:rPr lang="ja-JP" altLang="en-US" sz="1100" b="1">
                <a:solidFill>
                  <a:srgbClr val="2E5FA3"/>
                </a:solidFill>
                <a:latin typeface="Yu Gothic UI"/>
                <a:ea typeface="Yu Gothic UI"/>
              </a:rPr>
              <a:t>件</a:t>
            </a:r>
          </a:p>
        </p:txBody>
      </p:sp>
      <p:sp>
        <p:nvSpPr>
          <p:cNvPr id="25" name="テキスト ボックス 24">
            <a:extLst>
              <a:ext uri="{FF2B5EF4-FFF2-40B4-BE49-F238E27FC236}">
                <a16:creationId xmlns:a16="http://schemas.microsoft.com/office/drawing/2014/main" id="{BE4665FB-9CE4-CC48-9CCA-DB3F707C120C}"/>
              </a:ext>
            </a:extLst>
          </p:cNvPr>
          <p:cNvSpPr txBox="1"/>
          <p:nvPr/>
        </p:nvSpPr>
        <p:spPr>
          <a:xfrm>
            <a:off x="4953000" y="35941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対象となる法令と、認証取得の要否が顧客回答待ち。多くは提案書側・別枠組みで扱う範囲</a:t>
            </a:r>
          </a:p>
        </p:txBody>
      </p:sp>
      <p:sp>
        <p:nvSpPr>
          <p:cNvPr id="26" name="正方形/長方形 25">
            <a:extLst>
              <a:ext uri="{FF2B5EF4-FFF2-40B4-BE49-F238E27FC236}">
                <a16:creationId xmlns:a16="http://schemas.microsoft.com/office/drawing/2014/main" id="{54AC19A2-2635-2841-B0B0-5C188ECE7394}"/>
              </a:ext>
            </a:extLst>
          </p:cNvPr>
          <p:cNvSpPr/>
          <p:nvPr/>
        </p:nvSpPr>
        <p:spPr>
          <a:xfrm>
            <a:off x="812800" y="3848100"/>
            <a:ext cx="10566400" cy="317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8A1214DE-8EDA-524C-BD94-5A10F3744057}"/>
              </a:ext>
            </a:extLst>
          </p:cNvPr>
          <p:cNvSpPr txBox="1"/>
          <p:nvPr/>
        </p:nvSpPr>
        <p:spPr>
          <a:xfrm>
            <a:off x="889000" y="39116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可用性・災害復旧</a:t>
            </a:r>
          </a:p>
        </p:txBody>
      </p:sp>
      <p:sp>
        <p:nvSpPr>
          <p:cNvPr id="28" name="正方形/長方形 27">
            <a:extLst>
              <a:ext uri="{FF2B5EF4-FFF2-40B4-BE49-F238E27FC236}">
                <a16:creationId xmlns:a16="http://schemas.microsoft.com/office/drawing/2014/main" id="{34738C9C-0FA2-5D43-A18C-1C1E9127200E}"/>
              </a:ext>
            </a:extLst>
          </p:cNvPr>
          <p:cNvSpPr/>
          <p:nvPr/>
        </p:nvSpPr>
        <p:spPr>
          <a:xfrm>
            <a:off x="2819400" y="3949700"/>
            <a:ext cx="762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A486312F-8EB6-8B47-AD2F-5A8D80A8654A}"/>
              </a:ext>
            </a:extLst>
          </p:cNvPr>
          <p:cNvSpPr txBox="1"/>
          <p:nvPr/>
        </p:nvSpPr>
        <p:spPr>
          <a:xfrm>
            <a:off x="4292600" y="39116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6</a:t>
            </a:r>
            <a:r>
              <a:rPr lang="ja-JP" altLang="en-US" sz="1100" b="1">
                <a:solidFill>
                  <a:srgbClr val="2E5FA3"/>
                </a:solidFill>
                <a:latin typeface="Yu Gothic UI"/>
                <a:ea typeface="Yu Gothic UI"/>
              </a:rPr>
              <a:t>件</a:t>
            </a:r>
          </a:p>
        </p:txBody>
      </p:sp>
      <p:sp>
        <p:nvSpPr>
          <p:cNvPr id="30" name="テキスト ボックス 29">
            <a:extLst>
              <a:ext uri="{FF2B5EF4-FFF2-40B4-BE49-F238E27FC236}">
                <a16:creationId xmlns:a16="http://schemas.microsoft.com/office/drawing/2014/main" id="{9CC67E63-4AD1-5C42-A1A9-6574E88CD37B}"/>
              </a:ext>
            </a:extLst>
          </p:cNvPr>
          <p:cNvSpPr txBox="1"/>
          <p:nvPr/>
        </p:nvSpPr>
        <p:spPr>
          <a:xfrm>
            <a:off x="4953000" y="39116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稼働率と復旧目標の顧客合意待ち。設計側は手動復旧・約</a:t>
            </a:r>
            <a:r>
              <a:rPr lang="en-US" altLang="ja-JP" sz="1100">
                <a:solidFill>
                  <a:srgbClr val="5A6472"/>
                </a:solidFill>
                <a:latin typeface="Yu Gothic UI"/>
                <a:ea typeface="Yu Gothic UI"/>
              </a:rPr>
              <a:t>14</a:t>
            </a:r>
            <a:r>
              <a:rPr lang="ja-JP" altLang="en-US" sz="1100">
                <a:solidFill>
                  <a:srgbClr val="5A6472"/>
                </a:solidFill>
                <a:latin typeface="Yu Gothic UI"/>
                <a:ea typeface="Yu Gothic UI"/>
              </a:rPr>
              <a:t>日で確定済み</a:t>
            </a:r>
          </a:p>
        </p:txBody>
      </p:sp>
      <p:sp>
        <p:nvSpPr>
          <p:cNvPr id="31" name="テキスト ボックス 30">
            <a:extLst>
              <a:ext uri="{FF2B5EF4-FFF2-40B4-BE49-F238E27FC236}">
                <a16:creationId xmlns:a16="http://schemas.microsoft.com/office/drawing/2014/main" id="{819171DB-7F51-0E4E-BF97-7CBA0F8F70E9}"/>
              </a:ext>
            </a:extLst>
          </p:cNvPr>
          <p:cNvSpPr txBox="1"/>
          <p:nvPr/>
        </p:nvSpPr>
        <p:spPr>
          <a:xfrm>
            <a:off x="889000" y="42291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運用・監視</a:t>
            </a:r>
          </a:p>
        </p:txBody>
      </p:sp>
      <p:sp>
        <p:nvSpPr>
          <p:cNvPr id="32" name="正方形/長方形 31">
            <a:extLst>
              <a:ext uri="{FF2B5EF4-FFF2-40B4-BE49-F238E27FC236}">
                <a16:creationId xmlns:a16="http://schemas.microsoft.com/office/drawing/2014/main" id="{D8F98599-EAD5-074F-8E6E-D53659D4DA07}"/>
              </a:ext>
            </a:extLst>
          </p:cNvPr>
          <p:cNvSpPr/>
          <p:nvPr/>
        </p:nvSpPr>
        <p:spPr>
          <a:xfrm>
            <a:off x="2819400" y="4267200"/>
            <a:ext cx="762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5744C527-D572-6D43-A5F2-E03E3DA959AC}"/>
              </a:ext>
            </a:extLst>
          </p:cNvPr>
          <p:cNvSpPr txBox="1"/>
          <p:nvPr/>
        </p:nvSpPr>
        <p:spPr>
          <a:xfrm>
            <a:off x="4292600" y="42291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6</a:t>
            </a:r>
            <a:r>
              <a:rPr lang="ja-JP" altLang="en-US" sz="1100" b="1">
                <a:solidFill>
                  <a:srgbClr val="2E5FA3"/>
                </a:solidFill>
                <a:latin typeface="Yu Gothic UI"/>
                <a:ea typeface="Yu Gothic UI"/>
              </a:rPr>
              <a:t>件</a:t>
            </a:r>
          </a:p>
        </p:txBody>
      </p:sp>
      <p:sp>
        <p:nvSpPr>
          <p:cNvPr id="34" name="テキスト ボックス 33">
            <a:extLst>
              <a:ext uri="{FF2B5EF4-FFF2-40B4-BE49-F238E27FC236}">
                <a16:creationId xmlns:a16="http://schemas.microsoft.com/office/drawing/2014/main" id="{6B525AFB-1743-594B-BC71-92007A1AD6F1}"/>
              </a:ext>
            </a:extLst>
          </p:cNvPr>
          <p:cNvSpPr txBox="1"/>
          <p:nvPr/>
        </p:nvSpPr>
        <p:spPr>
          <a:xfrm>
            <a:off x="4953000" y="42291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運用体制と工数の合意待ち。監視の方式そのものは決定済み</a:t>
            </a:r>
          </a:p>
        </p:txBody>
      </p:sp>
      <p:sp>
        <p:nvSpPr>
          <p:cNvPr id="35" name="正方形/長方形 34">
            <a:extLst>
              <a:ext uri="{FF2B5EF4-FFF2-40B4-BE49-F238E27FC236}">
                <a16:creationId xmlns:a16="http://schemas.microsoft.com/office/drawing/2014/main" id="{4FA36528-A7BF-5D44-9BC6-B3C63A5CB077}"/>
              </a:ext>
            </a:extLst>
          </p:cNvPr>
          <p:cNvSpPr/>
          <p:nvPr/>
        </p:nvSpPr>
        <p:spPr>
          <a:xfrm>
            <a:off x="812800" y="4483100"/>
            <a:ext cx="10566400" cy="317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4CC953B8-1284-CC49-AA89-81A18E0DA6BE}"/>
              </a:ext>
            </a:extLst>
          </p:cNvPr>
          <p:cNvSpPr txBox="1"/>
          <p:nvPr/>
        </p:nvSpPr>
        <p:spPr>
          <a:xfrm>
            <a:off x="889000" y="45466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外部</a:t>
            </a:r>
            <a:r>
              <a:rPr lang="en" altLang="ja-JP" sz="1200" b="1">
                <a:solidFill>
                  <a:srgbClr val="1D2125"/>
                </a:solidFill>
                <a:latin typeface="Yu Gothic UI"/>
                <a:ea typeface="Yu Gothic UI"/>
              </a:rPr>
              <a:t>ID</a:t>
            </a:r>
            <a:r>
              <a:rPr lang="ja-JP" altLang="en-US" sz="1200" b="1">
                <a:solidFill>
                  <a:srgbClr val="1D2125"/>
                </a:solidFill>
                <a:latin typeface="Yu Gothic UI"/>
                <a:ea typeface="Yu Gothic UI"/>
              </a:rPr>
              <a:t>連携</a:t>
            </a:r>
          </a:p>
        </p:txBody>
      </p:sp>
      <p:sp>
        <p:nvSpPr>
          <p:cNvPr id="37" name="正方形/長方形 36">
            <a:extLst>
              <a:ext uri="{FF2B5EF4-FFF2-40B4-BE49-F238E27FC236}">
                <a16:creationId xmlns:a16="http://schemas.microsoft.com/office/drawing/2014/main" id="{C3803457-B121-8740-8C9C-205D7AA589D8}"/>
              </a:ext>
            </a:extLst>
          </p:cNvPr>
          <p:cNvSpPr/>
          <p:nvPr/>
        </p:nvSpPr>
        <p:spPr>
          <a:xfrm>
            <a:off x="2819400" y="4584700"/>
            <a:ext cx="762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テキスト ボックス 37">
            <a:extLst>
              <a:ext uri="{FF2B5EF4-FFF2-40B4-BE49-F238E27FC236}">
                <a16:creationId xmlns:a16="http://schemas.microsoft.com/office/drawing/2014/main" id="{C69A1A9B-DAF0-E747-8BB3-C1247C80F7CB}"/>
              </a:ext>
            </a:extLst>
          </p:cNvPr>
          <p:cNvSpPr txBox="1"/>
          <p:nvPr/>
        </p:nvSpPr>
        <p:spPr>
          <a:xfrm>
            <a:off x="4292600" y="45466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6</a:t>
            </a:r>
            <a:r>
              <a:rPr lang="ja-JP" altLang="en-US" sz="1100" b="1">
                <a:solidFill>
                  <a:srgbClr val="2E5FA3"/>
                </a:solidFill>
                <a:latin typeface="Yu Gothic UI"/>
                <a:ea typeface="Yu Gothic UI"/>
              </a:rPr>
              <a:t>件</a:t>
            </a:r>
          </a:p>
        </p:txBody>
      </p:sp>
      <p:sp>
        <p:nvSpPr>
          <p:cNvPr id="39" name="テキスト ボックス 38">
            <a:extLst>
              <a:ext uri="{FF2B5EF4-FFF2-40B4-BE49-F238E27FC236}">
                <a16:creationId xmlns:a16="http://schemas.microsoft.com/office/drawing/2014/main" id="{AE54E9A4-CBAC-2D49-82A0-5A5AD633F9A1}"/>
              </a:ext>
            </a:extLst>
          </p:cNvPr>
          <p:cNvSpPr txBox="1"/>
          <p:nvPr/>
        </p:nvSpPr>
        <p:spPr>
          <a:xfrm>
            <a:off x="4953000" y="45466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顧客が使用中の</a:t>
            </a:r>
            <a:r>
              <a:rPr lang="en" altLang="ja-JP" sz="1100">
                <a:solidFill>
                  <a:srgbClr val="5A6472"/>
                </a:solidFill>
                <a:latin typeface="Yu Gothic UI"/>
                <a:ea typeface="Yu Gothic UI"/>
              </a:rPr>
              <a:t>ID</a:t>
            </a:r>
            <a:r>
              <a:rPr lang="ja-JP" altLang="en-US" sz="1100">
                <a:solidFill>
                  <a:srgbClr val="5A6472"/>
                </a:solidFill>
                <a:latin typeface="Yu Gothic UI"/>
                <a:ea typeface="Yu Gothic UI"/>
              </a:rPr>
              <a:t>製品と、その接続実態の回答待ち</a:t>
            </a:r>
          </a:p>
        </p:txBody>
      </p:sp>
      <p:sp>
        <p:nvSpPr>
          <p:cNvPr id="40" name="テキスト ボックス 39">
            <a:extLst>
              <a:ext uri="{FF2B5EF4-FFF2-40B4-BE49-F238E27FC236}">
                <a16:creationId xmlns:a16="http://schemas.microsoft.com/office/drawing/2014/main" id="{6D7FFAC5-2C43-2B40-B831-84973F585248}"/>
              </a:ext>
            </a:extLst>
          </p:cNvPr>
          <p:cNvSpPr txBox="1"/>
          <p:nvPr/>
        </p:nvSpPr>
        <p:spPr>
          <a:xfrm>
            <a:off x="889000" y="48641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認証方式</a:t>
            </a:r>
          </a:p>
        </p:txBody>
      </p:sp>
      <p:sp>
        <p:nvSpPr>
          <p:cNvPr id="41" name="正方形/長方形 40">
            <a:extLst>
              <a:ext uri="{FF2B5EF4-FFF2-40B4-BE49-F238E27FC236}">
                <a16:creationId xmlns:a16="http://schemas.microsoft.com/office/drawing/2014/main" id="{F124D650-05E9-4740-A53E-5FC7116AF563}"/>
              </a:ext>
            </a:extLst>
          </p:cNvPr>
          <p:cNvSpPr/>
          <p:nvPr/>
        </p:nvSpPr>
        <p:spPr>
          <a:xfrm>
            <a:off x="2819400" y="4902200"/>
            <a:ext cx="635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2" name="テキスト ボックス 41">
            <a:extLst>
              <a:ext uri="{FF2B5EF4-FFF2-40B4-BE49-F238E27FC236}">
                <a16:creationId xmlns:a16="http://schemas.microsoft.com/office/drawing/2014/main" id="{BB354441-2344-BF46-8FE5-59EB28451C83}"/>
              </a:ext>
            </a:extLst>
          </p:cNvPr>
          <p:cNvSpPr txBox="1"/>
          <p:nvPr/>
        </p:nvSpPr>
        <p:spPr>
          <a:xfrm>
            <a:off x="4292600" y="48641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5</a:t>
            </a:r>
            <a:r>
              <a:rPr lang="ja-JP" altLang="en-US" sz="1100" b="1">
                <a:solidFill>
                  <a:srgbClr val="2E5FA3"/>
                </a:solidFill>
                <a:latin typeface="Yu Gothic UI"/>
                <a:ea typeface="Yu Gothic UI"/>
              </a:rPr>
              <a:t>件</a:t>
            </a:r>
          </a:p>
        </p:txBody>
      </p:sp>
      <p:sp>
        <p:nvSpPr>
          <p:cNvPr id="43" name="テキスト ボックス 42">
            <a:extLst>
              <a:ext uri="{FF2B5EF4-FFF2-40B4-BE49-F238E27FC236}">
                <a16:creationId xmlns:a16="http://schemas.microsoft.com/office/drawing/2014/main" id="{FEBB99D2-48CF-9249-833F-FF1C165BC6E4}"/>
              </a:ext>
            </a:extLst>
          </p:cNvPr>
          <p:cNvSpPr txBox="1"/>
          <p:nvPr/>
        </p:nvSpPr>
        <p:spPr>
          <a:xfrm>
            <a:off x="4953000" y="48641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どの認証方式を備えるべきかの顧客方針待ち</a:t>
            </a:r>
          </a:p>
        </p:txBody>
      </p:sp>
      <p:sp>
        <p:nvSpPr>
          <p:cNvPr id="44" name="正方形/長方形 43">
            <a:extLst>
              <a:ext uri="{FF2B5EF4-FFF2-40B4-BE49-F238E27FC236}">
                <a16:creationId xmlns:a16="http://schemas.microsoft.com/office/drawing/2014/main" id="{246085D8-AE4F-D744-8438-B844BDA43FAB}"/>
              </a:ext>
            </a:extLst>
          </p:cNvPr>
          <p:cNvSpPr/>
          <p:nvPr/>
        </p:nvSpPr>
        <p:spPr>
          <a:xfrm>
            <a:off x="812800" y="5118100"/>
            <a:ext cx="10566400" cy="317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5" name="テキスト ボックス 44">
            <a:extLst>
              <a:ext uri="{FF2B5EF4-FFF2-40B4-BE49-F238E27FC236}">
                <a16:creationId xmlns:a16="http://schemas.microsoft.com/office/drawing/2014/main" id="{873F59F8-1BF4-0243-A167-36D705CBE779}"/>
              </a:ext>
            </a:extLst>
          </p:cNvPr>
          <p:cNvSpPr txBox="1"/>
          <p:nvPr/>
        </p:nvSpPr>
        <p:spPr>
          <a:xfrm>
            <a:off x="889000" y="51816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多要素認証</a:t>
            </a:r>
          </a:p>
        </p:txBody>
      </p:sp>
      <p:sp>
        <p:nvSpPr>
          <p:cNvPr id="46" name="正方形/長方形 45">
            <a:extLst>
              <a:ext uri="{FF2B5EF4-FFF2-40B4-BE49-F238E27FC236}">
                <a16:creationId xmlns:a16="http://schemas.microsoft.com/office/drawing/2014/main" id="{BABE6B5E-A0F4-6549-804E-F6500DB1CE6E}"/>
              </a:ext>
            </a:extLst>
          </p:cNvPr>
          <p:cNvSpPr/>
          <p:nvPr/>
        </p:nvSpPr>
        <p:spPr>
          <a:xfrm>
            <a:off x="2819400" y="5219700"/>
            <a:ext cx="635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7" name="テキスト ボックス 46">
            <a:extLst>
              <a:ext uri="{FF2B5EF4-FFF2-40B4-BE49-F238E27FC236}">
                <a16:creationId xmlns:a16="http://schemas.microsoft.com/office/drawing/2014/main" id="{1DA1EED5-3D43-1C4C-9176-B115AA577A09}"/>
              </a:ext>
            </a:extLst>
          </p:cNvPr>
          <p:cNvSpPr txBox="1"/>
          <p:nvPr/>
        </p:nvSpPr>
        <p:spPr>
          <a:xfrm>
            <a:off x="4292600" y="51816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5</a:t>
            </a:r>
            <a:r>
              <a:rPr lang="ja-JP" altLang="en-US" sz="1100" b="1">
                <a:solidFill>
                  <a:srgbClr val="2E5FA3"/>
                </a:solidFill>
                <a:latin typeface="Yu Gothic UI"/>
                <a:ea typeface="Yu Gothic UI"/>
              </a:rPr>
              <a:t>件</a:t>
            </a:r>
          </a:p>
        </p:txBody>
      </p:sp>
      <p:sp>
        <p:nvSpPr>
          <p:cNvPr id="48" name="テキスト ボックス 47">
            <a:extLst>
              <a:ext uri="{FF2B5EF4-FFF2-40B4-BE49-F238E27FC236}">
                <a16:creationId xmlns:a16="http://schemas.microsoft.com/office/drawing/2014/main" id="{521B5B9A-FC1C-D34D-911D-1C114D2D6881}"/>
              </a:ext>
            </a:extLst>
          </p:cNvPr>
          <p:cNvSpPr txBox="1"/>
          <p:nvPr/>
        </p:nvSpPr>
        <p:spPr>
          <a:xfrm>
            <a:off x="4953000" y="51816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どの認証手段を必須とするかの顧客方針待ち</a:t>
            </a:r>
          </a:p>
        </p:txBody>
      </p:sp>
      <p:sp>
        <p:nvSpPr>
          <p:cNvPr id="49" name="テキスト ボックス 48">
            <a:extLst>
              <a:ext uri="{FF2B5EF4-FFF2-40B4-BE49-F238E27FC236}">
                <a16:creationId xmlns:a16="http://schemas.microsoft.com/office/drawing/2014/main" id="{3998F208-C2C3-654F-B811-03C36FDA6F01}"/>
              </a:ext>
            </a:extLst>
          </p:cNvPr>
          <p:cNvSpPr txBox="1"/>
          <p:nvPr/>
        </p:nvSpPr>
        <p:spPr>
          <a:xfrm>
            <a:off x="889000" y="54991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基盤・ネットワーク</a:t>
            </a:r>
          </a:p>
        </p:txBody>
      </p:sp>
      <p:sp>
        <p:nvSpPr>
          <p:cNvPr id="50" name="正方形/長方形 49">
            <a:extLst>
              <a:ext uri="{FF2B5EF4-FFF2-40B4-BE49-F238E27FC236}">
                <a16:creationId xmlns:a16="http://schemas.microsoft.com/office/drawing/2014/main" id="{EC96D214-EC8E-BF4C-AE6D-97B47E408557}"/>
              </a:ext>
            </a:extLst>
          </p:cNvPr>
          <p:cNvSpPr/>
          <p:nvPr/>
        </p:nvSpPr>
        <p:spPr>
          <a:xfrm>
            <a:off x="2819400" y="5537200"/>
            <a:ext cx="635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920572E7-0C39-2E4B-87C2-6CA916E3DD60}"/>
              </a:ext>
            </a:extLst>
          </p:cNvPr>
          <p:cNvSpPr txBox="1"/>
          <p:nvPr/>
        </p:nvSpPr>
        <p:spPr>
          <a:xfrm>
            <a:off x="4292600" y="54991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5</a:t>
            </a:r>
            <a:r>
              <a:rPr lang="ja-JP" altLang="en-US" sz="1100" b="1">
                <a:solidFill>
                  <a:srgbClr val="2E5FA3"/>
                </a:solidFill>
                <a:latin typeface="Yu Gothic UI"/>
                <a:ea typeface="Yu Gothic UI"/>
              </a:rPr>
              <a:t>件</a:t>
            </a:r>
          </a:p>
        </p:txBody>
      </p:sp>
      <p:sp>
        <p:nvSpPr>
          <p:cNvPr id="52" name="テキスト ボックス 51">
            <a:extLst>
              <a:ext uri="{FF2B5EF4-FFF2-40B4-BE49-F238E27FC236}">
                <a16:creationId xmlns:a16="http://schemas.microsoft.com/office/drawing/2014/main" id="{816DDA4A-CAAA-A74B-A28F-68EC88E8A7CA}"/>
              </a:ext>
            </a:extLst>
          </p:cNvPr>
          <p:cNvSpPr txBox="1"/>
          <p:nvPr/>
        </p:nvSpPr>
        <p:spPr>
          <a:xfrm>
            <a:off x="4953000" y="54991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インターネットの出入口を管理する他組織の回答待ち</a:t>
            </a:r>
          </a:p>
        </p:txBody>
      </p:sp>
      <p:sp>
        <p:nvSpPr>
          <p:cNvPr id="53" name="正方形/長方形 52">
            <a:extLst>
              <a:ext uri="{FF2B5EF4-FFF2-40B4-BE49-F238E27FC236}">
                <a16:creationId xmlns:a16="http://schemas.microsoft.com/office/drawing/2014/main" id="{62974A2A-2D13-4341-AA80-3CD477F2B59F}"/>
              </a:ext>
            </a:extLst>
          </p:cNvPr>
          <p:cNvSpPr/>
          <p:nvPr/>
        </p:nvSpPr>
        <p:spPr>
          <a:xfrm>
            <a:off x="812800" y="5753100"/>
            <a:ext cx="10566400" cy="317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25679D98-251A-0648-9CB3-154971D2FECC}"/>
              </a:ext>
            </a:extLst>
          </p:cNvPr>
          <p:cNvSpPr txBox="1"/>
          <p:nvPr/>
        </p:nvSpPr>
        <p:spPr>
          <a:xfrm>
            <a:off x="889000" y="5816600"/>
            <a:ext cx="1879600" cy="2032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性能・拡張性</a:t>
            </a:r>
          </a:p>
        </p:txBody>
      </p:sp>
      <p:sp>
        <p:nvSpPr>
          <p:cNvPr id="55" name="正方形/長方形 54">
            <a:extLst>
              <a:ext uri="{FF2B5EF4-FFF2-40B4-BE49-F238E27FC236}">
                <a16:creationId xmlns:a16="http://schemas.microsoft.com/office/drawing/2014/main" id="{192242D8-D1FA-1545-9284-B1DDB40DF54F}"/>
              </a:ext>
            </a:extLst>
          </p:cNvPr>
          <p:cNvSpPr/>
          <p:nvPr/>
        </p:nvSpPr>
        <p:spPr>
          <a:xfrm>
            <a:off x="2819400" y="5854700"/>
            <a:ext cx="635000" cy="1270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6" name="テキスト ボックス 55">
            <a:extLst>
              <a:ext uri="{FF2B5EF4-FFF2-40B4-BE49-F238E27FC236}">
                <a16:creationId xmlns:a16="http://schemas.microsoft.com/office/drawing/2014/main" id="{943ED102-F98E-F24F-88E6-DEF101C9AD4D}"/>
              </a:ext>
            </a:extLst>
          </p:cNvPr>
          <p:cNvSpPr txBox="1"/>
          <p:nvPr/>
        </p:nvSpPr>
        <p:spPr>
          <a:xfrm>
            <a:off x="4292600" y="5816600"/>
            <a:ext cx="558800" cy="203200"/>
          </a:xfrm>
          <a:prstGeom prst="rect">
            <a:avLst/>
          </a:prstGeom>
          <a:noFill/>
        </p:spPr>
        <p:txBody>
          <a:bodyPr vertOverflow="overflow" vert="horz" wrap="square" rtlCol="0" anchor="t" anchorCtr="0">
            <a:noAutofit/>
          </a:bodyPr>
          <a:lstStyle/>
          <a:p>
            <a:pPr algn="l"/>
            <a:r>
              <a:rPr lang="en-US" altLang="ja-JP" sz="1100" b="1">
                <a:solidFill>
                  <a:srgbClr val="2E5FA3"/>
                </a:solidFill>
                <a:latin typeface="Yu Gothic UI"/>
                <a:ea typeface="Yu Gothic UI"/>
              </a:rPr>
              <a:t>5</a:t>
            </a:r>
            <a:r>
              <a:rPr lang="ja-JP" altLang="en-US" sz="1100" b="1">
                <a:solidFill>
                  <a:srgbClr val="2E5FA3"/>
                </a:solidFill>
                <a:latin typeface="Yu Gothic UI"/>
                <a:ea typeface="Yu Gothic UI"/>
              </a:rPr>
              <a:t>件</a:t>
            </a:r>
          </a:p>
        </p:txBody>
      </p:sp>
      <p:sp>
        <p:nvSpPr>
          <p:cNvPr id="57" name="テキスト ボックス 56">
            <a:extLst>
              <a:ext uri="{FF2B5EF4-FFF2-40B4-BE49-F238E27FC236}">
                <a16:creationId xmlns:a16="http://schemas.microsoft.com/office/drawing/2014/main" id="{CD53CF10-0EF3-5E4C-8E40-CB40EA3F2B55}"/>
              </a:ext>
            </a:extLst>
          </p:cNvPr>
          <p:cNvSpPr txBox="1"/>
          <p:nvPr/>
        </p:nvSpPr>
        <p:spPr>
          <a:xfrm>
            <a:off x="4953000" y="5816600"/>
            <a:ext cx="63500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想定規模と応答時間の目標値が顧客回答待ち</a:t>
            </a:r>
          </a:p>
        </p:txBody>
      </p:sp>
      <p:sp>
        <p:nvSpPr>
          <p:cNvPr id="58" name="正方形/長方形 57">
            <a:extLst>
              <a:ext uri="{FF2B5EF4-FFF2-40B4-BE49-F238E27FC236}">
                <a16:creationId xmlns:a16="http://schemas.microsoft.com/office/drawing/2014/main" id="{08BFA5E0-18C5-0249-A929-9C2255731623}"/>
              </a:ext>
            </a:extLst>
          </p:cNvPr>
          <p:cNvSpPr/>
          <p:nvPr/>
        </p:nvSpPr>
        <p:spPr>
          <a:xfrm>
            <a:off x="812800" y="5994400"/>
            <a:ext cx="10566400" cy="12700"/>
          </a:xfrm>
          <a:prstGeom prst="rect">
            <a:avLst/>
          </a:prstGeom>
          <a:solidFill>
            <a:srgbClr val="D3DAE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622CC011-846C-014C-A312-3B09CF8CF64F}"/>
              </a:ext>
            </a:extLst>
          </p:cNvPr>
          <p:cNvSpPr txBox="1"/>
          <p:nvPr/>
        </p:nvSpPr>
        <p:spPr>
          <a:xfrm>
            <a:off x="812800" y="6070600"/>
            <a:ext cx="10566400" cy="254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進捗が</a:t>
            </a:r>
            <a:r>
              <a:rPr lang="en-US" altLang="ja-JP" sz="1300" b="1">
                <a:solidFill>
                  <a:srgbClr val="1D2125"/>
                </a:solidFill>
                <a:latin typeface="Yu Gothic UI"/>
                <a:ea typeface="Yu Gothic UI"/>
              </a:rPr>
              <a:t>0%</a:t>
            </a:r>
            <a:r>
              <a:rPr lang="ja-JP" altLang="en-US" sz="1300" b="1">
                <a:solidFill>
                  <a:srgbClr val="1D2125"/>
                </a:solidFill>
                <a:latin typeface="Yu Gothic UI"/>
                <a:ea typeface="Yu Gothic UI"/>
              </a:rPr>
              <a:t>に近い領域（運用・監視、法令・コンプライアンス）も、方式は決まっており、残るのは合意と回答の取得です。</a:t>
            </a:r>
          </a:p>
        </p:txBody>
      </p:sp>
      <p:sp>
        <p:nvSpPr>
          <p:cNvPr id="60" name="テキスト ボックス 59">
            <a:extLst>
              <a:ext uri="{FF2B5EF4-FFF2-40B4-BE49-F238E27FC236}">
                <a16:creationId xmlns:a16="http://schemas.microsoft.com/office/drawing/2014/main" id="{4F25E93B-6DF0-EC46-9B4D-3615F7F91313}"/>
              </a:ext>
            </a:extLst>
          </p:cNvPr>
          <p:cNvSpPr txBox="1"/>
          <p:nvPr/>
        </p:nvSpPr>
        <p:spPr>
          <a:xfrm>
            <a:off x="812800" y="64008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出典：要件・設計台帳（状況区分別の集計）</a:t>
            </a:r>
            <a:r>
              <a:rPr lang="en-US" altLang="ja-JP" sz="1000">
                <a:solidFill>
                  <a:srgbClr val="5A6472"/>
                </a:solidFill>
                <a:latin typeface="Yu Gothic UI"/>
                <a:ea typeface="Yu Gothic UI"/>
              </a:rPr>
              <a:t>2026-08-12 </a:t>
            </a:r>
            <a:r>
              <a:rPr lang="ja-JP" altLang="en-US" sz="1000">
                <a:solidFill>
                  <a:srgbClr val="5A6472"/>
                </a:solidFill>
                <a:latin typeface="Yu Gothic UI"/>
                <a:ea typeface="Yu Gothic UI"/>
              </a:rPr>
              <a:t>時点／ヒアリング項目表 </a:t>
            </a:r>
            <a:r>
              <a:rPr lang="en-US" altLang="ja-JP" sz="1000">
                <a:solidFill>
                  <a:srgbClr val="5A6472"/>
                </a:solidFill>
                <a:latin typeface="Yu Gothic UI"/>
                <a:ea typeface="Yu Gothic UI"/>
              </a:rPr>
              <a:t>127</a:t>
            </a:r>
            <a:r>
              <a:rPr lang="ja-JP" altLang="en-US" sz="1000">
                <a:solidFill>
                  <a:srgbClr val="5A6472"/>
                </a:solidFill>
                <a:latin typeface="Yu Gothic UI"/>
                <a:ea typeface="Yu Gothic UI"/>
              </a:rPr>
              <a:t>項目</a:t>
            </a:r>
          </a:p>
        </p:txBody>
      </p:sp>
    </p:spTree>
    <p:extLst>
      <p:ext uri="{BB962C8B-B14F-4D97-AF65-F5344CB8AC3E}">
        <p14:creationId xmlns:p14="http://schemas.microsoft.com/office/powerpoint/2010/main" val="3568640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4EAE5CF-91E9-0F44-9CDB-706FF1A0628E}"/>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5BDAFD3A-476B-4242-B9F1-799C49D6CCDB}"/>
              </a:ext>
            </a:extLst>
          </p:cNvPr>
          <p:cNvSpPr txBox="1"/>
          <p:nvPr/>
        </p:nvSpPr>
        <p:spPr>
          <a:xfrm>
            <a:off x="812800" y="304800"/>
            <a:ext cx="10033000" cy="406400"/>
          </a:xfrm>
          <a:prstGeom prst="rect">
            <a:avLst/>
          </a:prstGeom>
          <a:noFill/>
        </p:spPr>
        <p:txBody>
          <a:bodyPr vertOverflow="overflow" vert="horz" wrap="square" rtlCol="0" anchor="t" anchorCtr="0">
            <a:noAutofit/>
          </a:bodyPr>
          <a:lstStyle/>
          <a:p>
            <a:pPr algn="l"/>
            <a:r>
              <a:rPr lang="ja-JP" altLang="en-US" sz="2500" b="1">
                <a:solidFill>
                  <a:srgbClr val="1F3864"/>
                </a:solidFill>
                <a:latin typeface="Yu Gothic UI"/>
                <a:ea typeface="Yu Gothic UI"/>
              </a:rPr>
              <a:t>品質の裏付け </a:t>
            </a:r>
            <a:r>
              <a:rPr lang="en-US" altLang="ja-JP" sz="2500" b="1">
                <a:solidFill>
                  <a:srgbClr val="1F3864"/>
                </a:solidFill>
                <a:latin typeface="Yu Gothic UI"/>
                <a:ea typeface="Yu Gothic UI"/>
              </a:rPr>
              <a:t>① — </a:t>
            </a:r>
            <a:r>
              <a:rPr lang="ja-JP" altLang="en-US" sz="2500" b="1">
                <a:solidFill>
                  <a:srgbClr val="1F3864"/>
                </a:solidFill>
                <a:latin typeface="Yu Gothic UI"/>
                <a:ea typeface="Yu Gothic UI"/>
              </a:rPr>
              <a:t>なぜこれだけの標準を参照するのか</a:t>
            </a:r>
          </a:p>
        </p:txBody>
      </p:sp>
      <p:sp>
        <p:nvSpPr>
          <p:cNvPr id="4" name="テキスト ボックス 3">
            <a:extLst>
              <a:ext uri="{FF2B5EF4-FFF2-40B4-BE49-F238E27FC236}">
                <a16:creationId xmlns:a16="http://schemas.microsoft.com/office/drawing/2014/main" id="{07D6322B-035E-1F47-A45E-1DC4B5A04348}"/>
              </a:ext>
            </a:extLst>
          </p:cNvPr>
          <p:cNvSpPr txBox="1"/>
          <p:nvPr/>
        </p:nvSpPr>
        <p:spPr>
          <a:xfrm>
            <a:off x="812800" y="762000"/>
            <a:ext cx="10566400" cy="2794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標準の名前を並べているのではありません。本基盤が実装するもの自体がそれらの仕様で規定されているため、一次資料として直接参照しています。参照は</a:t>
            </a:r>
            <a:r>
              <a:rPr lang="en-US" altLang="ja-JP" sz="1300">
                <a:solidFill>
                  <a:srgbClr val="5A6472"/>
                </a:solidFill>
                <a:latin typeface="Yu Gothic UI"/>
                <a:ea typeface="Yu Gothic UI"/>
              </a:rPr>
              <a:t>4</a:t>
            </a:r>
            <a:r>
              <a:rPr lang="ja-JP" altLang="en-US" sz="1300">
                <a:solidFill>
                  <a:srgbClr val="5A6472"/>
                </a:solidFill>
                <a:latin typeface="Yu Gothic UI"/>
                <a:ea typeface="Yu Gothic UI"/>
              </a:rPr>
              <a:t>層に分けて体系的に行いました。</a:t>
            </a:r>
          </a:p>
        </p:txBody>
      </p:sp>
      <p:sp>
        <p:nvSpPr>
          <p:cNvPr id="5" name="正方形/長方形 4">
            <a:extLst>
              <a:ext uri="{FF2B5EF4-FFF2-40B4-BE49-F238E27FC236}">
                <a16:creationId xmlns:a16="http://schemas.microsoft.com/office/drawing/2014/main" id="{1C79438B-BB05-0046-B8DC-3F538B9D1664}"/>
              </a:ext>
            </a:extLst>
          </p:cNvPr>
          <p:cNvSpPr/>
          <p:nvPr/>
        </p:nvSpPr>
        <p:spPr>
          <a:xfrm>
            <a:off x="812800" y="1270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3B204D1E-CC93-5248-8C2A-41842F9847F7}"/>
              </a:ext>
            </a:extLst>
          </p:cNvPr>
          <p:cNvSpPr/>
          <p:nvPr/>
        </p:nvSpPr>
        <p:spPr>
          <a:xfrm>
            <a:off x="812800" y="1270000"/>
            <a:ext cx="50800" cy="11176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円/楕円 6">
            <a:extLst>
              <a:ext uri="{FF2B5EF4-FFF2-40B4-BE49-F238E27FC236}">
                <a16:creationId xmlns:a16="http://schemas.microsoft.com/office/drawing/2014/main" id="{B08D511D-8BF2-8345-825F-EA137F7DD3F9}"/>
              </a:ext>
            </a:extLst>
          </p:cNvPr>
          <p:cNvSpPr/>
          <p:nvPr/>
        </p:nvSpPr>
        <p:spPr>
          <a:xfrm>
            <a:off x="1041400" y="1473200"/>
            <a:ext cx="431800" cy="431800"/>
          </a:xfrm>
          <a:prstGeom prst="ellipse">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600" b="1">
                <a:solidFill>
                  <a:srgbClr val="FFFFFF"/>
                </a:solidFill>
                <a:latin typeface="Yu Gothic UI"/>
                <a:ea typeface="Yu Gothic UI"/>
              </a:rPr>
              <a:t>1</a:t>
            </a:r>
            <a:endParaRPr lang="ja-JP" altLang="en-US" sz="1600" b="1">
              <a:solidFill>
                <a:srgbClr val="FFFFFF"/>
              </a:solidFill>
              <a:latin typeface="Yu Gothic UI"/>
              <a:ea typeface="Yu Gothic UI"/>
            </a:endParaRPr>
          </a:p>
        </p:txBody>
      </p:sp>
      <p:sp>
        <p:nvSpPr>
          <p:cNvPr id="8" name="テキスト ボックス 7">
            <a:extLst>
              <a:ext uri="{FF2B5EF4-FFF2-40B4-BE49-F238E27FC236}">
                <a16:creationId xmlns:a16="http://schemas.microsoft.com/office/drawing/2014/main" id="{5F608550-845A-2B41-951C-B97DB8AC0A9C}"/>
              </a:ext>
            </a:extLst>
          </p:cNvPr>
          <p:cNvSpPr txBox="1"/>
          <p:nvPr/>
        </p:nvSpPr>
        <p:spPr>
          <a:xfrm>
            <a:off x="1676400" y="1422400"/>
            <a:ext cx="9448800" cy="2794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実装する製品・プロトコルの一次仕様</a:t>
            </a:r>
          </a:p>
        </p:txBody>
      </p:sp>
      <p:sp>
        <p:nvSpPr>
          <p:cNvPr id="9" name="テキスト ボックス 8">
            <a:extLst>
              <a:ext uri="{FF2B5EF4-FFF2-40B4-BE49-F238E27FC236}">
                <a16:creationId xmlns:a16="http://schemas.microsoft.com/office/drawing/2014/main" id="{6CC72F40-088B-CB49-AA01-E0EDB3FA6238}"/>
              </a:ext>
            </a:extLst>
          </p:cNvPr>
          <p:cNvSpPr txBox="1"/>
          <p:nvPr/>
        </p:nvSpPr>
        <p:spPr>
          <a:xfrm>
            <a:off x="1676400" y="1727200"/>
            <a:ext cx="94488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本基盤が提供する認証・認可の仕組みは、国際的な技術仕様そのもので定義されています。つまり仕様書を読まずに設計はできません。
とくに </a:t>
            </a:r>
            <a:r>
              <a:rPr lang="en" altLang="ja-JP" sz="1100">
                <a:solidFill>
                  <a:srgbClr val="1D2125"/>
                </a:solidFill>
                <a:latin typeface="Yu Gothic UI"/>
                <a:ea typeface="Yu Gothic UI"/>
              </a:rPr>
              <a:t>OAuth </a:t>
            </a:r>
            <a:r>
              <a:rPr lang="ja-JP" altLang="en-US" sz="1100">
                <a:solidFill>
                  <a:srgbClr val="1D2125"/>
                </a:solidFill>
                <a:latin typeface="Yu Gothic UI"/>
                <a:ea typeface="Yu Gothic UI"/>
              </a:rPr>
              <a:t>のセキュリティ実務指針（</a:t>
            </a:r>
            <a:r>
              <a:rPr lang="en" altLang="ja-JP" sz="1100">
                <a:solidFill>
                  <a:srgbClr val="1D2125"/>
                </a:solidFill>
                <a:latin typeface="Yu Gothic UI"/>
                <a:ea typeface="Yu Gothic UI"/>
              </a:rPr>
              <a:t>RFC 9700</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は「満たすべき統制の権威ある一覧」であり、参照することがそのまま準拠確認になります。</a:t>
            </a:r>
          </a:p>
        </p:txBody>
      </p:sp>
      <p:sp>
        <p:nvSpPr>
          <p:cNvPr id="10" name="正方形/長方形 9">
            <a:extLst>
              <a:ext uri="{FF2B5EF4-FFF2-40B4-BE49-F238E27FC236}">
                <a16:creationId xmlns:a16="http://schemas.microsoft.com/office/drawing/2014/main" id="{2766847F-880C-9E4B-9F28-9C952FCC0743}"/>
              </a:ext>
            </a:extLst>
          </p:cNvPr>
          <p:cNvSpPr/>
          <p:nvPr/>
        </p:nvSpPr>
        <p:spPr>
          <a:xfrm>
            <a:off x="812800" y="24638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正方形/長方形 10">
            <a:extLst>
              <a:ext uri="{FF2B5EF4-FFF2-40B4-BE49-F238E27FC236}">
                <a16:creationId xmlns:a16="http://schemas.microsoft.com/office/drawing/2014/main" id="{746E4B7E-9491-4945-8566-AB3F9C5A8CFC}"/>
              </a:ext>
            </a:extLst>
          </p:cNvPr>
          <p:cNvSpPr/>
          <p:nvPr/>
        </p:nvSpPr>
        <p:spPr>
          <a:xfrm>
            <a:off x="812800" y="2463800"/>
            <a:ext cx="50800" cy="11176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円/楕円 11">
            <a:extLst>
              <a:ext uri="{FF2B5EF4-FFF2-40B4-BE49-F238E27FC236}">
                <a16:creationId xmlns:a16="http://schemas.microsoft.com/office/drawing/2014/main" id="{88AB93B5-7AFF-F549-899D-37B0D75AD7F6}"/>
              </a:ext>
            </a:extLst>
          </p:cNvPr>
          <p:cNvSpPr/>
          <p:nvPr/>
        </p:nvSpPr>
        <p:spPr>
          <a:xfrm>
            <a:off x="1041400" y="2667000"/>
            <a:ext cx="431800" cy="431800"/>
          </a:xfrm>
          <a:prstGeom prst="ellipse">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600" b="1">
                <a:solidFill>
                  <a:srgbClr val="FFFFFF"/>
                </a:solidFill>
                <a:latin typeface="Yu Gothic UI"/>
                <a:ea typeface="Yu Gothic UI"/>
              </a:rPr>
              <a:t>2</a:t>
            </a:r>
            <a:endParaRPr lang="ja-JP" altLang="en-US" sz="1600" b="1">
              <a:solidFill>
                <a:srgbClr val="FFFFFF"/>
              </a:solidFill>
              <a:latin typeface="Yu Gothic UI"/>
              <a:ea typeface="Yu Gothic UI"/>
            </a:endParaRPr>
          </a:p>
        </p:txBody>
      </p:sp>
      <p:sp>
        <p:nvSpPr>
          <p:cNvPr id="13" name="テキスト ボックス 12">
            <a:extLst>
              <a:ext uri="{FF2B5EF4-FFF2-40B4-BE49-F238E27FC236}">
                <a16:creationId xmlns:a16="http://schemas.microsoft.com/office/drawing/2014/main" id="{D131B9D6-9828-0B4D-8E72-2AF5E4B036C0}"/>
              </a:ext>
            </a:extLst>
          </p:cNvPr>
          <p:cNvSpPr txBox="1"/>
          <p:nvPr/>
        </p:nvSpPr>
        <p:spPr>
          <a:xfrm>
            <a:off x="1676400" y="2616200"/>
            <a:ext cx="9448800" cy="2794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権威あるセキュリティ規範</a:t>
            </a:r>
          </a:p>
        </p:txBody>
      </p:sp>
      <p:sp>
        <p:nvSpPr>
          <p:cNvPr id="14" name="テキスト ボックス 13">
            <a:extLst>
              <a:ext uri="{FF2B5EF4-FFF2-40B4-BE49-F238E27FC236}">
                <a16:creationId xmlns:a16="http://schemas.microsoft.com/office/drawing/2014/main" id="{7CA22778-F1B7-4045-B93C-1E0F168BE0C0}"/>
              </a:ext>
            </a:extLst>
          </p:cNvPr>
          <p:cNvSpPr txBox="1"/>
          <p:nvPr/>
        </p:nvSpPr>
        <p:spPr>
          <a:xfrm>
            <a:off x="1676400" y="2921000"/>
            <a:ext cx="94488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米国標準の身元保証レベル基準（</a:t>
            </a:r>
            <a:r>
              <a:rPr lang="en" altLang="ja-JP" sz="1100">
                <a:solidFill>
                  <a:srgbClr val="1D2125"/>
                </a:solidFill>
                <a:latin typeface="Yu Gothic UI"/>
                <a:ea typeface="Yu Gothic UI"/>
              </a:rPr>
              <a:t>NIST SP 800-63</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が、多要素認証をどこまで求めるかを規定しています。フィッシング耐性の方針もここが根拠です。
実装者向けには </a:t>
            </a:r>
            <a:r>
              <a:rPr lang="en" altLang="ja-JP" sz="1100">
                <a:solidFill>
                  <a:srgbClr val="1D2125"/>
                </a:solidFill>
                <a:latin typeface="Yu Gothic UI"/>
                <a:ea typeface="Yu Gothic UI"/>
              </a:rPr>
              <a:t>OWASP </a:t>
            </a:r>
            <a:r>
              <a:rPr lang="ja-JP" altLang="en-US" sz="1100">
                <a:solidFill>
                  <a:srgbClr val="1D2125"/>
                </a:solidFill>
                <a:latin typeface="Yu Gothic UI"/>
                <a:ea typeface="Yu Gothic UI"/>
              </a:rPr>
              <a:t>のチェックリストを併用し、作り込みレベルの抜けを防いでいます。</a:t>
            </a:r>
          </a:p>
        </p:txBody>
      </p:sp>
      <p:sp>
        <p:nvSpPr>
          <p:cNvPr id="15" name="正方形/長方形 14">
            <a:extLst>
              <a:ext uri="{FF2B5EF4-FFF2-40B4-BE49-F238E27FC236}">
                <a16:creationId xmlns:a16="http://schemas.microsoft.com/office/drawing/2014/main" id="{2F09CD6B-EB33-F74F-88AD-DAD63D3016FC}"/>
              </a:ext>
            </a:extLst>
          </p:cNvPr>
          <p:cNvSpPr/>
          <p:nvPr/>
        </p:nvSpPr>
        <p:spPr>
          <a:xfrm>
            <a:off x="812800" y="36576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329BCA11-A281-434A-8FE6-289C8ABE0290}"/>
              </a:ext>
            </a:extLst>
          </p:cNvPr>
          <p:cNvSpPr/>
          <p:nvPr/>
        </p:nvSpPr>
        <p:spPr>
          <a:xfrm>
            <a:off x="812800" y="3657600"/>
            <a:ext cx="50800" cy="11176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円/楕円 16">
            <a:extLst>
              <a:ext uri="{FF2B5EF4-FFF2-40B4-BE49-F238E27FC236}">
                <a16:creationId xmlns:a16="http://schemas.microsoft.com/office/drawing/2014/main" id="{FA5E0922-B0C9-CB46-BB59-DE8BB94C7C6E}"/>
              </a:ext>
            </a:extLst>
          </p:cNvPr>
          <p:cNvSpPr/>
          <p:nvPr/>
        </p:nvSpPr>
        <p:spPr>
          <a:xfrm>
            <a:off x="1041400" y="3860800"/>
            <a:ext cx="431800" cy="431800"/>
          </a:xfrm>
          <a:prstGeom prst="ellipse">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600" b="1">
                <a:solidFill>
                  <a:srgbClr val="FFFFFF"/>
                </a:solidFill>
                <a:latin typeface="Yu Gothic UI"/>
                <a:ea typeface="Yu Gothic UI"/>
              </a:rPr>
              <a:t>3</a:t>
            </a:r>
            <a:endParaRPr lang="ja-JP" altLang="en-US" sz="1600" b="1">
              <a:solidFill>
                <a:srgbClr val="FFFFFF"/>
              </a:solidFill>
              <a:latin typeface="Yu Gothic UI"/>
              <a:ea typeface="Yu Gothic UI"/>
            </a:endParaRPr>
          </a:p>
        </p:txBody>
      </p:sp>
      <p:sp>
        <p:nvSpPr>
          <p:cNvPr id="18" name="テキスト ボックス 17">
            <a:extLst>
              <a:ext uri="{FF2B5EF4-FFF2-40B4-BE49-F238E27FC236}">
                <a16:creationId xmlns:a16="http://schemas.microsoft.com/office/drawing/2014/main" id="{4B37C647-52FE-0841-8539-43E5EDE8CF8F}"/>
              </a:ext>
            </a:extLst>
          </p:cNvPr>
          <p:cNvSpPr txBox="1"/>
          <p:nvPr/>
        </p:nvSpPr>
        <p:spPr>
          <a:xfrm>
            <a:off x="1676400" y="3810000"/>
            <a:ext cx="9448800" cy="2794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顧客と監査が準拠を要求する枠組み</a:t>
            </a:r>
          </a:p>
        </p:txBody>
      </p:sp>
      <p:sp>
        <p:nvSpPr>
          <p:cNvPr id="19" name="テキスト ボックス 18">
            <a:extLst>
              <a:ext uri="{FF2B5EF4-FFF2-40B4-BE49-F238E27FC236}">
                <a16:creationId xmlns:a16="http://schemas.microsoft.com/office/drawing/2014/main" id="{DC1F1664-94D1-664D-B810-056E24751405}"/>
              </a:ext>
            </a:extLst>
          </p:cNvPr>
          <p:cNvSpPr txBox="1"/>
          <p:nvPr/>
        </p:nvSpPr>
        <p:spPr>
          <a:xfrm>
            <a:off x="1676400" y="4114800"/>
            <a:ext cx="94488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顧客の調達・監査で提示を求められる枠組み（</a:t>
            </a:r>
            <a:r>
              <a:rPr lang="en" altLang="ja-JP" sz="1100">
                <a:solidFill>
                  <a:srgbClr val="1D2125"/>
                </a:solidFill>
                <a:latin typeface="Yu Gothic UI"/>
                <a:ea typeface="Yu Gothic UI"/>
              </a:rPr>
              <a:t>ISO 27001</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27701</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29184</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SOC 2</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個人情報保護法、</a:t>
            </a:r>
            <a:r>
              <a:rPr lang="en" altLang="ja-JP" sz="1100">
                <a:solidFill>
                  <a:srgbClr val="1D2125"/>
                </a:solidFill>
                <a:latin typeface="Yu Gothic UI"/>
                <a:ea typeface="Yu Gothic UI"/>
              </a:rPr>
              <a:t>GDPR</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を、設計段階から満たす形にしています。
後から監査対応を足すと作り直しになるため、先に織り込んでいます。</a:t>
            </a:r>
          </a:p>
        </p:txBody>
      </p:sp>
      <p:sp>
        <p:nvSpPr>
          <p:cNvPr id="20" name="正方形/長方形 19">
            <a:extLst>
              <a:ext uri="{FF2B5EF4-FFF2-40B4-BE49-F238E27FC236}">
                <a16:creationId xmlns:a16="http://schemas.microsoft.com/office/drawing/2014/main" id="{74343D69-1938-F543-9546-D1513DE96C4D}"/>
              </a:ext>
            </a:extLst>
          </p:cNvPr>
          <p:cNvSpPr/>
          <p:nvPr/>
        </p:nvSpPr>
        <p:spPr>
          <a:xfrm>
            <a:off x="812800" y="48514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正方形/長方形 20">
            <a:extLst>
              <a:ext uri="{FF2B5EF4-FFF2-40B4-BE49-F238E27FC236}">
                <a16:creationId xmlns:a16="http://schemas.microsoft.com/office/drawing/2014/main" id="{28DB762C-91C8-BD44-9355-5AFA3730D63B}"/>
              </a:ext>
            </a:extLst>
          </p:cNvPr>
          <p:cNvSpPr/>
          <p:nvPr/>
        </p:nvSpPr>
        <p:spPr>
          <a:xfrm>
            <a:off x="812800" y="4851400"/>
            <a:ext cx="50800" cy="11176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円/楕円 21">
            <a:extLst>
              <a:ext uri="{FF2B5EF4-FFF2-40B4-BE49-F238E27FC236}">
                <a16:creationId xmlns:a16="http://schemas.microsoft.com/office/drawing/2014/main" id="{6616C958-12B4-DD46-B874-16EAEC8BAC64}"/>
              </a:ext>
            </a:extLst>
          </p:cNvPr>
          <p:cNvSpPr/>
          <p:nvPr/>
        </p:nvSpPr>
        <p:spPr>
          <a:xfrm>
            <a:off x="1041400" y="5054600"/>
            <a:ext cx="431800" cy="431800"/>
          </a:xfrm>
          <a:prstGeom prst="ellipse">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ja-JP" sz="1600" b="1">
                <a:solidFill>
                  <a:srgbClr val="FFFFFF"/>
                </a:solidFill>
                <a:latin typeface="Yu Gothic UI"/>
                <a:ea typeface="Yu Gothic UI"/>
              </a:rPr>
              <a:t>4</a:t>
            </a:r>
            <a:endParaRPr lang="ja-JP" altLang="en-US" sz="1600" b="1">
              <a:solidFill>
                <a:srgbClr val="FFFFFF"/>
              </a:solidFill>
              <a:latin typeface="Yu Gothic UI"/>
              <a:ea typeface="Yu Gothic UI"/>
            </a:endParaRPr>
          </a:p>
        </p:txBody>
      </p:sp>
      <p:sp>
        <p:nvSpPr>
          <p:cNvPr id="23" name="テキスト ボックス 22">
            <a:extLst>
              <a:ext uri="{FF2B5EF4-FFF2-40B4-BE49-F238E27FC236}">
                <a16:creationId xmlns:a16="http://schemas.microsoft.com/office/drawing/2014/main" id="{B4ABC4C4-5FE1-D54D-A36D-5435FEEF30CD}"/>
              </a:ext>
            </a:extLst>
          </p:cNvPr>
          <p:cNvSpPr txBox="1"/>
          <p:nvPr/>
        </p:nvSpPr>
        <p:spPr>
          <a:xfrm>
            <a:off x="1676400" y="5003800"/>
            <a:ext cx="9448800" cy="279400"/>
          </a:xfrm>
          <a:prstGeom prst="rect">
            <a:avLst/>
          </a:prstGeom>
          <a:noFill/>
        </p:spPr>
        <p:txBody>
          <a:bodyPr vertOverflow="overflow" vert="horz" wrap="square" rtlCol="0" anchor="t" anchorCtr="0">
            <a:noAutofit/>
          </a:bodyPr>
          <a:lstStyle/>
          <a:p>
            <a:pPr algn="l"/>
            <a:r>
              <a:rPr lang="ja-JP" altLang="en-US" sz="1500" b="1">
                <a:solidFill>
                  <a:srgbClr val="1F3864"/>
                </a:solidFill>
                <a:latin typeface="Yu Gothic UI"/>
                <a:ea typeface="Yu Gothic UI"/>
              </a:rPr>
              <a:t>将来対応が必要になる新興標準</a:t>
            </a:r>
          </a:p>
        </p:txBody>
      </p:sp>
      <p:sp>
        <p:nvSpPr>
          <p:cNvPr id="24" name="テキスト ボックス 23">
            <a:extLst>
              <a:ext uri="{FF2B5EF4-FFF2-40B4-BE49-F238E27FC236}">
                <a16:creationId xmlns:a16="http://schemas.microsoft.com/office/drawing/2014/main" id="{3F311383-1E09-E94E-8BCF-FD780831D36E}"/>
              </a:ext>
            </a:extLst>
          </p:cNvPr>
          <p:cNvSpPr txBox="1"/>
          <p:nvPr/>
        </p:nvSpPr>
        <p:spPr>
          <a:xfrm>
            <a:off x="1676400" y="5308600"/>
            <a:ext cx="94488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継続的なアクセス評価、人以外の</a:t>
            </a:r>
            <a:r>
              <a:rPr lang="en" altLang="ja-JP" sz="1100">
                <a:solidFill>
                  <a:srgbClr val="1D2125"/>
                </a:solidFill>
                <a:latin typeface="Yu Gothic UI"/>
                <a:ea typeface="Yu Gothic UI"/>
              </a:rPr>
              <a:t>ID</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システム間連携用の資格情報）、デジタル</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の相互運用といった、今後</a:t>
            </a:r>
            <a:r>
              <a:rPr lang="en-US" altLang="ja-JP" sz="1100">
                <a:solidFill>
                  <a:srgbClr val="1D2125"/>
                </a:solidFill>
                <a:latin typeface="Yu Gothic UI"/>
                <a:ea typeface="Yu Gothic UI"/>
              </a:rPr>
              <a:t>3〜5</a:t>
            </a:r>
            <a:r>
              <a:rPr lang="ja-JP" altLang="en-US" sz="1100">
                <a:solidFill>
                  <a:srgbClr val="1D2125"/>
                </a:solidFill>
                <a:latin typeface="Yu Gothic UI"/>
                <a:ea typeface="Yu Gothic UI"/>
              </a:rPr>
              <a:t>年で顧客要求になる領域を先に把握しました。
今すぐ実装はしませんが、後から入れられる構造にしてあります。</a:t>
            </a:r>
          </a:p>
        </p:txBody>
      </p:sp>
      <p:sp>
        <p:nvSpPr>
          <p:cNvPr id="25" name="テキスト ボックス 24">
            <a:extLst>
              <a:ext uri="{FF2B5EF4-FFF2-40B4-BE49-F238E27FC236}">
                <a16:creationId xmlns:a16="http://schemas.microsoft.com/office/drawing/2014/main" id="{D52F1AFC-7F18-6A42-85C5-32731E6E359E}"/>
              </a:ext>
            </a:extLst>
          </p:cNvPr>
          <p:cNvSpPr txBox="1"/>
          <p:nvPr/>
        </p:nvSpPr>
        <p:spPr>
          <a:xfrm>
            <a:off x="812800" y="64008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出典：自社整理資料（標準・公式資料の参照一覧と参照根拠の記録）</a:t>
            </a:r>
          </a:p>
        </p:txBody>
      </p:sp>
    </p:spTree>
    <p:extLst>
      <p:ext uri="{BB962C8B-B14F-4D97-AF65-F5344CB8AC3E}">
        <p14:creationId xmlns:p14="http://schemas.microsoft.com/office/powerpoint/2010/main" val="340786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DA1D28C-5A39-5B4A-BE88-B8BE0C4A2410}"/>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261BD308-418D-804C-8A00-D09584FA2FA9}"/>
              </a:ext>
            </a:extLst>
          </p:cNvPr>
          <p:cNvSpPr txBox="1"/>
          <p:nvPr/>
        </p:nvSpPr>
        <p:spPr>
          <a:xfrm>
            <a:off x="812800" y="254000"/>
            <a:ext cx="10033000" cy="3810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品質の裏付け </a:t>
            </a:r>
            <a:r>
              <a:rPr lang="en-US" altLang="ja-JP" sz="2400" b="1">
                <a:solidFill>
                  <a:srgbClr val="1F3864"/>
                </a:solidFill>
                <a:latin typeface="Yu Gothic UI"/>
                <a:ea typeface="Yu Gothic UI"/>
              </a:rPr>
              <a:t>② — </a:t>
            </a:r>
            <a:r>
              <a:rPr lang="ja-JP" altLang="en-US" sz="2400" b="1">
                <a:solidFill>
                  <a:srgbClr val="1F3864"/>
                </a:solidFill>
                <a:latin typeface="Yu Gothic UI"/>
                <a:ea typeface="Yu Gothic UI"/>
              </a:rPr>
              <a:t>参照した標準と、参照した根拠</a:t>
            </a:r>
          </a:p>
        </p:txBody>
      </p:sp>
      <p:sp>
        <p:nvSpPr>
          <p:cNvPr id="4" name="テキスト ボックス 3">
            <a:extLst>
              <a:ext uri="{FF2B5EF4-FFF2-40B4-BE49-F238E27FC236}">
                <a16:creationId xmlns:a16="http://schemas.microsoft.com/office/drawing/2014/main" id="{51CB9349-42A2-9845-BF5E-F0A482AC538B}"/>
              </a:ext>
            </a:extLst>
          </p:cNvPr>
          <p:cNvSpPr txBox="1"/>
          <p:nvPr/>
        </p:nvSpPr>
        <p:spPr>
          <a:xfrm>
            <a:off x="812800" y="6858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右端の「参照した根拠」が要点です。網羅性を示すための列挙ではなく、それぞれに設計上の必要があって参照しています。</a:t>
            </a:r>
          </a:p>
        </p:txBody>
      </p:sp>
      <p:sp>
        <p:nvSpPr>
          <p:cNvPr id="5" name="正方形/長方形 4">
            <a:extLst>
              <a:ext uri="{FF2B5EF4-FFF2-40B4-BE49-F238E27FC236}">
                <a16:creationId xmlns:a16="http://schemas.microsoft.com/office/drawing/2014/main" id="{1E64605A-9E9B-F84A-9B2B-C64E4CED198F}"/>
              </a:ext>
            </a:extLst>
          </p:cNvPr>
          <p:cNvSpPr/>
          <p:nvPr/>
        </p:nvSpPr>
        <p:spPr>
          <a:xfrm>
            <a:off x="812800" y="10668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F0364FAC-270B-004D-98C1-5B1D38ACEE46}"/>
              </a:ext>
            </a:extLst>
          </p:cNvPr>
          <p:cNvSpPr txBox="1"/>
          <p:nvPr/>
        </p:nvSpPr>
        <p:spPr>
          <a:xfrm>
            <a:off x="914400" y="1130300"/>
            <a:ext cx="17018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ドメイン</a:t>
            </a:r>
          </a:p>
        </p:txBody>
      </p:sp>
      <p:sp>
        <p:nvSpPr>
          <p:cNvPr id="7" name="テキスト ボックス 6">
            <a:extLst>
              <a:ext uri="{FF2B5EF4-FFF2-40B4-BE49-F238E27FC236}">
                <a16:creationId xmlns:a16="http://schemas.microsoft.com/office/drawing/2014/main" id="{5DC16BBB-F83F-4D4C-9B9A-65E34533DAC0}"/>
              </a:ext>
            </a:extLst>
          </p:cNvPr>
          <p:cNvSpPr txBox="1"/>
          <p:nvPr/>
        </p:nvSpPr>
        <p:spPr>
          <a:xfrm>
            <a:off x="2794000" y="1130300"/>
            <a:ext cx="45466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参照した主な標準・公式資料</a:t>
            </a:r>
          </a:p>
        </p:txBody>
      </p:sp>
      <p:sp>
        <p:nvSpPr>
          <p:cNvPr id="8" name="テキスト ボックス 7">
            <a:extLst>
              <a:ext uri="{FF2B5EF4-FFF2-40B4-BE49-F238E27FC236}">
                <a16:creationId xmlns:a16="http://schemas.microsoft.com/office/drawing/2014/main" id="{F9EFC2DE-FA01-D742-AB99-A8E7D6D74A7C}"/>
              </a:ext>
            </a:extLst>
          </p:cNvPr>
          <p:cNvSpPr txBox="1"/>
          <p:nvPr/>
        </p:nvSpPr>
        <p:spPr>
          <a:xfrm>
            <a:off x="7518400" y="1130300"/>
            <a:ext cx="37846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参照した根拠（なぜ見たか）</a:t>
            </a:r>
          </a:p>
        </p:txBody>
      </p:sp>
      <p:sp>
        <p:nvSpPr>
          <p:cNvPr id="9" name="正方形/長方形 8">
            <a:extLst>
              <a:ext uri="{FF2B5EF4-FFF2-40B4-BE49-F238E27FC236}">
                <a16:creationId xmlns:a16="http://schemas.microsoft.com/office/drawing/2014/main" id="{1C796A79-ABC7-7B47-AED4-056FDC8244CE}"/>
              </a:ext>
            </a:extLst>
          </p:cNvPr>
          <p:cNvSpPr/>
          <p:nvPr/>
        </p:nvSpPr>
        <p:spPr>
          <a:xfrm>
            <a:off x="812800" y="1790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 name="テキスト ボックス 9">
            <a:extLst>
              <a:ext uri="{FF2B5EF4-FFF2-40B4-BE49-F238E27FC236}">
                <a16:creationId xmlns:a16="http://schemas.microsoft.com/office/drawing/2014/main" id="{7E8122C0-25BC-8D42-B802-9CA5CAC7D245}"/>
              </a:ext>
            </a:extLst>
          </p:cNvPr>
          <p:cNvSpPr txBox="1"/>
          <p:nvPr/>
        </p:nvSpPr>
        <p:spPr>
          <a:xfrm>
            <a:off x="914400" y="14351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認証・認可の中核</a:t>
            </a:r>
          </a:p>
        </p:txBody>
      </p:sp>
      <p:sp>
        <p:nvSpPr>
          <p:cNvPr id="11" name="テキスト ボックス 10">
            <a:extLst>
              <a:ext uri="{FF2B5EF4-FFF2-40B4-BE49-F238E27FC236}">
                <a16:creationId xmlns:a16="http://schemas.microsoft.com/office/drawing/2014/main" id="{523949A8-C678-F24F-92B5-BB748A2AD86F}"/>
              </a:ext>
            </a:extLst>
          </p:cNvPr>
          <p:cNvSpPr txBox="1"/>
          <p:nvPr/>
        </p:nvSpPr>
        <p:spPr>
          <a:xfrm>
            <a:off x="2794000" y="14224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RFC 6749</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7636</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9068</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9126</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9449</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9700 </a:t>
            </a:r>
            <a:r>
              <a:rPr lang="ja-JP" altLang="en-US" sz="1100">
                <a:solidFill>
                  <a:srgbClr val="1D2125"/>
                </a:solidFill>
                <a:latin typeface="Yu Gothic UI"/>
                <a:ea typeface="Yu Gothic UI"/>
              </a:rPr>
              <a:t>ほか計</a:t>
            </a:r>
            <a:r>
              <a:rPr lang="en-US" altLang="ja-JP" sz="1100">
                <a:solidFill>
                  <a:srgbClr val="1D2125"/>
                </a:solidFill>
                <a:latin typeface="Yu Gothic UI"/>
                <a:ea typeface="Yu Gothic UI"/>
              </a:rPr>
              <a:t>14</a:t>
            </a:r>
            <a:r>
              <a:rPr lang="ja-JP" altLang="en-US" sz="1100">
                <a:solidFill>
                  <a:srgbClr val="1D2125"/>
                </a:solidFill>
                <a:latin typeface="Yu Gothic UI"/>
                <a:ea typeface="Yu Gothic UI"/>
              </a:rPr>
              <a:t>本、</a:t>
            </a:r>
            <a:r>
              <a:rPr lang="en" altLang="ja-JP" sz="1100">
                <a:solidFill>
                  <a:srgbClr val="1D2125"/>
                </a:solidFill>
                <a:latin typeface="Yu Gothic UI"/>
                <a:ea typeface="Yu Gothic UI"/>
              </a:rPr>
              <a:t>OIDC Core</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Discovery</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ログアウト仕様</a:t>
            </a:r>
          </a:p>
        </p:txBody>
      </p:sp>
      <p:sp>
        <p:nvSpPr>
          <p:cNvPr id="12" name="テキスト ボックス 11">
            <a:extLst>
              <a:ext uri="{FF2B5EF4-FFF2-40B4-BE49-F238E27FC236}">
                <a16:creationId xmlns:a16="http://schemas.microsoft.com/office/drawing/2014/main" id="{5A211D41-85A1-CD47-8BA5-93BF88B9483A}"/>
              </a:ext>
            </a:extLst>
          </p:cNvPr>
          <p:cNvSpPr txBox="1"/>
          <p:nvPr/>
        </p:nvSpPr>
        <p:spPr>
          <a:xfrm>
            <a:off x="7518400" y="14224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実装するプロトコルの一次仕様。</a:t>
            </a:r>
            <a:r>
              <a:rPr lang="en" altLang="ja-JP" sz="1100">
                <a:solidFill>
                  <a:srgbClr val="1F3864"/>
                </a:solidFill>
                <a:latin typeface="Yu Gothic UI"/>
                <a:ea typeface="Yu Gothic UI"/>
              </a:rPr>
              <a:t>RFC 9700 </a:t>
            </a:r>
            <a:r>
              <a:rPr lang="ja-JP" altLang="en-US" sz="1100">
                <a:solidFill>
                  <a:srgbClr val="1F3864"/>
                </a:solidFill>
                <a:latin typeface="Yu Gothic UI"/>
                <a:ea typeface="Yu Gothic UI"/>
              </a:rPr>
              <a:t>は準拠すべき統制の権威ある一覧</a:t>
            </a:r>
          </a:p>
        </p:txBody>
      </p:sp>
      <p:sp>
        <p:nvSpPr>
          <p:cNvPr id="13" name="正方形/長方形 12">
            <a:extLst>
              <a:ext uri="{FF2B5EF4-FFF2-40B4-BE49-F238E27FC236}">
                <a16:creationId xmlns:a16="http://schemas.microsoft.com/office/drawing/2014/main" id="{9E85F898-8E7F-9242-9F8E-11A5D39F530A}"/>
              </a:ext>
            </a:extLst>
          </p:cNvPr>
          <p:cNvSpPr/>
          <p:nvPr/>
        </p:nvSpPr>
        <p:spPr>
          <a:xfrm>
            <a:off x="812800" y="1803400"/>
            <a:ext cx="10566400" cy="431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401973A7-6181-4841-B99C-547CEF7E3E1B}"/>
              </a:ext>
            </a:extLst>
          </p:cNvPr>
          <p:cNvSpPr/>
          <p:nvPr/>
        </p:nvSpPr>
        <p:spPr>
          <a:xfrm>
            <a:off x="812800" y="2222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FC349354-D300-A44A-AB92-8AF3785CC9FF}"/>
              </a:ext>
            </a:extLst>
          </p:cNvPr>
          <p:cNvSpPr txBox="1"/>
          <p:nvPr/>
        </p:nvSpPr>
        <p:spPr>
          <a:xfrm>
            <a:off x="914400" y="18669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継続的アクセス評価</a:t>
            </a:r>
          </a:p>
        </p:txBody>
      </p:sp>
      <p:sp>
        <p:nvSpPr>
          <p:cNvPr id="16" name="テキスト ボックス 15">
            <a:extLst>
              <a:ext uri="{FF2B5EF4-FFF2-40B4-BE49-F238E27FC236}">
                <a16:creationId xmlns:a16="http://schemas.microsoft.com/office/drawing/2014/main" id="{301FFF61-6FAE-3E4F-B8AF-14A448FA6E26}"/>
              </a:ext>
            </a:extLst>
          </p:cNvPr>
          <p:cNvSpPr txBox="1"/>
          <p:nvPr/>
        </p:nvSpPr>
        <p:spPr>
          <a:xfrm>
            <a:off x="2794000" y="18542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OpenID SSF</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CAEP</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RISC 1.0</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2025-09 </a:t>
            </a:r>
            <a:r>
              <a:rPr lang="ja-JP" altLang="en-US" sz="1100">
                <a:solidFill>
                  <a:srgbClr val="1D2125"/>
                </a:solidFill>
                <a:latin typeface="Yu Gothic UI"/>
                <a:ea typeface="Yu Gothic UI"/>
              </a:rPr>
              <a:t>確定版）、</a:t>
            </a:r>
            <a:r>
              <a:rPr lang="en" altLang="ja-JP" sz="1100">
                <a:solidFill>
                  <a:srgbClr val="1D2125"/>
                </a:solidFill>
                <a:latin typeface="Yu Gothic UI"/>
                <a:ea typeface="Yu Gothic UI"/>
              </a:rPr>
              <a:t>IPSIE</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RFC 8417</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8935</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8936</a:t>
            </a:r>
            <a:endParaRPr lang="ja-JP" altLang="en-US" sz="1100">
              <a:solidFill>
                <a:srgbClr val="1D2125"/>
              </a:solidFill>
              <a:latin typeface="Yu Gothic UI"/>
              <a:ea typeface="Yu Gothic UI"/>
            </a:endParaRPr>
          </a:p>
        </p:txBody>
      </p:sp>
      <p:sp>
        <p:nvSpPr>
          <p:cNvPr id="17" name="テキスト ボックス 16">
            <a:extLst>
              <a:ext uri="{FF2B5EF4-FFF2-40B4-BE49-F238E27FC236}">
                <a16:creationId xmlns:a16="http://schemas.microsoft.com/office/drawing/2014/main" id="{8FD39CE6-087D-9148-8E49-8D68A912392A}"/>
              </a:ext>
            </a:extLst>
          </p:cNvPr>
          <p:cNvSpPr txBox="1"/>
          <p:nvPr/>
        </p:nvSpPr>
        <p:spPr>
          <a:xfrm>
            <a:off x="7518400" y="18542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設計上どうしても残る「失効までの空き時間」に対する業界標準の解を確認するため</a:t>
            </a:r>
          </a:p>
        </p:txBody>
      </p:sp>
      <p:sp>
        <p:nvSpPr>
          <p:cNvPr id="18" name="正方形/長方形 17">
            <a:extLst>
              <a:ext uri="{FF2B5EF4-FFF2-40B4-BE49-F238E27FC236}">
                <a16:creationId xmlns:a16="http://schemas.microsoft.com/office/drawing/2014/main" id="{BD920F37-3D94-4846-A04F-E715586A873C}"/>
              </a:ext>
            </a:extLst>
          </p:cNvPr>
          <p:cNvSpPr/>
          <p:nvPr/>
        </p:nvSpPr>
        <p:spPr>
          <a:xfrm>
            <a:off x="812800" y="265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 name="テキスト ボックス 18">
            <a:extLst>
              <a:ext uri="{FF2B5EF4-FFF2-40B4-BE49-F238E27FC236}">
                <a16:creationId xmlns:a16="http://schemas.microsoft.com/office/drawing/2014/main" id="{6142CB9A-3F95-0748-A049-1FC1F2F6747D}"/>
              </a:ext>
            </a:extLst>
          </p:cNvPr>
          <p:cNvSpPr txBox="1"/>
          <p:nvPr/>
        </p:nvSpPr>
        <p:spPr>
          <a:xfrm>
            <a:off x="914400" y="22987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身元保証と多要素認証</a:t>
            </a:r>
          </a:p>
        </p:txBody>
      </p:sp>
      <p:sp>
        <p:nvSpPr>
          <p:cNvPr id="20" name="テキスト ボックス 19">
            <a:extLst>
              <a:ext uri="{FF2B5EF4-FFF2-40B4-BE49-F238E27FC236}">
                <a16:creationId xmlns:a16="http://schemas.microsoft.com/office/drawing/2014/main" id="{2DD46D06-654C-364D-BBA5-A2B752BF6905}"/>
              </a:ext>
            </a:extLst>
          </p:cNvPr>
          <p:cNvSpPr txBox="1"/>
          <p:nvPr/>
        </p:nvSpPr>
        <p:spPr>
          <a:xfrm>
            <a:off x="2794000" y="22860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NIST SP 800-63-4</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FIDO2</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WebAuthn</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パスキー、</a:t>
            </a:r>
            <a:r>
              <a:rPr lang="en" altLang="ja-JP" sz="1100">
                <a:solidFill>
                  <a:srgbClr val="1D2125"/>
                </a:solidFill>
                <a:latin typeface="Yu Gothic UI"/>
                <a:ea typeface="Yu Gothic UI"/>
              </a:rPr>
              <a:t>CISA </a:t>
            </a:r>
            <a:r>
              <a:rPr lang="ja-JP" altLang="en-US" sz="1100">
                <a:solidFill>
                  <a:srgbClr val="1D2125"/>
                </a:solidFill>
                <a:latin typeface="Yu Gothic UI"/>
                <a:ea typeface="Yu Gothic UI"/>
              </a:rPr>
              <a:t>番号照合ガイダンス</a:t>
            </a:r>
          </a:p>
        </p:txBody>
      </p:sp>
      <p:sp>
        <p:nvSpPr>
          <p:cNvPr id="21" name="テキスト ボックス 20">
            <a:extLst>
              <a:ext uri="{FF2B5EF4-FFF2-40B4-BE49-F238E27FC236}">
                <a16:creationId xmlns:a16="http://schemas.microsoft.com/office/drawing/2014/main" id="{69D6C50C-95F5-CD42-87E4-C6AC715706F8}"/>
              </a:ext>
            </a:extLst>
          </p:cNvPr>
          <p:cNvSpPr txBox="1"/>
          <p:nvPr/>
        </p:nvSpPr>
        <p:spPr>
          <a:xfrm>
            <a:off x="7518400" y="22860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保証レベルが多要素認証と追加確認の要否を規定する。フィッシング耐性方針の根拠</a:t>
            </a:r>
          </a:p>
        </p:txBody>
      </p:sp>
      <p:sp>
        <p:nvSpPr>
          <p:cNvPr id="22" name="正方形/長方形 21">
            <a:extLst>
              <a:ext uri="{FF2B5EF4-FFF2-40B4-BE49-F238E27FC236}">
                <a16:creationId xmlns:a16="http://schemas.microsoft.com/office/drawing/2014/main" id="{F444D628-2366-4146-8BA3-5F48D1A22316}"/>
              </a:ext>
            </a:extLst>
          </p:cNvPr>
          <p:cNvSpPr/>
          <p:nvPr/>
        </p:nvSpPr>
        <p:spPr>
          <a:xfrm>
            <a:off x="812800" y="2667000"/>
            <a:ext cx="10566400" cy="431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正方形/長方形 22">
            <a:extLst>
              <a:ext uri="{FF2B5EF4-FFF2-40B4-BE49-F238E27FC236}">
                <a16:creationId xmlns:a16="http://schemas.microsoft.com/office/drawing/2014/main" id="{EFF05F18-1C2E-904C-B904-8A3CE34EADA7}"/>
              </a:ext>
            </a:extLst>
          </p:cNvPr>
          <p:cNvSpPr/>
          <p:nvPr/>
        </p:nvSpPr>
        <p:spPr>
          <a:xfrm>
            <a:off x="812800" y="3086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テキスト ボックス 23">
            <a:extLst>
              <a:ext uri="{FF2B5EF4-FFF2-40B4-BE49-F238E27FC236}">
                <a16:creationId xmlns:a16="http://schemas.microsoft.com/office/drawing/2014/main" id="{3FE53085-6F2A-7B43-801E-97746370B38B}"/>
              </a:ext>
            </a:extLst>
          </p:cNvPr>
          <p:cNvSpPr txBox="1"/>
          <p:nvPr/>
        </p:nvSpPr>
        <p:spPr>
          <a:xfrm>
            <a:off x="914400" y="27305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金融グレード</a:t>
            </a:r>
            <a:r>
              <a:rPr lang="en" altLang="ja-JP" sz="1100" b="1">
                <a:solidFill>
                  <a:srgbClr val="1D2125"/>
                </a:solidFill>
                <a:latin typeface="Yu Gothic UI"/>
                <a:ea typeface="Yu Gothic UI"/>
              </a:rPr>
              <a:t>API</a:t>
            </a:r>
            <a:endParaRPr lang="ja-JP" altLang="en-US" sz="1100" b="1">
              <a:solidFill>
                <a:srgbClr val="1D2125"/>
              </a:solidFill>
              <a:latin typeface="Yu Gothic UI"/>
              <a:ea typeface="Yu Gothic UI"/>
            </a:endParaRPr>
          </a:p>
        </p:txBody>
      </p:sp>
      <p:sp>
        <p:nvSpPr>
          <p:cNvPr id="25" name="テキスト ボックス 24">
            <a:extLst>
              <a:ext uri="{FF2B5EF4-FFF2-40B4-BE49-F238E27FC236}">
                <a16:creationId xmlns:a16="http://schemas.microsoft.com/office/drawing/2014/main" id="{F2DFA0CB-F9A7-D240-ACB3-779CECBFA6C4}"/>
              </a:ext>
            </a:extLst>
          </p:cNvPr>
          <p:cNvSpPr txBox="1"/>
          <p:nvPr/>
        </p:nvSpPr>
        <p:spPr>
          <a:xfrm>
            <a:off x="2794000" y="27178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FAPI 2.0 Baseline</a:t>
            </a:r>
            <a:endParaRPr lang="ja-JP" altLang="en-US" sz="1100">
              <a:solidFill>
                <a:srgbClr val="1D2125"/>
              </a:solidFill>
              <a:latin typeface="Yu Gothic UI"/>
              <a:ea typeface="Yu Gothic UI"/>
            </a:endParaRPr>
          </a:p>
        </p:txBody>
      </p:sp>
      <p:sp>
        <p:nvSpPr>
          <p:cNvPr id="26" name="テキスト ボックス 25">
            <a:extLst>
              <a:ext uri="{FF2B5EF4-FFF2-40B4-BE49-F238E27FC236}">
                <a16:creationId xmlns:a16="http://schemas.microsoft.com/office/drawing/2014/main" id="{A42F4F0E-51FD-C148-9D05-D77AF5A62AA0}"/>
              </a:ext>
            </a:extLst>
          </p:cNvPr>
          <p:cNvSpPr txBox="1"/>
          <p:nvPr/>
        </p:nvSpPr>
        <p:spPr>
          <a:xfrm>
            <a:off x="7518400" y="27178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金融グレードの顧客が現れた場合に必要となる水準の上限を把握するため</a:t>
            </a:r>
          </a:p>
        </p:txBody>
      </p:sp>
      <p:sp>
        <p:nvSpPr>
          <p:cNvPr id="27" name="正方形/長方形 26">
            <a:extLst>
              <a:ext uri="{FF2B5EF4-FFF2-40B4-BE49-F238E27FC236}">
                <a16:creationId xmlns:a16="http://schemas.microsoft.com/office/drawing/2014/main" id="{32F27840-43D6-F044-AC67-C5CB326A51BB}"/>
              </a:ext>
            </a:extLst>
          </p:cNvPr>
          <p:cNvSpPr/>
          <p:nvPr/>
        </p:nvSpPr>
        <p:spPr>
          <a:xfrm>
            <a:off x="812800" y="3517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79DED2D2-E2F0-0545-9386-2E7CFD8F45A3}"/>
              </a:ext>
            </a:extLst>
          </p:cNvPr>
          <p:cNvSpPr txBox="1"/>
          <p:nvPr/>
        </p:nvSpPr>
        <p:spPr>
          <a:xfrm>
            <a:off x="914400" y="31623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利用者情報の連携</a:t>
            </a:r>
          </a:p>
        </p:txBody>
      </p:sp>
      <p:sp>
        <p:nvSpPr>
          <p:cNvPr id="29" name="テキスト ボックス 28">
            <a:extLst>
              <a:ext uri="{FF2B5EF4-FFF2-40B4-BE49-F238E27FC236}">
                <a16:creationId xmlns:a16="http://schemas.microsoft.com/office/drawing/2014/main" id="{6885CE33-8BF0-D044-8DFD-CF53BAF2B1E6}"/>
              </a:ext>
            </a:extLst>
          </p:cNvPr>
          <p:cNvSpPr txBox="1"/>
          <p:nvPr/>
        </p:nvSpPr>
        <p:spPr>
          <a:xfrm>
            <a:off x="2794000" y="31496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SCIM 2.0</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RFC 7643</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7644</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SAML 2.0</a:t>
            </a:r>
            <a:endParaRPr lang="ja-JP" altLang="en-US" sz="1100">
              <a:solidFill>
                <a:srgbClr val="1D2125"/>
              </a:solidFill>
              <a:latin typeface="Yu Gothic UI"/>
              <a:ea typeface="Yu Gothic UI"/>
            </a:endParaRPr>
          </a:p>
        </p:txBody>
      </p:sp>
      <p:sp>
        <p:nvSpPr>
          <p:cNvPr id="30" name="テキスト ボックス 29">
            <a:extLst>
              <a:ext uri="{FF2B5EF4-FFF2-40B4-BE49-F238E27FC236}">
                <a16:creationId xmlns:a16="http://schemas.microsoft.com/office/drawing/2014/main" id="{65329E57-973C-5546-85E9-0B15F0C103A8}"/>
              </a:ext>
            </a:extLst>
          </p:cNvPr>
          <p:cNvSpPr txBox="1"/>
          <p:nvPr/>
        </p:nvSpPr>
        <p:spPr>
          <a:xfrm>
            <a:off x="7518400" y="31496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外部</a:t>
            </a:r>
            <a:r>
              <a:rPr lang="en" altLang="ja-JP" sz="1100">
                <a:solidFill>
                  <a:srgbClr val="1F3864"/>
                </a:solidFill>
                <a:latin typeface="Yu Gothic UI"/>
                <a:ea typeface="Yu Gothic UI"/>
              </a:rPr>
              <a:t>ID</a:t>
            </a:r>
            <a:r>
              <a:rPr lang="ja-JP" altLang="en-US" sz="1100">
                <a:solidFill>
                  <a:srgbClr val="1F3864"/>
                </a:solidFill>
                <a:latin typeface="Yu Gothic UI"/>
                <a:ea typeface="Yu Gothic UI"/>
              </a:rPr>
              <a:t>連携と利用者情報の自動連携が本基盤の中核機能だから</a:t>
            </a:r>
          </a:p>
        </p:txBody>
      </p:sp>
      <p:sp>
        <p:nvSpPr>
          <p:cNvPr id="31" name="正方形/長方形 30">
            <a:extLst>
              <a:ext uri="{FF2B5EF4-FFF2-40B4-BE49-F238E27FC236}">
                <a16:creationId xmlns:a16="http://schemas.microsoft.com/office/drawing/2014/main" id="{2B83AF19-0332-114B-BF7A-23F4FA49660E}"/>
              </a:ext>
            </a:extLst>
          </p:cNvPr>
          <p:cNvSpPr/>
          <p:nvPr/>
        </p:nvSpPr>
        <p:spPr>
          <a:xfrm>
            <a:off x="812800" y="3530600"/>
            <a:ext cx="10566400" cy="431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正方形/長方形 31">
            <a:extLst>
              <a:ext uri="{FF2B5EF4-FFF2-40B4-BE49-F238E27FC236}">
                <a16:creationId xmlns:a16="http://schemas.microsoft.com/office/drawing/2014/main" id="{BCEA7E51-BFFB-8A42-8531-6C7BAF511474}"/>
              </a:ext>
            </a:extLst>
          </p:cNvPr>
          <p:cNvSpPr/>
          <p:nvPr/>
        </p:nvSpPr>
        <p:spPr>
          <a:xfrm>
            <a:off x="812800" y="3949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EFCC53CF-F088-C84B-AAD4-87C408F9FAA9}"/>
              </a:ext>
            </a:extLst>
          </p:cNvPr>
          <p:cNvSpPr txBox="1"/>
          <p:nvPr/>
        </p:nvSpPr>
        <p:spPr>
          <a:xfrm>
            <a:off x="914400" y="35941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認可</a:t>
            </a:r>
          </a:p>
        </p:txBody>
      </p:sp>
      <p:sp>
        <p:nvSpPr>
          <p:cNvPr id="34" name="テキスト ボックス 33">
            <a:extLst>
              <a:ext uri="{FF2B5EF4-FFF2-40B4-BE49-F238E27FC236}">
                <a16:creationId xmlns:a16="http://schemas.microsoft.com/office/drawing/2014/main" id="{0AA4B0CD-0FD2-BF44-8AEE-BF3E12775065}"/>
              </a:ext>
            </a:extLst>
          </p:cNvPr>
          <p:cNvSpPr txBox="1"/>
          <p:nvPr/>
        </p:nvSpPr>
        <p:spPr>
          <a:xfrm>
            <a:off x="2794000" y="35814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Zanzibar</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OpenFGA</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Cedar</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OPA</a:t>
            </a:r>
            <a:endParaRPr lang="ja-JP" altLang="en-US" sz="1100">
              <a:solidFill>
                <a:srgbClr val="1D2125"/>
              </a:solidFill>
              <a:latin typeface="Yu Gothic UI"/>
              <a:ea typeface="Yu Gothic UI"/>
            </a:endParaRPr>
          </a:p>
        </p:txBody>
      </p:sp>
      <p:sp>
        <p:nvSpPr>
          <p:cNvPr id="35" name="テキスト ボックス 34">
            <a:extLst>
              <a:ext uri="{FF2B5EF4-FFF2-40B4-BE49-F238E27FC236}">
                <a16:creationId xmlns:a16="http://schemas.microsoft.com/office/drawing/2014/main" id="{B2CD2D1B-3434-DB40-9D02-35F36B26EA03}"/>
              </a:ext>
            </a:extLst>
          </p:cNvPr>
          <p:cNvSpPr txBox="1"/>
          <p:nvPr/>
        </p:nvSpPr>
        <p:spPr>
          <a:xfrm>
            <a:off x="7518400" y="35814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将来の認可外部化（関係ベース認可・ポリシーのコード化）の選択肢を確認するため</a:t>
            </a:r>
          </a:p>
        </p:txBody>
      </p:sp>
      <p:sp>
        <p:nvSpPr>
          <p:cNvPr id="36" name="正方形/長方形 35">
            <a:extLst>
              <a:ext uri="{FF2B5EF4-FFF2-40B4-BE49-F238E27FC236}">
                <a16:creationId xmlns:a16="http://schemas.microsoft.com/office/drawing/2014/main" id="{D6E26E62-082D-3B4B-BA91-65942719BA9E}"/>
              </a:ext>
            </a:extLst>
          </p:cNvPr>
          <p:cNvSpPr/>
          <p:nvPr/>
        </p:nvSpPr>
        <p:spPr>
          <a:xfrm>
            <a:off x="812800" y="4381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7" name="テキスト ボックス 36">
            <a:extLst>
              <a:ext uri="{FF2B5EF4-FFF2-40B4-BE49-F238E27FC236}">
                <a16:creationId xmlns:a16="http://schemas.microsoft.com/office/drawing/2014/main" id="{72E4AC29-171A-F24D-9D21-94B5CFC811BB}"/>
              </a:ext>
            </a:extLst>
          </p:cNvPr>
          <p:cNvSpPr txBox="1"/>
          <p:nvPr/>
        </p:nvSpPr>
        <p:spPr>
          <a:xfrm>
            <a:off x="914400" y="40259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人以外の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と新興領域</a:t>
            </a:r>
          </a:p>
        </p:txBody>
      </p:sp>
      <p:sp>
        <p:nvSpPr>
          <p:cNvPr id="38" name="テキスト ボックス 37">
            <a:extLst>
              <a:ext uri="{FF2B5EF4-FFF2-40B4-BE49-F238E27FC236}">
                <a16:creationId xmlns:a16="http://schemas.microsoft.com/office/drawing/2014/main" id="{96F81D6E-54E6-5A48-947D-9FD0CC4F69C3}"/>
              </a:ext>
            </a:extLst>
          </p:cNvPr>
          <p:cNvSpPr txBox="1"/>
          <p:nvPr/>
        </p:nvSpPr>
        <p:spPr>
          <a:xfrm>
            <a:off x="2794000" y="40132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CSA </a:t>
            </a:r>
            <a:r>
              <a:rPr lang="ja-JP" altLang="en-US" sz="1100">
                <a:solidFill>
                  <a:srgbClr val="1D2125"/>
                </a:solidFill>
                <a:latin typeface="Yu Gothic UI"/>
                <a:ea typeface="Yu Gothic UI"/>
              </a:rPr>
              <a:t>非人間</a:t>
            </a:r>
            <a:r>
              <a:rPr lang="en" altLang="ja-JP" sz="1100">
                <a:solidFill>
                  <a:srgbClr val="1D2125"/>
                </a:solidFill>
                <a:latin typeface="Yu Gothic UI"/>
                <a:ea typeface="Yu Gothic UI"/>
              </a:rPr>
              <a:t>ID</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ISPM</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IETF WIMSE</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MCP </a:t>
            </a:r>
            <a:r>
              <a:rPr lang="ja-JP" altLang="en-US" sz="1100">
                <a:solidFill>
                  <a:srgbClr val="1D2125"/>
                </a:solidFill>
                <a:latin typeface="Yu Gothic UI"/>
                <a:ea typeface="Yu Gothic UI"/>
              </a:rPr>
              <a:t>認可、</a:t>
            </a:r>
            <a:r>
              <a:rPr lang="en" altLang="ja-JP" sz="1100">
                <a:solidFill>
                  <a:srgbClr val="1D2125"/>
                </a:solidFill>
                <a:latin typeface="Yu Gothic UI"/>
                <a:ea typeface="Yu Gothic UI"/>
              </a:rPr>
              <a:t>eIDAS 2.0</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W3C </a:t>
            </a:r>
            <a:r>
              <a:rPr lang="ja-JP" altLang="en-US" sz="1100">
                <a:solidFill>
                  <a:srgbClr val="1D2125"/>
                </a:solidFill>
                <a:latin typeface="Yu Gothic UI"/>
                <a:ea typeface="Yu Gothic UI"/>
              </a:rPr>
              <a:t>検証可能資格情報</a:t>
            </a:r>
          </a:p>
        </p:txBody>
      </p:sp>
      <p:sp>
        <p:nvSpPr>
          <p:cNvPr id="39" name="テキスト ボックス 38">
            <a:extLst>
              <a:ext uri="{FF2B5EF4-FFF2-40B4-BE49-F238E27FC236}">
                <a16:creationId xmlns:a16="http://schemas.microsoft.com/office/drawing/2014/main" id="{C35C00C6-1FB7-8A4D-B716-2B7E707BAAF1}"/>
              </a:ext>
            </a:extLst>
          </p:cNvPr>
          <p:cNvSpPr txBox="1"/>
          <p:nvPr/>
        </p:nvSpPr>
        <p:spPr>
          <a:xfrm>
            <a:off x="7518400" y="4013200"/>
            <a:ext cx="3759200" cy="355600"/>
          </a:xfrm>
          <a:prstGeom prst="rect">
            <a:avLst/>
          </a:prstGeom>
          <a:noFill/>
        </p:spPr>
        <p:txBody>
          <a:bodyPr vertOverflow="overflow" vert="horz" wrap="square" rtlCol="0" anchor="t" anchorCtr="0">
            <a:noAutofit/>
          </a:bodyPr>
          <a:lstStyle/>
          <a:p>
            <a:pPr algn="l"/>
            <a:r>
              <a:rPr lang="en-US" altLang="ja-JP" sz="1100">
                <a:solidFill>
                  <a:srgbClr val="1F3864"/>
                </a:solidFill>
                <a:latin typeface="Yu Gothic UI"/>
                <a:ea typeface="Yu Gothic UI"/>
              </a:rPr>
              <a:t>1,000</a:t>
            </a:r>
            <a:r>
              <a:rPr lang="ja-JP" altLang="en-US" sz="1100">
                <a:solidFill>
                  <a:srgbClr val="1F3864"/>
                </a:solidFill>
                <a:latin typeface="Yu Gothic UI"/>
                <a:ea typeface="Yu Gothic UI"/>
              </a:rPr>
              <a:t>社超で増える機械用の資格情報と、</a:t>
            </a:r>
            <a:r>
              <a:rPr lang="en" altLang="ja-JP" sz="1100">
                <a:solidFill>
                  <a:srgbClr val="1F3864"/>
                </a:solidFill>
                <a:latin typeface="Yu Gothic UI"/>
                <a:ea typeface="Yu Gothic UI"/>
              </a:rPr>
              <a:t>AI</a:t>
            </a:r>
            <a:r>
              <a:rPr lang="ja-JP" altLang="en-US" sz="1100">
                <a:solidFill>
                  <a:srgbClr val="1F3864"/>
                </a:solidFill>
                <a:latin typeface="Yu Gothic UI"/>
                <a:ea typeface="Yu Gothic UI"/>
              </a:rPr>
              <a:t>エージェント等の新しいリスクを先取りするため</a:t>
            </a:r>
          </a:p>
        </p:txBody>
      </p:sp>
      <p:sp>
        <p:nvSpPr>
          <p:cNvPr id="40" name="正方形/長方形 39">
            <a:extLst>
              <a:ext uri="{FF2B5EF4-FFF2-40B4-BE49-F238E27FC236}">
                <a16:creationId xmlns:a16="http://schemas.microsoft.com/office/drawing/2014/main" id="{4E86DE96-1946-C047-B23D-B0FDFAC71E7C}"/>
              </a:ext>
            </a:extLst>
          </p:cNvPr>
          <p:cNvSpPr/>
          <p:nvPr/>
        </p:nvSpPr>
        <p:spPr>
          <a:xfrm>
            <a:off x="812800" y="4394200"/>
            <a:ext cx="10566400" cy="431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1" name="正方形/長方形 40">
            <a:extLst>
              <a:ext uri="{FF2B5EF4-FFF2-40B4-BE49-F238E27FC236}">
                <a16:creationId xmlns:a16="http://schemas.microsoft.com/office/drawing/2014/main" id="{9DC01AA4-F2A9-1945-8593-FD72F32B852D}"/>
              </a:ext>
            </a:extLst>
          </p:cNvPr>
          <p:cNvSpPr/>
          <p:nvPr/>
        </p:nvSpPr>
        <p:spPr>
          <a:xfrm>
            <a:off x="812800" y="4813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2" name="テキスト ボックス 41">
            <a:extLst>
              <a:ext uri="{FF2B5EF4-FFF2-40B4-BE49-F238E27FC236}">
                <a16:creationId xmlns:a16="http://schemas.microsoft.com/office/drawing/2014/main" id="{8E1EA86B-7A19-1D42-8CAB-B987C784401B}"/>
              </a:ext>
            </a:extLst>
          </p:cNvPr>
          <p:cNvSpPr txBox="1"/>
          <p:nvPr/>
        </p:nvSpPr>
        <p:spPr>
          <a:xfrm>
            <a:off x="914400" y="44577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セキュリティ横断</a:t>
            </a:r>
          </a:p>
        </p:txBody>
      </p:sp>
      <p:sp>
        <p:nvSpPr>
          <p:cNvPr id="43" name="テキスト ボックス 42">
            <a:extLst>
              <a:ext uri="{FF2B5EF4-FFF2-40B4-BE49-F238E27FC236}">
                <a16:creationId xmlns:a16="http://schemas.microsoft.com/office/drawing/2014/main" id="{1FD3B26D-5779-2845-97AD-6C72D5E731CC}"/>
              </a:ext>
            </a:extLst>
          </p:cNvPr>
          <p:cNvSpPr txBox="1"/>
          <p:nvPr/>
        </p:nvSpPr>
        <p:spPr>
          <a:xfrm>
            <a:off x="2794000" y="44450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OWASP</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セッション管理／マルチテナント／パスワード保管／</a:t>
            </a:r>
            <a:r>
              <a:rPr lang="en" altLang="ja-JP" sz="1100">
                <a:solidFill>
                  <a:srgbClr val="1D2125"/>
                </a:solidFill>
                <a:latin typeface="Yu Gothic UI"/>
                <a:ea typeface="Yu Gothic UI"/>
              </a:rPr>
              <a:t>ASVS</a:t>
            </a:r>
            <a:r>
              <a:rPr lang="ja-JP" altLang="en" sz="1100">
                <a:solidFill>
                  <a:srgbClr val="1D2125"/>
                </a:solidFill>
                <a:latin typeface="Yu Gothic UI"/>
                <a:ea typeface="Yu Gothic UI"/>
              </a:rPr>
              <a:t>）</a:t>
            </a:r>
            <a:endParaRPr lang="ja-JP" altLang="en-US" sz="1100">
              <a:solidFill>
                <a:srgbClr val="1D2125"/>
              </a:solidFill>
              <a:latin typeface="Yu Gothic UI"/>
              <a:ea typeface="Yu Gothic UI"/>
            </a:endParaRPr>
          </a:p>
        </p:txBody>
      </p:sp>
      <p:sp>
        <p:nvSpPr>
          <p:cNvPr id="44" name="テキスト ボックス 43">
            <a:extLst>
              <a:ext uri="{FF2B5EF4-FFF2-40B4-BE49-F238E27FC236}">
                <a16:creationId xmlns:a16="http://schemas.microsoft.com/office/drawing/2014/main" id="{D6A6D2FB-4F9A-0149-B6FD-13A73D2A83E2}"/>
              </a:ext>
            </a:extLst>
          </p:cNvPr>
          <p:cNvSpPr txBox="1"/>
          <p:nvPr/>
        </p:nvSpPr>
        <p:spPr>
          <a:xfrm>
            <a:off x="7518400" y="44450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実装者向けの事実上のセキュリティ基準</a:t>
            </a:r>
          </a:p>
        </p:txBody>
      </p:sp>
      <p:sp>
        <p:nvSpPr>
          <p:cNvPr id="45" name="正方形/長方形 44">
            <a:extLst>
              <a:ext uri="{FF2B5EF4-FFF2-40B4-BE49-F238E27FC236}">
                <a16:creationId xmlns:a16="http://schemas.microsoft.com/office/drawing/2014/main" id="{EC78D753-60B0-A249-8C9E-48D46E34A86F}"/>
              </a:ext>
            </a:extLst>
          </p:cNvPr>
          <p:cNvSpPr/>
          <p:nvPr/>
        </p:nvSpPr>
        <p:spPr>
          <a:xfrm>
            <a:off x="812800" y="5245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6" name="テキスト ボックス 45">
            <a:extLst>
              <a:ext uri="{FF2B5EF4-FFF2-40B4-BE49-F238E27FC236}">
                <a16:creationId xmlns:a16="http://schemas.microsoft.com/office/drawing/2014/main" id="{B2DDD27B-FFEE-1D47-BF13-119B25628B7A}"/>
              </a:ext>
            </a:extLst>
          </p:cNvPr>
          <p:cNvSpPr txBox="1"/>
          <p:nvPr/>
        </p:nvSpPr>
        <p:spPr>
          <a:xfrm>
            <a:off x="914400" y="48895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法令・監査</a:t>
            </a:r>
          </a:p>
        </p:txBody>
      </p:sp>
      <p:sp>
        <p:nvSpPr>
          <p:cNvPr id="47" name="テキスト ボックス 46">
            <a:extLst>
              <a:ext uri="{FF2B5EF4-FFF2-40B4-BE49-F238E27FC236}">
                <a16:creationId xmlns:a16="http://schemas.microsoft.com/office/drawing/2014/main" id="{9E056E78-6A6B-F04C-B3FC-832EAC7C747F}"/>
              </a:ext>
            </a:extLst>
          </p:cNvPr>
          <p:cNvSpPr txBox="1"/>
          <p:nvPr/>
        </p:nvSpPr>
        <p:spPr>
          <a:xfrm>
            <a:off x="2794000" y="4876800"/>
            <a:ext cx="4521200" cy="355600"/>
          </a:xfrm>
          <a:prstGeom prst="rect">
            <a:avLst/>
          </a:prstGeom>
          <a:noFill/>
        </p:spPr>
        <p:txBody>
          <a:bodyPr vertOverflow="overflow" vert="horz" wrap="square" rtlCol="0" anchor="t" anchorCtr="0">
            <a:noAutofit/>
          </a:bodyPr>
          <a:lstStyle/>
          <a:p>
            <a:pPr algn="l"/>
            <a:r>
              <a:rPr lang="en" altLang="ja-JP" sz="1100">
                <a:solidFill>
                  <a:srgbClr val="1D2125"/>
                </a:solidFill>
                <a:latin typeface="Yu Gothic UI"/>
                <a:ea typeface="Yu Gothic UI"/>
              </a:rPr>
              <a:t>ISO 27001</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A.8</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A.9</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ISO 27701</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ISO 29184</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SOC 2</a:t>
            </a:r>
            <a:r>
              <a:rPr lang="ja-JP" altLang="en" sz="1100">
                <a:solidFill>
                  <a:srgbClr val="1D2125"/>
                </a:solidFill>
                <a:latin typeface="Yu Gothic UI"/>
                <a:ea typeface="Yu Gothic UI"/>
              </a:rPr>
              <a:t>（</a:t>
            </a:r>
            <a:r>
              <a:rPr lang="en" altLang="ja-JP" sz="1100">
                <a:solidFill>
                  <a:srgbClr val="1D2125"/>
                </a:solidFill>
                <a:latin typeface="Yu Gothic UI"/>
                <a:ea typeface="Yu Gothic UI"/>
              </a:rPr>
              <a:t>CC6.1</a:t>
            </a:r>
            <a:r>
              <a:rPr lang="ja-JP" altLang="en" sz="1100">
                <a:solidFill>
                  <a:srgbClr val="1D2125"/>
                </a:solidFill>
                <a:latin typeface="Yu Gothic UI"/>
                <a:ea typeface="Yu Gothic UI"/>
              </a:rPr>
              <a:t>）、</a:t>
            </a:r>
            <a:r>
              <a:rPr lang="ja-JP" altLang="en-US" sz="1100">
                <a:solidFill>
                  <a:srgbClr val="1D2125"/>
                </a:solidFill>
                <a:latin typeface="Yu Gothic UI"/>
                <a:ea typeface="Yu Gothic UI"/>
              </a:rPr>
              <a:t>個人情報保護法、</a:t>
            </a:r>
            <a:r>
              <a:rPr lang="en" altLang="ja-JP" sz="1100">
                <a:solidFill>
                  <a:srgbClr val="1D2125"/>
                </a:solidFill>
                <a:latin typeface="Yu Gothic UI"/>
                <a:ea typeface="Yu Gothic UI"/>
              </a:rPr>
              <a:t>GDPR</a:t>
            </a:r>
            <a:endParaRPr lang="ja-JP" altLang="en-US" sz="1100">
              <a:solidFill>
                <a:srgbClr val="1D2125"/>
              </a:solidFill>
              <a:latin typeface="Yu Gothic UI"/>
              <a:ea typeface="Yu Gothic UI"/>
            </a:endParaRPr>
          </a:p>
        </p:txBody>
      </p:sp>
      <p:sp>
        <p:nvSpPr>
          <p:cNvPr id="48" name="テキスト ボックス 47">
            <a:extLst>
              <a:ext uri="{FF2B5EF4-FFF2-40B4-BE49-F238E27FC236}">
                <a16:creationId xmlns:a16="http://schemas.microsoft.com/office/drawing/2014/main" id="{0F2BEECC-2F0A-B948-AC5D-B445582AA281}"/>
              </a:ext>
            </a:extLst>
          </p:cNvPr>
          <p:cNvSpPr txBox="1"/>
          <p:nvPr/>
        </p:nvSpPr>
        <p:spPr>
          <a:xfrm>
            <a:off x="7518400" y="48768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顧客と監査が準拠を要求する法令・認証の枠組み</a:t>
            </a:r>
          </a:p>
        </p:txBody>
      </p:sp>
      <p:sp>
        <p:nvSpPr>
          <p:cNvPr id="49" name="正方形/長方形 48">
            <a:extLst>
              <a:ext uri="{FF2B5EF4-FFF2-40B4-BE49-F238E27FC236}">
                <a16:creationId xmlns:a16="http://schemas.microsoft.com/office/drawing/2014/main" id="{DEA3E577-7D81-624B-81CE-FAE0C13D8F77}"/>
              </a:ext>
            </a:extLst>
          </p:cNvPr>
          <p:cNvSpPr/>
          <p:nvPr/>
        </p:nvSpPr>
        <p:spPr>
          <a:xfrm>
            <a:off x="812800" y="5257800"/>
            <a:ext cx="10566400" cy="431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正方形/長方形 49">
            <a:extLst>
              <a:ext uri="{FF2B5EF4-FFF2-40B4-BE49-F238E27FC236}">
                <a16:creationId xmlns:a16="http://schemas.microsoft.com/office/drawing/2014/main" id="{0A315011-AE03-7E4E-B0E3-13B12EF057CC}"/>
              </a:ext>
            </a:extLst>
          </p:cNvPr>
          <p:cNvSpPr/>
          <p:nvPr/>
        </p:nvSpPr>
        <p:spPr>
          <a:xfrm>
            <a:off x="812800" y="567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D61AB0D9-2E79-194D-ADB6-F393117110E8}"/>
              </a:ext>
            </a:extLst>
          </p:cNvPr>
          <p:cNvSpPr txBox="1"/>
          <p:nvPr/>
        </p:nvSpPr>
        <p:spPr>
          <a:xfrm>
            <a:off x="914400" y="53213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製品・クラウド公式</a:t>
            </a:r>
          </a:p>
        </p:txBody>
      </p:sp>
      <p:sp>
        <p:nvSpPr>
          <p:cNvPr id="52" name="テキスト ボックス 51">
            <a:extLst>
              <a:ext uri="{FF2B5EF4-FFF2-40B4-BE49-F238E27FC236}">
                <a16:creationId xmlns:a16="http://schemas.microsoft.com/office/drawing/2014/main" id="{6B20CE7B-40E1-554C-9A62-E77DD88D4802}"/>
              </a:ext>
            </a:extLst>
          </p:cNvPr>
          <p:cNvSpPr txBox="1"/>
          <p:nvPr/>
        </p:nvSpPr>
        <p:spPr>
          <a:xfrm>
            <a:off x="2794000" y="5308600"/>
            <a:ext cx="4521200" cy="3556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製品ベンダーの本番運用・冗長化・サイジング・性能測定の公式ガイド、製品ライフサイクル、クラウド事業者の設計原則</a:t>
            </a:r>
          </a:p>
        </p:txBody>
      </p:sp>
      <p:sp>
        <p:nvSpPr>
          <p:cNvPr id="53" name="テキスト ボックス 52">
            <a:extLst>
              <a:ext uri="{FF2B5EF4-FFF2-40B4-BE49-F238E27FC236}">
                <a16:creationId xmlns:a16="http://schemas.microsoft.com/office/drawing/2014/main" id="{FB1584A0-82DE-A242-AAA6-195B61958D76}"/>
              </a:ext>
            </a:extLst>
          </p:cNvPr>
          <p:cNvSpPr txBox="1"/>
          <p:nvPr/>
        </p:nvSpPr>
        <p:spPr>
          <a:xfrm>
            <a:off x="7518400" y="53086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採用製品と基盤の一次運用ガイダンス。サイジング・冗長化・更新方針の権威</a:t>
            </a:r>
          </a:p>
        </p:txBody>
      </p:sp>
      <p:sp>
        <p:nvSpPr>
          <p:cNvPr id="54" name="正方形/長方形 53">
            <a:extLst>
              <a:ext uri="{FF2B5EF4-FFF2-40B4-BE49-F238E27FC236}">
                <a16:creationId xmlns:a16="http://schemas.microsoft.com/office/drawing/2014/main" id="{E84B7866-90FD-8D4D-B2FB-08E7C099901A}"/>
              </a:ext>
            </a:extLst>
          </p:cNvPr>
          <p:cNvSpPr/>
          <p:nvPr/>
        </p:nvSpPr>
        <p:spPr>
          <a:xfrm>
            <a:off x="812800" y="6108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F30C2513-C093-9944-A45C-3ADBF8D15EDD}"/>
              </a:ext>
            </a:extLst>
          </p:cNvPr>
          <p:cNvSpPr txBox="1"/>
          <p:nvPr/>
        </p:nvSpPr>
        <p:spPr>
          <a:xfrm>
            <a:off x="914400" y="5753100"/>
            <a:ext cx="1676400" cy="330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自社整理資料</a:t>
            </a:r>
          </a:p>
        </p:txBody>
      </p:sp>
      <p:sp>
        <p:nvSpPr>
          <p:cNvPr id="56" name="テキスト ボックス 55">
            <a:extLst>
              <a:ext uri="{FF2B5EF4-FFF2-40B4-BE49-F238E27FC236}">
                <a16:creationId xmlns:a16="http://schemas.microsoft.com/office/drawing/2014/main" id="{FB5A1384-33F2-DA4D-9592-C4E9CF5DB6BF}"/>
              </a:ext>
            </a:extLst>
          </p:cNvPr>
          <p:cNvSpPr txBox="1"/>
          <p:nvPr/>
        </p:nvSpPr>
        <p:spPr>
          <a:xfrm>
            <a:off x="2794000" y="5740400"/>
            <a:ext cx="4521200" cy="3556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認証プロトコルの比較整理、利用者情報連携方式の併存整理、カード業界基準の差分分析 ほか</a:t>
            </a:r>
          </a:p>
        </p:txBody>
      </p:sp>
      <p:sp>
        <p:nvSpPr>
          <p:cNvPr id="57" name="テキスト ボックス 56">
            <a:extLst>
              <a:ext uri="{FF2B5EF4-FFF2-40B4-BE49-F238E27FC236}">
                <a16:creationId xmlns:a16="http://schemas.microsoft.com/office/drawing/2014/main" id="{39498F2C-5F00-084B-BC99-4E0BDA5D6243}"/>
              </a:ext>
            </a:extLst>
          </p:cNvPr>
          <p:cNvSpPr txBox="1"/>
          <p:nvPr/>
        </p:nvSpPr>
        <p:spPr>
          <a:xfrm>
            <a:off x="7518400" y="5740400"/>
            <a:ext cx="3759200" cy="355600"/>
          </a:xfrm>
          <a:prstGeom prst="rect">
            <a:avLst/>
          </a:prstGeom>
          <a:noFill/>
        </p:spPr>
        <p:txBody>
          <a:bodyPr vertOverflow="overflow" vert="horz" wrap="square" rtlCol="0" anchor="t" anchorCtr="0">
            <a:noAutofit/>
          </a:bodyPr>
          <a:lstStyle/>
          <a:p>
            <a:pPr algn="l"/>
            <a:r>
              <a:rPr lang="ja-JP" altLang="en-US" sz="1100">
                <a:solidFill>
                  <a:srgbClr val="1F3864"/>
                </a:solidFill>
                <a:latin typeface="Yu Gothic UI"/>
                <a:ea typeface="Yu Gothic UI"/>
              </a:rPr>
              <a:t>上記を突き合わせた内部分析の一次記録</a:t>
            </a:r>
          </a:p>
        </p:txBody>
      </p:sp>
      <p:sp>
        <p:nvSpPr>
          <p:cNvPr id="58" name="テキスト ボックス 57">
            <a:extLst>
              <a:ext uri="{FF2B5EF4-FFF2-40B4-BE49-F238E27FC236}">
                <a16:creationId xmlns:a16="http://schemas.microsoft.com/office/drawing/2014/main" id="{865992D5-BB24-5E4F-A055-7B96428DB8EA}"/>
              </a:ext>
            </a:extLst>
          </p:cNvPr>
          <p:cNvSpPr txBox="1"/>
          <p:nvPr/>
        </p:nvSpPr>
        <p:spPr>
          <a:xfrm>
            <a:off x="812800" y="6146800"/>
            <a:ext cx="10566400" cy="3556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これらを網羅的に参照し、全ての設計決定と突き合わせる再監査を実施しました。その結果、継続的アクセス評価・人以外の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の管理・認可判定の記録・テナント隔離・同意管理に真の抜けを発見し、新たに要件化して設計へ反映済みです。網羅的な検討を経ている、と言える状態です。</a:t>
            </a:r>
          </a:p>
        </p:txBody>
      </p:sp>
      <p:sp>
        <p:nvSpPr>
          <p:cNvPr id="59" name="テキスト ボックス 58">
            <a:extLst>
              <a:ext uri="{FF2B5EF4-FFF2-40B4-BE49-F238E27FC236}">
                <a16:creationId xmlns:a16="http://schemas.microsoft.com/office/drawing/2014/main" id="{2121E77A-255B-B840-9DFB-3D9A8EC87870}"/>
              </a:ext>
            </a:extLst>
          </p:cNvPr>
          <p:cNvSpPr txBox="1"/>
          <p:nvPr/>
        </p:nvSpPr>
        <p:spPr>
          <a:xfrm>
            <a:off x="812800" y="6553200"/>
            <a:ext cx="105664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出典：自社整理資料（参照標準の一覧と参照根拠の記録）、再監査の記録および設計判断記録</a:t>
            </a:r>
          </a:p>
        </p:txBody>
      </p:sp>
    </p:spTree>
    <p:extLst>
      <p:ext uri="{BB962C8B-B14F-4D97-AF65-F5344CB8AC3E}">
        <p14:creationId xmlns:p14="http://schemas.microsoft.com/office/powerpoint/2010/main" val="661824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CAD08217-819F-1547-8425-F3C5B32880C5}"/>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1741F7BA-371F-8749-9A84-FB32A858FB0F}"/>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①</a:t>
            </a:r>
            <a:r>
              <a:rPr lang="ja-JP" altLang="en-US" sz="2400" b="1">
                <a:solidFill>
                  <a:srgbClr val="1F3864"/>
                </a:solidFill>
                <a:latin typeface="Yu Gothic UI"/>
                <a:ea typeface="Yu Gothic UI"/>
              </a:rPr>
              <a:t>　認証方式</a:t>
            </a:r>
          </a:p>
        </p:txBody>
      </p:sp>
      <p:sp>
        <p:nvSpPr>
          <p:cNvPr id="56" name="テキスト ボックス 55">
            <a:extLst>
              <a:ext uri="{FF2B5EF4-FFF2-40B4-BE49-F238E27FC236}">
                <a16:creationId xmlns:a16="http://schemas.microsoft.com/office/drawing/2014/main" id="{480D1A40-DB44-014B-A3E7-6A555D11C87D}"/>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14 </a:t>
            </a:r>
            <a:r>
              <a:rPr lang="ja-JP" altLang="en-US" sz="1400" b="1">
                <a:solidFill>
                  <a:srgbClr val="5A6472"/>
                </a:solidFill>
                <a:latin typeface="Yu Gothic UI"/>
                <a:ea typeface="Yu Gothic UI"/>
              </a:rPr>
              <a:t>件</a:t>
            </a:r>
          </a:p>
        </p:txBody>
      </p:sp>
      <p:sp>
        <p:nvSpPr>
          <p:cNvPr id="57" name="テキスト ボックス 56">
            <a:extLst>
              <a:ext uri="{FF2B5EF4-FFF2-40B4-BE49-F238E27FC236}">
                <a16:creationId xmlns:a16="http://schemas.microsoft.com/office/drawing/2014/main" id="{5E41EEFF-FE34-044D-9C9E-A05239FD1FF0}"/>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利用者が本人であることをどう確かめるか。</a:t>
            </a:r>
          </a:p>
        </p:txBody>
      </p:sp>
      <p:sp>
        <p:nvSpPr>
          <p:cNvPr id="58" name="正方形/長方形 57">
            <a:extLst>
              <a:ext uri="{FF2B5EF4-FFF2-40B4-BE49-F238E27FC236}">
                <a16:creationId xmlns:a16="http://schemas.microsoft.com/office/drawing/2014/main" id="{8C9EC141-DA13-8A49-BADC-C8D7A36C31FC}"/>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E2D7CA1B-8F3A-2849-970C-7170E1F7C682}"/>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標準方式は固まっており、詳細設計を止める要因ではありません。追加</a:t>
            </a:r>
            <a:r>
              <a:rPr lang="en-US" altLang="ja-JP" sz="1300" b="1">
                <a:solidFill>
                  <a:srgbClr val="1D2125"/>
                </a:solidFill>
                <a:latin typeface="Yu Gothic UI"/>
                <a:ea typeface="Yu Gothic UI"/>
              </a:rPr>
              <a:t>3</a:t>
            </a:r>
            <a:r>
              <a:rPr lang="ja-JP" altLang="en-US" sz="1300" b="1">
                <a:solidFill>
                  <a:srgbClr val="1D2125"/>
                </a:solidFill>
                <a:latin typeface="Yu Gothic UI"/>
                <a:ea typeface="Yu Gothic UI"/>
              </a:rPr>
              <a:t>方式の要否だけが顧客判断待ちで、これは製品選定の前提にも関わるため早期の確認が必要です。</a:t>
            </a:r>
          </a:p>
        </p:txBody>
      </p:sp>
      <p:sp>
        <p:nvSpPr>
          <p:cNvPr id="60" name="正方形/長方形 59">
            <a:extLst>
              <a:ext uri="{FF2B5EF4-FFF2-40B4-BE49-F238E27FC236}">
                <a16:creationId xmlns:a16="http://schemas.microsoft.com/office/drawing/2014/main" id="{CABC2BDF-DEF4-6646-A190-62D1B044C4B1}"/>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ED813ADA-34E5-6944-B444-8F6221BCA714}"/>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62" name="テキスト ボックス 61">
            <a:extLst>
              <a:ext uri="{FF2B5EF4-FFF2-40B4-BE49-F238E27FC236}">
                <a16:creationId xmlns:a16="http://schemas.microsoft.com/office/drawing/2014/main" id="{311CB066-418C-FE45-B4E0-3B174160D6FB}"/>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63" name="テキスト ボックス 62">
            <a:extLst>
              <a:ext uri="{FF2B5EF4-FFF2-40B4-BE49-F238E27FC236}">
                <a16:creationId xmlns:a16="http://schemas.microsoft.com/office/drawing/2014/main" id="{E26D407E-5BA4-F342-970B-D3BC9117C778}"/>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64" name="テキスト ボックス 63">
            <a:extLst>
              <a:ext uri="{FF2B5EF4-FFF2-40B4-BE49-F238E27FC236}">
                <a16:creationId xmlns:a16="http://schemas.microsoft.com/office/drawing/2014/main" id="{7F6D739F-A26E-924C-B852-731B7809E0A6}"/>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65" name="正方形/長方形 64">
            <a:extLst>
              <a:ext uri="{FF2B5EF4-FFF2-40B4-BE49-F238E27FC236}">
                <a16:creationId xmlns:a16="http://schemas.microsoft.com/office/drawing/2014/main" id="{4C2FE407-2B76-F846-ADB8-A4E1EDEEA497}"/>
              </a:ext>
            </a:extLst>
          </p:cNvPr>
          <p:cNvSpPr/>
          <p:nvPr/>
        </p:nvSpPr>
        <p:spPr>
          <a:xfrm>
            <a:off x="812800" y="2806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3C32D632-EAC5-D14F-A08F-FF305C2AA838}"/>
              </a:ext>
            </a:extLst>
          </p:cNvPr>
          <p:cNvSpPr txBox="1"/>
          <p:nvPr/>
        </p:nvSpPr>
        <p:spPr>
          <a:xfrm>
            <a:off x="914400" y="2057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標準的なログイン方式</a:t>
            </a:r>
          </a:p>
        </p:txBody>
      </p:sp>
      <p:sp>
        <p:nvSpPr>
          <p:cNvPr id="67" name="テキスト ボックス 66">
            <a:extLst>
              <a:ext uri="{FF2B5EF4-FFF2-40B4-BE49-F238E27FC236}">
                <a16:creationId xmlns:a16="http://schemas.microsoft.com/office/drawing/2014/main" id="{09E40B99-F64B-A448-87FF-395A704C6E4C}"/>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68" name="テキスト ボックス 67">
            <a:extLst>
              <a:ext uri="{FF2B5EF4-FFF2-40B4-BE49-F238E27FC236}">
                <a16:creationId xmlns:a16="http://schemas.microsoft.com/office/drawing/2014/main" id="{8716516C-B075-7944-9E30-3D617CE499DA}"/>
              </a:ext>
            </a:extLst>
          </p:cNvPr>
          <p:cNvSpPr txBox="1"/>
          <p:nvPr/>
        </p:nvSpPr>
        <p:spPr>
          <a:xfrm>
            <a:off x="3683000" y="2044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画面ありのアプリ、サーバー側で処理するアプリ、モバイルアプリでの認証手順</a:t>
            </a:r>
          </a:p>
        </p:txBody>
      </p:sp>
      <p:sp>
        <p:nvSpPr>
          <p:cNvPr id="69" name="テキスト ボックス 68">
            <a:extLst>
              <a:ext uri="{FF2B5EF4-FFF2-40B4-BE49-F238E27FC236}">
                <a16:creationId xmlns:a16="http://schemas.microsoft.com/office/drawing/2014/main" id="{CC0958E6-F01F-C548-9039-77DF27C1EBA5}"/>
              </a:ext>
            </a:extLst>
          </p:cNvPr>
          <p:cNvSpPr txBox="1"/>
          <p:nvPr/>
        </p:nvSpPr>
        <p:spPr>
          <a:xfrm>
            <a:off x="6858000" y="2044700"/>
            <a:ext cx="4419600" cy="685800"/>
          </a:xfrm>
          <a:prstGeom prst="rect">
            <a:avLst/>
          </a:prstGeom>
          <a:noFill/>
        </p:spPr>
        <p:txBody>
          <a:bodyPr vertOverflow="overflow" vert="horz" wrap="square" rtlCol="0" anchor="t" anchorCtr="0">
            <a:noAutofit/>
          </a:bodyPr>
          <a:lstStyle/>
          <a:p>
            <a:pPr algn="l"/>
            <a:r>
              <a:rPr lang="en-US" altLang="ja-JP" sz="1100">
                <a:solidFill>
                  <a:srgbClr val="1D2125"/>
                </a:solidFill>
                <a:latin typeface="Yu Gothic UI"/>
                <a:ea typeface="Yu Gothic UI"/>
              </a:rPr>
              <a:t>3</a:t>
            </a:r>
            <a:r>
              <a:rPr lang="ja-JP" altLang="en-US" sz="1100">
                <a:solidFill>
                  <a:srgbClr val="1D2125"/>
                </a:solidFill>
                <a:latin typeface="Yu Gothic UI"/>
                <a:ea typeface="Yu Gothic UI"/>
              </a:rPr>
              <a:t>形態いずれも業界標準の手順で確定済みです。残るのはサーバー側方式の実機検証で、自社だけで実施できます。</a:t>
            </a:r>
          </a:p>
        </p:txBody>
      </p:sp>
      <p:sp>
        <p:nvSpPr>
          <p:cNvPr id="70" name="正方形/長方形 69">
            <a:extLst>
              <a:ext uri="{FF2B5EF4-FFF2-40B4-BE49-F238E27FC236}">
                <a16:creationId xmlns:a16="http://schemas.microsoft.com/office/drawing/2014/main" id="{206EFB07-F9EC-064D-A5F3-D8A233CFFA4D}"/>
              </a:ext>
            </a:extLst>
          </p:cNvPr>
          <p:cNvSpPr/>
          <p:nvPr/>
        </p:nvSpPr>
        <p:spPr>
          <a:xfrm>
            <a:off x="812800" y="2819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D6898CE9-60F5-AA40-BAF1-A32E756B6F80}"/>
              </a:ext>
            </a:extLst>
          </p:cNvPr>
          <p:cNvSpPr/>
          <p:nvPr/>
        </p:nvSpPr>
        <p:spPr>
          <a:xfrm>
            <a:off x="812800" y="3695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8F83AB73-AD9F-5B42-A5D8-B90F7529DABB}"/>
              </a:ext>
            </a:extLst>
          </p:cNvPr>
          <p:cNvSpPr txBox="1"/>
          <p:nvPr/>
        </p:nvSpPr>
        <p:spPr>
          <a:xfrm>
            <a:off x="914400" y="2946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システム間の認証</a:t>
            </a:r>
          </a:p>
        </p:txBody>
      </p:sp>
      <p:sp>
        <p:nvSpPr>
          <p:cNvPr id="73" name="テキスト ボックス 72">
            <a:extLst>
              <a:ext uri="{FF2B5EF4-FFF2-40B4-BE49-F238E27FC236}">
                <a16:creationId xmlns:a16="http://schemas.microsoft.com/office/drawing/2014/main" id="{3E099CF2-C34F-9649-8553-D7C2465AC8BA}"/>
              </a:ext>
            </a:extLst>
          </p:cNvPr>
          <p:cNvSpPr txBox="1"/>
          <p:nvPr/>
        </p:nvSpPr>
        <p:spPr>
          <a:xfrm>
            <a:off x="2946400" y="2959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1</a:t>
            </a:r>
            <a:endParaRPr lang="ja-JP" altLang="en-US" sz="1200">
              <a:solidFill>
                <a:srgbClr val="5A6472"/>
              </a:solidFill>
              <a:latin typeface="Yu Gothic UI"/>
              <a:ea typeface="Yu Gothic UI"/>
            </a:endParaRPr>
          </a:p>
        </p:txBody>
      </p:sp>
      <p:sp>
        <p:nvSpPr>
          <p:cNvPr id="74" name="テキスト ボックス 73">
            <a:extLst>
              <a:ext uri="{FF2B5EF4-FFF2-40B4-BE49-F238E27FC236}">
                <a16:creationId xmlns:a16="http://schemas.microsoft.com/office/drawing/2014/main" id="{89F55B7A-7766-EE44-A233-A6597BF97B2C}"/>
              </a:ext>
            </a:extLst>
          </p:cNvPr>
          <p:cNvSpPr txBox="1"/>
          <p:nvPr/>
        </p:nvSpPr>
        <p:spPr>
          <a:xfrm>
            <a:off x="3683000" y="2933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人を介さないシステム同士の連携における認証</a:t>
            </a:r>
          </a:p>
        </p:txBody>
      </p:sp>
      <p:sp>
        <p:nvSpPr>
          <p:cNvPr id="75" name="テキスト ボックス 74">
            <a:extLst>
              <a:ext uri="{FF2B5EF4-FFF2-40B4-BE49-F238E27FC236}">
                <a16:creationId xmlns:a16="http://schemas.microsoft.com/office/drawing/2014/main" id="{7C749AA1-146D-E14A-8DE3-B0A398C8C7ED}"/>
              </a:ext>
            </a:extLst>
          </p:cNvPr>
          <p:cNvSpPr txBox="1"/>
          <p:nvPr/>
        </p:nvSpPr>
        <p:spPr>
          <a:xfrm>
            <a:off x="6858000" y="2933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専用アカウント方式で確定済み。実機検証を残すのみです。</a:t>
            </a:r>
          </a:p>
        </p:txBody>
      </p:sp>
      <p:sp>
        <p:nvSpPr>
          <p:cNvPr id="76" name="正方形/長方形 75">
            <a:extLst>
              <a:ext uri="{FF2B5EF4-FFF2-40B4-BE49-F238E27FC236}">
                <a16:creationId xmlns:a16="http://schemas.microsoft.com/office/drawing/2014/main" id="{AB26EEFC-E769-7E48-8D78-1DE53B7BFFCD}"/>
              </a:ext>
            </a:extLst>
          </p:cNvPr>
          <p:cNvSpPr/>
          <p:nvPr/>
        </p:nvSpPr>
        <p:spPr>
          <a:xfrm>
            <a:off x="812800" y="458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7" name="テキスト ボックス 76">
            <a:extLst>
              <a:ext uri="{FF2B5EF4-FFF2-40B4-BE49-F238E27FC236}">
                <a16:creationId xmlns:a16="http://schemas.microsoft.com/office/drawing/2014/main" id="{6E131C5A-2F3D-C142-A42B-80DCBE6476E0}"/>
              </a:ext>
            </a:extLst>
          </p:cNvPr>
          <p:cNvSpPr txBox="1"/>
          <p:nvPr/>
        </p:nvSpPr>
        <p:spPr>
          <a:xfrm>
            <a:off x="914400" y="3835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追加方式の採用可否</a:t>
            </a:r>
          </a:p>
        </p:txBody>
      </p:sp>
      <p:sp>
        <p:nvSpPr>
          <p:cNvPr id="78" name="テキスト ボックス 77">
            <a:extLst>
              <a:ext uri="{FF2B5EF4-FFF2-40B4-BE49-F238E27FC236}">
                <a16:creationId xmlns:a16="http://schemas.microsoft.com/office/drawing/2014/main" id="{39394BC0-444C-3049-BCDC-CBFFEEA3A2D3}"/>
              </a:ext>
            </a:extLst>
          </p:cNvPr>
          <p:cNvSpPr txBox="1"/>
          <p:nvPr/>
        </p:nvSpPr>
        <p:spPr>
          <a:xfrm>
            <a:off x="2946400" y="3848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9" name="テキスト ボックス 78">
            <a:extLst>
              <a:ext uri="{FF2B5EF4-FFF2-40B4-BE49-F238E27FC236}">
                <a16:creationId xmlns:a16="http://schemas.microsoft.com/office/drawing/2014/main" id="{DB6E804C-5300-D648-9018-3CA03D2C3DB8}"/>
              </a:ext>
            </a:extLst>
          </p:cNvPr>
          <p:cNvSpPr txBox="1"/>
          <p:nvPr/>
        </p:nvSpPr>
        <p:spPr>
          <a:xfrm>
            <a:off x="3683000" y="3822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資格情報の受け渡し、機器単体でのログイン、相互証明書による認証</a:t>
            </a:r>
          </a:p>
        </p:txBody>
      </p:sp>
      <p:sp>
        <p:nvSpPr>
          <p:cNvPr id="80" name="テキスト ボックス 79">
            <a:extLst>
              <a:ext uri="{FF2B5EF4-FFF2-40B4-BE49-F238E27FC236}">
                <a16:creationId xmlns:a16="http://schemas.microsoft.com/office/drawing/2014/main" id="{35F42ADB-02F3-9242-A960-2DC722765FDF}"/>
              </a:ext>
            </a:extLst>
          </p:cNvPr>
          <p:cNvSpPr txBox="1"/>
          <p:nvPr/>
        </p:nvSpPr>
        <p:spPr>
          <a:xfrm>
            <a:off x="6858000" y="3822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基盤側はいずれも提供可能ですが、採用するかは未確定です。</a:t>
            </a:r>
            <a:r>
              <a:rPr lang="en-US" altLang="ja-JP" sz="1100">
                <a:solidFill>
                  <a:srgbClr val="1D2125"/>
                </a:solidFill>
                <a:latin typeface="Yu Gothic UI"/>
                <a:ea typeface="Yu Gothic UI"/>
              </a:rPr>
              <a:t>3</a:t>
            </a:r>
            <a:r>
              <a:rPr lang="ja-JP" altLang="en-US" sz="1100">
                <a:solidFill>
                  <a:srgbClr val="1D2125"/>
                </a:solidFill>
                <a:latin typeface="Yu Gothic UI"/>
                <a:ea typeface="Yu Gothic UI"/>
              </a:rPr>
              <a:t>方式それぞれの要否を顧客に確認する必要があります。</a:t>
            </a:r>
          </a:p>
        </p:txBody>
      </p:sp>
      <p:sp>
        <p:nvSpPr>
          <p:cNvPr id="81" name="正方形/長方形 80">
            <a:extLst>
              <a:ext uri="{FF2B5EF4-FFF2-40B4-BE49-F238E27FC236}">
                <a16:creationId xmlns:a16="http://schemas.microsoft.com/office/drawing/2014/main" id="{D53605C5-D46F-3A40-9BF1-2522BDFE7205}"/>
              </a:ext>
            </a:extLst>
          </p:cNvPr>
          <p:cNvSpPr/>
          <p:nvPr/>
        </p:nvSpPr>
        <p:spPr>
          <a:xfrm>
            <a:off x="812800" y="4597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2" name="正方形/長方形 81">
            <a:extLst>
              <a:ext uri="{FF2B5EF4-FFF2-40B4-BE49-F238E27FC236}">
                <a16:creationId xmlns:a16="http://schemas.microsoft.com/office/drawing/2014/main" id="{62CE76CF-50D3-A14B-8235-1147D48DCD3C}"/>
              </a:ext>
            </a:extLst>
          </p:cNvPr>
          <p:cNvSpPr/>
          <p:nvPr/>
        </p:nvSpPr>
        <p:spPr>
          <a:xfrm>
            <a:off x="812800" y="5473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3" name="テキスト ボックス 82">
            <a:extLst>
              <a:ext uri="{FF2B5EF4-FFF2-40B4-BE49-F238E27FC236}">
                <a16:creationId xmlns:a16="http://schemas.microsoft.com/office/drawing/2014/main" id="{1ABD7488-6CE6-6B46-9F21-528C739D2B2F}"/>
              </a:ext>
            </a:extLst>
          </p:cNvPr>
          <p:cNvSpPr txBox="1"/>
          <p:nvPr/>
        </p:nvSpPr>
        <p:spPr>
          <a:xfrm>
            <a:off x="914400" y="4724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採用しない方式</a:t>
            </a:r>
          </a:p>
        </p:txBody>
      </p:sp>
      <p:sp>
        <p:nvSpPr>
          <p:cNvPr id="84" name="テキスト ボックス 83">
            <a:extLst>
              <a:ext uri="{FF2B5EF4-FFF2-40B4-BE49-F238E27FC236}">
                <a16:creationId xmlns:a16="http://schemas.microsoft.com/office/drawing/2014/main" id="{BE50E081-0E8D-8942-8462-B210250144A3}"/>
              </a:ext>
            </a:extLst>
          </p:cNvPr>
          <p:cNvSpPr txBox="1"/>
          <p:nvPr/>
        </p:nvSpPr>
        <p:spPr>
          <a:xfrm>
            <a:off x="2946400" y="4737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1</a:t>
            </a:r>
            <a:endParaRPr lang="ja-JP" altLang="en-US" sz="1200">
              <a:solidFill>
                <a:srgbClr val="5A6472"/>
              </a:solidFill>
              <a:latin typeface="Yu Gothic UI"/>
              <a:ea typeface="Yu Gothic UI"/>
            </a:endParaRPr>
          </a:p>
        </p:txBody>
      </p:sp>
      <p:sp>
        <p:nvSpPr>
          <p:cNvPr id="85" name="テキスト ボックス 84">
            <a:extLst>
              <a:ext uri="{FF2B5EF4-FFF2-40B4-BE49-F238E27FC236}">
                <a16:creationId xmlns:a16="http://schemas.microsoft.com/office/drawing/2014/main" id="{BF7CF1E6-A581-9345-84B0-2A3C01F736A8}"/>
              </a:ext>
            </a:extLst>
          </p:cNvPr>
          <p:cNvSpPr txBox="1"/>
          <p:nvPr/>
        </p:nvSpPr>
        <p:spPr>
          <a:xfrm>
            <a:off x="3683000" y="4711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アプリが利用者のパスワードを直接預かる方式</a:t>
            </a:r>
          </a:p>
        </p:txBody>
      </p:sp>
      <p:sp>
        <p:nvSpPr>
          <p:cNvPr id="86" name="テキスト ボックス 85">
            <a:extLst>
              <a:ext uri="{FF2B5EF4-FFF2-40B4-BE49-F238E27FC236}">
                <a16:creationId xmlns:a16="http://schemas.microsoft.com/office/drawing/2014/main" id="{31C1FAEA-AD94-414A-B163-A759E64E0149}"/>
              </a:ext>
            </a:extLst>
          </p:cNvPr>
          <p:cNvSpPr txBox="1"/>
          <p:nvPr/>
        </p:nvSpPr>
        <p:spPr>
          <a:xfrm>
            <a:off x="6858000" y="4711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安全性の理由から不採用で確定済み。対応は不要です。</a:t>
            </a:r>
          </a:p>
        </p:txBody>
      </p:sp>
      <p:sp>
        <p:nvSpPr>
          <p:cNvPr id="87" name="正方形/長方形 86">
            <a:extLst>
              <a:ext uri="{FF2B5EF4-FFF2-40B4-BE49-F238E27FC236}">
                <a16:creationId xmlns:a16="http://schemas.microsoft.com/office/drawing/2014/main" id="{7955465E-0886-1842-9F1D-9E2A19AA7C81}"/>
              </a:ext>
            </a:extLst>
          </p:cNvPr>
          <p:cNvSpPr/>
          <p:nvPr/>
        </p:nvSpPr>
        <p:spPr>
          <a:xfrm>
            <a:off x="812800" y="636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8" name="テキスト ボックス 87">
            <a:extLst>
              <a:ext uri="{FF2B5EF4-FFF2-40B4-BE49-F238E27FC236}">
                <a16:creationId xmlns:a16="http://schemas.microsoft.com/office/drawing/2014/main" id="{6C1E231B-16B9-CF48-9F7D-5C14CECA526D}"/>
              </a:ext>
            </a:extLst>
          </p:cNvPr>
          <p:cNvSpPr txBox="1"/>
          <p:nvPr/>
        </p:nvSpPr>
        <p:spPr>
          <a:xfrm>
            <a:off x="914400" y="5613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パスワード運用の方針</a:t>
            </a:r>
          </a:p>
        </p:txBody>
      </p:sp>
      <p:sp>
        <p:nvSpPr>
          <p:cNvPr id="89" name="テキスト ボックス 88">
            <a:extLst>
              <a:ext uri="{FF2B5EF4-FFF2-40B4-BE49-F238E27FC236}">
                <a16:creationId xmlns:a16="http://schemas.microsoft.com/office/drawing/2014/main" id="{589E7738-F24A-7749-8B20-27CC0C6946B6}"/>
              </a:ext>
            </a:extLst>
          </p:cNvPr>
          <p:cNvSpPr txBox="1"/>
          <p:nvPr/>
        </p:nvSpPr>
        <p:spPr>
          <a:xfrm>
            <a:off x="2946400" y="5626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6</a:t>
            </a:r>
            <a:endParaRPr lang="ja-JP" altLang="en-US" sz="1200">
              <a:solidFill>
                <a:srgbClr val="5A6472"/>
              </a:solidFill>
              <a:latin typeface="Yu Gothic UI"/>
              <a:ea typeface="Yu Gothic UI"/>
            </a:endParaRPr>
          </a:p>
        </p:txBody>
      </p:sp>
      <p:sp>
        <p:nvSpPr>
          <p:cNvPr id="90" name="テキスト ボックス 89">
            <a:extLst>
              <a:ext uri="{FF2B5EF4-FFF2-40B4-BE49-F238E27FC236}">
                <a16:creationId xmlns:a16="http://schemas.microsoft.com/office/drawing/2014/main" id="{CFB638AA-92CD-F74D-801D-851F54A3EFBD}"/>
              </a:ext>
            </a:extLst>
          </p:cNvPr>
          <p:cNvSpPr txBox="1"/>
          <p:nvPr/>
        </p:nvSpPr>
        <p:spPr>
          <a:xfrm>
            <a:off x="3683000" y="5600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最小長・複雑性・連続失敗時のロック・有効期限などの規則</a:t>
            </a:r>
          </a:p>
        </p:txBody>
      </p:sp>
      <p:sp>
        <p:nvSpPr>
          <p:cNvPr id="91" name="テキスト ボックス 90">
            <a:extLst>
              <a:ext uri="{FF2B5EF4-FFF2-40B4-BE49-F238E27FC236}">
                <a16:creationId xmlns:a16="http://schemas.microsoft.com/office/drawing/2014/main" id="{A20A9F4B-1E3A-8345-92B8-F0E656839DC5}"/>
              </a:ext>
            </a:extLst>
          </p:cNvPr>
          <p:cNvSpPr txBox="1"/>
          <p:nvPr/>
        </p:nvSpPr>
        <p:spPr>
          <a:xfrm>
            <a:off x="6858000" y="5600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最小長・複雑性・ロックは確定済みです。有効期限・履歴・初期変更強制は推奨値を用意しており、承認をいただければ確定します。なお顧客側</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基盤を使う利用者には適用されません。</a:t>
            </a:r>
          </a:p>
        </p:txBody>
      </p:sp>
    </p:spTree>
    <p:extLst>
      <p:ext uri="{BB962C8B-B14F-4D97-AF65-F5344CB8AC3E}">
        <p14:creationId xmlns:p14="http://schemas.microsoft.com/office/powerpoint/2010/main" val="1522340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C1B8D4A8-79B0-1B4F-86DB-F8269D332C9D}"/>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31A706A8-BC62-D542-BCF8-30DE800D5428}"/>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②</a:t>
            </a:r>
            <a:r>
              <a:rPr lang="ja-JP" altLang="en-US" sz="2400" b="1">
                <a:solidFill>
                  <a:srgbClr val="1F3864"/>
                </a:solidFill>
                <a:latin typeface="Yu Gothic UI"/>
                <a:ea typeface="Yu Gothic UI"/>
              </a:rPr>
              <a:t>　外部</a:t>
            </a:r>
            <a:r>
              <a:rPr lang="en" altLang="ja-JP" sz="2400" b="1">
                <a:solidFill>
                  <a:srgbClr val="1F3864"/>
                </a:solidFill>
                <a:latin typeface="Yu Gothic UI"/>
                <a:ea typeface="Yu Gothic UI"/>
              </a:rPr>
              <a:t>ID</a:t>
            </a:r>
            <a:r>
              <a:rPr lang="ja-JP" altLang="en-US" sz="2400" b="1">
                <a:solidFill>
                  <a:srgbClr val="1F3864"/>
                </a:solidFill>
                <a:latin typeface="Yu Gothic UI"/>
                <a:ea typeface="Yu Gothic UI"/>
              </a:rPr>
              <a:t>連携</a:t>
            </a:r>
          </a:p>
        </p:txBody>
      </p:sp>
      <p:sp>
        <p:nvSpPr>
          <p:cNvPr id="56" name="テキスト ボックス 55">
            <a:extLst>
              <a:ext uri="{FF2B5EF4-FFF2-40B4-BE49-F238E27FC236}">
                <a16:creationId xmlns:a16="http://schemas.microsoft.com/office/drawing/2014/main" id="{ACCB2511-5B6A-0441-9A5A-1AA956FC0B82}"/>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14 </a:t>
            </a:r>
            <a:r>
              <a:rPr lang="ja-JP" altLang="en-US" sz="1400" b="1">
                <a:solidFill>
                  <a:srgbClr val="5A6472"/>
                </a:solidFill>
                <a:latin typeface="Yu Gothic UI"/>
                <a:ea typeface="Yu Gothic UI"/>
              </a:rPr>
              <a:t>件</a:t>
            </a:r>
          </a:p>
        </p:txBody>
      </p:sp>
      <p:sp>
        <p:nvSpPr>
          <p:cNvPr id="57" name="テキスト ボックス 56">
            <a:extLst>
              <a:ext uri="{FF2B5EF4-FFF2-40B4-BE49-F238E27FC236}">
                <a16:creationId xmlns:a16="http://schemas.microsoft.com/office/drawing/2014/main" id="{57E2792E-7839-8A47-8EEB-A356552B5C9C}"/>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顧客が既に持つ</a:t>
            </a:r>
            <a:r>
              <a:rPr lang="en" altLang="ja-JP" sz="1200">
                <a:solidFill>
                  <a:srgbClr val="5A6472"/>
                </a:solidFill>
                <a:latin typeface="Yu Gothic UI"/>
                <a:ea typeface="Yu Gothic UI"/>
              </a:rPr>
              <a:t>ID</a:t>
            </a:r>
            <a:r>
              <a:rPr lang="ja-JP" altLang="en-US" sz="1200">
                <a:solidFill>
                  <a:srgbClr val="5A6472"/>
                </a:solidFill>
                <a:latin typeface="Yu Gothic UI"/>
                <a:ea typeface="Yu Gothic UI"/>
              </a:rPr>
              <a:t>基盤と本基盤をどうつなぐか。</a:t>
            </a:r>
          </a:p>
        </p:txBody>
      </p:sp>
      <p:sp>
        <p:nvSpPr>
          <p:cNvPr id="58" name="正方形/長方形 57">
            <a:extLst>
              <a:ext uri="{FF2B5EF4-FFF2-40B4-BE49-F238E27FC236}">
                <a16:creationId xmlns:a16="http://schemas.microsoft.com/office/drawing/2014/main" id="{440508ED-92BF-8349-AC52-CF688ED7DCEA}"/>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B96C9A85-158A-2040-805B-6F47E24FB32B}"/>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本基盤の中核であり、設計は最も進んでいます。ただし顧客が実際にどの製品を使っているかが未回答のため、実機検証を開始できていません。ここは質問状の回答が直接の起点になります。</a:t>
            </a:r>
          </a:p>
        </p:txBody>
      </p:sp>
      <p:sp>
        <p:nvSpPr>
          <p:cNvPr id="60" name="正方形/長方形 59">
            <a:extLst>
              <a:ext uri="{FF2B5EF4-FFF2-40B4-BE49-F238E27FC236}">
                <a16:creationId xmlns:a16="http://schemas.microsoft.com/office/drawing/2014/main" id="{7BB12F80-F640-D940-8A9E-4D5E0F7BDAC1}"/>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DBEB8039-F7B8-E947-B539-E83920620947}"/>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62" name="テキスト ボックス 61">
            <a:extLst>
              <a:ext uri="{FF2B5EF4-FFF2-40B4-BE49-F238E27FC236}">
                <a16:creationId xmlns:a16="http://schemas.microsoft.com/office/drawing/2014/main" id="{2F9F6081-E439-5C4A-B41B-6F317C1514D9}"/>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63" name="テキスト ボックス 62">
            <a:extLst>
              <a:ext uri="{FF2B5EF4-FFF2-40B4-BE49-F238E27FC236}">
                <a16:creationId xmlns:a16="http://schemas.microsoft.com/office/drawing/2014/main" id="{462AB2B4-5F9D-6949-A878-B9B121F0D59D}"/>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64" name="テキスト ボックス 63">
            <a:extLst>
              <a:ext uri="{FF2B5EF4-FFF2-40B4-BE49-F238E27FC236}">
                <a16:creationId xmlns:a16="http://schemas.microsoft.com/office/drawing/2014/main" id="{8E300B05-CA5A-FD46-98E4-F4B22C710E70}"/>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65" name="正方形/長方形 64">
            <a:extLst>
              <a:ext uri="{FF2B5EF4-FFF2-40B4-BE49-F238E27FC236}">
                <a16:creationId xmlns:a16="http://schemas.microsoft.com/office/drawing/2014/main" id="{CBF4536D-0344-FD4B-86C4-5C64925AAC1B}"/>
              </a:ext>
            </a:extLst>
          </p:cNvPr>
          <p:cNvSpPr/>
          <p:nvPr/>
        </p:nvSpPr>
        <p:spPr>
          <a:xfrm>
            <a:off x="812800" y="2806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43356B8E-0857-7947-ADA7-FA6D0511BD28}"/>
              </a:ext>
            </a:extLst>
          </p:cNvPr>
          <p:cNvSpPr txBox="1"/>
          <p:nvPr/>
        </p:nvSpPr>
        <p:spPr>
          <a:xfrm>
            <a:off x="914400" y="2057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受け入れる</a:t>
            </a:r>
            <a:r>
              <a:rPr lang="en" altLang="ja-JP" sz="1200" b="1">
                <a:solidFill>
                  <a:srgbClr val="1D2125"/>
                </a:solidFill>
                <a:latin typeface="Yu Gothic UI"/>
                <a:ea typeface="Yu Gothic UI"/>
              </a:rPr>
              <a:t>ID</a:t>
            </a:r>
            <a:r>
              <a:rPr lang="ja-JP" altLang="en-US" sz="1200" b="1">
                <a:solidFill>
                  <a:srgbClr val="1D2125"/>
                </a:solidFill>
                <a:latin typeface="Yu Gothic UI"/>
                <a:ea typeface="Yu Gothic UI"/>
              </a:rPr>
              <a:t>基盤の種別</a:t>
            </a:r>
          </a:p>
        </p:txBody>
      </p:sp>
      <p:sp>
        <p:nvSpPr>
          <p:cNvPr id="67" name="テキスト ボックス 66">
            <a:extLst>
              <a:ext uri="{FF2B5EF4-FFF2-40B4-BE49-F238E27FC236}">
                <a16:creationId xmlns:a16="http://schemas.microsoft.com/office/drawing/2014/main" id="{7E3DCE1A-5DD0-BE4A-86A8-8EAE215D14C7}"/>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8</a:t>
            </a:r>
            <a:endParaRPr lang="ja-JP" altLang="en-US" sz="1200">
              <a:solidFill>
                <a:srgbClr val="5A6472"/>
              </a:solidFill>
              <a:latin typeface="Yu Gothic UI"/>
              <a:ea typeface="Yu Gothic UI"/>
            </a:endParaRPr>
          </a:p>
        </p:txBody>
      </p:sp>
      <p:sp>
        <p:nvSpPr>
          <p:cNvPr id="68" name="テキスト ボックス 67">
            <a:extLst>
              <a:ext uri="{FF2B5EF4-FFF2-40B4-BE49-F238E27FC236}">
                <a16:creationId xmlns:a16="http://schemas.microsoft.com/office/drawing/2014/main" id="{4896AE6D-8333-AE42-9E22-7E9CD87B42F6}"/>
              </a:ext>
            </a:extLst>
          </p:cNvPr>
          <p:cNvSpPr txBox="1"/>
          <p:nvPr/>
        </p:nvSpPr>
        <p:spPr>
          <a:xfrm>
            <a:off x="3683000" y="2044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顧客の</a:t>
            </a:r>
            <a:r>
              <a:rPr lang="en" altLang="ja-JP" sz="1100">
                <a:solidFill>
                  <a:srgbClr val="5A6472"/>
                </a:solidFill>
                <a:latin typeface="Yu Gothic UI"/>
                <a:ea typeface="Yu Gothic UI"/>
              </a:rPr>
              <a:t>ID</a:t>
            </a:r>
            <a:r>
              <a:rPr lang="ja-JP" altLang="en-US" sz="1100">
                <a:solidFill>
                  <a:srgbClr val="5A6472"/>
                </a:solidFill>
                <a:latin typeface="Yu Gothic UI"/>
                <a:ea typeface="Yu Gothic UI"/>
              </a:rPr>
              <a:t>基盤をどの方式で受け入れるか</a:t>
            </a:r>
          </a:p>
        </p:txBody>
      </p:sp>
      <p:sp>
        <p:nvSpPr>
          <p:cNvPr id="69" name="テキスト ボックス 68">
            <a:extLst>
              <a:ext uri="{FF2B5EF4-FFF2-40B4-BE49-F238E27FC236}">
                <a16:creationId xmlns:a16="http://schemas.microsoft.com/office/drawing/2014/main" id="{9598D08D-7896-0147-A8AB-DE83C854E78E}"/>
              </a:ext>
            </a:extLst>
          </p:cNvPr>
          <p:cNvSpPr txBox="1"/>
          <p:nvPr/>
        </p:nvSpPr>
        <p:spPr>
          <a:xfrm>
            <a:off x="6858000" y="2044700"/>
            <a:ext cx="4419600" cy="685800"/>
          </a:xfrm>
          <a:prstGeom prst="rect">
            <a:avLst/>
          </a:prstGeom>
          <a:noFill/>
        </p:spPr>
        <p:txBody>
          <a:bodyPr vertOverflow="overflow" vert="horz" wrap="square" rtlCol="0" anchor="t" anchorCtr="0">
            <a:noAutofit/>
          </a:bodyPr>
          <a:lstStyle/>
          <a:p>
            <a:pPr algn="l"/>
            <a:r>
              <a:rPr lang="en-US" altLang="ja-JP" sz="1100">
                <a:solidFill>
                  <a:srgbClr val="1D2125"/>
                </a:solidFill>
                <a:latin typeface="Yu Gothic UI"/>
                <a:ea typeface="Yu Gothic UI"/>
              </a:rPr>
              <a:t>2</a:t>
            </a:r>
            <a:r>
              <a:rPr lang="ja-JP" altLang="en-US" sz="1100">
                <a:solidFill>
                  <a:srgbClr val="1D2125"/>
                </a:solidFill>
                <a:latin typeface="Yu Gothic UI"/>
                <a:ea typeface="Yu Gothic UI"/>
              </a:rPr>
              <a:t>つの主要方式の両方に対応する形で基盤側の実装は完備し、</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社での実機接続も検証済みです。残るのは顧客が使用中の製品を確認し、その製品で接続検証を行うことです。</a:t>
            </a:r>
          </a:p>
        </p:txBody>
      </p:sp>
      <p:sp>
        <p:nvSpPr>
          <p:cNvPr id="70" name="正方形/長方形 69">
            <a:extLst>
              <a:ext uri="{FF2B5EF4-FFF2-40B4-BE49-F238E27FC236}">
                <a16:creationId xmlns:a16="http://schemas.microsoft.com/office/drawing/2014/main" id="{4E51F309-932B-2D4F-A7B6-1E041004255B}"/>
              </a:ext>
            </a:extLst>
          </p:cNvPr>
          <p:cNvSpPr/>
          <p:nvPr/>
        </p:nvSpPr>
        <p:spPr>
          <a:xfrm>
            <a:off x="812800" y="2819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F2A4AACC-B07E-B74A-B8AA-3B0D42A31E5F}"/>
              </a:ext>
            </a:extLst>
          </p:cNvPr>
          <p:cNvSpPr/>
          <p:nvPr/>
        </p:nvSpPr>
        <p:spPr>
          <a:xfrm>
            <a:off x="812800" y="3695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D58AE031-C4FC-2A4D-AF37-41C724F97EAA}"/>
              </a:ext>
            </a:extLst>
          </p:cNvPr>
          <p:cNvSpPr txBox="1"/>
          <p:nvPr/>
        </p:nvSpPr>
        <p:spPr>
          <a:xfrm>
            <a:off x="914400" y="2946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連携利用者の扱い</a:t>
            </a:r>
          </a:p>
        </p:txBody>
      </p:sp>
      <p:sp>
        <p:nvSpPr>
          <p:cNvPr id="73" name="テキスト ボックス 72">
            <a:extLst>
              <a:ext uri="{FF2B5EF4-FFF2-40B4-BE49-F238E27FC236}">
                <a16:creationId xmlns:a16="http://schemas.microsoft.com/office/drawing/2014/main" id="{4FDD64C6-C620-E445-B2DF-89927271052E}"/>
              </a:ext>
            </a:extLst>
          </p:cNvPr>
          <p:cNvSpPr txBox="1"/>
          <p:nvPr/>
        </p:nvSpPr>
        <p:spPr>
          <a:xfrm>
            <a:off x="2946400" y="2959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4" name="テキスト ボックス 73">
            <a:extLst>
              <a:ext uri="{FF2B5EF4-FFF2-40B4-BE49-F238E27FC236}">
                <a16:creationId xmlns:a16="http://schemas.microsoft.com/office/drawing/2014/main" id="{DF21CCC4-4656-3D4A-873D-D81EA537DF36}"/>
              </a:ext>
            </a:extLst>
          </p:cNvPr>
          <p:cNvSpPr txBox="1"/>
          <p:nvPr/>
        </p:nvSpPr>
        <p:spPr>
          <a:xfrm>
            <a:off x="3683000" y="2933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顧客側から来た利用者の作成と属性の変換</a:t>
            </a:r>
          </a:p>
        </p:txBody>
      </p:sp>
      <p:sp>
        <p:nvSpPr>
          <p:cNvPr id="75" name="テキスト ボックス 74">
            <a:extLst>
              <a:ext uri="{FF2B5EF4-FFF2-40B4-BE49-F238E27FC236}">
                <a16:creationId xmlns:a16="http://schemas.microsoft.com/office/drawing/2014/main" id="{78577E7E-6D1E-E043-A77F-2BF17575F025}"/>
              </a:ext>
            </a:extLst>
          </p:cNvPr>
          <p:cNvSpPr txBox="1"/>
          <p:nvPr/>
        </p:nvSpPr>
        <p:spPr>
          <a:xfrm>
            <a:off x="6858000" y="2933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初回ログイン時の自動作成と属性変換の方式で確定・検証済みです。多要素認証の二重要求を避ける条件分岐について承認をいただければ完了します。</a:t>
            </a:r>
          </a:p>
        </p:txBody>
      </p:sp>
      <p:sp>
        <p:nvSpPr>
          <p:cNvPr id="76" name="正方形/長方形 75">
            <a:extLst>
              <a:ext uri="{FF2B5EF4-FFF2-40B4-BE49-F238E27FC236}">
                <a16:creationId xmlns:a16="http://schemas.microsoft.com/office/drawing/2014/main" id="{41DBA702-C968-BC4F-AE0B-CA41712D42FE}"/>
              </a:ext>
            </a:extLst>
          </p:cNvPr>
          <p:cNvSpPr/>
          <p:nvPr/>
        </p:nvSpPr>
        <p:spPr>
          <a:xfrm>
            <a:off x="812800" y="458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7" name="テキスト ボックス 76">
            <a:extLst>
              <a:ext uri="{FF2B5EF4-FFF2-40B4-BE49-F238E27FC236}">
                <a16:creationId xmlns:a16="http://schemas.microsoft.com/office/drawing/2014/main" id="{49127D85-96AC-5644-BBF0-3234B8850A16}"/>
              </a:ext>
            </a:extLst>
          </p:cNvPr>
          <p:cNvSpPr txBox="1"/>
          <p:nvPr/>
        </p:nvSpPr>
        <p:spPr>
          <a:xfrm>
            <a:off x="914400" y="3835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複数テナントの並行運用</a:t>
            </a:r>
          </a:p>
        </p:txBody>
      </p:sp>
      <p:sp>
        <p:nvSpPr>
          <p:cNvPr id="78" name="テキスト ボックス 77">
            <a:extLst>
              <a:ext uri="{FF2B5EF4-FFF2-40B4-BE49-F238E27FC236}">
                <a16:creationId xmlns:a16="http://schemas.microsoft.com/office/drawing/2014/main" id="{1DA9DD4E-F4B4-7446-A914-EAE75124B90B}"/>
              </a:ext>
            </a:extLst>
          </p:cNvPr>
          <p:cNvSpPr txBox="1"/>
          <p:nvPr/>
        </p:nvSpPr>
        <p:spPr>
          <a:xfrm>
            <a:off x="2946400" y="3848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9" name="テキスト ボックス 78">
            <a:extLst>
              <a:ext uri="{FF2B5EF4-FFF2-40B4-BE49-F238E27FC236}">
                <a16:creationId xmlns:a16="http://schemas.microsoft.com/office/drawing/2014/main" id="{26729F4A-E32A-824C-90AC-A9560C137EAB}"/>
              </a:ext>
            </a:extLst>
          </p:cNvPr>
          <p:cNvSpPr txBox="1"/>
          <p:nvPr/>
        </p:nvSpPr>
        <p:spPr>
          <a:xfrm>
            <a:off x="3683000" y="3822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多数の顧客</a:t>
            </a:r>
            <a:r>
              <a:rPr lang="en" altLang="ja-JP" sz="1100">
                <a:solidFill>
                  <a:srgbClr val="5A6472"/>
                </a:solidFill>
                <a:latin typeface="Yu Gothic UI"/>
                <a:ea typeface="Yu Gothic UI"/>
              </a:rPr>
              <a:t>ID</a:t>
            </a:r>
            <a:r>
              <a:rPr lang="ja-JP" altLang="en-US" sz="1100">
                <a:solidFill>
                  <a:srgbClr val="5A6472"/>
                </a:solidFill>
                <a:latin typeface="Yu Gothic UI"/>
                <a:ea typeface="Yu Gothic UI"/>
              </a:rPr>
              <a:t>基盤を同時に扱う仕組み</a:t>
            </a:r>
          </a:p>
        </p:txBody>
      </p:sp>
      <p:sp>
        <p:nvSpPr>
          <p:cNvPr id="80" name="テキスト ボックス 79">
            <a:extLst>
              <a:ext uri="{FF2B5EF4-FFF2-40B4-BE49-F238E27FC236}">
                <a16:creationId xmlns:a16="http://schemas.microsoft.com/office/drawing/2014/main" id="{3E59A080-E903-E247-B7D9-F1651B7F51FB}"/>
              </a:ext>
            </a:extLst>
          </p:cNvPr>
          <p:cNvSpPr txBox="1"/>
          <p:nvPr/>
        </p:nvSpPr>
        <p:spPr>
          <a:xfrm>
            <a:off x="6858000" y="3822700"/>
            <a:ext cx="4419600" cy="685800"/>
          </a:xfrm>
          <a:prstGeom prst="rect">
            <a:avLst/>
          </a:prstGeom>
          <a:noFill/>
        </p:spPr>
        <p:txBody>
          <a:bodyPr vertOverflow="overflow" vert="horz" wrap="square" rtlCol="0" anchor="t" anchorCtr="0">
            <a:noAutofit/>
          </a:bodyPr>
          <a:lstStyle/>
          <a:p>
            <a:pPr algn="l"/>
            <a:r>
              <a:rPr lang="en-US" altLang="ja-JP" sz="1100">
                <a:solidFill>
                  <a:srgbClr val="1D2125"/>
                </a:solidFill>
                <a:latin typeface="Yu Gothic UI"/>
                <a:ea typeface="Yu Gothic UI"/>
              </a:rPr>
              <a:t>1,000</a:t>
            </a:r>
            <a:r>
              <a:rPr lang="ja-JP" altLang="en-US" sz="1100">
                <a:solidFill>
                  <a:srgbClr val="1D2125"/>
                </a:solidFill>
                <a:latin typeface="Yu Gothic UI"/>
                <a:ea typeface="Yu Gothic UI"/>
              </a:rPr>
              <a:t>社超を同一基盤で並行運用する構成を確定・検証済みです。顧客追加の手順とログイン画面での選択方式を自社で確定させます。</a:t>
            </a:r>
          </a:p>
        </p:txBody>
      </p:sp>
      <p:sp>
        <p:nvSpPr>
          <p:cNvPr id="81" name="正方形/長方形 80">
            <a:extLst>
              <a:ext uri="{FF2B5EF4-FFF2-40B4-BE49-F238E27FC236}">
                <a16:creationId xmlns:a16="http://schemas.microsoft.com/office/drawing/2014/main" id="{B37FFEEC-A9FD-1948-A6A4-50E95FA5E541}"/>
              </a:ext>
            </a:extLst>
          </p:cNvPr>
          <p:cNvSpPr/>
          <p:nvPr/>
        </p:nvSpPr>
        <p:spPr>
          <a:xfrm>
            <a:off x="812800" y="4597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2" name="正方形/長方形 81">
            <a:extLst>
              <a:ext uri="{FF2B5EF4-FFF2-40B4-BE49-F238E27FC236}">
                <a16:creationId xmlns:a16="http://schemas.microsoft.com/office/drawing/2014/main" id="{9B927344-0111-D348-BB20-4F7FBFCC5E3E}"/>
              </a:ext>
            </a:extLst>
          </p:cNvPr>
          <p:cNvSpPr/>
          <p:nvPr/>
        </p:nvSpPr>
        <p:spPr>
          <a:xfrm>
            <a:off x="812800" y="5473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3" name="テキスト ボックス 82">
            <a:extLst>
              <a:ext uri="{FF2B5EF4-FFF2-40B4-BE49-F238E27FC236}">
                <a16:creationId xmlns:a16="http://schemas.microsoft.com/office/drawing/2014/main" id="{BE6C37EE-BB42-5447-AA29-2F62438563E6}"/>
              </a:ext>
            </a:extLst>
          </p:cNvPr>
          <p:cNvSpPr txBox="1"/>
          <p:nvPr/>
        </p:nvSpPr>
        <p:spPr>
          <a:xfrm>
            <a:off x="914400" y="4724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契約前に検証すべき事項</a:t>
            </a:r>
          </a:p>
        </p:txBody>
      </p:sp>
      <p:sp>
        <p:nvSpPr>
          <p:cNvPr id="84" name="テキスト ボックス 83">
            <a:extLst>
              <a:ext uri="{FF2B5EF4-FFF2-40B4-BE49-F238E27FC236}">
                <a16:creationId xmlns:a16="http://schemas.microsoft.com/office/drawing/2014/main" id="{EA9D53CF-BF04-D542-AD3E-943800820F42}"/>
              </a:ext>
            </a:extLst>
          </p:cNvPr>
          <p:cNvSpPr txBox="1"/>
          <p:nvPr/>
        </p:nvSpPr>
        <p:spPr>
          <a:xfrm>
            <a:off x="2946400" y="4737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85" name="テキスト ボックス 84">
            <a:extLst>
              <a:ext uri="{FF2B5EF4-FFF2-40B4-BE49-F238E27FC236}">
                <a16:creationId xmlns:a16="http://schemas.microsoft.com/office/drawing/2014/main" id="{5454928A-053D-9F4C-9B57-1F3666825FA2}"/>
              </a:ext>
            </a:extLst>
          </p:cNvPr>
          <p:cNvSpPr txBox="1"/>
          <p:nvPr/>
        </p:nvSpPr>
        <p:spPr>
          <a:xfrm>
            <a:off x="3683000" y="4711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大規模に接続したときの挙動の実測</a:t>
            </a:r>
          </a:p>
        </p:txBody>
      </p:sp>
      <p:sp>
        <p:nvSpPr>
          <p:cNvPr id="86" name="テキスト ボックス 85">
            <a:extLst>
              <a:ext uri="{FF2B5EF4-FFF2-40B4-BE49-F238E27FC236}">
                <a16:creationId xmlns:a16="http://schemas.microsoft.com/office/drawing/2014/main" id="{0AD5EF14-1146-6A43-A016-BAA6F9312697}"/>
              </a:ext>
            </a:extLst>
          </p:cNvPr>
          <p:cNvSpPr txBox="1"/>
          <p:nvPr/>
        </p:nvSpPr>
        <p:spPr>
          <a:xfrm>
            <a:off x="6858000" y="4711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仮定値を置いて設計は確定済みです。負荷試験で実測し仮定値の妥当性を確認します。自社で着手できます。</a:t>
            </a:r>
          </a:p>
        </p:txBody>
      </p:sp>
      <p:sp>
        <p:nvSpPr>
          <p:cNvPr id="87" name="正方形/長方形 86">
            <a:extLst>
              <a:ext uri="{FF2B5EF4-FFF2-40B4-BE49-F238E27FC236}">
                <a16:creationId xmlns:a16="http://schemas.microsoft.com/office/drawing/2014/main" id="{8749388D-ED5B-6842-98D1-C958AAF1D6B1}"/>
              </a:ext>
            </a:extLst>
          </p:cNvPr>
          <p:cNvSpPr/>
          <p:nvPr/>
        </p:nvSpPr>
        <p:spPr>
          <a:xfrm>
            <a:off x="812800" y="636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8" name="テキスト ボックス 87">
            <a:extLst>
              <a:ext uri="{FF2B5EF4-FFF2-40B4-BE49-F238E27FC236}">
                <a16:creationId xmlns:a16="http://schemas.microsoft.com/office/drawing/2014/main" id="{8AF141FB-BE3C-5043-A963-6484009B7A3D}"/>
              </a:ext>
            </a:extLst>
          </p:cNvPr>
          <p:cNvSpPr txBox="1"/>
          <p:nvPr/>
        </p:nvSpPr>
        <p:spPr>
          <a:xfrm>
            <a:off x="914400" y="5613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今回のスコープ外</a:t>
            </a:r>
          </a:p>
        </p:txBody>
      </p:sp>
      <p:sp>
        <p:nvSpPr>
          <p:cNvPr id="89" name="テキスト ボックス 88">
            <a:extLst>
              <a:ext uri="{FF2B5EF4-FFF2-40B4-BE49-F238E27FC236}">
                <a16:creationId xmlns:a16="http://schemas.microsoft.com/office/drawing/2014/main" id="{1B5FFFC0-E42D-0A41-B1A5-F6963DE867DE}"/>
              </a:ext>
            </a:extLst>
          </p:cNvPr>
          <p:cNvSpPr txBox="1"/>
          <p:nvPr/>
        </p:nvSpPr>
        <p:spPr>
          <a:xfrm>
            <a:off x="2946400" y="5626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90" name="テキスト ボックス 89">
            <a:extLst>
              <a:ext uri="{FF2B5EF4-FFF2-40B4-BE49-F238E27FC236}">
                <a16:creationId xmlns:a16="http://schemas.microsoft.com/office/drawing/2014/main" id="{7415813C-5D50-4C4C-8346-56859DCC3578}"/>
              </a:ext>
            </a:extLst>
          </p:cNvPr>
          <p:cNvSpPr txBox="1"/>
          <p:nvPr/>
        </p:nvSpPr>
        <p:spPr>
          <a:xfrm>
            <a:off x="3683000" y="5600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旧方式のディレクトリ基盤への直結</a:t>
            </a:r>
          </a:p>
        </p:txBody>
      </p:sp>
      <p:sp>
        <p:nvSpPr>
          <p:cNvPr id="91" name="テキスト ボックス 90">
            <a:extLst>
              <a:ext uri="{FF2B5EF4-FFF2-40B4-BE49-F238E27FC236}">
                <a16:creationId xmlns:a16="http://schemas.microsoft.com/office/drawing/2014/main" id="{C912DF23-41E0-654C-A9C8-EF3C7668A840}"/>
              </a:ext>
            </a:extLst>
          </p:cNvPr>
          <p:cNvSpPr txBox="1"/>
          <p:nvPr/>
        </p:nvSpPr>
        <p:spPr>
          <a:xfrm>
            <a:off x="6858000" y="5600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該当する顧客が存在しないため除外しました。対応は不要です。</a:t>
            </a:r>
          </a:p>
        </p:txBody>
      </p:sp>
    </p:spTree>
    <p:extLst>
      <p:ext uri="{BB962C8B-B14F-4D97-AF65-F5344CB8AC3E}">
        <p14:creationId xmlns:p14="http://schemas.microsoft.com/office/powerpoint/2010/main" val="84109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8B433A18-9829-124B-9FAC-C86B9265A0FD}"/>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BEFF2739-4F71-2C41-BDCD-646843507019}"/>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③</a:t>
            </a:r>
            <a:r>
              <a:rPr lang="ja-JP" altLang="en-US" sz="2400" b="1">
                <a:solidFill>
                  <a:srgbClr val="1F3864"/>
                </a:solidFill>
                <a:latin typeface="Yu Gothic UI"/>
                <a:ea typeface="Yu Gothic UI"/>
              </a:rPr>
              <a:t>　多要素認証（追加確認）</a:t>
            </a:r>
          </a:p>
        </p:txBody>
      </p:sp>
      <p:sp>
        <p:nvSpPr>
          <p:cNvPr id="49" name="テキスト ボックス 48">
            <a:extLst>
              <a:ext uri="{FF2B5EF4-FFF2-40B4-BE49-F238E27FC236}">
                <a16:creationId xmlns:a16="http://schemas.microsoft.com/office/drawing/2014/main" id="{7BBD0D79-18A3-AA49-9F4B-66D2CCA3806F}"/>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9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00C427BE-9469-084E-ACBC-C2399C267B7A}"/>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パスワードだけに頼らず、もう一段の確認を求める仕組み。</a:t>
            </a:r>
          </a:p>
        </p:txBody>
      </p:sp>
      <p:sp>
        <p:nvSpPr>
          <p:cNvPr id="51" name="正方形/長方形 50">
            <a:extLst>
              <a:ext uri="{FF2B5EF4-FFF2-40B4-BE49-F238E27FC236}">
                <a16:creationId xmlns:a16="http://schemas.microsoft.com/office/drawing/2014/main" id="{1E01492E-5195-774F-999A-6DC4B386E48B}"/>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15C37EF1-6144-D642-9F1D-C57880DCAF37}"/>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手段は揃っており技術的な不確実性はありません。論点は「顧客にどこまで強制してよいか」という運用上の判断で、利用者の負担と安全性の折り合いを顧客と決める必要があります。</a:t>
            </a:r>
          </a:p>
        </p:txBody>
      </p:sp>
      <p:sp>
        <p:nvSpPr>
          <p:cNvPr id="53" name="正方形/長方形 52">
            <a:extLst>
              <a:ext uri="{FF2B5EF4-FFF2-40B4-BE49-F238E27FC236}">
                <a16:creationId xmlns:a16="http://schemas.microsoft.com/office/drawing/2014/main" id="{9D205D48-CFF1-D14B-9E64-B20E8118FB29}"/>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58086BF0-19B0-2E40-9307-BFCECEA3B016}"/>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CC7B6F87-378B-0C4F-A6F3-4037F16C664F}"/>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62E83097-E0C7-4B4E-9FF3-AD5DD890E837}"/>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4C74ABC9-1F03-A24F-ADE8-34F6459D941A}"/>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DC6EC60F-6063-AE48-B455-3D121C1B1DBF}"/>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6B83A7B4-FC57-494E-8D1B-1EE6A4639726}"/>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提供する確認手段</a:t>
            </a:r>
          </a:p>
        </p:txBody>
      </p:sp>
      <p:sp>
        <p:nvSpPr>
          <p:cNvPr id="60" name="テキスト ボックス 59">
            <a:extLst>
              <a:ext uri="{FF2B5EF4-FFF2-40B4-BE49-F238E27FC236}">
                <a16:creationId xmlns:a16="http://schemas.microsoft.com/office/drawing/2014/main" id="{46DFDD86-E3BC-0445-B676-7AF53D0B1D7D}"/>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6C606F26-312D-774A-B19D-FD04C7438356}"/>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認証アプリの確認コード、端末での指紋・顔認証、予備コードなど</a:t>
            </a:r>
          </a:p>
        </p:txBody>
      </p:sp>
      <p:sp>
        <p:nvSpPr>
          <p:cNvPr id="62" name="テキスト ボックス 61">
            <a:extLst>
              <a:ext uri="{FF2B5EF4-FFF2-40B4-BE49-F238E27FC236}">
                <a16:creationId xmlns:a16="http://schemas.microsoft.com/office/drawing/2014/main" id="{01DB5B70-132E-AB45-88D3-FFC0471C7C19}"/>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認証アプリの確認コードは確定・検証済みで、端末認証と予備コードも提供可能です。携帯番号・メール送信方式の要否を顧客に確認します。</a:t>
            </a:r>
          </a:p>
        </p:txBody>
      </p:sp>
      <p:sp>
        <p:nvSpPr>
          <p:cNvPr id="63" name="正方形/長方形 62">
            <a:extLst>
              <a:ext uri="{FF2B5EF4-FFF2-40B4-BE49-F238E27FC236}">
                <a16:creationId xmlns:a16="http://schemas.microsoft.com/office/drawing/2014/main" id="{9B13FB8E-0A51-AE4E-97F0-EFA682CD6D96}"/>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9A870727-240C-A846-8478-DBC3F86A0EAF}"/>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47BE8F0B-740F-EE4E-B8B6-80B67A54025E}"/>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適用ルール</a:t>
            </a:r>
          </a:p>
        </p:txBody>
      </p:sp>
      <p:sp>
        <p:nvSpPr>
          <p:cNvPr id="66" name="テキスト ボックス 65">
            <a:extLst>
              <a:ext uri="{FF2B5EF4-FFF2-40B4-BE49-F238E27FC236}">
                <a16:creationId xmlns:a16="http://schemas.microsoft.com/office/drawing/2014/main" id="{A113599D-F649-2F47-B6D0-00F0993F016B}"/>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CA99C063-8378-F044-A041-4811925F1141}"/>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誰に対して追加確認を必須とし、誰を任意とするか</a:t>
            </a:r>
          </a:p>
        </p:txBody>
      </p:sp>
      <p:sp>
        <p:nvSpPr>
          <p:cNvPr id="68" name="テキスト ボックス 67">
            <a:extLst>
              <a:ext uri="{FF2B5EF4-FFF2-40B4-BE49-F238E27FC236}">
                <a16:creationId xmlns:a16="http://schemas.microsoft.com/office/drawing/2014/main" id="{EDDC6C12-6B41-D84E-9FCF-10CB30ED20B2}"/>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役割単位での強制・任意の切り替えを確定・検証済みで、管理者は常に必須としています。リスクに応じた追加確認と端末記憶の要否を顧客に確認します。</a:t>
            </a:r>
          </a:p>
        </p:txBody>
      </p:sp>
      <p:sp>
        <p:nvSpPr>
          <p:cNvPr id="69" name="正方形/長方形 68">
            <a:extLst>
              <a:ext uri="{FF2B5EF4-FFF2-40B4-BE49-F238E27FC236}">
                <a16:creationId xmlns:a16="http://schemas.microsoft.com/office/drawing/2014/main" id="{ABA4B4CA-DD5C-8842-97BE-E22DAF4CAC03}"/>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C55FE100-1B2F-F84B-A34A-D7F35D908B91}"/>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顧客側</a:t>
            </a:r>
            <a:r>
              <a:rPr lang="en" altLang="ja-JP" sz="1200" b="1">
                <a:solidFill>
                  <a:srgbClr val="1D2125"/>
                </a:solidFill>
                <a:latin typeface="Yu Gothic UI"/>
                <a:ea typeface="Yu Gothic UI"/>
              </a:rPr>
              <a:t>ID</a:t>
            </a:r>
            <a:r>
              <a:rPr lang="ja-JP" altLang="en-US" sz="1200" b="1">
                <a:solidFill>
                  <a:srgbClr val="1D2125"/>
                </a:solidFill>
                <a:latin typeface="Yu Gothic UI"/>
                <a:ea typeface="Yu Gothic UI"/>
              </a:rPr>
              <a:t>基盤の利用者</a:t>
            </a:r>
          </a:p>
        </p:txBody>
      </p:sp>
      <p:sp>
        <p:nvSpPr>
          <p:cNvPr id="71" name="テキスト ボックス 70">
            <a:extLst>
              <a:ext uri="{FF2B5EF4-FFF2-40B4-BE49-F238E27FC236}">
                <a16:creationId xmlns:a16="http://schemas.microsoft.com/office/drawing/2014/main" id="{CBC3F699-1608-6A42-9693-4938BABD7C05}"/>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17E6EAEB-62C0-8D44-AB9F-DB07A87782A8}"/>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顧客側で認証する利用者に追加確認をどう扱うか</a:t>
            </a:r>
          </a:p>
        </p:txBody>
      </p:sp>
      <p:sp>
        <p:nvSpPr>
          <p:cNvPr id="73" name="テキスト ボックス 72">
            <a:extLst>
              <a:ext uri="{FF2B5EF4-FFF2-40B4-BE49-F238E27FC236}">
                <a16:creationId xmlns:a16="http://schemas.microsoft.com/office/drawing/2014/main" id="{0DB0C871-D523-5042-A1C6-5F88F06BA94F}"/>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追加確認の責任は顧客側</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基盤に置く方針で確定し、二重に求めない条件分岐も用意済みです。詳細設計に引き渡せます。</a:t>
            </a:r>
          </a:p>
        </p:txBody>
      </p:sp>
      <p:sp>
        <p:nvSpPr>
          <p:cNvPr id="74" name="正方形/長方形 73">
            <a:extLst>
              <a:ext uri="{FF2B5EF4-FFF2-40B4-BE49-F238E27FC236}">
                <a16:creationId xmlns:a16="http://schemas.microsoft.com/office/drawing/2014/main" id="{589137BC-DC1C-1F4C-A914-6650B9133D99}"/>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70890079-60FD-ED46-B5CF-78803A423FD1}"/>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7488C029-BE05-C843-88AF-47865E00678C}"/>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なりすまし耐性の方針</a:t>
            </a:r>
          </a:p>
        </p:txBody>
      </p:sp>
      <p:sp>
        <p:nvSpPr>
          <p:cNvPr id="77" name="テキスト ボックス 76">
            <a:extLst>
              <a:ext uri="{FF2B5EF4-FFF2-40B4-BE49-F238E27FC236}">
                <a16:creationId xmlns:a16="http://schemas.microsoft.com/office/drawing/2014/main" id="{AD6FB7E3-E28B-A146-B4D7-A48884D48532}"/>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D8B0E806-A6D4-2F47-BB83-0B566F905221}"/>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フィッシングに強い手段をどこまで求めるか</a:t>
            </a:r>
          </a:p>
        </p:txBody>
      </p:sp>
      <p:sp>
        <p:nvSpPr>
          <p:cNvPr id="79" name="テキスト ボックス 78">
            <a:extLst>
              <a:ext uri="{FF2B5EF4-FFF2-40B4-BE49-F238E27FC236}">
                <a16:creationId xmlns:a16="http://schemas.microsoft.com/office/drawing/2014/main" id="{DC40D8F3-5A19-4A41-A5C9-2D0BB3EDD467}"/>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国際的な保証レベル基準に沿い、端末認証を推奨手段とする方針です。必須化する範囲は自社で決定します。</a:t>
            </a:r>
          </a:p>
        </p:txBody>
      </p:sp>
    </p:spTree>
    <p:extLst>
      <p:ext uri="{BB962C8B-B14F-4D97-AF65-F5344CB8AC3E}">
        <p14:creationId xmlns:p14="http://schemas.microsoft.com/office/powerpoint/2010/main" val="93246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3A0468CB-8647-CE46-98E3-337F9CE2D802}"/>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2552E080-2E47-E246-932D-BE73C72976BC}"/>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④</a:t>
            </a:r>
            <a:r>
              <a:rPr lang="ja-JP" altLang="en-US" sz="2400" b="1">
                <a:solidFill>
                  <a:srgbClr val="1F3864"/>
                </a:solidFill>
                <a:latin typeface="Yu Gothic UI"/>
                <a:ea typeface="Yu Gothic UI"/>
              </a:rPr>
              <a:t>　シングルサインオンとセッション</a:t>
            </a:r>
          </a:p>
        </p:txBody>
      </p:sp>
      <p:sp>
        <p:nvSpPr>
          <p:cNvPr id="49" name="テキスト ボックス 48">
            <a:extLst>
              <a:ext uri="{FF2B5EF4-FFF2-40B4-BE49-F238E27FC236}">
                <a16:creationId xmlns:a16="http://schemas.microsoft.com/office/drawing/2014/main" id="{5066A6FD-B307-914F-84E4-F8877ACF30FE}"/>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10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23635BC3-E25A-5043-A912-B58F8AF327EF}"/>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一度のログインで複数アプリを使えるようにし、ログアウト時にどこまで確実に切るか。</a:t>
            </a:r>
          </a:p>
        </p:txBody>
      </p:sp>
      <p:sp>
        <p:nvSpPr>
          <p:cNvPr id="51" name="正方形/長方形 50">
            <a:extLst>
              <a:ext uri="{FF2B5EF4-FFF2-40B4-BE49-F238E27FC236}">
                <a16:creationId xmlns:a16="http://schemas.microsoft.com/office/drawing/2014/main" id="{4DA62268-6B77-0644-9635-7C64D174AFBC}"/>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3B35ACD3-CC7C-F549-B2AA-BCFE3501585F}"/>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「ログアウトしたのに別アプリで使えてしまう」ことがないよう、切断範囲を</a:t>
            </a:r>
            <a:r>
              <a:rPr lang="en-US" altLang="ja-JP" sz="1300" b="1">
                <a:solidFill>
                  <a:srgbClr val="1D2125"/>
                </a:solidFill>
                <a:latin typeface="Yu Gothic UI"/>
                <a:ea typeface="Yu Gothic UI"/>
              </a:rPr>
              <a:t>3</a:t>
            </a:r>
            <a:r>
              <a:rPr lang="ja-JP" altLang="en-US" sz="1300" b="1">
                <a:solidFill>
                  <a:srgbClr val="1D2125"/>
                </a:solidFill>
                <a:latin typeface="Yu Gothic UI"/>
                <a:ea typeface="Yu Gothic UI"/>
              </a:rPr>
              <a:t>段階で明示しました。残る空き時間の課題も業界標準の解を確認済みで、対応方針まで固めています。</a:t>
            </a:r>
          </a:p>
        </p:txBody>
      </p:sp>
      <p:sp>
        <p:nvSpPr>
          <p:cNvPr id="53" name="正方形/長方形 52">
            <a:extLst>
              <a:ext uri="{FF2B5EF4-FFF2-40B4-BE49-F238E27FC236}">
                <a16:creationId xmlns:a16="http://schemas.microsoft.com/office/drawing/2014/main" id="{B299C660-8F99-6D4E-9C6F-39126DDA75E6}"/>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B012F296-0540-5947-82FB-8D0EBC9252C7}"/>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18862D14-EAAB-1243-B1D9-B8A9700D9FB5}"/>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423CEDCE-24BC-F346-8222-DE4DE1D51FF7}"/>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2CFAB017-E420-D14D-8DFC-ECEF35BA1A30}"/>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72FDC60A-8559-FC4D-94AA-13F6C53F26AD}"/>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99C1BC9B-3170-EC4A-8578-A5FA373BB034}"/>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シングルサインオン</a:t>
            </a:r>
          </a:p>
        </p:txBody>
      </p:sp>
      <p:sp>
        <p:nvSpPr>
          <p:cNvPr id="60" name="テキスト ボックス 59">
            <a:extLst>
              <a:ext uri="{FF2B5EF4-FFF2-40B4-BE49-F238E27FC236}">
                <a16:creationId xmlns:a16="http://schemas.microsoft.com/office/drawing/2014/main" id="{F823AC9B-ED36-584D-8766-81061EAC000E}"/>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ADD893E7-8CB8-004D-84BA-20856B0C103A}"/>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一度のログインが有効となる範囲</a:t>
            </a:r>
          </a:p>
        </p:txBody>
      </p:sp>
      <p:sp>
        <p:nvSpPr>
          <p:cNvPr id="62" name="テキスト ボックス 61">
            <a:extLst>
              <a:ext uri="{FF2B5EF4-FFF2-40B4-BE49-F238E27FC236}">
                <a16:creationId xmlns:a16="http://schemas.microsoft.com/office/drawing/2014/main" id="{BB23F02A-BF08-114C-AB16-407F1D53802E}"/>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同一基盤内のアプリ間、顧客</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基盤を経由した場合の双方で確定・検証済みです。詳細設計に引き渡せます。</a:t>
            </a:r>
          </a:p>
        </p:txBody>
      </p:sp>
      <p:sp>
        <p:nvSpPr>
          <p:cNvPr id="63" name="正方形/長方形 62">
            <a:extLst>
              <a:ext uri="{FF2B5EF4-FFF2-40B4-BE49-F238E27FC236}">
                <a16:creationId xmlns:a16="http://schemas.microsoft.com/office/drawing/2014/main" id="{C9314A32-E760-3846-879B-91E3A0120F0F}"/>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2577894F-3F43-4044-8DE9-EB00A72AFDDA}"/>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77E4013B-AC22-A443-9D55-392265272E89}"/>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ログアウトの範囲</a:t>
            </a:r>
          </a:p>
        </p:txBody>
      </p:sp>
      <p:sp>
        <p:nvSpPr>
          <p:cNvPr id="66" name="テキスト ボックス 65">
            <a:extLst>
              <a:ext uri="{FF2B5EF4-FFF2-40B4-BE49-F238E27FC236}">
                <a16:creationId xmlns:a16="http://schemas.microsoft.com/office/drawing/2014/main" id="{285F0393-F440-BA46-9888-BBEE324A6C5D}"/>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D8F37C80-6613-C547-BFF4-B4ECDA0AA886}"/>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ログアウト時にどこまで確実に接続を切るか</a:t>
            </a:r>
          </a:p>
        </p:txBody>
      </p:sp>
      <p:sp>
        <p:nvSpPr>
          <p:cNvPr id="68" name="テキスト ボックス 67">
            <a:extLst>
              <a:ext uri="{FF2B5EF4-FFF2-40B4-BE49-F238E27FC236}">
                <a16:creationId xmlns:a16="http://schemas.microsoft.com/office/drawing/2014/main" id="{171CC664-EA04-E649-899F-D6426B51A7CE}"/>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アプリ単体・本基盤・顧客</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基盤連動の</a:t>
            </a:r>
            <a:r>
              <a:rPr lang="en-US" altLang="ja-JP" sz="1100">
                <a:solidFill>
                  <a:srgbClr val="1D2125"/>
                </a:solidFill>
                <a:latin typeface="Yu Gothic UI"/>
                <a:ea typeface="Yu Gothic UI"/>
              </a:rPr>
              <a:t>3</a:t>
            </a:r>
            <a:r>
              <a:rPr lang="ja-JP" altLang="en-US" sz="1100">
                <a:solidFill>
                  <a:srgbClr val="1D2125"/>
                </a:solidFill>
                <a:latin typeface="Yu Gothic UI"/>
                <a:ea typeface="Yu Gothic UI"/>
              </a:rPr>
              <a:t>段階を提供し、裏側での一括通知も検証済みです。画面経由の一括ログアウトの要否を顧客に確認します。</a:t>
            </a:r>
          </a:p>
        </p:txBody>
      </p:sp>
      <p:sp>
        <p:nvSpPr>
          <p:cNvPr id="69" name="正方形/長方形 68">
            <a:extLst>
              <a:ext uri="{FF2B5EF4-FFF2-40B4-BE49-F238E27FC236}">
                <a16:creationId xmlns:a16="http://schemas.microsoft.com/office/drawing/2014/main" id="{1BFE7445-F6D5-B141-8A76-23CEFF28943C}"/>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5185339C-C184-184A-B3C1-8EEE5152571E}"/>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セッションの有効期間</a:t>
            </a:r>
          </a:p>
        </p:txBody>
      </p:sp>
      <p:sp>
        <p:nvSpPr>
          <p:cNvPr id="71" name="テキスト ボックス 70">
            <a:extLst>
              <a:ext uri="{FF2B5EF4-FFF2-40B4-BE49-F238E27FC236}">
                <a16:creationId xmlns:a16="http://schemas.microsoft.com/office/drawing/2014/main" id="{416BB163-E646-DD4F-8C5C-752A534BB043}"/>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467E7A35-516D-7645-9E53-911472B99677}"/>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無操作で切れる時間と、継続できる最大時間</a:t>
            </a:r>
          </a:p>
        </p:txBody>
      </p:sp>
      <p:sp>
        <p:nvSpPr>
          <p:cNvPr id="73" name="テキスト ボックス 72">
            <a:extLst>
              <a:ext uri="{FF2B5EF4-FFF2-40B4-BE49-F238E27FC236}">
                <a16:creationId xmlns:a16="http://schemas.microsoft.com/office/drawing/2014/main" id="{105BBD34-44B1-2545-BAA0-7787A668EFEE}"/>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無操作</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時間・絶対上限</a:t>
            </a:r>
            <a:r>
              <a:rPr lang="en-US" altLang="ja-JP" sz="1100">
                <a:solidFill>
                  <a:srgbClr val="1D2125"/>
                </a:solidFill>
                <a:latin typeface="Yu Gothic UI"/>
                <a:ea typeface="Yu Gothic UI"/>
              </a:rPr>
              <a:t>24</a:t>
            </a:r>
            <a:r>
              <a:rPr lang="ja-JP" altLang="en-US" sz="1100">
                <a:solidFill>
                  <a:srgbClr val="1D2125"/>
                </a:solidFill>
                <a:latin typeface="Yu Gothic UI"/>
                <a:ea typeface="Yu Gothic UI"/>
              </a:rPr>
              <a:t>時間で確定し、管理者による全セッション強制破棄も提供します。個別の強制無効化の実装方式を自社で確定させます。</a:t>
            </a:r>
          </a:p>
        </p:txBody>
      </p:sp>
      <p:sp>
        <p:nvSpPr>
          <p:cNvPr id="74" name="正方形/長方形 73">
            <a:extLst>
              <a:ext uri="{FF2B5EF4-FFF2-40B4-BE49-F238E27FC236}">
                <a16:creationId xmlns:a16="http://schemas.microsoft.com/office/drawing/2014/main" id="{CC137A71-98B0-C847-82E9-1390AA8E640C}"/>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2DAC54EC-15CC-8340-9120-D20CE0E391CD}"/>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B05EB195-3353-F44D-A629-67B36712CF31}"/>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失効までの空き時間</a:t>
            </a:r>
          </a:p>
        </p:txBody>
      </p:sp>
      <p:sp>
        <p:nvSpPr>
          <p:cNvPr id="77" name="テキスト ボックス 76">
            <a:extLst>
              <a:ext uri="{FF2B5EF4-FFF2-40B4-BE49-F238E27FC236}">
                <a16:creationId xmlns:a16="http://schemas.microsoft.com/office/drawing/2014/main" id="{00D0B750-9E96-7D49-A087-02330425AF6F}"/>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CEBBC137-D768-5A4B-B7BF-7AFDE591B740}"/>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権限を取り消しても資格情報が短時間有効になる問題</a:t>
            </a:r>
          </a:p>
        </p:txBody>
      </p:sp>
      <p:sp>
        <p:nvSpPr>
          <p:cNvPr id="79" name="テキスト ボックス 78">
            <a:extLst>
              <a:ext uri="{FF2B5EF4-FFF2-40B4-BE49-F238E27FC236}">
                <a16:creationId xmlns:a16="http://schemas.microsoft.com/office/drawing/2014/main" id="{794BAB98-0508-F64F-8D7E-DEDC936FBD29}"/>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継続的なアクセス評価の仕組みで短縮する方針で、第</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段階は暫定の橋渡し方式で成立します。標準対応の実装時期は自社で決定します。</a:t>
            </a:r>
          </a:p>
        </p:txBody>
      </p:sp>
    </p:spTree>
    <p:extLst>
      <p:ext uri="{BB962C8B-B14F-4D97-AF65-F5344CB8AC3E}">
        <p14:creationId xmlns:p14="http://schemas.microsoft.com/office/powerpoint/2010/main" val="3217519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F5B4DE53-4E4C-4C4A-B871-21A94EA7380C}"/>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9DF8B27C-1779-1240-B85B-74AFEEF1CC68}"/>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⑤</a:t>
            </a:r>
            <a:r>
              <a:rPr lang="ja-JP" altLang="en-US" sz="2400" b="1">
                <a:solidFill>
                  <a:srgbClr val="1F3864"/>
                </a:solidFill>
                <a:latin typeface="Yu Gothic UI"/>
                <a:ea typeface="Yu Gothic UI"/>
              </a:rPr>
              <a:t>　認可（誰に何を許すか）</a:t>
            </a:r>
          </a:p>
        </p:txBody>
      </p:sp>
      <p:sp>
        <p:nvSpPr>
          <p:cNvPr id="49" name="テキスト ボックス 48">
            <a:extLst>
              <a:ext uri="{FF2B5EF4-FFF2-40B4-BE49-F238E27FC236}">
                <a16:creationId xmlns:a16="http://schemas.microsoft.com/office/drawing/2014/main" id="{4D803405-B239-674D-A41A-D521023155F8}"/>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10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57735F6F-41AE-0545-8F61-2F28ECD08B2B}"/>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認証の次段階。どの顧客の・どの役割の利用者に、どの操作を許すかの判定。</a:t>
            </a:r>
          </a:p>
        </p:txBody>
      </p:sp>
      <p:sp>
        <p:nvSpPr>
          <p:cNvPr id="51" name="正方形/長方形 50">
            <a:extLst>
              <a:ext uri="{FF2B5EF4-FFF2-40B4-BE49-F238E27FC236}">
                <a16:creationId xmlns:a16="http://schemas.microsoft.com/office/drawing/2014/main" id="{8DC17EB3-829C-B748-801E-41792E568C9E}"/>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5AC82D05-69F3-FD4F-8C1A-B7BB9427D8DC}"/>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テナント間でデータが混ざらないことが本基盤の最重要要件であり、ここは検証まで完了しています。細かい粒度の認可は将来の外部化余地を残す形で設計しており、今すぐ決めなくても後戻りしません。</a:t>
            </a:r>
          </a:p>
        </p:txBody>
      </p:sp>
      <p:sp>
        <p:nvSpPr>
          <p:cNvPr id="53" name="正方形/長方形 52">
            <a:extLst>
              <a:ext uri="{FF2B5EF4-FFF2-40B4-BE49-F238E27FC236}">
                <a16:creationId xmlns:a16="http://schemas.microsoft.com/office/drawing/2014/main" id="{5E75BBBE-E6A0-F045-BC97-8B0A1558EE65}"/>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4F020039-BAF1-2346-9958-EA1ACC639009}"/>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5252FB24-7DC5-BF45-B442-6351DBCCC7B0}"/>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15DCA91C-3453-9740-B33C-BB29A18D428B}"/>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9E14B432-5D8D-B746-A46E-FF9C3E7A1C42}"/>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9F65F265-A12D-994F-98AB-43D2AB4EE6ED}"/>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E91AA172-D799-154B-A4AC-ADB4E430597B}"/>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資格情報にもとづく判定</a:t>
            </a:r>
          </a:p>
        </p:txBody>
      </p:sp>
      <p:sp>
        <p:nvSpPr>
          <p:cNvPr id="60" name="テキスト ボックス 59">
            <a:extLst>
              <a:ext uri="{FF2B5EF4-FFF2-40B4-BE49-F238E27FC236}">
                <a16:creationId xmlns:a16="http://schemas.microsoft.com/office/drawing/2014/main" id="{85062B5C-C5D6-1449-A55B-EA773DDD9C91}"/>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8</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99159B0C-2C4B-8649-9F1F-26D4BBF6DA7F}"/>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テナントと役割をどう認証情報に載せ、どこで判定するか</a:t>
            </a:r>
          </a:p>
        </p:txBody>
      </p:sp>
      <p:sp>
        <p:nvSpPr>
          <p:cNvPr id="62" name="テキスト ボックス 61">
            <a:extLst>
              <a:ext uri="{FF2B5EF4-FFF2-40B4-BE49-F238E27FC236}">
                <a16:creationId xmlns:a16="http://schemas.microsoft.com/office/drawing/2014/main" id="{D49510E9-6E8D-B746-97B3-3E011E0D422E}"/>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テナント識別子と役割を認証情報に載せてアプリ側で判定する方式で確定し、複数の発行元を同時に扱う構成まで検証済みです。残るのは範囲単位の認可の実機検証です。</a:t>
            </a:r>
          </a:p>
        </p:txBody>
      </p:sp>
      <p:sp>
        <p:nvSpPr>
          <p:cNvPr id="63" name="正方形/長方形 62">
            <a:extLst>
              <a:ext uri="{FF2B5EF4-FFF2-40B4-BE49-F238E27FC236}">
                <a16:creationId xmlns:a16="http://schemas.microsoft.com/office/drawing/2014/main" id="{7A6A4298-E157-1540-8E93-3339615D4629}"/>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B2CC7220-33DF-0B4A-8D9B-74C03756F4E3}"/>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8A86818D-8B42-A94E-83AB-CC310DC3C94F}"/>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役割の階層</a:t>
            </a:r>
          </a:p>
        </p:txBody>
      </p:sp>
      <p:sp>
        <p:nvSpPr>
          <p:cNvPr id="66" name="テキスト ボックス 65">
            <a:extLst>
              <a:ext uri="{FF2B5EF4-FFF2-40B4-BE49-F238E27FC236}">
                <a16:creationId xmlns:a16="http://schemas.microsoft.com/office/drawing/2014/main" id="{0F10809C-83FF-E241-8F73-4D6108A21C39}"/>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5186D589-4D3B-9E45-B63F-2EA971119478}"/>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役割の継承関係をどう表現するか</a:t>
            </a:r>
          </a:p>
        </p:txBody>
      </p:sp>
      <p:sp>
        <p:nvSpPr>
          <p:cNvPr id="68" name="テキスト ボックス 67">
            <a:extLst>
              <a:ext uri="{FF2B5EF4-FFF2-40B4-BE49-F238E27FC236}">
                <a16:creationId xmlns:a16="http://schemas.microsoft.com/office/drawing/2014/main" id="{B2AAFE7A-A367-E740-A0F6-32396F7B7CD1}"/>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基盤機能で実現する方針です。顧客の役割体系の実態を確認したうえで確定させます。</a:t>
            </a:r>
          </a:p>
        </p:txBody>
      </p:sp>
      <p:sp>
        <p:nvSpPr>
          <p:cNvPr id="69" name="正方形/長方形 68">
            <a:extLst>
              <a:ext uri="{FF2B5EF4-FFF2-40B4-BE49-F238E27FC236}">
                <a16:creationId xmlns:a16="http://schemas.microsoft.com/office/drawing/2014/main" id="{C7FE80DD-8636-BE4A-8E4D-B9D920E139BD}"/>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E10842B3-9392-1D44-8C8A-5BFB9D5D92EA}"/>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細かい粒度の認可</a:t>
            </a:r>
          </a:p>
        </p:txBody>
      </p:sp>
      <p:sp>
        <p:nvSpPr>
          <p:cNvPr id="71" name="テキスト ボックス 70">
            <a:extLst>
              <a:ext uri="{FF2B5EF4-FFF2-40B4-BE49-F238E27FC236}">
                <a16:creationId xmlns:a16="http://schemas.microsoft.com/office/drawing/2014/main" id="{165358E0-AAF2-7D43-A14B-DAE8546B20DC}"/>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610C66DB-64A9-1C4E-96AA-1F8A814FFC59}"/>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資源単位・属性単位での許可判定</a:t>
            </a:r>
          </a:p>
        </p:txBody>
      </p:sp>
      <p:sp>
        <p:nvSpPr>
          <p:cNvPr id="73" name="テキスト ボックス 72">
            <a:extLst>
              <a:ext uri="{FF2B5EF4-FFF2-40B4-BE49-F238E27FC236}">
                <a16:creationId xmlns:a16="http://schemas.microsoft.com/office/drawing/2014/main" id="{869F4FA8-E511-4841-B566-228B2EA669BA}"/>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基盤側で提供可能ですが、採用するかは未確定です。必要性を顧客に確認します。</a:t>
            </a:r>
          </a:p>
        </p:txBody>
      </p:sp>
      <p:sp>
        <p:nvSpPr>
          <p:cNvPr id="74" name="正方形/長方形 73">
            <a:extLst>
              <a:ext uri="{FF2B5EF4-FFF2-40B4-BE49-F238E27FC236}">
                <a16:creationId xmlns:a16="http://schemas.microsoft.com/office/drawing/2014/main" id="{A6374F3C-CD8E-494A-B571-16D8F23C0CB9}"/>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69B04F1B-C85F-A349-A1D0-739D50A560E6}"/>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E5375F9B-04B5-7643-9CF1-4F063EF9137B}"/>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認可判定の記録</a:t>
            </a:r>
          </a:p>
        </p:txBody>
      </p:sp>
      <p:sp>
        <p:nvSpPr>
          <p:cNvPr id="77" name="テキスト ボックス 76">
            <a:extLst>
              <a:ext uri="{FF2B5EF4-FFF2-40B4-BE49-F238E27FC236}">
                <a16:creationId xmlns:a16="http://schemas.microsoft.com/office/drawing/2014/main" id="{2B98D8F8-BC66-B44C-97D0-4DC44D158170}"/>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05583C46-CC28-CB4C-9D22-693997320BE0}"/>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誰が何を許可・拒否されたかの記録</a:t>
            </a:r>
          </a:p>
        </p:txBody>
      </p:sp>
      <p:sp>
        <p:nvSpPr>
          <p:cNvPr id="79" name="テキスト ボックス 78">
            <a:extLst>
              <a:ext uri="{FF2B5EF4-FFF2-40B4-BE49-F238E27FC236}">
                <a16:creationId xmlns:a16="http://schemas.microsoft.com/office/drawing/2014/main" id="{E531BA86-3800-FF4A-A1D9-57CD6FCC4248}"/>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再監査で新たに要件化し、後から追跡できるようにする方針です。記録項目と保存期間を自社で確定させます。</a:t>
            </a:r>
          </a:p>
        </p:txBody>
      </p:sp>
    </p:spTree>
    <p:extLst>
      <p:ext uri="{BB962C8B-B14F-4D97-AF65-F5344CB8AC3E}">
        <p14:creationId xmlns:p14="http://schemas.microsoft.com/office/powerpoint/2010/main" val="4236900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69A7D25E-D8B4-C946-9714-FD4050D9363C}"/>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49C9DF6A-D606-854A-A674-BE7B7A1BE2EA}"/>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⑥</a:t>
            </a:r>
            <a:r>
              <a:rPr lang="ja-JP" altLang="en-US" sz="2400" b="1">
                <a:solidFill>
                  <a:srgbClr val="1F3864"/>
                </a:solidFill>
                <a:latin typeface="Yu Gothic UI"/>
                <a:ea typeface="Yu Gothic UI"/>
              </a:rPr>
              <a:t>　利用者情報の管理と同期</a:t>
            </a:r>
          </a:p>
        </p:txBody>
      </p:sp>
      <p:sp>
        <p:nvSpPr>
          <p:cNvPr id="49" name="テキスト ボックス 48">
            <a:extLst>
              <a:ext uri="{FF2B5EF4-FFF2-40B4-BE49-F238E27FC236}">
                <a16:creationId xmlns:a16="http://schemas.microsoft.com/office/drawing/2014/main" id="{E7FA8878-E5A6-0F48-B740-761C94FF191F}"/>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12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5FEE7336-FBE0-0544-B74E-D267296B2125}"/>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利用者情報をどこに持ち、顧客側の異動・退職をどう反映するか。</a:t>
            </a:r>
          </a:p>
        </p:txBody>
      </p:sp>
      <p:sp>
        <p:nvSpPr>
          <p:cNvPr id="51" name="正方形/長方形 50">
            <a:extLst>
              <a:ext uri="{FF2B5EF4-FFF2-40B4-BE49-F238E27FC236}">
                <a16:creationId xmlns:a16="http://schemas.microsoft.com/office/drawing/2014/main" id="{3D6CE37B-4553-B640-B58F-E229D9A1DDC3}"/>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BBF3A0DA-BE8C-A945-B4DD-B5448EF3C587}"/>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退職者が基盤側に残り続けないことが要点です。自動作成だけでは削除が伝わらないため、一括同期との併用方針を先に決めています。どちらを使うかは顧客の運用実態次第です。</a:t>
            </a:r>
          </a:p>
        </p:txBody>
      </p:sp>
      <p:sp>
        <p:nvSpPr>
          <p:cNvPr id="53" name="正方形/長方形 52">
            <a:extLst>
              <a:ext uri="{FF2B5EF4-FFF2-40B4-BE49-F238E27FC236}">
                <a16:creationId xmlns:a16="http://schemas.microsoft.com/office/drawing/2014/main" id="{6FF7CCF1-E0BA-A54D-874E-DE0DAAC8F314}"/>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A7D4FDE1-16DE-2643-8291-54BBF117BEE3}"/>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BE7BCE4D-9B8C-6243-B4E5-EB51E7AA9394}"/>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E4C3A576-6E3E-D245-AFAA-2F3522F5112C}"/>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90053676-D8AA-6343-9467-C0076C1DFCD4}"/>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2649BECC-0D8C-8C47-A0ED-7D80B1C0CAE2}"/>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222BBBE0-2C56-DF47-912A-EB1F2B764829}"/>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基本操作</a:t>
            </a:r>
          </a:p>
        </p:txBody>
      </p:sp>
      <p:sp>
        <p:nvSpPr>
          <p:cNvPr id="60" name="テキスト ボックス 59">
            <a:extLst>
              <a:ext uri="{FF2B5EF4-FFF2-40B4-BE49-F238E27FC236}">
                <a16:creationId xmlns:a16="http://schemas.microsoft.com/office/drawing/2014/main" id="{F38125A4-49D3-8E4F-AB9E-ACAB1F823D27}"/>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F701AD57-60B0-D746-B267-02B14C87523C}"/>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作成・更新・削除・検索・利用停止の一連の操作</a:t>
            </a:r>
          </a:p>
        </p:txBody>
      </p:sp>
      <p:sp>
        <p:nvSpPr>
          <p:cNvPr id="62" name="テキスト ボックス 61">
            <a:extLst>
              <a:ext uri="{FF2B5EF4-FFF2-40B4-BE49-F238E27FC236}">
                <a16:creationId xmlns:a16="http://schemas.microsoft.com/office/drawing/2014/main" id="{70868A41-925A-7E4B-9FF1-3EBAE3D523E0}"/>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いずれも確定・検証済みで、削除時の関連データ削除にも対応します。詳細設計に引き渡せます。</a:t>
            </a:r>
          </a:p>
        </p:txBody>
      </p:sp>
      <p:sp>
        <p:nvSpPr>
          <p:cNvPr id="63" name="正方形/長方形 62">
            <a:extLst>
              <a:ext uri="{FF2B5EF4-FFF2-40B4-BE49-F238E27FC236}">
                <a16:creationId xmlns:a16="http://schemas.microsoft.com/office/drawing/2014/main" id="{0730A9C0-122D-4040-89BB-D8B99DA7B89D}"/>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770BBD5D-643B-3F4F-AD9A-67889ED30088}"/>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D8AAC584-5FDC-5040-8461-D30273A21313}"/>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属性と役割</a:t>
            </a:r>
          </a:p>
        </p:txBody>
      </p:sp>
      <p:sp>
        <p:nvSpPr>
          <p:cNvPr id="66" name="テキスト ボックス 65">
            <a:extLst>
              <a:ext uri="{FF2B5EF4-FFF2-40B4-BE49-F238E27FC236}">
                <a16:creationId xmlns:a16="http://schemas.microsoft.com/office/drawing/2014/main" id="{F5B31F87-A381-F545-9C98-F75B1BA46713}"/>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6213EBD5-E25D-0848-9E8C-A6EC7EC059CB}"/>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任意の属性の保持と、役割の割り当て</a:t>
            </a:r>
          </a:p>
        </p:txBody>
      </p:sp>
      <p:sp>
        <p:nvSpPr>
          <p:cNvPr id="68" name="テキスト ボックス 67">
            <a:extLst>
              <a:ext uri="{FF2B5EF4-FFF2-40B4-BE49-F238E27FC236}">
                <a16:creationId xmlns:a16="http://schemas.microsoft.com/office/drawing/2014/main" id="{2C1BF97A-022C-2947-AFDB-A6D99258DDAE}"/>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方式を確定・検証済みです。グループ管理の設計を自社で確定させます。</a:t>
            </a:r>
          </a:p>
        </p:txBody>
      </p:sp>
      <p:sp>
        <p:nvSpPr>
          <p:cNvPr id="69" name="正方形/長方形 68">
            <a:extLst>
              <a:ext uri="{FF2B5EF4-FFF2-40B4-BE49-F238E27FC236}">
                <a16:creationId xmlns:a16="http://schemas.microsoft.com/office/drawing/2014/main" id="{6625DA4B-87FA-C14D-9D5B-33F2689CC13D}"/>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FC194E99-DA01-E74A-9006-3542A31EBBA8}"/>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利用者自身による操作</a:t>
            </a:r>
          </a:p>
        </p:txBody>
      </p:sp>
      <p:sp>
        <p:nvSpPr>
          <p:cNvPr id="71" name="テキスト ボックス 70">
            <a:extLst>
              <a:ext uri="{FF2B5EF4-FFF2-40B4-BE49-F238E27FC236}">
                <a16:creationId xmlns:a16="http://schemas.microsoft.com/office/drawing/2014/main" id="{C52B4EA4-FD7A-FF4B-B359-57824A433411}"/>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BAEC993B-4DD4-214B-967E-7A232A7C00C4}"/>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プロフィールの編集と招待の受け取り</a:t>
            </a:r>
          </a:p>
        </p:txBody>
      </p:sp>
      <p:sp>
        <p:nvSpPr>
          <p:cNvPr id="73" name="テキスト ボックス 72">
            <a:extLst>
              <a:ext uri="{FF2B5EF4-FFF2-40B4-BE49-F238E27FC236}">
                <a16:creationId xmlns:a16="http://schemas.microsoft.com/office/drawing/2014/main" id="{2095D9E3-FC8A-C645-92EC-1FE77A1994BD}"/>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機能として提供します。画面の作り込み範囲を自社で確定させます。</a:t>
            </a:r>
          </a:p>
        </p:txBody>
      </p:sp>
      <p:sp>
        <p:nvSpPr>
          <p:cNvPr id="74" name="正方形/長方形 73">
            <a:extLst>
              <a:ext uri="{FF2B5EF4-FFF2-40B4-BE49-F238E27FC236}">
                <a16:creationId xmlns:a16="http://schemas.microsoft.com/office/drawing/2014/main" id="{A9BE899B-AAE6-E04C-9F7B-9EBE802D3E56}"/>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593A022F-3BEA-3F43-83D2-54111A6111FE}"/>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27F9DC3E-A963-F54C-94CD-7FD329B5556F}"/>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一括投入と自動同期</a:t>
            </a:r>
          </a:p>
        </p:txBody>
      </p:sp>
      <p:sp>
        <p:nvSpPr>
          <p:cNvPr id="77" name="テキスト ボックス 76">
            <a:extLst>
              <a:ext uri="{FF2B5EF4-FFF2-40B4-BE49-F238E27FC236}">
                <a16:creationId xmlns:a16="http://schemas.microsoft.com/office/drawing/2014/main" id="{73096CBB-52B7-7142-9513-E1706737A286}"/>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8ED48B9A-30ED-5541-A442-F1A46BDEE2F9}"/>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顧客側の異動・退職を基盤へ反映する方法</a:t>
            </a:r>
          </a:p>
        </p:txBody>
      </p:sp>
      <p:sp>
        <p:nvSpPr>
          <p:cNvPr id="79" name="テキスト ボックス 78">
            <a:extLst>
              <a:ext uri="{FF2B5EF4-FFF2-40B4-BE49-F238E27FC236}">
                <a16:creationId xmlns:a16="http://schemas.microsoft.com/office/drawing/2014/main" id="{1D53D154-29CC-B349-85CE-8A4AD4A3599D}"/>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初回ログイン時の自動作成と、顧客側からの一括同期の併用で方針確定しており、両方に対応できます。どちらを使うかは顧客の運用実態次第のため、自動同期の必要性と対象範囲を確認します。</a:t>
            </a:r>
          </a:p>
        </p:txBody>
      </p:sp>
    </p:spTree>
    <p:extLst>
      <p:ext uri="{BB962C8B-B14F-4D97-AF65-F5344CB8AC3E}">
        <p14:creationId xmlns:p14="http://schemas.microsoft.com/office/powerpoint/2010/main" val="121274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503AF540-6BBD-1A4A-AB71-EA393F0F2448}"/>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CE3D3F0B-E7A1-EA4B-9C07-96396F51F8BC}"/>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⑦</a:t>
            </a:r>
            <a:r>
              <a:rPr lang="ja-JP" altLang="en-US" sz="2400" b="1">
                <a:solidFill>
                  <a:srgbClr val="1F3864"/>
                </a:solidFill>
                <a:latin typeface="Yu Gothic UI"/>
                <a:ea typeface="Yu Gothic UI"/>
              </a:rPr>
              <a:t>　管理機能と権限委譲</a:t>
            </a:r>
          </a:p>
        </p:txBody>
      </p:sp>
      <p:sp>
        <p:nvSpPr>
          <p:cNvPr id="49" name="テキスト ボックス 48">
            <a:extLst>
              <a:ext uri="{FF2B5EF4-FFF2-40B4-BE49-F238E27FC236}">
                <a16:creationId xmlns:a16="http://schemas.microsoft.com/office/drawing/2014/main" id="{51409CF1-B4DB-6141-BC6B-A24EC21AAEB6}"/>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12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5379CF33-C7B4-284F-BB3F-A0132953E3F6}"/>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基盤を運用する側の機能。設定管理と監査、そして顧客自身にどこまで任せるか。</a:t>
            </a:r>
          </a:p>
        </p:txBody>
      </p:sp>
      <p:sp>
        <p:nvSpPr>
          <p:cNvPr id="51" name="正方形/長方形 50">
            <a:extLst>
              <a:ext uri="{FF2B5EF4-FFF2-40B4-BE49-F238E27FC236}">
                <a16:creationId xmlns:a16="http://schemas.microsoft.com/office/drawing/2014/main" id="{3E4EE965-18E5-9844-9F02-028034825698}"/>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4E7D7041-28A3-2E41-8EC0-DA5412884032}"/>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顧客が自社で利用者管理をしたいのか、こちらで代行するのかで運用体制と費用が変わります。ここは技術ではなく契約・体制の論点であり、早めの意思決定が必要です。</a:t>
            </a:r>
          </a:p>
        </p:txBody>
      </p:sp>
      <p:sp>
        <p:nvSpPr>
          <p:cNvPr id="53" name="正方形/長方形 52">
            <a:extLst>
              <a:ext uri="{FF2B5EF4-FFF2-40B4-BE49-F238E27FC236}">
                <a16:creationId xmlns:a16="http://schemas.microsoft.com/office/drawing/2014/main" id="{E5770EE7-94E9-AF45-BAFF-888468A3BED6}"/>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D437B20C-350E-574C-A51A-160563941208}"/>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286A1AE5-1101-1B4C-8FD9-782A412C0820}"/>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9AC7778F-332C-694C-96F7-DD29E80184A2}"/>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B901D017-262F-5449-890F-9C77FDD8BCA7}"/>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9840CBA4-B7DC-474E-9408-BF4F32A2F290}"/>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88C4B812-1088-A740-9B72-A8965481E671}"/>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基盤設定の管理</a:t>
            </a:r>
          </a:p>
        </p:txBody>
      </p:sp>
      <p:sp>
        <p:nvSpPr>
          <p:cNvPr id="60" name="テキスト ボックス 59">
            <a:extLst>
              <a:ext uri="{FF2B5EF4-FFF2-40B4-BE49-F238E27FC236}">
                <a16:creationId xmlns:a16="http://schemas.microsoft.com/office/drawing/2014/main" id="{4FD5F1FC-971D-464A-B51A-17B8CB505286}"/>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6</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1ACF6EAF-1C0F-F342-B34B-9A4CB35C1063}"/>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設定変更の手段と、テナント別設定の分離</a:t>
            </a:r>
          </a:p>
        </p:txBody>
      </p:sp>
      <p:sp>
        <p:nvSpPr>
          <p:cNvPr id="62" name="テキスト ボックス 61">
            <a:extLst>
              <a:ext uri="{FF2B5EF4-FFF2-40B4-BE49-F238E27FC236}">
                <a16:creationId xmlns:a16="http://schemas.microsoft.com/office/drawing/2014/main" id="{E73CA05B-6607-EE48-8D6B-D21AA4B15C7E}"/>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管理画面と構成のコード管理の両方を提供し、テナント別の設定分離は検証済みです。テナント追加・削除の運用手順を自社で確定させます。</a:t>
            </a:r>
          </a:p>
        </p:txBody>
      </p:sp>
      <p:sp>
        <p:nvSpPr>
          <p:cNvPr id="63" name="正方形/長方形 62">
            <a:extLst>
              <a:ext uri="{FF2B5EF4-FFF2-40B4-BE49-F238E27FC236}">
                <a16:creationId xmlns:a16="http://schemas.microsoft.com/office/drawing/2014/main" id="{239AB65E-4D39-294A-9A1C-9D1BE6CFEAB3}"/>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3D05567A-6262-214D-A2A5-1849D82A1F2C}"/>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1745566F-B6D5-1F41-B7C8-0D999F8D4DC6}"/>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監査と追跡</a:t>
            </a:r>
          </a:p>
        </p:txBody>
      </p:sp>
      <p:sp>
        <p:nvSpPr>
          <p:cNvPr id="66" name="テキスト ボックス 65">
            <a:extLst>
              <a:ext uri="{FF2B5EF4-FFF2-40B4-BE49-F238E27FC236}">
                <a16:creationId xmlns:a16="http://schemas.microsoft.com/office/drawing/2014/main" id="{EFC60660-5C53-7E4C-B58C-20E3B9BE5001}"/>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244E713A-2CCA-1F49-B6C2-B3257249FDD9}"/>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操作ログと設定変更履歴の取得</a:t>
            </a:r>
          </a:p>
        </p:txBody>
      </p:sp>
      <p:sp>
        <p:nvSpPr>
          <p:cNvPr id="68" name="テキスト ボックス 67">
            <a:extLst>
              <a:ext uri="{FF2B5EF4-FFF2-40B4-BE49-F238E27FC236}">
                <a16:creationId xmlns:a16="http://schemas.microsoft.com/office/drawing/2014/main" id="{750D568D-44AA-2543-8F7D-B4D868ADD053}"/>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取得方式は確定済みです。保存期間と外部出力先を顧客と確定させます。</a:t>
            </a:r>
          </a:p>
        </p:txBody>
      </p:sp>
      <p:sp>
        <p:nvSpPr>
          <p:cNvPr id="69" name="正方形/長方形 68">
            <a:extLst>
              <a:ext uri="{FF2B5EF4-FFF2-40B4-BE49-F238E27FC236}">
                <a16:creationId xmlns:a16="http://schemas.microsoft.com/office/drawing/2014/main" id="{9DA80F17-65E9-344C-B426-5A38F7CD61DB}"/>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79BF5C17-D1D6-604E-BCA9-7702043D4C44}"/>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運用担当者の権限設計</a:t>
            </a:r>
          </a:p>
        </p:txBody>
      </p:sp>
      <p:sp>
        <p:nvSpPr>
          <p:cNvPr id="71" name="テキスト ボックス 70">
            <a:extLst>
              <a:ext uri="{FF2B5EF4-FFF2-40B4-BE49-F238E27FC236}">
                <a16:creationId xmlns:a16="http://schemas.microsoft.com/office/drawing/2014/main" id="{4F8757A4-56A1-AA49-A074-DD0730CD086A}"/>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D84D1204-620F-1445-838B-3E8F7BDEC8DF}"/>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管理者権限の分割と最小権限での運用</a:t>
            </a:r>
          </a:p>
        </p:txBody>
      </p:sp>
      <p:sp>
        <p:nvSpPr>
          <p:cNvPr id="73" name="テキスト ボックス 72">
            <a:extLst>
              <a:ext uri="{FF2B5EF4-FFF2-40B4-BE49-F238E27FC236}">
                <a16:creationId xmlns:a16="http://schemas.microsoft.com/office/drawing/2014/main" id="{42EF3B84-FE87-1548-897F-A6B6251DD089}"/>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役割を分割して最小権限で運用する方針です。役割定義を自社で確定させます。</a:t>
            </a:r>
          </a:p>
        </p:txBody>
      </p:sp>
      <p:sp>
        <p:nvSpPr>
          <p:cNvPr id="74" name="正方形/長方形 73">
            <a:extLst>
              <a:ext uri="{FF2B5EF4-FFF2-40B4-BE49-F238E27FC236}">
                <a16:creationId xmlns:a16="http://schemas.microsoft.com/office/drawing/2014/main" id="{C56C535B-92A0-5A49-90BF-72759720A6D8}"/>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2CC2475D-35CA-5349-8206-AD78A22E3AB1}"/>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7F4F1744-EA27-5743-8D51-7C9DF4A0CB03}"/>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顧客への権限委譲と画面</a:t>
            </a:r>
          </a:p>
        </p:txBody>
      </p:sp>
      <p:sp>
        <p:nvSpPr>
          <p:cNvPr id="77" name="テキスト ボックス 76">
            <a:extLst>
              <a:ext uri="{FF2B5EF4-FFF2-40B4-BE49-F238E27FC236}">
                <a16:creationId xmlns:a16="http://schemas.microsoft.com/office/drawing/2014/main" id="{ECC896A6-E6AE-1B4E-8769-0986EFD3A3B7}"/>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3087F635-A0AB-1C4C-A37E-85AF85E187F1}"/>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顧客自身による利用者管理と、ログイン画面の見た目</a:t>
            </a:r>
          </a:p>
        </p:txBody>
      </p:sp>
      <p:sp>
        <p:nvSpPr>
          <p:cNvPr id="79" name="テキスト ボックス 78">
            <a:extLst>
              <a:ext uri="{FF2B5EF4-FFF2-40B4-BE49-F238E27FC236}">
                <a16:creationId xmlns:a16="http://schemas.microsoft.com/office/drawing/2014/main" id="{E51651C5-2C8A-A144-9059-DCC7EAC8DAE2}"/>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委譲とブランド適用は基盤側で提供可能です。委譲の範囲とブランド要件を顧客に確認します。運用体制と費用に直結する項目です。</a:t>
            </a:r>
          </a:p>
        </p:txBody>
      </p:sp>
    </p:spTree>
    <p:extLst>
      <p:ext uri="{BB962C8B-B14F-4D97-AF65-F5344CB8AC3E}">
        <p14:creationId xmlns:p14="http://schemas.microsoft.com/office/powerpoint/2010/main" val="712942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4931C1A0-7C0A-504A-9900-E2CE9E6FF879}"/>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CA9F23AB-601E-0A4F-832D-A0FC3F4D4CCA}"/>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⑧</a:t>
            </a:r>
            <a:r>
              <a:rPr lang="ja-JP" altLang="en-US" sz="2400" b="1">
                <a:solidFill>
                  <a:srgbClr val="1F3864"/>
                </a:solidFill>
                <a:latin typeface="Yu Gothic UI"/>
                <a:ea typeface="Yu Gothic UI"/>
              </a:rPr>
              <a:t>　外部システムとの連携</a:t>
            </a:r>
          </a:p>
        </p:txBody>
      </p:sp>
      <p:sp>
        <p:nvSpPr>
          <p:cNvPr id="49" name="テキスト ボックス 48">
            <a:extLst>
              <a:ext uri="{FF2B5EF4-FFF2-40B4-BE49-F238E27FC236}">
                <a16:creationId xmlns:a16="http://schemas.microsoft.com/office/drawing/2014/main" id="{1402BF54-5FBB-884F-A568-1161DF3A5B35}"/>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10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0A3D4F41-4994-6F44-8038-1C56A2E943F5}"/>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標準仕様への準拠と、ログ・構成管理の自動化。</a:t>
            </a:r>
          </a:p>
        </p:txBody>
      </p:sp>
      <p:sp>
        <p:nvSpPr>
          <p:cNvPr id="51" name="正方形/長方形 50">
            <a:extLst>
              <a:ext uri="{FF2B5EF4-FFF2-40B4-BE49-F238E27FC236}">
                <a16:creationId xmlns:a16="http://schemas.microsoft.com/office/drawing/2014/main" id="{F8AEF223-161C-F04C-815A-3679182A88A2}"/>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1B40A3BF-9781-4E43-8882-129A254F8155}"/>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標準仕様に沿っているため、顧客側のシステムを大きく改造せずに接続できます。これは共有基盤として最も重要な性質で、ここが確定していることが他社への横展開の前提になります。</a:t>
            </a:r>
          </a:p>
        </p:txBody>
      </p:sp>
      <p:sp>
        <p:nvSpPr>
          <p:cNvPr id="53" name="正方形/長方形 52">
            <a:extLst>
              <a:ext uri="{FF2B5EF4-FFF2-40B4-BE49-F238E27FC236}">
                <a16:creationId xmlns:a16="http://schemas.microsoft.com/office/drawing/2014/main" id="{6D2D5958-28CC-D34E-8E2B-C66111125039}"/>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581885EE-D2DE-8942-A049-41EB5C5C576D}"/>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E58DAD6C-3DF4-8B42-97E6-0E7E750C8530}"/>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78704EA6-11CC-0143-A42F-99D3AFF2E27C}"/>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9032B9CA-C759-2243-89E5-DD2DFAE918CC}"/>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52EC0B1C-C74F-6C45-A6D2-258345EA884C}"/>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B181A3A6-BA9D-CF44-B945-DE23D0AC1013}"/>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標準仕様への準拠</a:t>
            </a:r>
          </a:p>
        </p:txBody>
      </p:sp>
      <p:sp>
        <p:nvSpPr>
          <p:cNvPr id="60" name="テキスト ボックス 59">
            <a:extLst>
              <a:ext uri="{FF2B5EF4-FFF2-40B4-BE49-F238E27FC236}">
                <a16:creationId xmlns:a16="http://schemas.microsoft.com/office/drawing/2014/main" id="{4B8E52EF-6DF6-544D-8AEB-6AD98ECE9655}"/>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A8AC868C-BB2B-1E48-9431-16C99814A21E}"/>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他社製品から接続できる国際標準への準拠</a:t>
            </a:r>
          </a:p>
        </p:txBody>
      </p:sp>
      <p:sp>
        <p:nvSpPr>
          <p:cNvPr id="62" name="テキスト ボックス 61">
            <a:extLst>
              <a:ext uri="{FF2B5EF4-FFF2-40B4-BE49-F238E27FC236}">
                <a16:creationId xmlns:a16="http://schemas.microsoft.com/office/drawing/2014/main" id="{13851880-38C4-344B-9CD2-952FEB05D324}"/>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準拠・接続情報の自動公開・</a:t>
            </a:r>
            <a:r>
              <a:rPr lang="en" altLang="ja-JP" sz="1100">
                <a:solidFill>
                  <a:srgbClr val="1D2125"/>
                </a:solidFill>
                <a:latin typeface="Yu Gothic UI"/>
                <a:ea typeface="Yu Gothic UI"/>
              </a:rPr>
              <a:t>API</a:t>
            </a:r>
            <a:r>
              <a:rPr lang="ja-JP" altLang="en-US" sz="1100">
                <a:solidFill>
                  <a:srgbClr val="1D2125"/>
                </a:solidFill>
                <a:latin typeface="Yu Gothic UI"/>
                <a:ea typeface="Yu Gothic UI"/>
              </a:rPr>
              <a:t>連携の入口は確定・検証済みで、他社製品から接続できる状態です。接続情報ファイルの提供設定を自社で確定させます。</a:t>
            </a:r>
          </a:p>
        </p:txBody>
      </p:sp>
      <p:sp>
        <p:nvSpPr>
          <p:cNvPr id="63" name="正方形/長方形 62">
            <a:extLst>
              <a:ext uri="{FF2B5EF4-FFF2-40B4-BE49-F238E27FC236}">
                <a16:creationId xmlns:a16="http://schemas.microsoft.com/office/drawing/2014/main" id="{4BA1EA66-A7C0-1E45-95FE-6B57B9C6EFAE}"/>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70DC6DFC-BA0F-C441-854E-6EDF2E75727C}"/>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19674048-CD88-A545-988E-77B1390585D1}"/>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ログの外部出力</a:t>
            </a:r>
          </a:p>
        </p:txBody>
      </p:sp>
      <p:sp>
        <p:nvSpPr>
          <p:cNvPr id="66" name="テキスト ボックス 65">
            <a:extLst>
              <a:ext uri="{FF2B5EF4-FFF2-40B4-BE49-F238E27FC236}">
                <a16:creationId xmlns:a16="http://schemas.microsoft.com/office/drawing/2014/main" id="{6514481D-6FA7-304A-ABF8-E666454000DF}"/>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6C827055-3468-AE4C-A78D-BAD4A8111640}"/>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ログの転送先と、監視製品との連携</a:t>
            </a:r>
          </a:p>
        </p:txBody>
      </p:sp>
      <p:sp>
        <p:nvSpPr>
          <p:cNvPr id="68" name="テキスト ボックス 67">
            <a:extLst>
              <a:ext uri="{FF2B5EF4-FFF2-40B4-BE49-F238E27FC236}">
                <a16:creationId xmlns:a16="http://schemas.microsoft.com/office/drawing/2014/main" id="{7ADFE6D6-3A54-8644-9460-9A415DCDDD3A}"/>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クラウドのログ基盤への出力で確定し、監視製品への転送も可能です。転送先の要否を顧客に確認します。</a:t>
            </a:r>
          </a:p>
        </p:txBody>
      </p:sp>
      <p:sp>
        <p:nvSpPr>
          <p:cNvPr id="69" name="正方形/長方形 68">
            <a:extLst>
              <a:ext uri="{FF2B5EF4-FFF2-40B4-BE49-F238E27FC236}">
                <a16:creationId xmlns:a16="http://schemas.microsoft.com/office/drawing/2014/main" id="{B5FAFEDD-0179-0242-9319-847C47529B40}"/>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0EBFA60C-4CE6-1044-A47C-9CD2619EC9B5}"/>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構成管理の自動化</a:t>
            </a:r>
          </a:p>
        </p:txBody>
      </p:sp>
      <p:sp>
        <p:nvSpPr>
          <p:cNvPr id="71" name="テキスト ボックス 70">
            <a:extLst>
              <a:ext uri="{FF2B5EF4-FFF2-40B4-BE49-F238E27FC236}">
                <a16:creationId xmlns:a16="http://schemas.microsoft.com/office/drawing/2014/main" id="{C7CFA253-E66E-DA42-B712-3DC024CF0FFB}"/>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1CB8B4AC-C380-F64C-A7C8-18230D5BBD9E}"/>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基盤構成をコードで管理する範囲</a:t>
            </a:r>
          </a:p>
        </p:txBody>
      </p:sp>
      <p:sp>
        <p:nvSpPr>
          <p:cNvPr id="73" name="テキスト ボックス 72">
            <a:extLst>
              <a:ext uri="{FF2B5EF4-FFF2-40B4-BE49-F238E27FC236}">
                <a16:creationId xmlns:a16="http://schemas.microsoft.com/office/drawing/2014/main" id="{AEABADAD-3BB6-874A-B965-ADFBF8B1EE23}"/>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方式は確定・実施済みですが、一部は製品側の別管理になります。その部分の運用手順を自社で確定させます。</a:t>
            </a:r>
          </a:p>
        </p:txBody>
      </p:sp>
      <p:sp>
        <p:nvSpPr>
          <p:cNvPr id="74" name="正方形/長方形 73">
            <a:extLst>
              <a:ext uri="{FF2B5EF4-FFF2-40B4-BE49-F238E27FC236}">
                <a16:creationId xmlns:a16="http://schemas.microsoft.com/office/drawing/2014/main" id="{3A3785C3-C4EE-464B-9010-B7E6E1D2DB8C}"/>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A99EA443-E372-B34E-86B5-A31C5C85A111}"/>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6D4A2306-6344-1547-8292-1A31922D3C4F}"/>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変更通知の連携</a:t>
            </a:r>
          </a:p>
        </p:txBody>
      </p:sp>
      <p:sp>
        <p:nvSpPr>
          <p:cNvPr id="77" name="テキスト ボックス 76">
            <a:extLst>
              <a:ext uri="{FF2B5EF4-FFF2-40B4-BE49-F238E27FC236}">
                <a16:creationId xmlns:a16="http://schemas.microsoft.com/office/drawing/2014/main" id="{B32F9999-B504-5A45-9484-5A9DA92CC1A0}"/>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739B11C4-7050-D942-9101-5E4938753EEA}"/>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利用者作成などの出来事を外部へ知らせる仕組み</a:t>
            </a:r>
          </a:p>
        </p:txBody>
      </p:sp>
      <p:sp>
        <p:nvSpPr>
          <p:cNvPr id="79" name="テキスト ボックス 78">
            <a:extLst>
              <a:ext uri="{FF2B5EF4-FFF2-40B4-BE49-F238E27FC236}">
                <a16:creationId xmlns:a16="http://schemas.microsoft.com/office/drawing/2014/main" id="{4F2BD5EF-135A-3440-A57A-EE5A3FEB5715}"/>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提供可能です。必要性を顧客に確認します。</a:t>
            </a:r>
          </a:p>
        </p:txBody>
      </p:sp>
    </p:spTree>
    <p:extLst>
      <p:ext uri="{BB962C8B-B14F-4D97-AF65-F5344CB8AC3E}">
        <p14:creationId xmlns:p14="http://schemas.microsoft.com/office/powerpoint/2010/main" val="1528884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FD01702F-FA30-5044-B010-5CE86E82EED0}"/>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7904504C-DAB7-FF40-80F6-B178499D61B2}"/>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⑨</a:t>
            </a:r>
            <a:r>
              <a:rPr lang="ja-JP" altLang="en-US" sz="2400" b="1">
                <a:solidFill>
                  <a:srgbClr val="1F3864"/>
                </a:solidFill>
                <a:latin typeface="Yu Gothic UI"/>
                <a:ea typeface="Yu Gothic UI"/>
              </a:rPr>
              <a:t>　可用性と災害復旧</a:t>
            </a:r>
          </a:p>
        </p:txBody>
      </p:sp>
      <p:sp>
        <p:nvSpPr>
          <p:cNvPr id="56" name="テキスト ボックス 55">
            <a:extLst>
              <a:ext uri="{FF2B5EF4-FFF2-40B4-BE49-F238E27FC236}">
                <a16:creationId xmlns:a16="http://schemas.microsoft.com/office/drawing/2014/main" id="{E8DC46D2-0473-304F-85D5-E274A9A8DFA2}"/>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14 </a:t>
            </a:r>
            <a:r>
              <a:rPr lang="ja-JP" altLang="en-US" sz="1400" b="1">
                <a:solidFill>
                  <a:srgbClr val="5A6472"/>
                </a:solidFill>
                <a:latin typeface="Yu Gothic UI"/>
                <a:ea typeface="Yu Gothic UI"/>
              </a:rPr>
              <a:t>件</a:t>
            </a:r>
          </a:p>
        </p:txBody>
      </p:sp>
      <p:sp>
        <p:nvSpPr>
          <p:cNvPr id="57" name="テキスト ボックス 56">
            <a:extLst>
              <a:ext uri="{FF2B5EF4-FFF2-40B4-BE49-F238E27FC236}">
                <a16:creationId xmlns:a16="http://schemas.microsoft.com/office/drawing/2014/main" id="{1E15A131-93EC-7848-89A4-71288FE342B2}"/>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どれだけ止まらないか、止まったとき何日で戻すか。</a:t>
            </a:r>
          </a:p>
        </p:txBody>
      </p:sp>
      <p:sp>
        <p:nvSpPr>
          <p:cNvPr id="58" name="正方形/長方形 57">
            <a:extLst>
              <a:ext uri="{FF2B5EF4-FFF2-40B4-BE49-F238E27FC236}">
                <a16:creationId xmlns:a16="http://schemas.microsoft.com/office/drawing/2014/main" id="{2F100D1E-E572-D14E-AA56-03A0804F4C9E}"/>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4A26DEA9-FC60-FF4C-823D-7D9CE46C6694}"/>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復旧</a:t>
            </a:r>
            <a:r>
              <a:rPr lang="en-US" altLang="ja-JP" sz="1300" b="1">
                <a:solidFill>
                  <a:srgbClr val="1D2125"/>
                </a:solidFill>
                <a:latin typeface="Yu Gothic UI"/>
                <a:ea typeface="Yu Gothic UI"/>
              </a:rPr>
              <a:t>14</a:t>
            </a:r>
            <a:r>
              <a:rPr lang="ja-JP" altLang="en-US" sz="1300" b="1">
                <a:solidFill>
                  <a:srgbClr val="1D2125"/>
                </a:solidFill>
                <a:latin typeface="Yu Gothic UI"/>
                <a:ea typeface="Yu Gothic UI"/>
              </a:rPr>
              <a:t>日は保守的な値です。顧客が数時間を求めるなら構成と費用が変わるため、この</a:t>
            </a:r>
            <a:r>
              <a:rPr lang="en-US" altLang="ja-JP" sz="1300" b="1">
                <a:solidFill>
                  <a:srgbClr val="1D2125"/>
                </a:solidFill>
                <a:latin typeface="Yu Gothic UI"/>
                <a:ea typeface="Yu Gothic UI"/>
              </a:rPr>
              <a:t>1</a:t>
            </a:r>
            <a:r>
              <a:rPr lang="ja-JP" altLang="en-US" sz="1300" b="1">
                <a:solidFill>
                  <a:srgbClr val="1D2125"/>
                </a:solidFill>
                <a:latin typeface="Yu Gothic UI"/>
                <a:ea typeface="Yu Gothic UI"/>
              </a:rPr>
              <a:t>問が構成判断に直結します。逆に</a:t>
            </a:r>
            <a:r>
              <a:rPr lang="en-US" altLang="ja-JP" sz="1300" b="1">
                <a:solidFill>
                  <a:srgbClr val="1D2125"/>
                </a:solidFill>
                <a:latin typeface="Yu Gothic UI"/>
                <a:ea typeface="Yu Gothic UI"/>
              </a:rPr>
              <a:t>14</a:t>
            </a:r>
            <a:r>
              <a:rPr lang="ja-JP" altLang="en-US" sz="1300" b="1">
                <a:solidFill>
                  <a:srgbClr val="1D2125"/>
                </a:solidFill>
                <a:latin typeface="Yu Gothic UI"/>
                <a:ea typeface="Yu Gothic UI"/>
              </a:rPr>
              <a:t>日で合意できれば、この領域は即座に確定します。</a:t>
            </a:r>
          </a:p>
        </p:txBody>
      </p:sp>
      <p:sp>
        <p:nvSpPr>
          <p:cNvPr id="60" name="正方形/長方形 59">
            <a:extLst>
              <a:ext uri="{FF2B5EF4-FFF2-40B4-BE49-F238E27FC236}">
                <a16:creationId xmlns:a16="http://schemas.microsoft.com/office/drawing/2014/main" id="{6935F360-31E9-9845-BBDB-B77884981599}"/>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9E5B6E13-76E9-A34E-A2F3-EE33E59F930A}"/>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62" name="テキスト ボックス 61">
            <a:extLst>
              <a:ext uri="{FF2B5EF4-FFF2-40B4-BE49-F238E27FC236}">
                <a16:creationId xmlns:a16="http://schemas.microsoft.com/office/drawing/2014/main" id="{8A6143D5-BB3F-3841-A722-FDE4ABE28F81}"/>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63" name="テキスト ボックス 62">
            <a:extLst>
              <a:ext uri="{FF2B5EF4-FFF2-40B4-BE49-F238E27FC236}">
                <a16:creationId xmlns:a16="http://schemas.microsoft.com/office/drawing/2014/main" id="{1E4DD28B-FC67-044C-A2AC-2CC17FFBB871}"/>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64" name="テキスト ボックス 63">
            <a:extLst>
              <a:ext uri="{FF2B5EF4-FFF2-40B4-BE49-F238E27FC236}">
                <a16:creationId xmlns:a16="http://schemas.microsoft.com/office/drawing/2014/main" id="{A4D46AF0-FB05-2B41-BFBE-5B69AA975077}"/>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65" name="正方形/長方形 64">
            <a:extLst>
              <a:ext uri="{FF2B5EF4-FFF2-40B4-BE49-F238E27FC236}">
                <a16:creationId xmlns:a16="http://schemas.microsoft.com/office/drawing/2014/main" id="{A8D94DDB-5CC7-D743-97C2-D6F6CFC9CE97}"/>
              </a:ext>
            </a:extLst>
          </p:cNvPr>
          <p:cNvSpPr/>
          <p:nvPr/>
        </p:nvSpPr>
        <p:spPr>
          <a:xfrm>
            <a:off x="812800" y="2806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62B06780-9AFA-EE42-AE9F-AC020EC03540}"/>
              </a:ext>
            </a:extLst>
          </p:cNvPr>
          <p:cNvSpPr txBox="1"/>
          <p:nvPr/>
        </p:nvSpPr>
        <p:spPr>
          <a:xfrm>
            <a:off x="914400" y="2057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稼働率の目標</a:t>
            </a:r>
          </a:p>
        </p:txBody>
      </p:sp>
      <p:sp>
        <p:nvSpPr>
          <p:cNvPr id="67" name="テキスト ボックス 66">
            <a:extLst>
              <a:ext uri="{FF2B5EF4-FFF2-40B4-BE49-F238E27FC236}">
                <a16:creationId xmlns:a16="http://schemas.microsoft.com/office/drawing/2014/main" id="{902E4EF7-A7F6-A64B-ABA4-50F39099FAAD}"/>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8" name="テキスト ボックス 67">
            <a:extLst>
              <a:ext uri="{FF2B5EF4-FFF2-40B4-BE49-F238E27FC236}">
                <a16:creationId xmlns:a16="http://schemas.microsoft.com/office/drawing/2014/main" id="{E14F7B22-EDFB-6444-9CA7-AE6E0C8D3CA0}"/>
              </a:ext>
            </a:extLst>
          </p:cNvPr>
          <p:cNvSpPr txBox="1"/>
          <p:nvPr/>
        </p:nvSpPr>
        <p:spPr>
          <a:xfrm>
            <a:off x="3683000" y="2044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年間で許容する停止時間の水準</a:t>
            </a:r>
          </a:p>
        </p:txBody>
      </p:sp>
      <p:sp>
        <p:nvSpPr>
          <p:cNvPr id="69" name="テキスト ボックス 68">
            <a:extLst>
              <a:ext uri="{FF2B5EF4-FFF2-40B4-BE49-F238E27FC236}">
                <a16:creationId xmlns:a16="http://schemas.microsoft.com/office/drawing/2014/main" id="{909A80B7-40F5-7242-86FE-9E9C2C228853}"/>
              </a:ext>
            </a:extLst>
          </p:cNvPr>
          <p:cNvSpPr txBox="1"/>
          <p:nvPr/>
        </p:nvSpPr>
        <p:spPr>
          <a:xfrm>
            <a:off x="6858000" y="2044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暫定で</a:t>
            </a:r>
            <a:r>
              <a:rPr lang="en-US" altLang="ja-JP" sz="1100">
                <a:solidFill>
                  <a:srgbClr val="1D2125"/>
                </a:solidFill>
                <a:latin typeface="Yu Gothic UI"/>
                <a:ea typeface="Yu Gothic UI"/>
              </a:rPr>
              <a:t>99.9%</a:t>
            </a:r>
            <a:r>
              <a:rPr lang="ja-JP" altLang="en-US" sz="1100">
                <a:solidFill>
                  <a:srgbClr val="1D2125"/>
                </a:solidFill>
                <a:latin typeface="Yu Gothic UI"/>
                <a:ea typeface="Yu Gothic UI"/>
              </a:rPr>
              <a:t>として設計しており、採用製品自体が</a:t>
            </a:r>
            <a:r>
              <a:rPr lang="en-US" altLang="ja-JP" sz="1100">
                <a:solidFill>
                  <a:srgbClr val="1D2125"/>
                </a:solidFill>
                <a:latin typeface="Yu Gothic UI"/>
                <a:ea typeface="Yu Gothic UI"/>
              </a:rPr>
              <a:t>99.95%</a:t>
            </a:r>
            <a:r>
              <a:rPr lang="ja-JP" altLang="en-US" sz="1100">
                <a:solidFill>
                  <a:srgbClr val="1D2125"/>
                </a:solidFill>
                <a:latin typeface="Yu Gothic UI"/>
                <a:ea typeface="Yu Gothic UI"/>
              </a:rPr>
              <a:t>の保証を持つため余裕があります。顧客の要求水準を確認し、必要なら構成を見直します。</a:t>
            </a:r>
          </a:p>
        </p:txBody>
      </p:sp>
      <p:sp>
        <p:nvSpPr>
          <p:cNvPr id="70" name="正方形/長方形 69">
            <a:extLst>
              <a:ext uri="{FF2B5EF4-FFF2-40B4-BE49-F238E27FC236}">
                <a16:creationId xmlns:a16="http://schemas.microsoft.com/office/drawing/2014/main" id="{37094F26-D33D-4B4F-B016-AF096AA8D70E}"/>
              </a:ext>
            </a:extLst>
          </p:cNvPr>
          <p:cNvSpPr/>
          <p:nvPr/>
        </p:nvSpPr>
        <p:spPr>
          <a:xfrm>
            <a:off x="812800" y="2819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DC921F39-5075-6A4B-BD37-7566A5745C66}"/>
              </a:ext>
            </a:extLst>
          </p:cNvPr>
          <p:cNvSpPr/>
          <p:nvPr/>
        </p:nvSpPr>
        <p:spPr>
          <a:xfrm>
            <a:off x="812800" y="3695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B4D3C3FC-7DF1-2948-A52B-EC14D3542902}"/>
              </a:ext>
            </a:extLst>
          </p:cNvPr>
          <p:cNvSpPr txBox="1"/>
          <p:nvPr/>
        </p:nvSpPr>
        <p:spPr>
          <a:xfrm>
            <a:off x="914400" y="2946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冗長構成</a:t>
            </a:r>
          </a:p>
        </p:txBody>
      </p:sp>
      <p:sp>
        <p:nvSpPr>
          <p:cNvPr id="73" name="テキスト ボックス 72">
            <a:extLst>
              <a:ext uri="{FF2B5EF4-FFF2-40B4-BE49-F238E27FC236}">
                <a16:creationId xmlns:a16="http://schemas.microsoft.com/office/drawing/2014/main" id="{A536D263-9E1F-3C4D-9C64-C30C0A93E7D0}"/>
              </a:ext>
            </a:extLst>
          </p:cNvPr>
          <p:cNvSpPr txBox="1"/>
          <p:nvPr/>
        </p:nvSpPr>
        <p:spPr>
          <a:xfrm>
            <a:off x="2946400" y="2959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74" name="テキスト ボックス 73">
            <a:extLst>
              <a:ext uri="{FF2B5EF4-FFF2-40B4-BE49-F238E27FC236}">
                <a16:creationId xmlns:a16="http://schemas.microsoft.com/office/drawing/2014/main" id="{38F4A946-D57A-FC42-8952-EE5018B9100C}"/>
              </a:ext>
            </a:extLst>
          </p:cNvPr>
          <p:cNvSpPr txBox="1"/>
          <p:nvPr/>
        </p:nvSpPr>
        <p:spPr>
          <a:xfrm>
            <a:off x="3683000" y="2933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障害時に止まらないための多重化</a:t>
            </a:r>
          </a:p>
        </p:txBody>
      </p:sp>
      <p:sp>
        <p:nvSpPr>
          <p:cNvPr id="75" name="テキスト ボックス 74">
            <a:extLst>
              <a:ext uri="{FF2B5EF4-FFF2-40B4-BE49-F238E27FC236}">
                <a16:creationId xmlns:a16="http://schemas.microsoft.com/office/drawing/2014/main" id="{F21D77C0-19D9-E145-81BD-E03842E895A7}"/>
              </a:ext>
            </a:extLst>
          </p:cNvPr>
          <p:cNvSpPr txBox="1"/>
          <p:nvPr/>
        </p:nvSpPr>
        <p:spPr>
          <a:xfrm>
            <a:off x="6858000" y="2933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複数データセンターへの分散、単一障害点の排除、無停止での更新を必須要件として確定し、障害時の自動復旧は検証済みです。無停止更新の手順を自社で確定させます。</a:t>
            </a:r>
          </a:p>
        </p:txBody>
      </p:sp>
      <p:sp>
        <p:nvSpPr>
          <p:cNvPr id="76" name="正方形/長方形 75">
            <a:extLst>
              <a:ext uri="{FF2B5EF4-FFF2-40B4-BE49-F238E27FC236}">
                <a16:creationId xmlns:a16="http://schemas.microsoft.com/office/drawing/2014/main" id="{DDBE811E-D6E5-5C4B-A927-F7A8EC018365}"/>
              </a:ext>
            </a:extLst>
          </p:cNvPr>
          <p:cNvSpPr/>
          <p:nvPr/>
        </p:nvSpPr>
        <p:spPr>
          <a:xfrm>
            <a:off x="812800" y="458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7" name="テキスト ボックス 76">
            <a:extLst>
              <a:ext uri="{FF2B5EF4-FFF2-40B4-BE49-F238E27FC236}">
                <a16:creationId xmlns:a16="http://schemas.microsoft.com/office/drawing/2014/main" id="{388AFE91-AD01-9A4E-BB8C-63F365348750}"/>
              </a:ext>
            </a:extLst>
          </p:cNvPr>
          <p:cNvSpPr txBox="1"/>
          <p:nvPr/>
        </p:nvSpPr>
        <p:spPr>
          <a:xfrm>
            <a:off x="914400" y="3835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復旧の目標時間</a:t>
            </a:r>
          </a:p>
        </p:txBody>
      </p:sp>
      <p:sp>
        <p:nvSpPr>
          <p:cNvPr id="78" name="テキスト ボックス 77">
            <a:extLst>
              <a:ext uri="{FF2B5EF4-FFF2-40B4-BE49-F238E27FC236}">
                <a16:creationId xmlns:a16="http://schemas.microsoft.com/office/drawing/2014/main" id="{B53EBF61-A197-334B-B475-E95E5C304CAB}"/>
              </a:ext>
            </a:extLst>
          </p:cNvPr>
          <p:cNvSpPr txBox="1"/>
          <p:nvPr/>
        </p:nvSpPr>
        <p:spPr>
          <a:xfrm>
            <a:off x="2946400" y="3848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9" name="テキスト ボックス 78">
            <a:extLst>
              <a:ext uri="{FF2B5EF4-FFF2-40B4-BE49-F238E27FC236}">
                <a16:creationId xmlns:a16="http://schemas.microsoft.com/office/drawing/2014/main" id="{C31DE3B9-7DF8-6B4E-AD8A-3C748B7ABB28}"/>
              </a:ext>
            </a:extLst>
          </p:cNvPr>
          <p:cNvSpPr txBox="1"/>
          <p:nvPr/>
        </p:nvSpPr>
        <p:spPr>
          <a:xfrm>
            <a:off x="3683000" y="3822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災害やデータ破壊のあと何日で戻すか</a:t>
            </a:r>
          </a:p>
        </p:txBody>
      </p:sp>
      <p:sp>
        <p:nvSpPr>
          <p:cNvPr id="80" name="テキスト ボックス 79">
            <a:extLst>
              <a:ext uri="{FF2B5EF4-FFF2-40B4-BE49-F238E27FC236}">
                <a16:creationId xmlns:a16="http://schemas.microsoft.com/office/drawing/2014/main" id="{60AEDF31-659B-5A42-B001-96EB03034578}"/>
              </a:ext>
            </a:extLst>
          </p:cNvPr>
          <p:cNvSpPr txBox="1"/>
          <p:nvPr/>
        </p:nvSpPr>
        <p:spPr>
          <a:xfrm>
            <a:off x="6858000" y="3822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手動復旧・約</a:t>
            </a:r>
            <a:r>
              <a:rPr lang="en-US" altLang="ja-JP" sz="1100">
                <a:solidFill>
                  <a:srgbClr val="1D2125"/>
                </a:solidFill>
                <a:latin typeface="Yu Gothic UI"/>
                <a:ea typeface="Yu Gothic UI"/>
              </a:rPr>
              <a:t>14</a:t>
            </a:r>
            <a:r>
              <a:rPr lang="ja-JP" altLang="en-US" sz="1100">
                <a:solidFill>
                  <a:srgbClr val="1D2125"/>
                </a:solidFill>
                <a:latin typeface="Yu Gothic UI"/>
                <a:ea typeface="Yu Gothic UI"/>
              </a:rPr>
              <a:t>日を前提に凍結し、広域災害とデータ破壊の</a:t>
            </a:r>
            <a:r>
              <a:rPr lang="en-US" altLang="ja-JP" sz="1100">
                <a:solidFill>
                  <a:srgbClr val="1D2125"/>
                </a:solidFill>
                <a:latin typeface="Yu Gothic UI"/>
                <a:ea typeface="Yu Gothic UI"/>
              </a:rPr>
              <a:t>2</a:t>
            </a:r>
            <a:r>
              <a:rPr lang="ja-JP" altLang="en-US" sz="1100">
                <a:solidFill>
                  <a:srgbClr val="1D2125"/>
                </a:solidFill>
                <a:latin typeface="Yu Gothic UI"/>
                <a:ea typeface="Yu Gothic UI"/>
              </a:rPr>
              <a:t>シナリオで方式を確定済みです。顧客の許容時間を確認し、短縮が必要なら構成と費用が変わります。</a:t>
            </a:r>
          </a:p>
        </p:txBody>
      </p:sp>
      <p:sp>
        <p:nvSpPr>
          <p:cNvPr id="81" name="正方形/長方形 80">
            <a:extLst>
              <a:ext uri="{FF2B5EF4-FFF2-40B4-BE49-F238E27FC236}">
                <a16:creationId xmlns:a16="http://schemas.microsoft.com/office/drawing/2014/main" id="{0331BFCF-66BA-1144-BFBE-B4D62F70BABB}"/>
              </a:ext>
            </a:extLst>
          </p:cNvPr>
          <p:cNvSpPr/>
          <p:nvPr/>
        </p:nvSpPr>
        <p:spPr>
          <a:xfrm>
            <a:off x="812800" y="4597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2" name="正方形/長方形 81">
            <a:extLst>
              <a:ext uri="{FF2B5EF4-FFF2-40B4-BE49-F238E27FC236}">
                <a16:creationId xmlns:a16="http://schemas.microsoft.com/office/drawing/2014/main" id="{7D599D79-4F4C-A245-8C10-33892C424F2F}"/>
              </a:ext>
            </a:extLst>
          </p:cNvPr>
          <p:cNvSpPr/>
          <p:nvPr/>
        </p:nvSpPr>
        <p:spPr>
          <a:xfrm>
            <a:off x="812800" y="5473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3" name="テキスト ボックス 82">
            <a:extLst>
              <a:ext uri="{FF2B5EF4-FFF2-40B4-BE49-F238E27FC236}">
                <a16:creationId xmlns:a16="http://schemas.microsoft.com/office/drawing/2014/main" id="{2AA12D39-2A43-BC42-A7AC-E4D6DA588E60}"/>
              </a:ext>
            </a:extLst>
          </p:cNvPr>
          <p:cNvSpPr txBox="1"/>
          <p:nvPr/>
        </p:nvSpPr>
        <p:spPr>
          <a:xfrm>
            <a:off x="914400" y="4724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バックアップと巻き戻し</a:t>
            </a:r>
          </a:p>
        </p:txBody>
      </p:sp>
      <p:sp>
        <p:nvSpPr>
          <p:cNvPr id="84" name="テキスト ボックス 83">
            <a:extLst>
              <a:ext uri="{FF2B5EF4-FFF2-40B4-BE49-F238E27FC236}">
                <a16:creationId xmlns:a16="http://schemas.microsoft.com/office/drawing/2014/main" id="{63CE8A24-71AF-5D43-995A-734015B73A49}"/>
              </a:ext>
            </a:extLst>
          </p:cNvPr>
          <p:cNvSpPr txBox="1"/>
          <p:nvPr/>
        </p:nvSpPr>
        <p:spPr>
          <a:xfrm>
            <a:off x="2946400" y="4737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85" name="テキスト ボックス 84">
            <a:extLst>
              <a:ext uri="{FF2B5EF4-FFF2-40B4-BE49-F238E27FC236}">
                <a16:creationId xmlns:a16="http://schemas.microsoft.com/office/drawing/2014/main" id="{1DA872E7-CAA0-1D43-B19F-6BCFD91CF876}"/>
              </a:ext>
            </a:extLst>
          </p:cNvPr>
          <p:cNvSpPr txBox="1"/>
          <p:nvPr/>
        </p:nvSpPr>
        <p:spPr>
          <a:xfrm>
            <a:off x="3683000" y="4711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保存期間、巻き戻しの粒度、別地域への複製</a:t>
            </a:r>
          </a:p>
        </p:txBody>
      </p:sp>
      <p:sp>
        <p:nvSpPr>
          <p:cNvPr id="86" name="テキスト ボックス 85">
            <a:extLst>
              <a:ext uri="{FF2B5EF4-FFF2-40B4-BE49-F238E27FC236}">
                <a16:creationId xmlns:a16="http://schemas.microsoft.com/office/drawing/2014/main" id="{BF2CDD01-36B4-4F4B-B3E7-0353C57A06E8}"/>
              </a:ext>
            </a:extLst>
          </p:cNvPr>
          <p:cNvSpPr txBox="1"/>
          <p:nvPr/>
        </p:nvSpPr>
        <p:spPr>
          <a:xfrm>
            <a:off x="6858000" y="4711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保存</a:t>
            </a:r>
            <a:r>
              <a:rPr lang="en-US" altLang="ja-JP" sz="1100">
                <a:solidFill>
                  <a:srgbClr val="1D2125"/>
                </a:solidFill>
                <a:latin typeface="Yu Gothic UI"/>
                <a:ea typeface="Yu Gothic UI"/>
              </a:rPr>
              <a:t>30</a:t>
            </a:r>
            <a:r>
              <a:rPr lang="ja-JP" altLang="en-US" sz="1100">
                <a:solidFill>
                  <a:srgbClr val="1D2125"/>
                </a:solidFill>
                <a:latin typeface="Yu Gothic UI"/>
                <a:ea typeface="Yu Gothic UI"/>
              </a:rPr>
              <a:t>日、</a:t>
            </a:r>
            <a:r>
              <a:rPr lang="en-US" altLang="ja-JP" sz="1100">
                <a:solidFill>
                  <a:srgbClr val="1D2125"/>
                </a:solidFill>
                <a:latin typeface="Yu Gothic UI"/>
                <a:ea typeface="Yu Gothic UI"/>
              </a:rPr>
              <a:t>5</a:t>
            </a:r>
            <a:r>
              <a:rPr lang="ja-JP" altLang="en-US" sz="1100">
                <a:solidFill>
                  <a:srgbClr val="1D2125"/>
                </a:solidFill>
                <a:latin typeface="Yu Gothic UI"/>
                <a:ea typeface="Yu Gothic UI"/>
              </a:rPr>
              <a:t>分粒度の巻き戻し、別地域への複製を必須で確定し、改変できない保管方式も採用しました。値の承認をいただければ確定します。</a:t>
            </a:r>
          </a:p>
        </p:txBody>
      </p:sp>
      <p:sp>
        <p:nvSpPr>
          <p:cNvPr id="87" name="正方形/長方形 86">
            <a:extLst>
              <a:ext uri="{FF2B5EF4-FFF2-40B4-BE49-F238E27FC236}">
                <a16:creationId xmlns:a16="http://schemas.microsoft.com/office/drawing/2014/main" id="{043529DE-A2B1-A64E-8497-C36C938783E6}"/>
              </a:ext>
            </a:extLst>
          </p:cNvPr>
          <p:cNvSpPr/>
          <p:nvPr/>
        </p:nvSpPr>
        <p:spPr>
          <a:xfrm>
            <a:off x="812800" y="636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8" name="テキスト ボックス 87">
            <a:extLst>
              <a:ext uri="{FF2B5EF4-FFF2-40B4-BE49-F238E27FC236}">
                <a16:creationId xmlns:a16="http://schemas.microsoft.com/office/drawing/2014/main" id="{5637B9C0-E6EC-9545-8A1C-21412C24637F}"/>
              </a:ext>
            </a:extLst>
          </p:cNvPr>
          <p:cNvSpPr txBox="1"/>
          <p:nvPr/>
        </p:nvSpPr>
        <p:spPr>
          <a:xfrm>
            <a:off x="914400" y="5613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復旧訓練と切替時の継続性</a:t>
            </a:r>
          </a:p>
        </p:txBody>
      </p:sp>
      <p:sp>
        <p:nvSpPr>
          <p:cNvPr id="89" name="テキスト ボックス 88">
            <a:extLst>
              <a:ext uri="{FF2B5EF4-FFF2-40B4-BE49-F238E27FC236}">
                <a16:creationId xmlns:a16="http://schemas.microsoft.com/office/drawing/2014/main" id="{91550E08-4956-014E-A88F-5C8DB433FF29}"/>
              </a:ext>
            </a:extLst>
          </p:cNvPr>
          <p:cNvSpPr txBox="1"/>
          <p:nvPr/>
        </p:nvSpPr>
        <p:spPr>
          <a:xfrm>
            <a:off x="2946400" y="5626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90" name="テキスト ボックス 89">
            <a:extLst>
              <a:ext uri="{FF2B5EF4-FFF2-40B4-BE49-F238E27FC236}">
                <a16:creationId xmlns:a16="http://schemas.microsoft.com/office/drawing/2014/main" id="{EA34B971-8B44-234D-9D27-6A44EDE88C05}"/>
              </a:ext>
            </a:extLst>
          </p:cNvPr>
          <p:cNvSpPr txBox="1"/>
          <p:nvPr/>
        </p:nvSpPr>
        <p:spPr>
          <a:xfrm>
            <a:off x="3683000" y="5600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訓練の頻度と、切替時のログイン状態の維持</a:t>
            </a:r>
          </a:p>
        </p:txBody>
      </p:sp>
      <p:sp>
        <p:nvSpPr>
          <p:cNvPr id="91" name="テキスト ボックス 90">
            <a:extLst>
              <a:ext uri="{FF2B5EF4-FFF2-40B4-BE49-F238E27FC236}">
                <a16:creationId xmlns:a16="http://schemas.microsoft.com/office/drawing/2014/main" id="{6BD7615F-9193-F54E-934A-94D12DFDA379}"/>
              </a:ext>
            </a:extLst>
          </p:cNvPr>
          <p:cNvSpPr txBox="1"/>
          <p:nvPr/>
        </p:nvSpPr>
        <p:spPr>
          <a:xfrm>
            <a:off x="6858000" y="5600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訓練の実施は必要と整理し、切替時のログイン維持は努力目標としています。訓練の頻度を顧客と合意します。</a:t>
            </a:r>
          </a:p>
        </p:txBody>
      </p:sp>
    </p:spTree>
    <p:extLst>
      <p:ext uri="{BB962C8B-B14F-4D97-AF65-F5344CB8AC3E}">
        <p14:creationId xmlns:p14="http://schemas.microsoft.com/office/powerpoint/2010/main" val="805440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B543E144-FA53-5D43-9178-88FC36208AF0}"/>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D0664760-301E-3E48-AD9D-8C22208F90B8}"/>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⑩</a:t>
            </a:r>
            <a:r>
              <a:rPr lang="ja-JP" altLang="en-US" sz="2400" b="1">
                <a:solidFill>
                  <a:srgbClr val="1F3864"/>
                </a:solidFill>
                <a:latin typeface="Yu Gothic UI"/>
                <a:ea typeface="Yu Gothic UI"/>
              </a:rPr>
              <a:t>　性能と拡張性</a:t>
            </a:r>
          </a:p>
        </p:txBody>
      </p:sp>
      <p:sp>
        <p:nvSpPr>
          <p:cNvPr id="56" name="テキスト ボックス 55">
            <a:extLst>
              <a:ext uri="{FF2B5EF4-FFF2-40B4-BE49-F238E27FC236}">
                <a16:creationId xmlns:a16="http://schemas.microsoft.com/office/drawing/2014/main" id="{6C77114E-EF8F-864C-A8CB-938C12C8FBC9}"/>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15 </a:t>
            </a:r>
            <a:r>
              <a:rPr lang="ja-JP" altLang="en-US" sz="1400" b="1">
                <a:solidFill>
                  <a:srgbClr val="5A6472"/>
                </a:solidFill>
                <a:latin typeface="Yu Gothic UI"/>
                <a:ea typeface="Yu Gothic UI"/>
              </a:rPr>
              <a:t>件</a:t>
            </a:r>
          </a:p>
        </p:txBody>
      </p:sp>
      <p:sp>
        <p:nvSpPr>
          <p:cNvPr id="57" name="テキスト ボックス 56">
            <a:extLst>
              <a:ext uri="{FF2B5EF4-FFF2-40B4-BE49-F238E27FC236}">
                <a16:creationId xmlns:a16="http://schemas.microsoft.com/office/drawing/2014/main" id="{6C247F3A-2CE1-7E45-9323-A3CDD6D3EADA}"/>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どれだけ速く応答し、どこまで増えても耐えられるか。</a:t>
            </a:r>
          </a:p>
        </p:txBody>
      </p:sp>
      <p:sp>
        <p:nvSpPr>
          <p:cNvPr id="58" name="正方形/長方形 57">
            <a:extLst>
              <a:ext uri="{FF2B5EF4-FFF2-40B4-BE49-F238E27FC236}">
                <a16:creationId xmlns:a16="http://schemas.microsoft.com/office/drawing/2014/main" id="{5F87DDC6-2A6E-784D-B8AF-F7C15ADF62CC}"/>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A922CA59-9B8B-E440-B91D-BB950BF5CE0A}"/>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規模の回答を待たずに進められているのは、上限値を仮定として先に凍結したからです。ただし実測を伴わない仮定であるため、負荷試験は詳細設計より前に必要です。</a:t>
            </a:r>
          </a:p>
        </p:txBody>
      </p:sp>
      <p:sp>
        <p:nvSpPr>
          <p:cNvPr id="60" name="正方形/長方形 59">
            <a:extLst>
              <a:ext uri="{FF2B5EF4-FFF2-40B4-BE49-F238E27FC236}">
                <a16:creationId xmlns:a16="http://schemas.microsoft.com/office/drawing/2014/main" id="{6F90D86A-8264-2443-94E8-A6252C1300CD}"/>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BC4F33F3-F3BA-F74A-9B6A-FCA5042123F3}"/>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62" name="テキスト ボックス 61">
            <a:extLst>
              <a:ext uri="{FF2B5EF4-FFF2-40B4-BE49-F238E27FC236}">
                <a16:creationId xmlns:a16="http://schemas.microsoft.com/office/drawing/2014/main" id="{146A2790-3D3B-504C-AD99-43239264EAE7}"/>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63" name="テキスト ボックス 62">
            <a:extLst>
              <a:ext uri="{FF2B5EF4-FFF2-40B4-BE49-F238E27FC236}">
                <a16:creationId xmlns:a16="http://schemas.microsoft.com/office/drawing/2014/main" id="{5318CACD-22F2-6F4E-BF7E-6985645664AE}"/>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64" name="テキスト ボックス 63">
            <a:extLst>
              <a:ext uri="{FF2B5EF4-FFF2-40B4-BE49-F238E27FC236}">
                <a16:creationId xmlns:a16="http://schemas.microsoft.com/office/drawing/2014/main" id="{C3F253EA-72E6-F54F-8323-9F6C9CEA8CFD}"/>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65" name="正方形/長方形 64">
            <a:extLst>
              <a:ext uri="{FF2B5EF4-FFF2-40B4-BE49-F238E27FC236}">
                <a16:creationId xmlns:a16="http://schemas.microsoft.com/office/drawing/2014/main" id="{D4C2591B-2B06-104C-A4C2-714201C48595}"/>
              </a:ext>
            </a:extLst>
          </p:cNvPr>
          <p:cNvSpPr/>
          <p:nvPr/>
        </p:nvSpPr>
        <p:spPr>
          <a:xfrm>
            <a:off x="812800" y="2806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8B8B9C24-504A-964D-B39C-B38F11E2629F}"/>
              </a:ext>
            </a:extLst>
          </p:cNvPr>
          <p:cNvSpPr txBox="1"/>
          <p:nvPr/>
        </p:nvSpPr>
        <p:spPr>
          <a:xfrm>
            <a:off x="914400" y="2057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応答時間</a:t>
            </a:r>
          </a:p>
        </p:txBody>
      </p:sp>
      <p:sp>
        <p:nvSpPr>
          <p:cNvPr id="67" name="テキスト ボックス 66">
            <a:extLst>
              <a:ext uri="{FF2B5EF4-FFF2-40B4-BE49-F238E27FC236}">
                <a16:creationId xmlns:a16="http://schemas.microsoft.com/office/drawing/2014/main" id="{E5D160E8-CD9E-1A48-9BCB-8396BF4F950D}"/>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68" name="テキスト ボックス 67">
            <a:extLst>
              <a:ext uri="{FF2B5EF4-FFF2-40B4-BE49-F238E27FC236}">
                <a16:creationId xmlns:a16="http://schemas.microsoft.com/office/drawing/2014/main" id="{AF6D37A0-4F2F-D643-8A27-5E8C043AC564}"/>
              </a:ext>
            </a:extLst>
          </p:cNvPr>
          <p:cNvSpPr txBox="1"/>
          <p:nvPr/>
        </p:nvSpPr>
        <p:spPr>
          <a:xfrm>
            <a:off x="3683000" y="2044700"/>
            <a:ext cx="2971800" cy="6858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a:t>
            </a:r>
            <a:r>
              <a:rPr lang="ja-JP" altLang="en-US" sz="1100">
                <a:solidFill>
                  <a:srgbClr val="5A6472"/>
                </a:solidFill>
                <a:latin typeface="Yu Gothic UI"/>
                <a:ea typeface="Yu Gothic UI"/>
              </a:rPr>
              <a:t>回の認証にかかる時間の目標値</a:t>
            </a:r>
          </a:p>
        </p:txBody>
      </p:sp>
      <p:sp>
        <p:nvSpPr>
          <p:cNvPr id="69" name="テキスト ボックス 68">
            <a:extLst>
              <a:ext uri="{FF2B5EF4-FFF2-40B4-BE49-F238E27FC236}">
                <a16:creationId xmlns:a16="http://schemas.microsoft.com/office/drawing/2014/main" id="{B2689642-C056-7241-BCCA-10E6A779EA83}"/>
              </a:ext>
            </a:extLst>
          </p:cNvPr>
          <p:cNvSpPr txBox="1"/>
          <p:nvPr/>
        </p:nvSpPr>
        <p:spPr>
          <a:xfrm>
            <a:off x="6858000" y="2044700"/>
            <a:ext cx="4419600" cy="685800"/>
          </a:xfrm>
          <a:prstGeom prst="rect">
            <a:avLst/>
          </a:prstGeom>
          <a:noFill/>
        </p:spPr>
        <p:txBody>
          <a:bodyPr vertOverflow="overflow" vert="horz" wrap="square" rtlCol="0" anchor="t" anchorCtr="0">
            <a:noAutofit/>
          </a:bodyPr>
          <a:lstStyle/>
          <a:p>
            <a:pPr algn="l"/>
            <a:r>
              <a:rPr lang="en-US" altLang="ja-JP" sz="1100">
                <a:solidFill>
                  <a:srgbClr val="1D2125"/>
                </a:solidFill>
                <a:latin typeface="Yu Gothic UI"/>
                <a:ea typeface="Yu Gothic UI"/>
              </a:rPr>
              <a:t>95%</a:t>
            </a:r>
            <a:r>
              <a:rPr lang="ja-JP" altLang="en-US" sz="1100">
                <a:solidFill>
                  <a:srgbClr val="1D2125"/>
                </a:solidFill>
                <a:latin typeface="Yu Gothic UI"/>
                <a:ea typeface="Yu Gothic UI"/>
              </a:rPr>
              <a:t>が</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秒未満、</a:t>
            </a:r>
            <a:r>
              <a:rPr lang="en-US" altLang="ja-JP" sz="1100">
                <a:solidFill>
                  <a:srgbClr val="1D2125"/>
                </a:solidFill>
                <a:latin typeface="Yu Gothic UI"/>
                <a:ea typeface="Yu Gothic UI"/>
              </a:rPr>
              <a:t>99%</a:t>
            </a:r>
            <a:r>
              <a:rPr lang="ja-JP" altLang="en-US" sz="1100">
                <a:solidFill>
                  <a:srgbClr val="1D2125"/>
                </a:solidFill>
                <a:latin typeface="Yu Gothic UI"/>
                <a:ea typeface="Yu Gothic UI"/>
              </a:rPr>
              <a:t>が</a:t>
            </a:r>
            <a:r>
              <a:rPr lang="en-US" altLang="ja-JP" sz="1100">
                <a:solidFill>
                  <a:srgbClr val="1D2125"/>
                </a:solidFill>
                <a:latin typeface="Yu Gothic UI"/>
                <a:ea typeface="Yu Gothic UI"/>
              </a:rPr>
              <a:t>2</a:t>
            </a:r>
            <a:r>
              <a:rPr lang="ja-JP" altLang="en-US" sz="1100">
                <a:solidFill>
                  <a:srgbClr val="1D2125"/>
                </a:solidFill>
                <a:latin typeface="Yu Gothic UI"/>
                <a:ea typeface="Yu Gothic UI"/>
              </a:rPr>
              <a:t>秒未満を目標とし、試験環境では数百ミリ秒を観測済みです。本番相当の負荷で再実測します。</a:t>
            </a:r>
          </a:p>
        </p:txBody>
      </p:sp>
      <p:sp>
        <p:nvSpPr>
          <p:cNvPr id="70" name="正方形/長方形 69">
            <a:extLst>
              <a:ext uri="{FF2B5EF4-FFF2-40B4-BE49-F238E27FC236}">
                <a16:creationId xmlns:a16="http://schemas.microsoft.com/office/drawing/2014/main" id="{8BCC73F6-066F-844F-9D1F-7C1C4059AA4C}"/>
              </a:ext>
            </a:extLst>
          </p:cNvPr>
          <p:cNvSpPr/>
          <p:nvPr/>
        </p:nvSpPr>
        <p:spPr>
          <a:xfrm>
            <a:off x="812800" y="2819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3524BBF8-CA26-BF43-8958-920F52258167}"/>
              </a:ext>
            </a:extLst>
          </p:cNvPr>
          <p:cNvSpPr/>
          <p:nvPr/>
        </p:nvSpPr>
        <p:spPr>
          <a:xfrm>
            <a:off x="812800" y="3695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24FEDD41-A4B3-184A-995D-48C9AAE3F021}"/>
              </a:ext>
            </a:extLst>
          </p:cNvPr>
          <p:cNvSpPr txBox="1"/>
          <p:nvPr/>
        </p:nvSpPr>
        <p:spPr>
          <a:xfrm>
            <a:off x="914400" y="2946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処理能力とピーク耐性</a:t>
            </a:r>
          </a:p>
        </p:txBody>
      </p:sp>
      <p:sp>
        <p:nvSpPr>
          <p:cNvPr id="73" name="テキスト ボックス 72">
            <a:extLst>
              <a:ext uri="{FF2B5EF4-FFF2-40B4-BE49-F238E27FC236}">
                <a16:creationId xmlns:a16="http://schemas.microsoft.com/office/drawing/2014/main" id="{D5399844-3FA8-3249-B264-EACF64352F79}"/>
              </a:ext>
            </a:extLst>
          </p:cNvPr>
          <p:cNvSpPr txBox="1"/>
          <p:nvPr/>
        </p:nvSpPr>
        <p:spPr>
          <a:xfrm>
            <a:off x="2946400" y="2959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4" name="テキスト ボックス 73">
            <a:extLst>
              <a:ext uri="{FF2B5EF4-FFF2-40B4-BE49-F238E27FC236}">
                <a16:creationId xmlns:a16="http://schemas.microsoft.com/office/drawing/2014/main" id="{4AA67C71-26F0-2041-A052-8C0BD1F2AEAC}"/>
              </a:ext>
            </a:extLst>
          </p:cNvPr>
          <p:cNvSpPr txBox="1"/>
          <p:nvPr/>
        </p:nvSpPr>
        <p:spPr>
          <a:xfrm>
            <a:off x="3683000" y="2933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毎秒あたりの処理量と、始業時の集中への耐性</a:t>
            </a:r>
          </a:p>
        </p:txBody>
      </p:sp>
      <p:sp>
        <p:nvSpPr>
          <p:cNvPr id="75" name="テキスト ボックス 74">
            <a:extLst>
              <a:ext uri="{FF2B5EF4-FFF2-40B4-BE49-F238E27FC236}">
                <a16:creationId xmlns:a16="http://schemas.microsoft.com/office/drawing/2014/main" id="{13225B22-FD36-AA46-B121-157881E4AD60}"/>
              </a:ext>
            </a:extLst>
          </p:cNvPr>
          <p:cNvSpPr txBox="1"/>
          <p:nvPr/>
        </p:nvSpPr>
        <p:spPr>
          <a:xfrm>
            <a:off x="6858000" y="2933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負荷に応じて自動で増減する仕組みは必須で確定していますが、必要処理量は未確定です。想定規模と始業時の集中度を顧客に確認します。</a:t>
            </a:r>
          </a:p>
        </p:txBody>
      </p:sp>
      <p:sp>
        <p:nvSpPr>
          <p:cNvPr id="76" name="正方形/長方形 75">
            <a:extLst>
              <a:ext uri="{FF2B5EF4-FFF2-40B4-BE49-F238E27FC236}">
                <a16:creationId xmlns:a16="http://schemas.microsoft.com/office/drawing/2014/main" id="{07EA6424-D936-1145-B59A-E93FF2BD042D}"/>
              </a:ext>
            </a:extLst>
          </p:cNvPr>
          <p:cNvSpPr/>
          <p:nvPr/>
        </p:nvSpPr>
        <p:spPr>
          <a:xfrm>
            <a:off x="812800" y="458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7" name="テキスト ボックス 76">
            <a:extLst>
              <a:ext uri="{FF2B5EF4-FFF2-40B4-BE49-F238E27FC236}">
                <a16:creationId xmlns:a16="http://schemas.microsoft.com/office/drawing/2014/main" id="{9CF51B13-08D4-6A44-85C0-C819E93D3FDB}"/>
              </a:ext>
            </a:extLst>
          </p:cNvPr>
          <p:cNvSpPr txBox="1"/>
          <p:nvPr/>
        </p:nvSpPr>
        <p:spPr>
          <a:xfrm>
            <a:off x="914400" y="3835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利用者規模の上限</a:t>
            </a:r>
          </a:p>
        </p:txBody>
      </p:sp>
      <p:sp>
        <p:nvSpPr>
          <p:cNvPr id="78" name="テキスト ボックス 77">
            <a:extLst>
              <a:ext uri="{FF2B5EF4-FFF2-40B4-BE49-F238E27FC236}">
                <a16:creationId xmlns:a16="http://schemas.microsoft.com/office/drawing/2014/main" id="{4CB29F2A-CED5-D548-968F-12C7B63BAD3D}"/>
              </a:ext>
            </a:extLst>
          </p:cNvPr>
          <p:cNvSpPr txBox="1"/>
          <p:nvPr/>
        </p:nvSpPr>
        <p:spPr>
          <a:xfrm>
            <a:off x="2946400" y="3848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79" name="テキスト ボックス 78">
            <a:extLst>
              <a:ext uri="{FF2B5EF4-FFF2-40B4-BE49-F238E27FC236}">
                <a16:creationId xmlns:a16="http://schemas.microsoft.com/office/drawing/2014/main" id="{83CD6BB1-5671-0A49-A747-055864868377}"/>
              </a:ext>
            </a:extLst>
          </p:cNvPr>
          <p:cNvSpPr txBox="1"/>
          <p:nvPr/>
        </p:nvSpPr>
        <p:spPr>
          <a:xfrm>
            <a:off x="3683000" y="3822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対象となる利用者数と、その成長見込み</a:t>
            </a:r>
          </a:p>
        </p:txBody>
      </p:sp>
      <p:sp>
        <p:nvSpPr>
          <p:cNvPr id="80" name="テキスト ボックス 79">
            <a:extLst>
              <a:ext uri="{FF2B5EF4-FFF2-40B4-BE49-F238E27FC236}">
                <a16:creationId xmlns:a16="http://schemas.microsoft.com/office/drawing/2014/main" id="{ED88E6F7-0724-F443-9AD6-3D73FCB404B8}"/>
              </a:ext>
            </a:extLst>
          </p:cNvPr>
          <p:cNvSpPr txBox="1"/>
          <p:nvPr/>
        </p:nvSpPr>
        <p:spPr>
          <a:xfrm>
            <a:off x="6858000" y="3822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上限</a:t>
            </a:r>
            <a:r>
              <a:rPr lang="en-US" altLang="ja-JP" sz="1100">
                <a:solidFill>
                  <a:srgbClr val="1D2125"/>
                </a:solidFill>
                <a:latin typeface="Yu Gothic UI"/>
                <a:ea typeface="Yu Gothic UI"/>
              </a:rPr>
              <a:t>1,000</a:t>
            </a:r>
            <a:r>
              <a:rPr lang="ja-JP" altLang="en-US" sz="1100">
                <a:solidFill>
                  <a:srgbClr val="1D2125"/>
                </a:solidFill>
                <a:latin typeface="Yu Gothic UI"/>
                <a:ea typeface="Yu Gothic UI"/>
              </a:rPr>
              <a:t>万人として設計を凍結済みです。</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年後・</a:t>
            </a:r>
            <a:r>
              <a:rPr lang="en-US" altLang="ja-JP" sz="1100">
                <a:solidFill>
                  <a:srgbClr val="1D2125"/>
                </a:solidFill>
                <a:latin typeface="Yu Gothic UI"/>
                <a:ea typeface="Yu Gothic UI"/>
              </a:rPr>
              <a:t>3</a:t>
            </a:r>
            <a:r>
              <a:rPr lang="ja-JP" altLang="en-US" sz="1100">
                <a:solidFill>
                  <a:srgbClr val="1D2125"/>
                </a:solidFill>
                <a:latin typeface="Yu Gothic UI"/>
                <a:ea typeface="Yu Gothic UI"/>
              </a:rPr>
              <a:t>年後の想定値を顧客に確認します。</a:t>
            </a:r>
          </a:p>
        </p:txBody>
      </p:sp>
      <p:sp>
        <p:nvSpPr>
          <p:cNvPr id="81" name="正方形/長方形 80">
            <a:extLst>
              <a:ext uri="{FF2B5EF4-FFF2-40B4-BE49-F238E27FC236}">
                <a16:creationId xmlns:a16="http://schemas.microsoft.com/office/drawing/2014/main" id="{090E83B7-BE0A-6A41-AB62-A82587F3B085}"/>
              </a:ext>
            </a:extLst>
          </p:cNvPr>
          <p:cNvSpPr/>
          <p:nvPr/>
        </p:nvSpPr>
        <p:spPr>
          <a:xfrm>
            <a:off x="812800" y="4597400"/>
            <a:ext cx="10566400" cy="889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2" name="正方形/長方形 81">
            <a:extLst>
              <a:ext uri="{FF2B5EF4-FFF2-40B4-BE49-F238E27FC236}">
                <a16:creationId xmlns:a16="http://schemas.microsoft.com/office/drawing/2014/main" id="{06F412BE-DC80-E347-9DE2-933DA98B32F6}"/>
              </a:ext>
            </a:extLst>
          </p:cNvPr>
          <p:cNvSpPr/>
          <p:nvPr/>
        </p:nvSpPr>
        <p:spPr>
          <a:xfrm>
            <a:off x="812800" y="5473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3" name="テキスト ボックス 82">
            <a:extLst>
              <a:ext uri="{FF2B5EF4-FFF2-40B4-BE49-F238E27FC236}">
                <a16:creationId xmlns:a16="http://schemas.microsoft.com/office/drawing/2014/main" id="{DBAC78F2-D35D-7547-90FE-678766F1F90F}"/>
              </a:ext>
            </a:extLst>
          </p:cNvPr>
          <p:cNvSpPr txBox="1"/>
          <p:nvPr/>
        </p:nvSpPr>
        <p:spPr>
          <a:xfrm>
            <a:off x="914400" y="4724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接続顧客数の拡張</a:t>
            </a:r>
          </a:p>
        </p:txBody>
      </p:sp>
      <p:sp>
        <p:nvSpPr>
          <p:cNvPr id="84" name="テキスト ボックス 83">
            <a:extLst>
              <a:ext uri="{FF2B5EF4-FFF2-40B4-BE49-F238E27FC236}">
                <a16:creationId xmlns:a16="http://schemas.microsoft.com/office/drawing/2014/main" id="{55E9A09A-1D39-AD4B-91A4-F53A348ED1D5}"/>
              </a:ext>
            </a:extLst>
          </p:cNvPr>
          <p:cNvSpPr txBox="1"/>
          <p:nvPr/>
        </p:nvSpPr>
        <p:spPr>
          <a:xfrm>
            <a:off x="2946400" y="4737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85" name="テキスト ボックス 84">
            <a:extLst>
              <a:ext uri="{FF2B5EF4-FFF2-40B4-BE49-F238E27FC236}">
                <a16:creationId xmlns:a16="http://schemas.microsoft.com/office/drawing/2014/main" id="{E7DB5892-FAA4-B343-974C-2030805A342F}"/>
              </a:ext>
            </a:extLst>
          </p:cNvPr>
          <p:cNvSpPr txBox="1"/>
          <p:nvPr/>
        </p:nvSpPr>
        <p:spPr>
          <a:xfrm>
            <a:off x="3683000" y="4711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接続する顧客</a:t>
            </a:r>
            <a:r>
              <a:rPr lang="en" altLang="ja-JP" sz="1100">
                <a:solidFill>
                  <a:srgbClr val="5A6472"/>
                </a:solidFill>
                <a:latin typeface="Yu Gothic UI"/>
                <a:ea typeface="Yu Gothic UI"/>
              </a:rPr>
              <a:t>ID</a:t>
            </a:r>
            <a:r>
              <a:rPr lang="ja-JP" altLang="en-US" sz="1100">
                <a:solidFill>
                  <a:srgbClr val="5A6472"/>
                </a:solidFill>
                <a:latin typeface="Yu Gothic UI"/>
                <a:ea typeface="Yu Gothic UI"/>
              </a:rPr>
              <a:t>基盤の数と、追加の速さ</a:t>
            </a:r>
          </a:p>
        </p:txBody>
      </p:sp>
      <p:sp>
        <p:nvSpPr>
          <p:cNvPr id="86" name="テキスト ボックス 85">
            <a:extLst>
              <a:ext uri="{FF2B5EF4-FFF2-40B4-BE49-F238E27FC236}">
                <a16:creationId xmlns:a16="http://schemas.microsoft.com/office/drawing/2014/main" id="{59F82225-4496-C844-A647-5080574F0E58}"/>
              </a:ext>
            </a:extLst>
          </p:cNvPr>
          <p:cNvSpPr txBox="1"/>
          <p:nvPr/>
        </p:nvSpPr>
        <p:spPr>
          <a:xfrm>
            <a:off x="6858000" y="4711700"/>
            <a:ext cx="4419600" cy="685800"/>
          </a:xfrm>
          <a:prstGeom prst="rect">
            <a:avLst/>
          </a:prstGeom>
          <a:noFill/>
        </p:spPr>
        <p:txBody>
          <a:bodyPr vertOverflow="overflow" vert="horz" wrap="square" rtlCol="0" anchor="t" anchorCtr="0">
            <a:noAutofit/>
          </a:bodyPr>
          <a:lstStyle/>
          <a:p>
            <a:pPr algn="l"/>
            <a:r>
              <a:rPr lang="en-US" altLang="ja-JP" sz="1100">
                <a:solidFill>
                  <a:srgbClr val="1D2125"/>
                </a:solidFill>
                <a:latin typeface="Yu Gothic UI"/>
                <a:ea typeface="Yu Gothic UI"/>
              </a:rPr>
              <a:t>1,000〜2,000</a:t>
            </a:r>
            <a:r>
              <a:rPr lang="ja-JP" altLang="en-US" sz="1100">
                <a:solidFill>
                  <a:srgbClr val="1D2125"/>
                </a:solidFill>
                <a:latin typeface="Yu Gothic UI"/>
                <a:ea typeface="Yu Gothic UI"/>
              </a:rPr>
              <a:t>社を仮定値として設計を確定し、追加は</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営業日以内を目標としています。負荷試験で仮定値の妥当性を実測します。</a:t>
            </a:r>
          </a:p>
        </p:txBody>
      </p:sp>
      <p:sp>
        <p:nvSpPr>
          <p:cNvPr id="87" name="正方形/長方形 86">
            <a:extLst>
              <a:ext uri="{FF2B5EF4-FFF2-40B4-BE49-F238E27FC236}">
                <a16:creationId xmlns:a16="http://schemas.microsoft.com/office/drawing/2014/main" id="{5A229315-0A64-F847-AF55-4AB3581B99E1}"/>
              </a:ext>
            </a:extLst>
          </p:cNvPr>
          <p:cNvSpPr/>
          <p:nvPr/>
        </p:nvSpPr>
        <p:spPr>
          <a:xfrm>
            <a:off x="812800" y="636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8" name="テキスト ボックス 87">
            <a:extLst>
              <a:ext uri="{FF2B5EF4-FFF2-40B4-BE49-F238E27FC236}">
                <a16:creationId xmlns:a16="http://schemas.microsoft.com/office/drawing/2014/main" id="{3439924E-6D79-C143-BCE9-547F797DEB42}"/>
              </a:ext>
            </a:extLst>
          </p:cNvPr>
          <p:cNvSpPr txBox="1"/>
          <p:nvPr/>
        </p:nvSpPr>
        <p:spPr>
          <a:xfrm>
            <a:off x="914400" y="5613400"/>
            <a:ext cx="1930400" cy="6604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複数地域への展開</a:t>
            </a:r>
          </a:p>
        </p:txBody>
      </p:sp>
      <p:sp>
        <p:nvSpPr>
          <p:cNvPr id="89" name="テキスト ボックス 88">
            <a:extLst>
              <a:ext uri="{FF2B5EF4-FFF2-40B4-BE49-F238E27FC236}">
                <a16:creationId xmlns:a16="http://schemas.microsoft.com/office/drawing/2014/main" id="{35BAA3FD-2B28-F943-8447-B790CAF31A3D}"/>
              </a:ext>
            </a:extLst>
          </p:cNvPr>
          <p:cNvSpPr txBox="1"/>
          <p:nvPr/>
        </p:nvSpPr>
        <p:spPr>
          <a:xfrm>
            <a:off x="2946400" y="5626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90" name="テキスト ボックス 89">
            <a:extLst>
              <a:ext uri="{FF2B5EF4-FFF2-40B4-BE49-F238E27FC236}">
                <a16:creationId xmlns:a16="http://schemas.microsoft.com/office/drawing/2014/main" id="{754A6A83-F38D-434B-8A02-3C226A29FD8F}"/>
              </a:ext>
            </a:extLst>
          </p:cNvPr>
          <p:cNvSpPr txBox="1"/>
          <p:nvPr/>
        </p:nvSpPr>
        <p:spPr>
          <a:xfrm>
            <a:off x="3683000" y="5600700"/>
            <a:ext cx="2971800" cy="6858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常時</a:t>
            </a:r>
            <a:r>
              <a:rPr lang="en-US" altLang="ja-JP" sz="1100">
                <a:solidFill>
                  <a:srgbClr val="5A6472"/>
                </a:solidFill>
                <a:latin typeface="Yu Gothic UI"/>
                <a:ea typeface="Yu Gothic UI"/>
              </a:rPr>
              <a:t>2</a:t>
            </a:r>
            <a:r>
              <a:rPr lang="ja-JP" altLang="en-US" sz="1100">
                <a:solidFill>
                  <a:srgbClr val="5A6472"/>
                </a:solidFill>
                <a:latin typeface="Yu Gothic UI"/>
                <a:ea typeface="Yu Gothic UI"/>
              </a:rPr>
              <a:t>地域で動かす必要があるか</a:t>
            </a:r>
          </a:p>
        </p:txBody>
      </p:sp>
      <p:sp>
        <p:nvSpPr>
          <p:cNvPr id="91" name="テキスト ボックス 90">
            <a:extLst>
              <a:ext uri="{FF2B5EF4-FFF2-40B4-BE49-F238E27FC236}">
                <a16:creationId xmlns:a16="http://schemas.microsoft.com/office/drawing/2014/main" id="{E043BF8F-6A99-7841-9015-2A19928CCF4A}"/>
              </a:ext>
            </a:extLst>
          </p:cNvPr>
          <p:cNvSpPr txBox="1"/>
          <p:nvPr/>
        </p:nvSpPr>
        <p:spPr>
          <a:xfrm>
            <a:off x="6858000" y="5600700"/>
            <a:ext cx="4419600" cy="685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東京を常用し大阪で復旧する構成で確定済みです。常時</a:t>
            </a:r>
            <a:r>
              <a:rPr lang="en-US" altLang="ja-JP" sz="1100">
                <a:solidFill>
                  <a:srgbClr val="1D2125"/>
                </a:solidFill>
                <a:latin typeface="Yu Gothic UI"/>
                <a:ea typeface="Yu Gothic UI"/>
              </a:rPr>
              <a:t>2</a:t>
            </a:r>
            <a:r>
              <a:rPr lang="ja-JP" altLang="en-US" sz="1100">
                <a:solidFill>
                  <a:srgbClr val="1D2125"/>
                </a:solidFill>
                <a:latin typeface="Yu Gothic UI"/>
                <a:ea typeface="Yu Gothic UI"/>
              </a:rPr>
              <a:t>地域稼働の必要性を顧客に確認します。</a:t>
            </a:r>
          </a:p>
        </p:txBody>
      </p:sp>
    </p:spTree>
    <p:extLst>
      <p:ext uri="{BB962C8B-B14F-4D97-AF65-F5344CB8AC3E}">
        <p14:creationId xmlns:p14="http://schemas.microsoft.com/office/powerpoint/2010/main" val="3892654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正方形/長方形 46">
            <a:extLst>
              <a:ext uri="{FF2B5EF4-FFF2-40B4-BE49-F238E27FC236}">
                <a16:creationId xmlns:a16="http://schemas.microsoft.com/office/drawing/2014/main" id="{052D15D6-8C98-4748-ADE9-2E092DB3F213}"/>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8" name="テキスト ボックス 47">
            <a:extLst>
              <a:ext uri="{FF2B5EF4-FFF2-40B4-BE49-F238E27FC236}">
                <a16:creationId xmlns:a16="http://schemas.microsoft.com/office/drawing/2014/main" id="{2332ADFD-0072-6F4E-ABAF-EECB5D3226A1}"/>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⑪</a:t>
            </a:r>
            <a:r>
              <a:rPr lang="ja-JP" altLang="en-US" sz="2400" b="1">
                <a:solidFill>
                  <a:srgbClr val="1F3864"/>
                </a:solidFill>
                <a:latin typeface="Yu Gothic UI"/>
                <a:ea typeface="Yu Gothic UI"/>
              </a:rPr>
              <a:t>　セキュリティ</a:t>
            </a:r>
          </a:p>
        </p:txBody>
      </p:sp>
      <p:sp>
        <p:nvSpPr>
          <p:cNvPr id="49" name="テキスト ボックス 48">
            <a:extLst>
              <a:ext uri="{FF2B5EF4-FFF2-40B4-BE49-F238E27FC236}">
                <a16:creationId xmlns:a16="http://schemas.microsoft.com/office/drawing/2014/main" id="{4EAE789F-D833-2542-8F9B-4939B651C491}"/>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21 </a:t>
            </a:r>
            <a:r>
              <a:rPr lang="ja-JP" altLang="en-US" sz="1400" b="1">
                <a:solidFill>
                  <a:srgbClr val="5A6472"/>
                </a:solidFill>
                <a:latin typeface="Yu Gothic UI"/>
                <a:ea typeface="Yu Gothic UI"/>
              </a:rPr>
              <a:t>件</a:t>
            </a:r>
          </a:p>
        </p:txBody>
      </p:sp>
      <p:sp>
        <p:nvSpPr>
          <p:cNvPr id="50" name="テキスト ボックス 49">
            <a:extLst>
              <a:ext uri="{FF2B5EF4-FFF2-40B4-BE49-F238E27FC236}">
                <a16:creationId xmlns:a16="http://schemas.microsoft.com/office/drawing/2014/main" id="{6C6AF0C6-0663-3345-8F07-259DCB88045C}"/>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最も要件数が多い領域。暗号化、資格情報の扱い、攻撃対策、境界の制御。</a:t>
            </a:r>
          </a:p>
        </p:txBody>
      </p:sp>
      <p:sp>
        <p:nvSpPr>
          <p:cNvPr id="51" name="正方形/長方形 50">
            <a:extLst>
              <a:ext uri="{FF2B5EF4-FFF2-40B4-BE49-F238E27FC236}">
                <a16:creationId xmlns:a16="http://schemas.microsoft.com/office/drawing/2014/main" id="{316655DE-4977-2F40-9622-69EB66E3FB55}"/>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2" name="テキスト ボックス 51">
            <a:extLst>
              <a:ext uri="{FF2B5EF4-FFF2-40B4-BE49-F238E27FC236}">
                <a16:creationId xmlns:a16="http://schemas.microsoft.com/office/drawing/2014/main" id="{426311B4-3A25-B046-AF1A-D470EAB3CA07}"/>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守りの中核は確定しています。注意すべきは境界部分で、本基盤の裁量では設定できません。ここは要求仕様として文書で提示し、回答を得る形にしなければ前に進みません。</a:t>
            </a:r>
          </a:p>
        </p:txBody>
      </p:sp>
      <p:sp>
        <p:nvSpPr>
          <p:cNvPr id="53" name="正方形/長方形 52">
            <a:extLst>
              <a:ext uri="{FF2B5EF4-FFF2-40B4-BE49-F238E27FC236}">
                <a16:creationId xmlns:a16="http://schemas.microsoft.com/office/drawing/2014/main" id="{F0536BCA-FDFD-1444-8B60-874A416BE83E}"/>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4" name="テキスト ボックス 53">
            <a:extLst>
              <a:ext uri="{FF2B5EF4-FFF2-40B4-BE49-F238E27FC236}">
                <a16:creationId xmlns:a16="http://schemas.microsoft.com/office/drawing/2014/main" id="{80E0CE9A-20D4-3D43-8BB6-37AC98CA30DC}"/>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55" name="テキスト ボックス 54">
            <a:extLst>
              <a:ext uri="{FF2B5EF4-FFF2-40B4-BE49-F238E27FC236}">
                <a16:creationId xmlns:a16="http://schemas.microsoft.com/office/drawing/2014/main" id="{CFB2EDEB-2E99-AE4B-A955-FC42C7D176BA}"/>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56" name="テキスト ボックス 55">
            <a:extLst>
              <a:ext uri="{FF2B5EF4-FFF2-40B4-BE49-F238E27FC236}">
                <a16:creationId xmlns:a16="http://schemas.microsoft.com/office/drawing/2014/main" id="{C8C5C7BF-AC4B-4C47-BA75-AD720DE92F72}"/>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57" name="テキスト ボックス 56">
            <a:extLst>
              <a:ext uri="{FF2B5EF4-FFF2-40B4-BE49-F238E27FC236}">
                <a16:creationId xmlns:a16="http://schemas.microsoft.com/office/drawing/2014/main" id="{E88647EF-B282-5D45-94C5-C8DD5DA5ED63}"/>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8" name="正方形/長方形 57">
            <a:extLst>
              <a:ext uri="{FF2B5EF4-FFF2-40B4-BE49-F238E27FC236}">
                <a16:creationId xmlns:a16="http://schemas.microsoft.com/office/drawing/2014/main" id="{AB0D4EC2-4243-334D-937A-8BCEF9DC19F8}"/>
              </a:ext>
            </a:extLst>
          </p:cNvPr>
          <p:cNvSpPr/>
          <p:nvPr/>
        </p:nvSpPr>
        <p:spPr>
          <a:xfrm>
            <a:off x="812800" y="303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9" name="テキスト ボックス 58">
            <a:extLst>
              <a:ext uri="{FF2B5EF4-FFF2-40B4-BE49-F238E27FC236}">
                <a16:creationId xmlns:a16="http://schemas.microsoft.com/office/drawing/2014/main" id="{E3DDCB27-030E-424E-AA7A-F4C6F1B17131}"/>
              </a:ext>
            </a:extLst>
          </p:cNvPr>
          <p:cNvSpPr txBox="1"/>
          <p:nvPr/>
        </p:nvSpPr>
        <p:spPr>
          <a:xfrm>
            <a:off x="914400" y="20574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暗号化と鍵の管理</a:t>
            </a:r>
          </a:p>
        </p:txBody>
      </p:sp>
      <p:sp>
        <p:nvSpPr>
          <p:cNvPr id="60" name="テキスト ボックス 59">
            <a:extLst>
              <a:ext uri="{FF2B5EF4-FFF2-40B4-BE49-F238E27FC236}">
                <a16:creationId xmlns:a16="http://schemas.microsoft.com/office/drawing/2014/main" id="{9E8C15BF-9F04-1049-A911-8C04647E3BEC}"/>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61" name="テキスト ボックス 60">
            <a:extLst>
              <a:ext uri="{FF2B5EF4-FFF2-40B4-BE49-F238E27FC236}">
                <a16:creationId xmlns:a16="http://schemas.microsoft.com/office/drawing/2014/main" id="{41EEC732-DD3F-C341-92FA-5E8E08486973}"/>
              </a:ext>
            </a:extLst>
          </p:cNvPr>
          <p:cNvSpPr txBox="1"/>
          <p:nvPr/>
        </p:nvSpPr>
        <p:spPr>
          <a:xfrm>
            <a:off x="3683000" y="20447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通信と保管の暗号化、パスワードと秘密情報の保管</a:t>
            </a:r>
          </a:p>
        </p:txBody>
      </p:sp>
      <p:sp>
        <p:nvSpPr>
          <p:cNvPr id="62" name="テキスト ボックス 61">
            <a:extLst>
              <a:ext uri="{FF2B5EF4-FFF2-40B4-BE49-F238E27FC236}">
                <a16:creationId xmlns:a16="http://schemas.microsoft.com/office/drawing/2014/main" id="{F8FF3336-7AB3-F449-B380-383155BE3E0B}"/>
              </a:ext>
            </a:extLst>
          </p:cNvPr>
          <p:cNvSpPr txBox="1"/>
          <p:nvPr/>
        </p:nvSpPr>
        <p:spPr>
          <a:xfrm>
            <a:off x="6858000" y="20447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いずれも要件として確定済みです。詳細設計に引き渡せます。</a:t>
            </a:r>
          </a:p>
        </p:txBody>
      </p:sp>
      <p:sp>
        <p:nvSpPr>
          <p:cNvPr id="63" name="正方形/長方形 62">
            <a:extLst>
              <a:ext uri="{FF2B5EF4-FFF2-40B4-BE49-F238E27FC236}">
                <a16:creationId xmlns:a16="http://schemas.microsoft.com/office/drawing/2014/main" id="{76577478-08C0-8E41-B8C6-A77C7ACB7FD2}"/>
              </a:ext>
            </a:extLst>
          </p:cNvPr>
          <p:cNvSpPr/>
          <p:nvPr/>
        </p:nvSpPr>
        <p:spPr>
          <a:xfrm>
            <a:off x="812800" y="30480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4" name="正方形/長方形 63">
            <a:extLst>
              <a:ext uri="{FF2B5EF4-FFF2-40B4-BE49-F238E27FC236}">
                <a16:creationId xmlns:a16="http://schemas.microsoft.com/office/drawing/2014/main" id="{5A4D7964-7072-BB43-9DCD-FAF766061F71}"/>
              </a:ext>
            </a:extLst>
          </p:cNvPr>
          <p:cNvSpPr/>
          <p:nvPr/>
        </p:nvSpPr>
        <p:spPr>
          <a:xfrm>
            <a:off x="812800" y="4152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5" name="テキスト ボックス 64">
            <a:extLst>
              <a:ext uri="{FF2B5EF4-FFF2-40B4-BE49-F238E27FC236}">
                <a16:creationId xmlns:a16="http://schemas.microsoft.com/office/drawing/2014/main" id="{5CB76B94-A232-C743-BD03-F865B14AB5E7}"/>
              </a:ext>
            </a:extLst>
          </p:cNvPr>
          <p:cNvSpPr txBox="1"/>
          <p:nvPr/>
        </p:nvSpPr>
        <p:spPr>
          <a:xfrm>
            <a:off x="914400" y="31750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資格情報の有効期間</a:t>
            </a:r>
          </a:p>
        </p:txBody>
      </p:sp>
      <p:sp>
        <p:nvSpPr>
          <p:cNvPr id="66" name="テキスト ボックス 65">
            <a:extLst>
              <a:ext uri="{FF2B5EF4-FFF2-40B4-BE49-F238E27FC236}">
                <a16:creationId xmlns:a16="http://schemas.microsoft.com/office/drawing/2014/main" id="{D007A0AE-9B0C-2B44-A81C-E31700B6A427}"/>
              </a:ext>
            </a:extLst>
          </p:cNvPr>
          <p:cNvSpPr txBox="1"/>
          <p:nvPr/>
        </p:nvSpPr>
        <p:spPr>
          <a:xfrm>
            <a:off x="2946400" y="31877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6</a:t>
            </a:r>
            <a:endParaRPr lang="ja-JP" altLang="en-US" sz="1200">
              <a:solidFill>
                <a:srgbClr val="5A6472"/>
              </a:solidFill>
              <a:latin typeface="Yu Gothic UI"/>
              <a:ea typeface="Yu Gothic UI"/>
            </a:endParaRPr>
          </a:p>
        </p:txBody>
      </p:sp>
      <p:sp>
        <p:nvSpPr>
          <p:cNvPr id="67" name="テキスト ボックス 66">
            <a:extLst>
              <a:ext uri="{FF2B5EF4-FFF2-40B4-BE49-F238E27FC236}">
                <a16:creationId xmlns:a16="http://schemas.microsoft.com/office/drawing/2014/main" id="{A3ED7C32-66BD-9D43-8595-526732C97926}"/>
              </a:ext>
            </a:extLst>
          </p:cNvPr>
          <p:cNvSpPr txBox="1"/>
          <p:nvPr/>
        </p:nvSpPr>
        <p:spPr>
          <a:xfrm>
            <a:off x="3683000" y="31623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発行する資格情報の寿命と、失効させる手段</a:t>
            </a:r>
          </a:p>
        </p:txBody>
      </p:sp>
      <p:sp>
        <p:nvSpPr>
          <p:cNvPr id="68" name="テキスト ボックス 67">
            <a:extLst>
              <a:ext uri="{FF2B5EF4-FFF2-40B4-BE49-F238E27FC236}">
                <a16:creationId xmlns:a16="http://schemas.microsoft.com/office/drawing/2014/main" id="{9A5103E5-F8A0-3640-A9DA-E013DEC56209}"/>
              </a:ext>
            </a:extLst>
          </p:cNvPr>
          <p:cNvSpPr txBox="1"/>
          <p:nvPr/>
        </p:nvSpPr>
        <p:spPr>
          <a:xfrm>
            <a:off x="6858000" y="31623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有効</a:t>
            </a:r>
            <a:r>
              <a:rPr lang="en-US" altLang="ja-JP" sz="1100">
                <a:solidFill>
                  <a:srgbClr val="1D2125"/>
                </a:solidFill>
                <a:latin typeface="Yu Gothic UI"/>
                <a:ea typeface="Yu Gothic UI"/>
              </a:rPr>
              <a:t>30</a:t>
            </a:r>
            <a:r>
              <a:rPr lang="ja-JP" altLang="en-US" sz="1100">
                <a:solidFill>
                  <a:srgbClr val="1D2125"/>
                </a:solidFill>
                <a:latin typeface="Yu Gothic UI"/>
                <a:ea typeface="Yu Gothic UI"/>
              </a:rPr>
              <a:t>分・更新用</a:t>
            </a:r>
            <a:r>
              <a:rPr lang="en-US" altLang="ja-JP" sz="1100">
                <a:solidFill>
                  <a:srgbClr val="1D2125"/>
                </a:solidFill>
                <a:latin typeface="Yu Gothic UI"/>
                <a:ea typeface="Yu Gothic UI"/>
              </a:rPr>
              <a:t>30</a:t>
            </a:r>
            <a:r>
              <a:rPr lang="ja-JP" altLang="en-US" sz="1100">
                <a:solidFill>
                  <a:srgbClr val="1D2125"/>
                </a:solidFill>
                <a:latin typeface="Yu Gothic UI"/>
                <a:ea typeface="Yu Gothic UI"/>
              </a:rPr>
              <a:t>日・絶対上限</a:t>
            </a:r>
            <a:r>
              <a:rPr lang="en-US" altLang="ja-JP" sz="1100">
                <a:solidFill>
                  <a:srgbClr val="1D2125"/>
                </a:solidFill>
                <a:latin typeface="Yu Gothic UI"/>
                <a:ea typeface="Yu Gothic UI"/>
              </a:rPr>
              <a:t>24</a:t>
            </a:r>
            <a:r>
              <a:rPr lang="ja-JP" altLang="en-US" sz="1100">
                <a:solidFill>
                  <a:srgbClr val="1D2125"/>
                </a:solidFill>
                <a:latin typeface="Yu Gothic UI"/>
                <a:ea typeface="Yu Gothic UI"/>
              </a:rPr>
              <a:t>時間・更新時の使い回し防止を有効化して確定し、失効させる機能も具備しています。値の最終承認をいただければ確定します。</a:t>
            </a:r>
          </a:p>
        </p:txBody>
      </p:sp>
      <p:sp>
        <p:nvSpPr>
          <p:cNvPr id="69" name="正方形/長方形 68">
            <a:extLst>
              <a:ext uri="{FF2B5EF4-FFF2-40B4-BE49-F238E27FC236}">
                <a16:creationId xmlns:a16="http://schemas.microsoft.com/office/drawing/2014/main" id="{35FB263B-88C6-3047-8DB4-80D31DF5A86E}"/>
              </a:ext>
            </a:extLst>
          </p:cNvPr>
          <p:cNvSpPr/>
          <p:nvPr/>
        </p:nvSpPr>
        <p:spPr>
          <a:xfrm>
            <a:off x="812800" y="5270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0" name="テキスト ボックス 69">
            <a:extLst>
              <a:ext uri="{FF2B5EF4-FFF2-40B4-BE49-F238E27FC236}">
                <a16:creationId xmlns:a16="http://schemas.microsoft.com/office/drawing/2014/main" id="{31A2B0FC-C695-6C46-95C3-72E718427923}"/>
              </a:ext>
            </a:extLst>
          </p:cNvPr>
          <p:cNvSpPr txBox="1"/>
          <p:nvPr/>
        </p:nvSpPr>
        <p:spPr>
          <a:xfrm>
            <a:off x="914400" y="42926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攻撃への対策</a:t>
            </a:r>
          </a:p>
        </p:txBody>
      </p:sp>
      <p:sp>
        <p:nvSpPr>
          <p:cNvPr id="71" name="テキスト ボックス 70">
            <a:extLst>
              <a:ext uri="{FF2B5EF4-FFF2-40B4-BE49-F238E27FC236}">
                <a16:creationId xmlns:a16="http://schemas.microsoft.com/office/drawing/2014/main" id="{A379851B-E7C6-0749-A450-A80DEC086BE9}"/>
              </a:ext>
            </a:extLst>
          </p:cNvPr>
          <p:cNvSpPr txBox="1"/>
          <p:nvPr/>
        </p:nvSpPr>
        <p:spPr>
          <a:xfrm>
            <a:off x="2946400" y="4305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72" name="テキスト ボックス 71">
            <a:extLst>
              <a:ext uri="{FF2B5EF4-FFF2-40B4-BE49-F238E27FC236}">
                <a16:creationId xmlns:a16="http://schemas.microsoft.com/office/drawing/2014/main" id="{AE879B96-39CC-7440-8D96-74F2082BB5BF}"/>
              </a:ext>
            </a:extLst>
          </p:cNvPr>
          <p:cNvSpPr txBox="1"/>
          <p:nvPr/>
        </p:nvSpPr>
        <p:spPr>
          <a:xfrm>
            <a:off x="3683000" y="42799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連続失敗、分散攻撃、脆弱性への備え</a:t>
            </a:r>
          </a:p>
        </p:txBody>
      </p:sp>
      <p:sp>
        <p:nvSpPr>
          <p:cNvPr id="73" name="テキスト ボックス 72">
            <a:extLst>
              <a:ext uri="{FF2B5EF4-FFF2-40B4-BE49-F238E27FC236}">
                <a16:creationId xmlns:a16="http://schemas.microsoft.com/office/drawing/2014/main" id="{AD795ECF-47A8-EC4A-9A32-991562D45A83}"/>
              </a:ext>
            </a:extLst>
          </p:cNvPr>
          <p:cNvSpPr txBox="1"/>
          <p:nvPr/>
        </p:nvSpPr>
        <p:spPr>
          <a:xfrm>
            <a:off x="6858000" y="42799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連続失敗時のロック、分散攻撃対策、脆弱性検査は確定済みです。流出済みパスワードの照合と侵入試験の実施は未確定で、頻度と要否を顧客に確認します。</a:t>
            </a:r>
          </a:p>
        </p:txBody>
      </p:sp>
      <p:sp>
        <p:nvSpPr>
          <p:cNvPr id="74" name="正方形/長方形 73">
            <a:extLst>
              <a:ext uri="{FF2B5EF4-FFF2-40B4-BE49-F238E27FC236}">
                <a16:creationId xmlns:a16="http://schemas.microsoft.com/office/drawing/2014/main" id="{5B800A0B-CF85-8242-BE96-5A317F26C16E}"/>
              </a:ext>
            </a:extLst>
          </p:cNvPr>
          <p:cNvSpPr/>
          <p:nvPr/>
        </p:nvSpPr>
        <p:spPr>
          <a:xfrm>
            <a:off x="812800" y="5283200"/>
            <a:ext cx="10566400" cy="1117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正方形/長方形 74">
            <a:extLst>
              <a:ext uri="{FF2B5EF4-FFF2-40B4-BE49-F238E27FC236}">
                <a16:creationId xmlns:a16="http://schemas.microsoft.com/office/drawing/2014/main" id="{CF0F8B71-2B50-6649-B403-03AC0A7FEC1B}"/>
              </a:ext>
            </a:extLst>
          </p:cNvPr>
          <p:cNvSpPr/>
          <p:nvPr/>
        </p:nvSpPr>
        <p:spPr>
          <a:xfrm>
            <a:off x="812800" y="6388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6" name="テキスト ボックス 75">
            <a:extLst>
              <a:ext uri="{FF2B5EF4-FFF2-40B4-BE49-F238E27FC236}">
                <a16:creationId xmlns:a16="http://schemas.microsoft.com/office/drawing/2014/main" id="{581B6443-274A-E245-8911-5BBF7CE38774}"/>
              </a:ext>
            </a:extLst>
          </p:cNvPr>
          <p:cNvSpPr txBox="1"/>
          <p:nvPr/>
        </p:nvSpPr>
        <p:spPr>
          <a:xfrm>
            <a:off x="914400" y="5410200"/>
            <a:ext cx="1930400" cy="8890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ネットワークの境界</a:t>
            </a:r>
          </a:p>
        </p:txBody>
      </p:sp>
      <p:sp>
        <p:nvSpPr>
          <p:cNvPr id="77" name="テキスト ボックス 76">
            <a:extLst>
              <a:ext uri="{FF2B5EF4-FFF2-40B4-BE49-F238E27FC236}">
                <a16:creationId xmlns:a16="http://schemas.microsoft.com/office/drawing/2014/main" id="{4D79B1DA-338B-3146-B3DA-7FA4A8BE70C1}"/>
              </a:ext>
            </a:extLst>
          </p:cNvPr>
          <p:cNvSpPr txBox="1"/>
          <p:nvPr/>
        </p:nvSpPr>
        <p:spPr>
          <a:xfrm>
            <a:off x="2946400" y="54229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5</a:t>
            </a:r>
            <a:endParaRPr lang="ja-JP" altLang="en-US" sz="1200">
              <a:solidFill>
                <a:srgbClr val="5A6472"/>
              </a:solidFill>
              <a:latin typeface="Yu Gothic UI"/>
              <a:ea typeface="Yu Gothic UI"/>
            </a:endParaRPr>
          </a:p>
        </p:txBody>
      </p:sp>
      <p:sp>
        <p:nvSpPr>
          <p:cNvPr id="78" name="テキスト ボックス 77">
            <a:extLst>
              <a:ext uri="{FF2B5EF4-FFF2-40B4-BE49-F238E27FC236}">
                <a16:creationId xmlns:a16="http://schemas.microsoft.com/office/drawing/2014/main" id="{9524B9DC-8FF6-7E46-A261-C92FB58CAD4F}"/>
              </a:ext>
            </a:extLst>
          </p:cNvPr>
          <p:cNvSpPr txBox="1"/>
          <p:nvPr/>
        </p:nvSpPr>
        <p:spPr>
          <a:xfrm>
            <a:off x="3683000" y="5397500"/>
            <a:ext cx="2971800" cy="9144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内部通信の閉域化と、出入口での防御</a:t>
            </a:r>
          </a:p>
        </p:txBody>
      </p:sp>
      <p:sp>
        <p:nvSpPr>
          <p:cNvPr id="79" name="テキスト ボックス 78">
            <a:extLst>
              <a:ext uri="{FF2B5EF4-FFF2-40B4-BE49-F238E27FC236}">
                <a16:creationId xmlns:a16="http://schemas.microsoft.com/office/drawing/2014/main" id="{CDB3ECC4-DA14-0A48-AAC6-51282A13753A}"/>
              </a:ext>
            </a:extLst>
          </p:cNvPr>
          <p:cNvSpPr txBox="1"/>
          <p:nvPr/>
        </p:nvSpPr>
        <p:spPr>
          <a:xfrm>
            <a:off x="6858000" y="5397500"/>
            <a:ext cx="4419600" cy="9144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内部通信の閉域化と公開部分の保護は確定・実施済みです。ただし出入口の防御設定は他組織の管理範囲のため、要求仕様として提示し回答を得る必要があります。</a:t>
            </a:r>
          </a:p>
        </p:txBody>
      </p:sp>
    </p:spTree>
    <p:extLst>
      <p:ext uri="{BB962C8B-B14F-4D97-AF65-F5344CB8AC3E}">
        <p14:creationId xmlns:p14="http://schemas.microsoft.com/office/powerpoint/2010/main" val="152955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1E2354D5-BEDF-6141-B6DF-6031933EC480}"/>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テキスト ボックス 39">
            <a:extLst>
              <a:ext uri="{FF2B5EF4-FFF2-40B4-BE49-F238E27FC236}">
                <a16:creationId xmlns:a16="http://schemas.microsoft.com/office/drawing/2014/main" id="{82B41ACD-051B-7449-A158-D605C33A7D88}"/>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⑫</a:t>
            </a:r>
            <a:r>
              <a:rPr lang="ja-JP" altLang="en-US" sz="2400" b="1">
                <a:solidFill>
                  <a:srgbClr val="1F3864"/>
                </a:solidFill>
                <a:latin typeface="Yu Gothic UI"/>
                <a:ea typeface="Yu Gothic UI"/>
              </a:rPr>
              <a:t>　運用と監視</a:t>
            </a:r>
          </a:p>
        </p:txBody>
      </p:sp>
      <p:sp>
        <p:nvSpPr>
          <p:cNvPr id="41" name="テキスト ボックス 40">
            <a:extLst>
              <a:ext uri="{FF2B5EF4-FFF2-40B4-BE49-F238E27FC236}">
                <a16:creationId xmlns:a16="http://schemas.microsoft.com/office/drawing/2014/main" id="{E761807C-2F80-F942-921A-977144486E3D}"/>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11 </a:t>
            </a:r>
            <a:r>
              <a:rPr lang="ja-JP" altLang="en-US" sz="1400" b="1">
                <a:solidFill>
                  <a:srgbClr val="5A6472"/>
                </a:solidFill>
                <a:latin typeface="Yu Gothic UI"/>
                <a:ea typeface="Yu Gothic UI"/>
              </a:rPr>
              <a:t>件</a:t>
            </a:r>
          </a:p>
        </p:txBody>
      </p:sp>
      <p:sp>
        <p:nvSpPr>
          <p:cNvPr id="42" name="テキスト ボックス 41">
            <a:extLst>
              <a:ext uri="{FF2B5EF4-FFF2-40B4-BE49-F238E27FC236}">
                <a16:creationId xmlns:a16="http://schemas.microsoft.com/office/drawing/2014/main" id="{F9F925AA-E7BB-674E-9BDA-D031267452C9}"/>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作った後どう見て、どう直し、誰が当番に立つか。</a:t>
            </a:r>
          </a:p>
        </p:txBody>
      </p:sp>
      <p:sp>
        <p:nvSpPr>
          <p:cNvPr id="43" name="正方形/長方形 42">
            <a:extLst>
              <a:ext uri="{FF2B5EF4-FFF2-40B4-BE49-F238E27FC236}">
                <a16:creationId xmlns:a16="http://schemas.microsoft.com/office/drawing/2014/main" id="{C7810A0E-7810-B048-B4ED-1DEBEA05EA70}"/>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BE6C75B5-5D4B-1B4E-B13B-C102D968BDBE}"/>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この領域の「確定ゼロ」は品質の問題ではありません。監視の方式も工数も出ていて、残っているのは体制と費用の合意という契約側の判断、そして手順書</a:t>
            </a:r>
            <a:r>
              <a:rPr lang="en-US" altLang="ja-JP" sz="1300" b="1">
                <a:solidFill>
                  <a:srgbClr val="1D2125"/>
                </a:solidFill>
                <a:latin typeface="Yu Gothic UI"/>
                <a:ea typeface="Yu Gothic UI"/>
              </a:rPr>
              <a:t>13</a:t>
            </a:r>
            <a:r>
              <a:rPr lang="ja-JP" altLang="en-US" sz="1300" b="1">
                <a:solidFill>
                  <a:srgbClr val="1D2125"/>
                </a:solidFill>
                <a:latin typeface="Yu Gothic UI"/>
                <a:ea typeface="Yu Gothic UI"/>
              </a:rPr>
              <a:t>冊の執筆作業だけです。</a:t>
            </a:r>
          </a:p>
        </p:txBody>
      </p:sp>
      <p:sp>
        <p:nvSpPr>
          <p:cNvPr id="45" name="正方形/長方形 44">
            <a:extLst>
              <a:ext uri="{FF2B5EF4-FFF2-40B4-BE49-F238E27FC236}">
                <a16:creationId xmlns:a16="http://schemas.microsoft.com/office/drawing/2014/main" id="{575D4C22-5AD8-1E44-AB4E-85EB0883D829}"/>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6" name="テキスト ボックス 45">
            <a:extLst>
              <a:ext uri="{FF2B5EF4-FFF2-40B4-BE49-F238E27FC236}">
                <a16:creationId xmlns:a16="http://schemas.microsoft.com/office/drawing/2014/main" id="{0BF3ADF5-683D-6B47-8FAE-1FD78840CE9A}"/>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47" name="テキスト ボックス 46">
            <a:extLst>
              <a:ext uri="{FF2B5EF4-FFF2-40B4-BE49-F238E27FC236}">
                <a16:creationId xmlns:a16="http://schemas.microsoft.com/office/drawing/2014/main" id="{2B875817-C9AA-7946-A717-C0F808605209}"/>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48" name="テキスト ボックス 47">
            <a:extLst>
              <a:ext uri="{FF2B5EF4-FFF2-40B4-BE49-F238E27FC236}">
                <a16:creationId xmlns:a16="http://schemas.microsoft.com/office/drawing/2014/main" id="{5DD6C121-E297-F741-88C1-677636DF312B}"/>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49" name="テキスト ボックス 48">
            <a:extLst>
              <a:ext uri="{FF2B5EF4-FFF2-40B4-BE49-F238E27FC236}">
                <a16:creationId xmlns:a16="http://schemas.microsoft.com/office/drawing/2014/main" id="{C9289346-2C3C-2149-9D9D-A51B5247EA69}"/>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0" name="正方形/長方形 49">
            <a:extLst>
              <a:ext uri="{FF2B5EF4-FFF2-40B4-BE49-F238E27FC236}">
                <a16:creationId xmlns:a16="http://schemas.microsoft.com/office/drawing/2014/main" id="{540E922E-DE3C-BF46-BB9C-1052C2B758D7}"/>
              </a:ext>
            </a:extLst>
          </p:cNvPr>
          <p:cNvSpPr/>
          <p:nvPr/>
        </p:nvSpPr>
        <p:spPr>
          <a:xfrm>
            <a:off x="812800" y="313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6CDBC546-D977-6B4F-93DB-038D3B6B3163}"/>
              </a:ext>
            </a:extLst>
          </p:cNvPr>
          <p:cNvSpPr txBox="1"/>
          <p:nvPr/>
        </p:nvSpPr>
        <p:spPr>
          <a:xfrm>
            <a:off x="914400" y="20574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監視とログ</a:t>
            </a:r>
          </a:p>
        </p:txBody>
      </p:sp>
      <p:sp>
        <p:nvSpPr>
          <p:cNvPr id="52" name="テキスト ボックス 51">
            <a:extLst>
              <a:ext uri="{FF2B5EF4-FFF2-40B4-BE49-F238E27FC236}">
                <a16:creationId xmlns:a16="http://schemas.microsoft.com/office/drawing/2014/main" id="{1AD71BBD-B46E-1B40-AEC4-45313D96B6F6}"/>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53" name="テキスト ボックス 52">
            <a:extLst>
              <a:ext uri="{FF2B5EF4-FFF2-40B4-BE49-F238E27FC236}">
                <a16:creationId xmlns:a16="http://schemas.microsoft.com/office/drawing/2014/main" id="{C7614A01-B06B-7E41-8368-7AC69EFBC7AF}"/>
              </a:ext>
            </a:extLst>
          </p:cNvPr>
          <p:cNvSpPr txBox="1"/>
          <p:nvPr/>
        </p:nvSpPr>
        <p:spPr>
          <a:xfrm>
            <a:off x="3683000" y="20447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監視項目、通知方法、ログの検索と保存</a:t>
            </a:r>
          </a:p>
        </p:txBody>
      </p:sp>
      <p:sp>
        <p:nvSpPr>
          <p:cNvPr id="54" name="テキスト ボックス 53">
            <a:extLst>
              <a:ext uri="{FF2B5EF4-FFF2-40B4-BE49-F238E27FC236}">
                <a16:creationId xmlns:a16="http://schemas.microsoft.com/office/drawing/2014/main" id="{F24F6741-AC1A-1543-B3C2-4C4EF477D9AD}"/>
              </a:ext>
            </a:extLst>
          </p:cNvPr>
          <p:cNvSpPr txBox="1"/>
          <p:nvPr/>
        </p:nvSpPr>
        <p:spPr>
          <a:xfrm>
            <a:off x="6858000" y="20447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監視項目・通知方法・ログ検索の方式は確定済みで、残るのは保存期間のみです。法令要件と連動するため顧客に確認します。</a:t>
            </a:r>
          </a:p>
        </p:txBody>
      </p:sp>
      <p:sp>
        <p:nvSpPr>
          <p:cNvPr id="55" name="正方形/長方形 54">
            <a:extLst>
              <a:ext uri="{FF2B5EF4-FFF2-40B4-BE49-F238E27FC236}">
                <a16:creationId xmlns:a16="http://schemas.microsoft.com/office/drawing/2014/main" id="{E725B7D2-AE5B-C642-ADBF-D58760787632}"/>
              </a:ext>
            </a:extLst>
          </p:cNvPr>
          <p:cNvSpPr/>
          <p:nvPr/>
        </p:nvSpPr>
        <p:spPr>
          <a:xfrm>
            <a:off x="812800" y="3149600"/>
            <a:ext cx="10566400" cy="1219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6" name="正方形/長方形 55">
            <a:extLst>
              <a:ext uri="{FF2B5EF4-FFF2-40B4-BE49-F238E27FC236}">
                <a16:creationId xmlns:a16="http://schemas.microsoft.com/office/drawing/2014/main" id="{F7F0E03E-2F7A-3646-BDDA-19D287DFA212}"/>
              </a:ext>
            </a:extLst>
          </p:cNvPr>
          <p:cNvSpPr/>
          <p:nvPr/>
        </p:nvSpPr>
        <p:spPr>
          <a:xfrm>
            <a:off x="812800" y="4356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7" name="テキスト ボックス 56">
            <a:extLst>
              <a:ext uri="{FF2B5EF4-FFF2-40B4-BE49-F238E27FC236}">
                <a16:creationId xmlns:a16="http://schemas.microsoft.com/office/drawing/2014/main" id="{5B3BE5D0-CE26-E241-91AB-62FF914C65A7}"/>
              </a:ext>
            </a:extLst>
          </p:cNvPr>
          <p:cNvSpPr txBox="1"/>
          <p:nvPr/>
        </p:nvSpPr>
        <p:spPr>
          <a:xfrm>
            <a:off x="914400" y="32766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更新とパッチ適用</a:t>
            </a:r>
          </a:p>
        </p:txBody>
      </p:sp>
      <p:sp>
        <p:nvSpPr>
          <p:cNvPr id="58" name="テキスト ボックス 57">
            <a:extLst>
              <a:ext uri="{FF2B5EF4-FFF2-40B4-BE49-F238E27FC236}">
                <a16:creationId xmlns:a16="http://schemas.microsoft.com/office/drawing/2014/main" id="{4D007FE1-C0B6-4B42-9ACE-915E21884FFB}"/>
              </a:ext>
            </a:extLst>
          </p:cNvPr>
          <p:cNvSpPr txBox="1"/>
          <p:nvPr/>
        </p:nvSpPr>
        <p:spPr>
          <a:xfrm>
            <a:off x="2946400" y="3289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4</a:t>
            </a:r>
            <a:endParaRPr lang="ja-JP" altLang="en-US" sz="1200">
              <a:solidFill>
                <a:srgbClr val="5A6472"/>
              </a:solidFill>
              <a:latin typeface="Yu Gothic UI"/>
              <a:ea typeface="Yu Gothic UI"/>
            </a:endParaRPr>
          </a:p>
        </p:txBody>
      </p:sp>
      <p:sp>
        <p:nvSpPr>
          <p:cNvPr id="59" name="テキスト ボックス 58">
            <a:extLst>
              <a:ext uri="{FF2B5EF4-FFF2-40B4-BE49-F238E27FC236}">
                <a16:creationId xmlns:a16="http://schemas.microsoft.com/office/drawing/2014/main" id="{A4ACB014-DFE4-9A4A-85DB-AAFACD552960}"/>
              </a:ext>
            </a:extLst>
          </p:cNvPr>
          <p:cNvSpPr txBox="1"/>
          <p:nvPr/>
        </p:nvSpPr>
        <p:spPr>
          <a:xfrm>
            <a:off x="3683000" y="32639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変更の手順と、緊急修正の適用期限</a:t>
            </a:r>
          </a:p>
        </p:txBody>
      </p:sp>
      <p:sp>
        <p:nvSpPr>
          <p:cNvPr id="60" name="テキスト ボックス 59">
            <a:extLst>
              <a:ext uri="{FF2B5EF4-FFF2-40B4-BE49-F238E27FC236}">
                <a16:creationId xmlns:a16="http://schemas.microsoft.com/office/drawing/2014/main" id="{75994288-52D5-0245-8A2E-71B52FACC45D}"/>
              </a:ext>
            </a:extLst>
          </p:cNvPr>
          <p:cNvSpPr txBox="1"/>
          <p:nvPr/>
        </p:nvSpPr>
        <p:spPr>
          <a:xfrm>
            <a:off x="6858000" y="32639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構成をコードで管理し、レビューを経て変更する方式で確定済みです。緊急修正の適用期限を顧客と合意します。</a:t>
            </a:r>
          </a:p>
        </p:txBody>
      </p:sp>
      <p:sp>
        <p:nvSpPr>
          <p:cNvPr id="61" name="正方形/長方形 60">
            <a:extLst>
              <a:ext uri="{FF2B5EF4-FFF2-40B4-BE49-F238E27FC236}">
                <a16:creationId xmlns:a16="http://schemas.microsoft.com/office/drawing/2014/main" id="{35F3E9A2-D8AA-C943-8C3B-DA6FBAAE3F3D}"/>
              </a:ext>
            </a:extLst>
          </p:cNvPr>
          <p:cNvSpPr/>
          <p:nvPr/>
        </p:nvSpPr>
        <p:spPr>
          <a:xfrm>
            <a:off x="812800" y="557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2" name="テキスト ボックス 61">
            <a:extLst>
              <a:ext uri="{FF2B5EF4-FFF2-40B4-BE49-F238E27FC236}">
                <a16:creationId xmlns:a16="http://schemas.microsoft.com/office/drawing/2014/main" id="{68A97043-B4C4-5E49-AB5F-CC472B802C9B}"/>
              </a:ext>
            </a:extLst>
          </p:cNvPr>
          <p:cNvSpPr txBox="1"/>
          <p:nvPr/>
        </p:nvSpPr>
        <p:spPr>
          <a:xfrm>
            <a:off x="914400" y="44958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運用体制と対応時間</a:t>
            </a:r>
          </a:p>
        </p:txBody>
      </p:sp>
      <p:sp>
        <p:nvSpPr>
          <p:cNvPr id="63" name="テキスト ボックス 62">
            <a:extLst>
              <a:ext uri="{FF2B5EF4-FFF2-40B4-BE49-F238E27FC236}">
                <a16:creationId xmlns:a16="http://schemas.microsoft.com/office/drawing/2014/main" id="{2ADC8897-201D-E84A-8A2B-C3F99BA4A985}"/>
              </a:ext>
            </a:extLst>
          </p:cNvPr>
          <p:cNvSpPr txBox="1"/>
          <p:nvPr/>
        </p:nvSpPr>
        <p:spPr>
          <a:xfrm>
            <a:off x="2946400" y="45085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64" name="テキスト ボックス 63">
            <a:extLst>
              <a:ext uri="{FF2B5EF4-FFF2-40B4-BE49-F238E27FC236}">
                <a16:creationId xmlns:a16="http://schemas.microsoft.com/office/drawing/2014/main" id="{6E80F1CD-526C-3049-8BF1-9A9D5B8B19F6}"/>
              </a:ext>
            </a:extLst>
          </p:cNvPr>
          <p:cNvSpPr txBox="1"/>
          <p:nvPr/>
        </p:nvSpPr>
        <p:spPr>
          <a:xfrm>
            <a:off x="3683000" y="44831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当番の時間帯と体制、必要となる工数</a:t>
            </a:r>
          </a:p>
        </p:txBody>
      </p:sp>
      <p:sp>
        <p:nvSpPr>
          <p:cNvPr id="65" name="テキスト ボックス 64">
            <a:extLst>
              <a:ext uri="{FF2B5EF4-FFF2-40B4-BE49-F238E27FC236}">
                <a16:creationId xmlns:a16="http://schemas.microsoft.com/office/drawing/2014/main" id="{99684AC3-C2EE-3840-9F8C-07578B9CB535}"/>
              </a:ext>
            </a:extLst>
          </p:cNvPr>
          <p:cNvSpPr txBox="1"/>
          <p:nvPr/>
        </p:nvSpPr>
        <p:spPr>
          <a:xfrm>
            <a:off x="6858000" y="44831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必要工数の見積りは算出済みです。</a:t>
            </a:r>
            <a:r>
              <a:rPr lang="en-US" altLang="ja-JP" sz="1100">
                <a:solidFill>
                  <a:srgbClr val="1D2125"/>
                </a:solidFill>
                <a:latin typeface="Yu Gothic UI"/>
                <a:ea typeface="Yu Gothic UI"/>
              </a:rPr>
              <a:t>24</a:t>
            </a:r>
            <a:r>
              <a:rPr lang="ja-JP" altLang="en-US" sz="1100">
                <a:solidFill>
                  <a:srgbClr val="1D2125"/>
                </a:solidFill>
                <a:latin typeface="Yu Gothic UI"/>
                <a:ea typeface="Yu Gothic UI"/>
              </a:rPr>
              <a:t>時間対応か営業時間内かで体制と費用が変わるため、対応時間帯と体制を顧客と合意します。</a:t>
            </a:r>
          </a:p>
        </p:txBody>
      </p:sp>
    </p:spTree>
    <p:extLst>
      <p:ext uri="{BB962C8B-B14F-4D97-AF65-F5344CB8AC3E}">
        <p14:creationId xmlns:p14="http://schemas.microsoft.com/office/powerpoint/2010/main" val="1469641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EB1900D9-6D62-BE46-B133-33A87D1F62FA}"/>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テキスト ボックス 39">
            <a:extLst>
              <a:ext uri="{FF2B5EF4-FFF2-40B4-BE49-F238E27FC236}">
                <a16:creationId xmlns:a16="http://schemas.microsoft.com/office/drawing/2014/main" id="{A7B82084-3CC0-EE42-AAFC-E982229361E9}"/>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⑬</a:t>
            </a:r>
            <a:r>
              <a:rPr lang="ja-JP" altLang="en-US" sz="2400" b="1">
                <a:solidFill>
                  <a:srgbClr val="1F3864"/>
                </a:solidFill>
                <a:latin typeface="Yu Gothic UI"/>
                <a:ea typeface="Yu Gothic UI"/>
              </a:rPr>
              <a:t>　法令とコンプライアンス</a:t>
            </a:r>
          </a:p>
        </p:txBody>
      </p:sp>
      <p:sp>
        <p:nvSpPr>
          <p:cNvPr id="41" name="テキスト ボックス 40">
            <a:extLst>
              <a:ext uri="{FF2B5EF4-FFF2-40B4-BE49-F238E27FC236}">
                <a16:creationId xmlns:a16="http://schemas.microsoft.com/office/drawing/2014/main" id="{B99A967C-0159-2C47-8EE5-2CF6F850321C}"/>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11 </a:t>
            </a:r>
            <a:r>
              <a:rPr lang="ja-JP" altLang="en-US" sz="1400" b="1">
                <a:solidFill>
                  <a:srgbClr val="5A6472"/>
                </a:solidFill>
                <a:latin typeface="Yu Gothic UI"/>
                <a:ea typeface="Yu Gothic UI"/>
              </a:rPr>
              <a:t>件</a:t>
            </a:r>
          </a:p>
        </p:txBody>
      </p:sp>
      <p:sp>
        <p:nvSpPr>
          <p:cNvPr id="42" name="テキスト ボックス 41">
            <a:extLst>
              <a:ext uri="{FF2B5EF4-FFF2-40B4-BE49-F238E27FC236}">
                <a16:creationId xmlns:a16="http://schemas.microsoft.com/office/drawing/2014/main" id="{CBD16F96-251F-1F43-BE2E-005B6168B6B8}"/>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どの法令に従い、どの認証を取り、監査にどう応えるか。</a:t>
            </a:r>
          </a:p>
        </p:txBody>
      </p:sp>
      <p:sp>
        <p:nvSpPr>
          <p:cNvPr id="43" name="正方形/長方形 42">
            <a:extLst>
              <a:ext uri="{FF2B5EF4-FFF2-40B4-BE49-F238E27FC236}">
                <a16:creationId xmlns:a16="http://schemas.microsoft.com/office/drawing/2014/main" id="{9D90569D-8841-0A4F-8A37-2D623E40D461}"/>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D291D996-6559-9E4E-BBE2-92704F95D7FC}"/>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この領域の外部待ちは、多くが提案書側や契約・別枠組みで扱う範囲です。技術設計の進行を止めているのは、データを国内に限定するかという</a:t>
            </a:r>
            <a:r>
              <a:rPr lang="en-US" altLang="ja-JP" sz="1300" b="1">
                <a:solidFill>
                  <a:srgbClr val="1D2125"/>
                </a:solidFill>
                <a:latin typeface="Yu Gothic UI"/>
                <a:ea typeface="Yu Gothic UI"/>
              </a:rPr>
              <a:t>1</a:t>
            </a:r>
            <a:r>
              <a:rPr lang="ja-JP" altLang="en-US" sz="1300" b="1">
                <a:solidFill>
                  <a:srgbClr val="1D2125"/>
                </a:solidFill>
                <a:latin typeface="Yu Gothic UI"/>
                <a:ea typeface="Yu Gothic UI"/>
              </a:rPr>
              <a:t>点のみで、これは構成に直結します。</a:t>
            </a:r>
          </a:p>
        </p:txBody>
      </p:sp>
      <p:sp>
        <p:nvSpPr>
          <p:cNvPr id="45" name="正方形/長方形 44">
            <a:extLst>
              <a:ext uri="{FF2B5EF4-FFF2-40B4-BE49-F238E27FC236}">
                <a16:creationId xmlns:a16="http://schemas.microsoft.com/office/drawing/2014/main" id="{6041127B-032E-494A-8A25-4116FAA34BC3}"/>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6" name="テキスト ボックス 45">
            <a:extLst>
              <a:ext uri="{FF2B5EF4-FFF2-40B4-BE49-F238E27FC236}">
                <a16:creationId xmlns:a16="http://schemas.microsoft.com/office/drawing/2014/main" id="{C8B5906D-2774-5848-A89D-9C0824AC41CE}"/>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47" name="テキスト ボックス 46">
            <a:extLst>
              <a:ext uri="{FF2B5EF4-FFF2-40B4-BE49-F238E27FC236}">
                <a16:creationId xmlns:a16="http://schemas.microsoft.com/office/drawing/2014/main" id="{962C0BBF-A490-B34F-9B1C-8E52DA6CF09E}"/>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48" name="テキスト ボックス 47">
            <a:extLst>
              <a:ext uri="{FF2B5EF4-FFF2-40B4-BE49-F238E27FC236}">
                <a16:creationId xmlns:a16="http://schemas.microsoft.com/office/drawing/2014/main" id="{0C8EF945-FDD0-0F4C-A348-7A81377E5D52}"/>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49" name="テキスト ボックス 48">
            <a:extLst>
              <a:ext uri="{FF2B5EF4-FFF2-40B4-BE49-F238E27FC236}">
                <a16:creationId xmlns:a16="http://schemas.microsoft.com/office/drawing/2014/main" id="{1040F23A-2E66-FD46-88FD-F81888F0762C}"/>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0" name="正方形/長方形 49">
            <a:extLst>
              <a:ext uri="{FF2B5EF4-FFF2-40B4-BE49-F238E27FC236}">
                <a16:creationId xmlns:a16="http://schemas.microsoft.com/office/drawing/2014/main" id="{E0235B74-8037-4142-A880-ABB0BA3456E8}"/>
              </a:ext>
            </a:extLst>
          </p:cNvPr>
          <p:cNvSpPr/>
          <p:nvPr/>
        </p:nvSpPr>
        <p:spPr>
          <a:xfrm>
            <a:off x="812800" y="313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75712E63-2C19-7E4B-B3E3-1E4345D257AB}"/>
              </a:ext>
            </a:extLst>
          </p:cNvPr>
          <p:cNvSpPr txBox="1"/>
          <p:nvPr/>
        </p:nvSpPr>
        <p:spPr>
          <a:xfrm>
            <a:off x="914400" y="20574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法令への対応</a:t>
            </a:r>
          </a:p>
        </p:txBody>
      </p:sp>
      <p:sp>
        <p:nvSpPr>
          <p:cNvPr id="52" name="テキスト ボックス 51">
            <a:extLst>
              <a:ext uri="{FF2B5EF4-FFF2-40B4-BE49-F238E27FC236}">
                <a16:creationId xmlns:a16="http://schemas.microsoft.com/office/drawing/2014/main" id="{4FC5B121-CBB6-A642-BBAB-CCF4255D6408}"/>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53" name="テキスト ボックス 52">
            <a:extLst>
              <a:ext uri="{FF2B5EF4-FFF2-40B4-BE49-F238E27FC236}">
                <a16:creationId xmlns:a16="http://schemas.microsoft.com/office/drawing/2014/main" id="{29D1EC5D-A7FB-EF4B-9AFD-2A5B161FDBBA}"/>
              </a:ext>
            </a:extLst>
          </p:cNvPr>
          <p:cNvSpPr txBox="1"/>
          <p:nvPr/>
        </p:nvSpPr>
        <p:spPr>
          <a:xfrm>
            <a:off x="3683000" y="20447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対象となる国・地域の法令と、データの所在地</a:t>
            </a:r>
          </a:p>
        </p:txBody>
      </p:sp>
      <p:sp>
        <p:nvSpPr>
          <p:cNvPr id="54" name="テキスト ボックス 53">
            <a:extLst>
              <a:ext uri="{FF2B5EF4-FFF2-40B4-BE49-F238E27FC236}">
                <a16:creationId xmlns:a16="http://schemas.microsoft.com/office/drawing/2014/main" id="{36A289D0-BECC-A441-9E8F-3CCFA6E3106F}"/>
              </a:ext>
            </a:extLst>
          </p:cNvPr>
          <p:cNvSpPr txBox="1"/>
          <p:nvPr/>
        </p:nvSpPr>
        <p:spPr>
          <a:xfrm>
            <a:off x="6858000" y="20447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国内の個人情報保護法への対応は必須で確定済みです。海外法令への対応とデータを国内に限定するかは未確定で、対象地域を顧客に確認します。構成に直結します。</a:t>
            </a:r>
          </a:p>
        </p:txBody>
      </p:sp>
      <p:sp>
        <p:nvSpPr>
          <p:cNvPr id="55" name="正方形/長方形 54">
            <a:extLst>
              <a:ext uri="{FF2B5EF4-FFF2-40B4-BE49-F238E27FC236}">
                <a16:creationId xmlns:a16="http://schemas.microsoft.com/office/drawing/2014/main" id="{F4A467A3-EF97-5647-A020-5E53B0D6B4BA}"/>
              </a:ext>
            </a:extLst>
          </p:cNvPr>
          <p:cNvSpPr/>
          <p:nvPr/>
        </p:nvSpPr>
        <p:spPr>
          <a:xfrm>
            <a:off x="812800" y="3149600"/>
            <a:ext cx="10566400" cy="1219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6" name="正方形/長方形 55">
            <a:extLst>
              <a:ext uri="{FF2B5EF4-FFF2-40B4-BE49-F238E27FC236}">
                <a16:creationId xmlns:a16="http://schemas.microsoft.com/office/drawing/2014/main" id="{4374D096-45D9-6B47-B1B2-E8C39292BEB2}"/>
              </a:ext>
            </a:extLst>
          </p:cNvPr>
          <p:cNvSpPr/>
          <p:nvPr/>
        </p:nvSpPr>
        <p:spPr>
          <a:xfrm>
            <a:off x="812800" y="4356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7" name="テキスト ボックス 56">
            <a:extLst>
              <a:ext uri="{FF2B5EF4-FFF2-40B4-BE49-F238E27FC236}">
                <a16:creationId xmlns:a16="http://schemas.microsoft.com/office/drawing/2014/main" id="{9C474B67-20CE-F241-BA8D-BB4A7A65AAD7}"/>
              </a:ext>
            </a:extLst>
          </p:cNvPr>
          <p:cNvSpPr txBox="1"/>
          <p:nvPr/>
        </p:nvSpPr>
        <p:spPr>
          <a:xfrm>
            <a:off x="914400" y="32766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業界認定と監査</a:t>
            </a:r>
          </a:p>
        </p:txBody>
      </p:sp>
      <p:sp>
        <p:nvSpPr>
          <p:cNvPr id="58" name="テキスト ボックス 57">
            <a:extLst>
              <a:ext uri="{FF2B5EF4-FFF2-40B4-BE49-F238E27FC236}">
                <a16:creationId xmlns:a16="http://schemas.microsoft.com/office/drawing/2014/main" id="{870B7C2A-497A-8D45-906A-6649F1BE6188}"/>
              </a:ext>
            </a:extLst>
          </p:cNvPr>
          <p:cNvSpPr txBox="1"/>
          <p:nvPr/>
        </p:nvSpPr>
        <p:spPr>
          <a:xfrm>
            <a:off x="2946400" y="3289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6</a:t>
            </a:r>
            <a:endParaRPr lang="ja-JP" altLang="en-US" sz="1200">
              <a:solidFill>
                <a:srgbClr val="5A6472"/>
              </a:solidFill>
              <a:latin typeface="Yu Gothic UI"/>
              <a:ea typeface="Yu Gothic UI"/>
            </a:endParaRPr>
          </a:p>
        </p:txBody>
      </p:sp>
      <p:sp>
        <p:nvSpPr>
          <p:cNvPr id="59" name="テキスト ボックス 58">
            <a:extLst>
              <a:ext uri="{FF2B5EF4-FFF2-40B4-BE49-F238E27FC236}">
                <a16:creationId xmlns:a16="http://schemas.microsoft.com/office/drawing/2014/main" id="{9F9EA7A7-07D1-D74D-AD6A-B9BDF65C2614}"/>
              </a:ext>
            </a:extLst>
          </p:cNvPr>
          <p:cNvSpPr txBox="1"/>
          <p:nvPr/>
        </p:nvSpPr>
        <p:spPr>
          <a:xfrm>
            <a:off x="3683000" y="32639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国際認証の取得可否と、監査ログの保存年数</a:t>
            </a:r>
          </a:p>
        </p:txBody>
      </p:sp>
      <p:sp>
        <p:nvSpPr>
          <p:cNvPr id="60" name="テキスト ボックス 59">
            <a:extLst>
              <a:ext uri="{FF2B5EF4-FFF2-40B4-BE49-F238E27FC236}">
                <a16:creationId xmlns:a16="http://schemas.microsoft.com/office/drawing/2014/main" id="{D3A4E2AD-B8F7-B84A-9848-DB4108FA7093}"/>
              </a:ext>
            </a:extLst>
          </p:cNvPr>
          <p:cNvSpPr txBox="1"/>
          <p:nvPr/>
        </p:nvSpPr>
        <p:spPr>
          <a:xfrm>
            <a:off x="6858000" y="32639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暗号モジュール認定は不要と確定済みです。国際認証を自社で取得するかと保存年数は未確定で、顧客に確認します。多くは提案書側・別枠組みで扱う範囲です。</a:t>
            </a:r>
          </a:p>
        </p:txBody>
      </p:sp>
      <p:sp>
        <p:nvSpPr>
          <p:cNvPr id="61" name="正方形/長方形 60">
            <a:extLst>
              <a:ext uri="{FF2B5EF4-FFF2-40B4-BE49-F238E27FC236}">
                <a16:creationId xmlns:a16="http://schemas.microsoft.com/office/drawing/2014/main" id="{2B6A720B-59C6-A049-9530-D00851E3E481}"/>
              </a:ext>
            </a:extLst>
          </p:cNvPr>
          <p:cNvSpPr/>
          <p:nvPr/>
        </p:nvSpPr>
        <p:spPr>
          <a:xfrm>
            <a:off x="812800" y="557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2" name="テキスト ボックス 61">
            <a:extLst>
              <a:ext uri="{FF2B5EF4-FFF2-40B4-BE49-F238E27FC236}">
                <a16:creationId xmlns:a16="http://schemas.microsoft.com/office/drawing/2014/main" id="{E5E5746E-DBB8-B843-9CD7-C2D0BD89C76C}"/>
              </a:ext>
            </a:extLst>
          </p:cNvPr>
          <p:cNvSpPr txBox="1"/>
          <p:nvPr/>
        </p:nvSpPr>
        <p:spPr>
          <a:xfrm>
            <a:off x="914400" y="44958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データの取り扱い</a:t>
            </a:r>
          </a:p>
        </p:txBody>
      </p:sp>
      <p:sp>
        <p:nvSpPr>
          <p:cNvPr id="63" name="テキスト ボックス 62">
            <a:extLst>
              <a:ext uri="{FF2B5EF4-FFF2-40B4-BE49-F238E27FC236}">
                <a16:creationId xmlns:a16="http://schemas.microsoft.com/office/drawing/2014/main" id="{2159E743-92F1-5D4F-946D-144F6257A235}"/>
              </a:ext>
            </a:extLst>
          </p:cNvPr>
          <p:cNvSpPr txBox="1"/>
          <p:nvPr/>
        </p:nvSpPr>
        <p:spPr>
          <a:xfrm>
            <a:off x="2946400" y="45085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4" name="テキスト ボックス 63">
            <a:extLst>
              <a:ext uri="{FF2B5EF4-FFF2-40B4-BE49-F238E27FC236}">
                <a16:creationId xmlns:a16="http://schemas.microsoft.com/office/drawing/2014/main" id="{F5FA1962-42A0-F845-8B33-524DCE785444}"/>
              </a:ext>
            </a:extLst>
          </p:cNvPr>
          <p:cNvSpPr txBox="1"/>
          <p:nvPr/>
        </p:nvSpPr>
        <p:spPr>
          <a:xfrm>
            <a:off x="3683000" y="44831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利用者からの削除依頼と、暗号鍵の定期的な入れ替え</a:t>
            </a:r>
          </a:p>
        </p:txBody>
      </p:sp>
      <p:sp>
        <p:nvSpPr>
          <p:cNvPr id="65" name="テキスト ボックス 64">
            <a:extLst>
              <a:ext uri="{FF2B5EF4-FFF2-40B4-BE49-F238E27FC236}">
                <a16:creationId xmlns:a16="http://schemas.microsoft.com/office/drawing/2014/main" id="{B0104B11-9D4B-BE48-BE37-1BF670283750}"/>
              </a:ext>
            </a:extLst>
          </p:cNvPr>
          <p:cNvSpPr txBox="1"/>
          <p:nvPr/>
        </p:nvSpPr>
        <p:spPr>
          <a:xfrm>
            <a:off x="6858000" y="44831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いずれも方針は確定済みです。運用手順を自社で確定させます。</a:t>
            </a:r>
          </a:p>
        </p:txBody>
      </p:sp>
    </p:spTree>
    <p:extLst>
      <p:ext uri="{BB962C8B-B14F-4D97-AF65-F5344CB8AC3E}">
        <p14:creationId xmlns:p14="http://schemas.microsoft.com/office/powerpoint/2010/main" val="227215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a:extLst>
              <a:ext uri="{FF2B5EF4-FFF2-40B4-BE49-F238E27FC236}">
                <a16:creationId xmlns:a16="http://schemas.microsoft.com/office/drawing/2014/main" id="{44C2237B-D488-AE4A-AADD-FCA743397BB2}"/>
              </a:ext>
            </a:extLst>
          </p:cNvPr>
          <p:cNvSpPr/>
          <p:nvPr/>
        </p:nvSpPr>
        <p:spPr>
          <a:xfrm>
            <a:off x="0" y="0"/>
            <a:ext cx="114300" cy="939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0" name="テキスト ボックス 39">
            <a:extLst>
              <a:ext uri="{FF2B5EF4-FFF2-40B4-BE49-F238E27FC236}">
                <a16:creationId xmlns:a16="http://schemas.microsoft.com/office/drawing/2014/main" id="{2D8EE6B3-BBF1-3D4C-B0DE-8970E8C4AA60}"/>
              </a:ext>
            </a:extLst>
          </p:cNvPr>
          <p:cNvSpPr txBox="1"/>
          <p:nvPr/>
        </p:nvSpPr>
        <p:spPr>
          <a:xfrm>
            <a:off x="812800" y="304800"/>
            <a:ext cx="8890000" cy="4064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要件の棚卸し </a:t>
            </a:r>
            <a:r>
              <a:rPr lang="en-US" altLang="ja-JP" sz="2400" b="1">
                <a:solidFill>
                  <a:srgbClr val="1F3864"/>
                </a:solidFill>
                <a:latin typeface="Yu Gothic UI"/>
                <a:ea typeface="Yu Gothic UI"/>
              </a:rPr>
              <a:t>⑭</a:t>
            </a:r>
            <a:r>
              <a:rPr lang="ja-JP" altLang="en-US" sz="2400" b="1">
                <a:solidFill>
                  <a:srgbClr val="1F3864"/>
                </a:solidFill>
                <a:latin typeface="Yu Gothic UI"/>
                <a:ea typeface="Yu Gothic UI"/>
              </a:rPr>
              <a:t>　コストと移行</a:t>
            </a:r>
          </a:p>
        </p:txBody>
      </p:sp>
      <p:sp>
        <p:nvSpPr>
          <p:cNvPr id="41" name="テキスト ボックス 40">
            <a:extLst>
              <a:ext uri="{FF2B5EF4-FFF2-40B4-BE49-F238E27FC236}">
                <a16:creationId xmlns:a16="http://schemas.microsoft.com/office/drawing/2014/main" id="{A76D4511-5EDA-3746-B532-1826BBE81A18}"/>
              </a:ext>
            </a:extLst>
          </p:cNvPr>
          <p:cNvSpPr txBox="1"/>
          <p:nvPr/>
        </p:nvSpPr>
        <p:spPr>
          <a:xfrm>
            <a:off x="9702800" y="406400"/>
            <a:ext cx="1676400" cy="279400"/>
          </a:xfrm>
          <a:prstGeom prst="rect">
            <a:avLst/>
          </a:prstGeom>
          <a:noFill/>
        </p:spPr>
        <p:txBody>
          <a:bodyPr vertOverflow="overflow" vert="horz" wrap="square" rtlCol="0" anchor="t" anchorCtr="0">
            <a:noAutofit/>
          </a:bodyPr>
          <a:lstStyle/>
          <a:p>
            <a:pPr algn="l"/>
            <a:r>
              <a:rPr lang="ja-JP" altLang="en-US" sz="1400" b="1">
                <a:solidFill>
                  <a:srgbClr val="5A6472"/>
                </a:solidFill>
                <a:latin typeface="Yu Gothic UI"/>
                <a:ea typeface="Yu Gothic UI"/>
              </a:rPr>
              <a:t>要件 </a:t>
            </a:r>
            <a:r>
              <a:rPr lang="en-US" altLang="ja-JP" sz="1400" b="1">
                <a:solidFill>
                  <a:srgbClr val="5A6472"/>
                </a:solidFill>
                <a:latin typeface="Yu Gothic UI"/>
                <a:ea typeface="Yu Gothic UI"/>
              </a:rPr>
              <a:t>16 </a:t>
            </a:r>
            <a:r>
              <a:rPr lang="ja-JP" altLang="en-US" sz="1400" b="1">
                <a:solidFill>
                  <a:srgbClr val="5A6472"/>
                </a:solidFill>
                <a:latin typeface="Yu Gothic UI"/>
                <a:ea typeface="Yu Gothic UI"/>
              </a:rPr>
              <a:t>件</a:t>
            </a:r>
          </a:p>
        </p:txBody>
      </p:sp>
      <p:sp>
        <p:nvSpPr>
          <p:cNvPr id="42" name="テキスト ボックス 41">
            <a:extLst>
              <a:ext uri="{FF2B5EF4-FFF2-40B4-BE49-F238E27FC236}">
                <a16:creationId xmlns:a16="http://schemas.microsoft.com/office/drawing/2014/main" id="{21F63DA5-D495-FA47-BDE6-182FC00DF53C}"/>
              </a:ext>
            </a:extLst>
          </p:cNvPr>
          <p:cNvSpPr txBox="1"/>
          <p:nvPr/>
        </p:nvSpPr>
        <p:spPr>
          <a:xfrm>
            <a:off x="812800" y="723900"/>
            <a:ext cx="10566400" cy="254000"/>
          </a:xfrm>
          <a:prstGeom prst="rect">
            <a:avLst/>
          </a:prstGeom>
          <a:noFill/>
        </p:spPr>
        <p:txBody>
          <a:bodyPr vertOverflow="overflow" vert="horz" wrap="square" rtlCol="0" anchor="t" anchorCtr="0">
            <a:noAutofit/>
          </a:bodyPr>
          <a:lstStyle/>
          <a:p>
            <a:pPr algn="l"/>
            <a:r>
              <a:rPr lang="ja-JP" altLang="en-US" sz="1200">
                <a:solidFill>
                  <a:srgbClr val="5A6472"/>
                </a:solidFill>
                <a:latin typeface="Yu Gothic UI"/>
                <a:ea typeface="Yu Gothic UI"/>
              </a:rPr>
              <a:t>費用の内訳と、既存システムからの移し替え。</a:t>
            </a:r>
          </a:p>
        </p:txBody>
      </p:sp>
      <p:sp>
        <p:nvSpPr>
          <p:cNvPr id="43" name="正方形/長方形 42">
            <a:extLst>
              <a:ext uri="{FF2B5EF4-FFF2-40B4-BE49-F238E27FC236}">
                <a16:creationId xmlns:a16="http://schemas.microsoft.com/office/drawing/2014/main" id="{CA1DA363-59F4-3A4C-A4AD-D84994ACF8E8}"/>
              </a:ext>
            </a:extLst>
          </p:cNvPr>
          <p:cNvSpPr/>
          <p:nvPr/>
        </p:nvSpPr>
        <p:spPr>
          <a:xfrm>
            <a:off x="812800" y="1016000"/>
            <a:ext cx="38100" cy="5080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E1506BAD-FB0E-FE40-A333-7AC063BFEECA}"/>
              </a:ext>
            </a:extLst>
          </p:cNvPr>
          <p:cNvSpPr txBox="1"/>
          <p:nvPr/>
        </p:nvSpPr>
        <p:spPr>
          <a:xfrm>
            <a:off x="990600" y="1016000"/>
            <a:ext cx="10388600" cy="508000"/>
          </a:xfrm>
          <a:prstGeom prst="rect">
            <a:avLst/>
          </a:prstGeom>
          <a:noFill/>
        </p:spPr>
        <p:txBody>
          <a:bodyPr vertOverflow="overflow" vert="horz" wrap="square" rtlCol="0" anchor="t" anchorCtr="0">
            <a:noAutofit/>
          </a:bodyPr>
          <a:lstStyle/>
          <a:p>
            <a:pPr algn="l"/>
            <a:r>
              <a:rPr lang="ja-JP" altLang="en-US" sz="1300" b="1">
                <a:solidFill>
                  <a:srgbClr val="1D2125"/>
                </a:solidFill>
                <a:latin typeface="Yu Gothic UI"/>
                <a:ea typeface="Yu Gothic UI"/>
              </a:rPr>
              <a:t>費用は技術設計側に決定を置かず、提案書側の文書で扱う方針にしています。移行は「現行のパスワードをそのまま持ち越せるか」で難易度が大きく変わるため、実態確認が先に必要です。</a:t>
            </a:r>
          </a:p>
        </p:txBody>
      </p:sp>
      <p:sp>
        <p:nvSpPr>
          <p:cNvPr id="45" name="正方形/長方形 44">
            <a:extLst>
              <a:ext uri="{FF2B5EF4-FFF2-40B4-BE49-F238E27FC236}">
                <a16:creationId xmlns:a16="http://schemas.microsoft.com/office/drawing/2014/main" id="{D76F3923-6135-D94B-B2E9-D1DC83541AFD}"/>
              </a:ext>
            </a:extLst>
          </p:cNvPr>
          <p:cNvSpPr/>
          <p:nvPr/>
        </p:nvSpPr>
        <p:spPr>
          <a:xfrm>
            <a:off x="812800" y="16002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6" name="テキスト ボックス 45">
            <a:extLst>
              <a:ext uri="{FF2B5EF4-FFF2-40B4-BE49-F238E27FC236}">
                <a16:creationId xmlns:a16="http://schemas.microsoft.com/office/drawing/2014/main" id="{BDD5878F-3FFE-584E-B063-3D8C6B8AF0D9}"/>
              </a:ext>
            </a:extLst>
          </p:cNvPr>
          <p:cNvSpPr txBox="1"/>
          <p:nvPr/>
        </p:nvSpPr>
        <p:spPr>
          <a:xfrm>
            <a:off x="914400" y="1676400"/>
            <a:ext cx="1955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要件項目</a:t>
            </a:r>
          </a:p>
        </p:txBody>
      </p:sp>
      <p:sp>
        <p:nvSpPr>
          <p:cNvPr id="47" name="テキスト ボックス 46">
            <a:extLst>
              <a:ext uri="{FF2B5EF4-FFF2-40B4-BE49-F238E27FC236}">
                <a16:creationId xmlns:a16="http://schemas.microsoft.com/office/drawing/2014/main" id="{86132084-5952-DB41-9F78-A3EAC9870702}"/>
              </a:ext>
            </a:extLst>
          </p:cNvPr>
          <p:cNvSpPr txBox="1"/>
          <p:nvPr/>
        </p:nvSpPr>
        <p:spPr>
          <a:xfrm>
            <a:off x="3048000" y="1676400"/>
            <a:ext cx="45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要件数</a:t>
            </a:r>
          </a:p>
        </p:txBody>
      </p:sp>
      <p:sp>
        <p:nvSpPr>
          <p:cNvPr id="48" name="テキスト ボックス 47">
            <a:extLst>
              <a:ext uri="{FF2B5EF4-FFF2-40B4-BE49-F238E27FC236}">
                <a16:creationId xmlns:a16="http://schemas.microsoft.com/office/drawing/2014/main" id="{F84399E8-38AB-4E49-98D1-DCDF84F0B347}"/>
              </a:ext>
            </a:extLst>
          </p:cNvPr>
          <p:cNvSpPr txBox="1"/>
          <p:nvPr/>
        </p:nvSpPr>
        <p:spPr>
          <a:xfrm>
            <a:off x="3683000" y="1676400"/>
            <a:ext cx="2997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項目の概要</a:t>
            </a:r>
          </a:p>
        </p:txBody>
      </p:sp>
      <p:sp>
        <p:nvSpPr>
          <p:cNvPr id="49" name="テキスト ボックス 48">
            <a:extLst>
              <a:ext uri="{FF2B5EF4-FFF2-40B4-BE49-F238E27FC236}">
                <a16:creationId xmlns:a16="http://schemas.microsoft.com/office/drawing/2014/main" id="{AC63C871-872C-C041-AC77-3B1D7DA9FF7F}"/>
              </a:ext>
            </a:extLst>
          </p:cNvPr>
          <p:cNvSpPr txBox="1"/>
          <p:nvPr/>
        </p:nvSpPr>
        <p:spPr>
          <a:xfrm>
            <a:off x="6858000" y="1676400"/>
            <a:ext cx="44450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50" name="正方形/長方形 49">
            <a:extLst>
              <a:ext uri="{FF2B5EF4-FFF2-40B4-BE49-F238E27FC236}">
                <a16:creationId xmlns:a16="http://schemas.microsoft.com/office/drawing/2014/main" id="{808D35F5-40A4-9B4E-B934-AB14E55FE04F}"/>
              </a:ext>
            </a:extLst>
          </p:cNvPr>
          <p:cNvSpPr/>
          <p:nvPr/>
        </p:nvSpPr>
        <p:spPr>
          <a:xfrm>
            <a:off x="812800" y="313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1" name="テキスト ボックス 50">
            <a:extLst>
              <a:ext uri="{FF2B5EF4-FFF2-40B4-BE49-F238E27FC236}">
                <a16:creationId xmlns:a16="http://schemas.microsoft.com/office/drawing/2014/main" id="{B31F26CF-4406-0F48-BCAB-0078234F03AB}"/>
              </a:ext>
            </a:extLst>
          </p:cNvPr>
          <p:cNvSpPr txBox="1"/>
          <p:nvPr/>
        </p:nvSpPr>
        <p:spPr>
          <a:xfrm>
            <a:off x="914400" y="20574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費用の構造</a:t>
            </a:r>
          </a:p>
        </p:txBody>
      </p:sp>
      <p:sp>
        <p:nvSpPr>
          <p:cNvPr id="52" name="テキスト ボックス 51">
            <a:extLst>
              <a:ext uri="{FF2B5EF4-FFF2-40B4-BE49-F238E27FC236}">
                <a16:creationId xmlns:a16="http://schemas.microsoft.com/office/drawing/2014/main" id="{8740CF70-8D20-9844-8C7C-A882393B3A97}"/>
              </a:ext>
            </a:extLst>
          </p:cNvPr>
          <p:cNvSpPr txBox="1"/>
          <p:nvPr/>
        </p:nvSpPr>
        <p:spPr>
          <a:xfrm>
            <a:off x="2946400" y="20701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11</a:t>
            </a:r>
            <a:endParaRPr lang="ja-JP" altLang="en-US" sz="1200">
              <a:solidFill>
                <a:srgbClr val="5A6472"/>
              </a:solidFill>
              <a:latin typeface="Yu Gothic UI"/>
              <a:ea typeface="Yu Gothic UI"/>
            </a:endParaRPr>
          </a:p>
        </p:txBody>
      </p:sp>
      <p:sp>
        <p:nvSpPr>
          <p:cNvPr id="53" name="テキスト ボックス 52">
            <a:extLst>
              <a:ext uri="{FF2B5EF4-FFF2-40B4-BE49-F238E27FC236}">
                <a16:creationId xmlns:a16="http://schemas.microsoft.com/office/drawing/2014/main" id="{E6119E7A-6873-0045-9AF4-DD4B93BCD24C}"/>
              </a:ext>
            </a:extLst>
          </p:cNvPr>
          <p:cNvSpPr txBox="1"/>
          <p:nvPr/>
        </p:nvSpPr>
        <p:spPr>
          <a:xfrm>
            <a:off x="3683000" y="20447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初期費、月額固定費、利用者数に応じた費用、災害復旧の追加分</a:t>
            </a:r>
          </a:p>
        </p:txBody>
      </p:sp>
      <p:sp>
        <p:nvSpPr>
          <p:cNvPr id="54" name="テキスト ボックス 53">
            <a:extLst>
              <a:ext uri="{FF2B5EF4-FFF2-40B4-BE49-F238E27FC236}">
                <a16:creationId xmlns:a16="http://schemas.microsoft.com/office/drawing/2014/main" id="{2CDF41CB-D7F7-424D-89C9-8B77437460D9}"/>
              </a:ext>
            </a:extLst>
          </p:cNvPr>
          <p:cNvSpPr txBox="1"/>
          <p:nvPr/>
        </p:nvSpPr>
        <p:spPr>
          <a:xfrm>
            <a:off x="6858000" y="20447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内訳は算出済みで、金額の確定は提案書側の文書で扱う方針です。製品保守費の予算枠のみ顧客に確認します。</a:t>
            </a:r>
          </a:p>
        </p:txBody>
      </p:sp>
      <p:sp>
        <p:nvSpPr>
          <p:cNvPr id="55" name="正方形/長方形 54">
            <a:extLst>
              <a:ext uri="{FF2B5EF4-FFF2-40B4-BE49-F238E27FC236}">
                <a16:creationId xmlns:a16="http://schemas.microsoft.com/office/drawing/2014/main" id="{A0591929-35A4-2C4E-ACB6-6B7BD6CB5AF8}"/>
              </a:ext>
            </a:extLst>
          </p:cNvPr>
          <p:cNvSpPr/>
          <p:nvPr/>
        </p:nvSpPr>
        <p:spPr>
          <a:xfrm>
            <a:off x="812800" y="3149600"/>
            <a:ext cx="10566400" cy="1219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6" name="正方形/長方形 55">
            <a:extLst>
              <a:ext uri="{FF2B5EF4-FFF2-40B4-BE49-F238E27FC236}">
                <a16:creationId xmlns:a16="http://schemas.microsoft.com/office/drawing/2014/main" id="{98EDC924-D2E8-4D48-8364-C9159F725F5C}"/>
              </a:ext>
            </a:extLst>
          </p:cNvPr>
          <p:cNvSpPr/>
          <p:nvPr/>
        </p:nvSpPr>
        <p:spPr>
          <a:xfrm>
            <a:off x="812800" y="4356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7" name="テキスト ボックス 56">
            <a:extLst>
              <a:ext uri="{FF2B5EF4-FFF2-40B4-BE49-F238E27FC236}">
                <a16:creationId xmlns:a16="http://schemas.microsoft.com/office/drawing/2014/main" id="{507FABCE-A64F-C745-A25E-4A804C00BD63}"/>
              </a:ext>
            </a:extLst>
          </p:cNvPr>
          <p:cNvSpPr txBox="1"/>
          <p:nvPr/>
        </p:nvSpPr>
        <p:spPr>
          <a:xfrm>
            <a:off x="914400" y="32766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既存システムからの移行</a:t>
            </a:r>
          </a:p>
        </p:txBody>
      </p:sp>
      <p:sp>
        <p:nvSpPr>
          <p:cNvPr id="58" name="テキスト ボックス 57">
            <a:extLst>
              <a:ext uri="{FF2B5EF4-FFF2-40B4-BE49-F238E27FC236}">
                <a16:creationId xmlns:a16="http://schemas.microsoft.com/office/drawing/2014/main" id="{17856B3C-7440-D94D-8884-3AA99D7C431B}"/>
              </a:ext>
            </a:extLst>
          </p:cNvPr>
          <p:cNvSpPr txBox="1"/>
          <p:nvPr/>
        </p:nvSpPr>
        <p:spPr>
          <a:xfrm>
            <a:off x="2946400" y="32893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3</a:t>
            </a:r>
            <a:endParaRPr lang="ja-JP" altLang="en-US" sz="1200">
              <a:solidFill>
                <a:srgbClr val="5A6472"/>
              </a:solidFill>
              <a:latin typeface="Yu Gothic UI"/>
              <a:ea typeface="Yu Gothic UI"/>
            </a:endParaRPr>
          </a:p>
        </p:txBody>
      </p:sp>
      <p:sp>
        <p:nvSpPr>
          <p:cNvPr id="59" name="テキスト ボックス 58">
            <a:extLst>
              <a:ext uri="{FF2B5EF4-FFF2-40B4-BE49-F238E27FC236}">
                <a16:creationId xmlns:a16="http://schemas.microsoft.com/office/drawing/2014/main" id="{B2DE4D0C-F94B-3545-9612-B22880130EF3}"/>
              </a:ext>
            </a:extLst>
          </p:cNvPr>
          <p:cNvSpPr txBox="1"/>
          <p:nvPr/>
        </p:nvSpPr>
        <p:spPr>
          <a:xfrm>
            <a:off x="3683000" y="32639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現行利用者の移し替えと、パスワードの持ち越し</a:t>
            </a:r>
          </a:p>
        </p:txBody>
      </p:sp>
      <p:sp>
        <p:nvSpPr>
          <p:cNvPr id="60" name="テキスト ボックス 59">
            <a:extLst>
              <a:ext uri="{FF2B5EF4-FFF2-40B4-BE49-F238E27FC236}">
                <a16:creationId xmlns:a16="http://schemas.microsoft.com/office/drawing/2014/main" id="{1233F8DA-FFA6-2146-A81E-480CBFB080C0}"/>
              </a:ext>
            </a:extLst>
          </p:cNvPr>
          <p:cNvSpPr txBox="1"/>
          <p:nvPr/>
        </p:nvSpPr>
        <p:spPr>
          <a:xfrm>
            <a:off x="6858000" y="32639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移行方式の選択肢は整理済みですが、現行の利用者数とパスワード保管方式が未確定のため方式を選べません。現行システムの実態を顧客に確認します。</a:t>
            </a:r>
          </a:p>
        </p:txBody>
      </p:sp>
      <p:sp>
        <p:nvSpPr>
          <p:cNvPr id="61" name="正方形/長方形 60">
            <a:extLst>
              <a:ext uri="{FF2B5EF4-FFF2-40B4-BE49-F238E27FC236}">
                <a16:creationId xmlns:a16="http://schemas.microsoft.com/office/drawing/2014/main" id="{A5CBDBA1-F052-E248-A324-0C995565D2E1}"/>
              </a:ext>
            </a:extLst>
          </p:cNvPr>
          <p:cNvSpPr/>
          <p:nvPr/>
        </p:nvSpPr>
        <p:spPr>
          <a:xfrm>
            <a:off x="812800" y="5575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2" name="テキスト ボックス 61">
            <a:extLst>
              <a:ext uri="{FF2B5EF4-FFF2-40B4-BE49-F238E27FC236}">
                <a16:creationId xmlns:a16="http://schemas.microsoft.com/office/drawing/2014/main" id="{65BD5E14-23C4-E346-9F3E-A237E3CD86D0}"/>
              </a:ext>
            </a:extLst>
          </p:cNvPr>
          <p:cNvSpPr txBox="1"/>
          <p:nvPr/>
        </p:nvSpPr>
        <p:spPr>
          <a:xfrm>
            <a:off x="914400" y="4495800"/>
            <a:ext cx="1930400" cy="9906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囲い込み回避と並行稼働</a:t>
            </a:r>
          </a:p>
        </p:txBody>
      </p:sp>
      <p:sp>
        <p:nvSpPr>
          <p:cNvPr id="63" name="テキスト ボックス 62">
            <a:extLst>
              <a:ext uri="{FF2B5EF4-FFF2-40B4-BE49-F238E27FC236}">
                <a16:creationId xmlns:a16="http://schemas.microsoft.com/office/drawing/2014/main" id="{DF42E10C-9B41-204E-BBB0-812087F30D3B}"/>
              </a:ext>
            </a:extLst>
          </p:cNvPr>
          <p:cNvSpPr txBox="1"/>
          <p:nvPr/>
        </p:nvSpPr>
        <p:spPr>
          <a:xfrm>
            <a:off x="2946400" y="4508500"/>
            <a:ext cx="6350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2</a:t>
            </a:r>
            <a:endParaRPr lang="ja-JP" altLang="en-US" sz="1200">
              <a:solidFill>
                <a:srgbClr val="5A6472"/>
              </a:solidFill>
              <a:latin typeface="Yu Gothic UI"/>
              <a:ea typeface="Yu Gothic UI"/>
            </a:endParaRPr>
          </a:p>
        </p:txBody>
      </p:sp>
      <p:sp>
        <p:nvSpPr>
          <p:cNvPr id="64" name="テキスト ボックス 63">
            <a:extLst>
              <a:ext uri="{FF2B5EF4-FFF2-40B4-BE49-F238E27FC236}">
                <a16:creationId xmlns:a16="http://schemas.microsoft.com/office/drawing/2014/main" id="{089341F7-A625-F14B-8BF9-D8AA39A29230}"/>
              </a:ext>
            </a:extLst>
          </p:cNvPr>
          <p:cNvSpPr txBox="1"/>
          <p:nvPr/>
        </p:nvSpPr>
        <p:spPr>
          <a:xfrm>
            <a:off x="3683000" y="4483100"/>
            <a:ext cx="2971800" cy="1016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他基盤へ移れる余地と、段階的に移行できるか</a:t>
            </a:r>
          </a:p>
        </p:txBody>
      </p:sp>
      <p:sp>
        <p:nvSpPr>
          <p:cNvPr id="65" name="テキスト ボックス 64">
            <a:extLst>
              <a:ext uri="{FF2B5EF4-FFF2-40B4-BE49-F238E27FC236}">
                <a16:creationId xmlns:a16="http://schemas.microsoft.com/office/drawing/2014/main" id="{E70A4C13-DAA4-E445-B7A0-8D7A829C3FED}"/>
              </a:ext>
            </a:extLst>
          </p:cNvPr>
          <p:cNvSpPr txBox="1"/>
          <p:nvPr/>
        </p:nvSpPr>
        <p:spPr>
          <a:xfrm>
            <a:off x="6858000" y="4483100"/>
            <a:ext cx="4419600" cy="10160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国際標準に準拠することで移行余地を確保し、段階的な並行稼働も可能な構成で確定済みです。詳細設計に引き渡せます。</a:t>
            </a:r>
          </a:p>
        </p:txBody>
      </p:sp>
    </p:spTree>
    <p:extLst>
      <p:ext uri="{BB962C8B-B14F-4D97-AF65-F5344CB8AC3E}">
        <p14:creationId xmlns:p14="http://schemas.microsoft.com/office/powerpoint/2010/main" val="3796747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正方形/長方形 73">
            <a:extLst>
              <a:ext uri="{FF2B5EF4-FFF2-40B4-BE49-F238E27FC236}">
                <a16:creationId xmlns:a16="http://schemas.microsoft.com/office/drawing/2014/main" id="{4380BFED-BEC6-9441-8DE0-27E981F5F4FF}"/>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5" name="テキスト ボックス 74">
            <a:extLst>
              <a:ext uri="{FF2B5EF4-FFF2-40B4-BE49-F238E27FC236}">
                <a16:creationId xmlns:a16="http://schemas.microsoft.com/office/drawing/2014/main" id="{AA13A717-7F30-E944-BCA0-0EB51478417D}"/>
              </a:ext>
            </a:extLst>
          </p:cNvPr>
          <p:cNvSpPr txBox="1"/>
          <p:nvPr/>
        </p:nvSpPr>
        <p:spPr>
          <a:xfrm>
            <a:off x="812800" y="254000"/>
            <a:ext cx="8890000" cy="3810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設計の前提と、契約前に検証すべき事項</a:t>
            </a:r>
          </a:p>
        </p:txBody>
      </p:sp>
      <p:sp>
        <p:nvSpPr>
          <p:cNvPr id="76" name="テキスト ボックス 75">
            <a:extLst>
              <a:ext uri="{FF2B5EF4-FFF2-40B4-BE49-F238E27FC236}">
                <a16:creationId xmlns:a16="http://schemas.microsoft.com/office/drawing/2014/main" id="{1D410DB2-B626-F946-92BF-7F4E68DA49BF}"/>
              </a:ext>
            </a:extLst>
          </p:cNvPr>
          <p:cNvSpPr txBox="1"/>
          <p:nvPr/>
        </p:nvSpPr>
        <p:spPr>
          <a:xfrm>
            <a:off x="812800" y="660400"/>
            <a:ext cx="10566400" cy="2540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未確定な点を放置せず「いまの前提はこれ」と凍結したことで、回答を待たずに設計を進められています。前提が覆れば見直しになる点は正直に開示します。</a:t>
            </a:r>
          </a:p>
        </p:txBody>
      </p:sp>
      <p:sp>
        <p:nvSpPr>
          <p:cNvPr id="77" name="テキスト ボックス 76">
            <a:extLst>
              <a:ext uri="{FF2B5EF4-FFF2-40B4-BE49-F238E27FC236}">
                <a16:creationId xmlns:a16="http://schemas.microsoft.com/office/drawing/2014/main" id="{0B6ADE98-0192-3D4B-81A5-47372302FD8F}"/>
              </a:ext>
            </a:extLst>
          </p:cNvPr>
          <p:cNvSpPr txBox="1"/>
          <p:nvPr/>
        </p:nvSpPr>
        <p:spPr>
          <a:xfrm>
            <a:off x="812800" y="1016000"/>
            <a:ext cx="5080000" cy="228600"/>
          </a:xfrm>
          <a:prstGeom prst="rect">
            <a:avLst/>
          </a:prstGeom>
          <a:noFill/>
        </p:spPr>
        <p:txBody>
          <a:bodyPr vertOverflow="overflow" vert="horz" wrap="square" rtlCol="0" anchor="t" anchorCtr="0">
            <a:noAutofit/>
          </a:bodyPr>
          <a:lstStyle/>
          <a:p>
            <a:pPr algn="l"/>
            <a:r>
              <a:rPr lang="ja-JP" altLang="en-US" sz="1400" b="1">
                <a:solidFill>
                  <a:srgbClr val="1F3864"/>
                </a:solidFill>
                <a:latin typeface="Yu Gothic UI"/>
                <a:ea typeface="Yu Gothic UI"/>
              </a:rPr>
              <a:t>設計の前提として凍結した</a:t>
            </a:r>
            <a:r>
              <a:rPr lang="en-US" altLang="ja-JP" sz="1400" b="1">
                <a:solidFill>
                  <a:srgbClr val="1F3864"/>
                </a:solidFill>
                <a:latin typeface="Yu Gothic UI"/>
                <a:ea typeface="Yu Gothic UI"/>
              </a:rPr>
              <a:t>18</a:t>
            </a:r>
            <a:r>
              <a:rPr lang="ja-JP" altLang="en-US" sz="1400" b="1">
                <a:solidFill>
                  <a:srgbClr val="1F3864"/>
                </a:solidFill>
                <a:latin typeface="Yu Gothic UI"/>
                <a:ea typeface="Yu Gothic UI"/>
              </a:rPr>
              <a:t>件</a:t>
            </a:r>
          </a:p>
        </p:txBody>
      </p:sp>
      <p:sp>
        <p:nvSpPr>
          <p:cNvPr id="78" name="正方形/長方形 77">
            <a:extLst>
              <a:ext uri="{FF2B5EF4-FFF2-40B4-BE49-F238E27FC236}">
                <a16:creationId xmlns:a16="http://schemas.microsoft.com/office/drawing/2014/main" id="{BBFEDA4B-3C6E-B84D-8AE2-A9D86CAB06C8}"/>
              </a:ext>
            </a:extLst>
          </p:cNvPr>
          <p:cNvSpPr/>
          <p:nvPr/>
        </p:nvSpPr>
        <p:spPr>
          <a:xfrm>
            <a:off x="812800" y="1270000"/>
            <a:ext cx="10566400" cy="1168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9" name="テキスト ボックス 78">
            <a:extLst>
              <a:ext uri="{FF2B5EF4-FFF2-40B4-BE49-F238E27FC236}">
                <a16:creationId xmlns:a16="http://schemas.microsoft.com/office/drawing/2014/main" id="{B1BC84B5-AF3A-044E-A84A-EC34ED72A371}"/>
              </a:ext>
            </a:extLst>
          </p:cNvPr>
          <p:cNvSpPr txBox="1"/>
          <p:nvPr/>
        </p:nvSpPr>
        <p:spPr>
          <a:xfrm>
            <a:off x="990600" y="13589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・採用製品と稼働基盤</a:t>
            </a:r>
          </a:p>
        </p:txBody>
      </p:sp>
      <p:sp>
        <p:nvSpPr>
          <p:cNvPr id="80" name="テキスト ボックス 79">
            <a:extLst>
              <a:ext uri="{FF2B5EF4-FFF2-40B4-BE49-F238E27FC236}">
                <a16:creationId xmlns:a16="http://schemas.microsoft.com/office/drawing/2014/main" id="{96B02256-687F-4C4F-9BE3-D82CB2F34297}"/>
              </a:ext>
            </a:extLst>
          </p:cNvPr>
          <p:cNvSpPr txBox="1"/>
          <p:nvPr/>
        </p:nvSpPr>
        <p:spPr>
          <a:xfrm>
            <a:off x="4495800" y="13589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・利用者規模の上限 </a:t>
            </a:r>
            <a:r>
              <a:rPr lang="en-US" altLang="ja-JP" sz="1000">
                <a:solidFill>
                  <a:srgbClr val="1D2125"/>
                </a:solidFill>
                <a:latin typeface="Yu Gothic UI"/>
                <a:ea typeface="Yu Gothic UI"/>
              </a:rPr>
              <a:t>1,000</a:t>
            </a:r>
            <a:r>
              <a:rPr lang="ja-JP" altLang="en-US" sz="1000">
                <a:solidFill>
                  <a:srgbClr val="1D2125"/>
                </a:solidFill>
                <a:latin typeface="Yu Gothic UI"/>
                <a:ea typeface="Yu Gothic UI"/>
              </a:rPr>
              <a:t>万</a:t>
            </a:r>
          </a:p>
        </p:txBody>
      </p:sp>
      <p:sp>
        <p:nvSpPr>
          <p:cNvPr id="81" name="テキスト ボックス 80">
            <a:extLst>
              <a:ext uri="{FF2B5EF4-FFF2-40B4-BE49-F238E27FC236}">
                <a16:creationId xmlns:a16="http://schemas.microsoft.com/office/drawing/2014/main" id="{90F47EF8-3851-E042-BD17-7B45FDB7BC69}"/>
              </a:ext>
            </a:extLst>
          </p:cNvPr>
          <p:cNvSpPr txBox="1"/>
          <p:nvPr/>
        </p:nvSpPr>
        <p:spPr>
          <a:xfrm>
            <a:off x="8001000" y="13589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・暗号モジュール認定は不要</a:t>
            </a:r>
          </a:p>
        </p:txBody>
      </p:sp>
      <p:sp>
        <p:nvSpPr>
          <p:cNvPr id="82" name="テキスト ボックス 81">
            <a:extLst>
              <a:ext uri="{FF2B5EF4-FFF2-40B4-BE49-F238E27FC236}">
                <a16:creationId xmlns:a16="http://schemas.microsoft.com/office/drawing/2014/main" id="{5EB2A249-36D0-4D46-9592-F28A1CB9A0C7}"/>
              </a:ext>
            </a:extLst>
          </p:cNvPr>
          <p:cNvSpPr txBox="1"/>
          <p:nvPr/>
        </p:nvSpPr>
        <p:spPr>
          <a:xfrm>
            <a:off x="990600" y="15367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・稼働率 </a:t>
            </a:r>
            <a:r>
              <a:rPr lang="en-US" altLang="ja-JP" sz="1000">
                <a:solidFill>
                  <a:srgbClr val="1D2125"/>
                </a:solidFill>
                <a:latin typeface="Yu Gothic UI"/>
                <a:ea typeface="Yu Gothic UI"/>
              </a:rPr>
              <a:t>99.9%</a:t>
            </a:r>
            <a:r>
              <a:rPr lang="ja-JP" altLang="en-US" sz="1000">
                <a:solidFill>
                  <a:srgbClr val="1D2125"/>
                </a:solidFill>
                <a:latin typeface="Yu Gothic UI"/>
                <a:ea typeface="Yu Gothic UI"/>
              </a:rPr>
              <a:t>（暫定値）</a:t>
            </a:r>
          </a:p>
        </p:txBody>
      </p:sp>
      <p:sp>
        <p:nvSpPr>
          <p:cNvPr id="83" name="テキスト ボックス 82">
            <a:extLst>
              <a:ext uri="{FF2B5EF4-FFF2-40B4-BE49-F238E27FC236}">
                <a16:creationId xmlns:a16="http://schemas.microsoft.com/office/drawing/2014/main" id="{7E2A94A8-C9C8-5246-A118-86C88472CDD5}"/>
              </a:ext>
            </a:extLst>
          </p:cNvPr>
          <p:cNvSpPr txBox="1"/>
          <p:nvPr/>
        </p:nvSpPr>
        <p:spPr>
          <a:xfrm>
            <a:off x="4495800" y="15367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・復旧は手動・約</a:t>
            </a:r>
            <a:r>
              <a:rPr lang="en-US" altLang="ja-JP" sz="1000">
                <a:solidFill>
                  <a:srgbClr val="1D2125"/>
                </a:solidFill>
                <a:latin typeface="Yu Gothic UI"/>
                <a:ea typeface="Yu Gothic UI"/>
              </a:rPr>
              <a:t>14</a:t>
            </a:r>
            <a:r>
              <a:rPr lang="ja-JP" altLang="en-US" sz="1000">
                <a:solidFill>
                  <a:srgbClr val="1D2125"/>
                </a:solidFill>
                <a:latin typeface="Yu Gothic UI"/>
                <a:ea typeface="Yu Gothic UI"/>
              </a:rPr>
              <a:t>日</a:t>
            </a:r>
          </a:p>
        </p:txBody>
      </p:sp>
      <p:sp>
        <p:nvSpPr>
          <p:cNvPr id="84" name="テキスト ボックス 83">
            <a:extLst>
              <a:ext uri="{FF2B5EF4-FFF2-40B4-BE49-F238E27FC236}">
                <a16:creationId xmlns:a16="http://schemas.microsoft.com/office/drawing/2014/main" id="{986C7F02-0751-514C-A6E3-D5BCE0F0F7D2}"/>
              </a:ext>
            </a:extLst>
          </p:cNvPr>
          <p:cNvSpPr txBox="1"/>
          <p:nvPr/>
        </p:nvSpPr>
        <p:spPr>
          <a:xfrm>
            <a:off x="8001000" y="15367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・テナントの分離方式</a:t>
            </a:r>
          </a:p>
        </p:txBody>
      </p:sp>
      <p:sp>
        <p:nvSpPr>
          <p:cNvPr id="85" name="テキスト ボックス 84">
            <a:extLst>
              <a:ext uri="{FF2B5EF4-FFF2-40B4-BE49-F238E27FC236}">
                <a16:creationId xmlns:a16="http://schemas.microsoft.com/office/drawing/2014/main" id="{D119E24C-A0FC-5540-9343-E688746DA65A}"/>
              </a:ext>
            </a:extLst>
          </p:cNvPr>
          <p:cNvSpPr txBox="1"/>
          <p:nvPr/>
        </p:nvSpPr>
        <p:spPr>
          <a:xfrm>
            <a:off x="990600" y="17272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・全顧客利用者をフェデ化</a:t>
            </a:r>
          </a:p>
        </p:txBody>
      </p:sp>
      <p:sp>
        <p:nvSpPr>
          <p:cNvPr id="86" name="テキスト ボックス 85">
            <a:extLst>
              <a:ext uri="{FF2B5EF4-FFF2-40B4-BE49-F238E27FC236}">
                <a16:creationId xmlns:a16="http://schemas.microsoft.com/office/drawing/2014/main" id="{407371F9-9A1D-7A4B-A67B-F11C9AC0093C}"/>
              </a:ext>
            </a:extLst>
          </p:cNvPr>
          <p:cNvSpPr txBox="1"/>
          <p:nvPr/>
        </p:nvSpPr>
        <p:spPr>
          <a:xfrm>
            <a:off x="4495800" y="17272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・識別子の</a:t>
            </a:r>
            <a:r>
              <a:rPr lang="en-US" altLang="ja-JP" sz="1000">
                <a:solidFill>
                  <a:srgbClr val="1D2125"/>
                </a:solidFill>
                <a:latin typeface="Yu Gothic UI"/>
                <a:ea typeface="Yu Gothic UI"/>
              </a:rPr>
              <a:t>3</a:t>
            </a:r>
            <a:r>
              <a:rPr lang="ja-JP" altLang="en-US" sz="1000">
                <a:solidFill>
                  <a:srgbClr val="1D2125"/>
                </a:solidFill>
                <a:latin typeface="Yu Gothic UI"/>
                <a:ea typeface="Yu Gothic UI"/>
              </a:rPr>
              <a:t>階層構造</a:t>
            </a:r>
          </a:p>
        </p:txBody>
      </p:sp>
      <p:sp>
        <p:nvSpPr>
          <p:cNvPr id="87" name="テキスト ボックス 86">
            <a:extLst>
              <a:ext uri="{FF2B5EF4-FFF2-40B4-BE49-F238E27FC236}">
                <a16:creationId xmlns:a16="http://schemas.microsoft.com/office/drawing/2014/main" id="{C7B8BBBF-5491-C646-A826-6C2783134E63}"/>
              </a:ext>
            </a:extLst>
          </p:cNvPr>
          <p:cNvSpPr txBox="1"/>
          <p:nvPr/>
        </p:nvSpPr>
        <p:spPr>
          <a:xfrm>
            <a:off x="8001000" y="17272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・有効期間とセッション方針</a:t>
            </a:r>
          </a:p>
        </p:txBody>
      </p:sp>
      <p:sp>
        <p:nvSpPr>
          <p:cNvPr id="88" name="テキスト ボックス 87">
            <a:extLst>
              <a:ext uri="{FF2B5EF4-FFF2-40B4-BE49-F238E27FC236}">
                <a16:creationId xmlns:a16="http://schemas.microsoft.com/office/drawing/2014/main" id="{FA1B6A92-006D-ED44-B38D-7E86B76053F9}"/>
              </a:ext>
            </a:extLst>
          </p:cNvPr>
          <p:cNvSpPr txBox="1"/>
          <p:nvPr/>
        </p:nvSpPr>
        <p:spPr>
          <a:xfrm>
            <a:off x="990600" y="19050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・資格情報に個人情報を載せない</a:t>
            </a:r>
          </a:p>
        </p:txBody>
      </p:sp>
      <p:sp>
        <p:nvSpPr>
          <p:cNvPr id="89" name="テキスト ボックス 88">
            <a:extLst>
              <a:ext uri="{FF2B5EF4-FFF2-40B4-BE49-F238E27FC236}">
                <a16:creationId xmlns:a16="http://schemas.microsoft.com/office/drawing/2014/main" id="{794F6679-63CB-974C-88AB-72237152E1D1}"/>
              </a:ext>
            </a:extLst>
          </p:cNvPr>
          <p:cNvSpPr txBox="1"/>
          <p:nvPr/>
        </p:nvSpPr>
        <p:spPr>
          <a:xfrm>
            <a:off x="4495800" y="19050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・信頼レベルの既定値</a:t>
            </a:r>
          </a:p>
        </p:txBody>
      </p:sp>
      <p:sp>
        <p:nvSpPr>
          <p:cNvPr id="90" name="テキスト ボックス 89">
            <a:extLst>
              <a:ext uri="{FF2B5EF4-FFF2-40B4-BE49-F238E27FC236}">
                <a16:creationId xmlns:a16="http://schemas.microsoft.com/office/drawing/2014/main" id="{9D385C72-8EAF-5648-8077-3FAE71BFB565}"/>
              </a:ext>
            </a:extLst>
          </p:cNvPr>
          <p:cNvSpPr txBox="1"/>
          <p:nvPr/>
        </p:nvSpPr>
        <p:spPr>
          <a:xfrm>
            <a:off x="8001000" y="19050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・利用者情報連携は併用方式</a:t>
            </a:r>
          </a:p>
        </p:txBody>
      </p:sp>
      <p:sp>
        <p:nvSpPr>
          <p:cNvPr id="91" name="テキスト ボックス 90">
            <a:extLst>
              <a:ext uri="{FF2B5EF4-FFF2-40B4-BE49-F238E27FC236}">
                <a16:creationId xmlns:a16="http://schemas.microsoft.com/office/drawing/2014/main" id="{3F376C25-DCB7-1F49-847E-5DADD35DBC34}"/>
              </a:ext>
            </a:extLst>
          </p:cNvPr>
          <p:cNvSpPr txBox="1"/>
          <p:nvPr/>
        </p:nvSpPr>
        <p:spPr>
          <a:xfrm>
            <a:off x="990600" y="20955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・業務システム連携の型</a:t>
            </a:r>
          </a:p>
        </p:txBody>
      </p:sp>
      <p:sp>
        <p:nvSpPr>
          <p:cNvPr id="92" name="テキスト ボックス 91">
            <a:extLst>
              <a:ext uri="{FF2B5EF4-FFF2-40B4-BE49-F238E27FC236}">
                <a16:creationId xmlns:a16="http://schemas.microsoft.com/office/drawing/2014/main" id="{00693EA3-826D-E649-94E2-6D3C72BD127D}"/>
              </a:ext>
            </a:extLst>
          </p:cNvPr>
          <p:cNvSpPr txBox="1"/>
          <p:nvPr/>
        </p:nvSpPr>
        <p:spPr>
          <a:xfrm>
            <a:off x="4495800" y="20955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・新規は標準方式・既存は旧方式</a:t>
            </a:r>
          </a:p>
        </p:txBody>
      </p:sp>
      <p:sp>
        <p:nvSpPr>
          <p:cNvPr id="93" name="テキスト ボックス 92">
            <a:extLst>
              <a:ext uri="{FF2B5EF4-FFF2-40B4-BE49-F238E27FC236}">
                <a16:creationId xmlns:a16="http://schemas.microsoft.com/office/drawing/2014/main" id="{07CB2738-14E8-FB4C-92C7-125BC3C06446}"/>
              </a:ext>
            </a:extLst>
          </p:cNvPr>
          <p:cNvSpPr txBox="1"/>
          <p:nvPr/>
        </p:nvSpPr>
        <p:spPr>
          <a:xfrm>
            <a:off x="8001000" y="20955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・東京常用＋大阪で復旧</a:t>
            </a:r>
          </a:p>
        </p:txBody>
      </p:sp>
      <p:sp>
        <p:nvSpPr>
          <p:cNvPr id="94" name="テキスト ボックス 93">
            <a:extLst>
              <a:ext uri="{FF2B5EF4-FFF2-40B4-BE49-F238E27FC236}">
                <a16:creationId xmlns:a16="http://schemas.microsoft.com/office/drawing/2014/main" id="{D8B2BE6A-18B4-D344-8F81-C551E171EEC5}"/>
              </a:ext>
            </a:extLst>
          </p:cNvPr>
          <p:cNvSpPr txBox="1"/>
          <p:nvPr/>
        </p:nvSpPr>
        <p:spPr>
          <a:xfrm>
            <a:off x="990600" y="22733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・大規模接続は条件付き成立</a:t>
            </a:r>
          </a:p>
        </p:txBody>
      </p:sp>
      <p:sp>
        <p:nvSpPr>
          <p:cNvPr id="95" name="テキスト ボックス 94">
            <a:extLst>
              <a:ext uri="{FF2B5EF4-FFF2-40B4-BE49-F238E27FC236}">
                <a16:creationId xmlns:a16="http://schemas.microsoft.com/office/drawing/2014/main" id="{370E6158-F153-A641-950D-C9BD9BDDBFB6}"/>
              </a:ext>
            </a:extLst>
          </p:cNvPr>
          <p:cNvSpPr txBox="1"/>
          <p:nvPr/>
        </p:nvSpPr>
        <p:spPr>
          <a:xfrm>
            <a:off x="4495800" y="22733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・発行層は別アカウント・</a:t>
            </a:r>
            <a:r>
              <a:rPr lang="en-US" altLang="ja-JP" sz="1000">
                <a:solidFill>
                  <a:srgbClr val="1D2125"/>
                </a:solidFill>
                <a:latin typeface="Yu Gothic UI"/>
                <a:ea typeface="Yu Gothic UI"/>
              </a:rPr>
              <a:t>2</a:t>
            </a:r>
            <a:r>
              <a:rPr lang="ja-JP" altLang="en-US" sz="1000">
                <a:solidFill>
                  <a:srgbClr val="1D2125"/>
                </a:solidFill>
                <a:latin typeface="Yu Gothic UI"/>
                <a:ea typeface="Yu Gothic UI"/>
              </a:rPr>
              <a:t>系統</a:t>
            </a:r>
          </a:p>
        </p:txBody>
      </p:sp>
      <p:sp>
        <p:nvSpPr>
          <p:cNvPr id="96" name="テキスト ボックス 95">
            <a:extLst>
              <a:ext uri="{FF2B5EF4-FFF2-40B4-BE49-F238E27FC236}">
                <a16:creationId xmlns:a16="http://schemas.microsoft.com/office/drawing/2014/main" id="{D10FACFD-8DC7-9847-AEE7-6882587B7A98}"/>
              </a:ext>
            </a:extLst>
          </p:cNvPr>
          <p:cNvSpPr txBox="1"/>
          <p:nvPr/>
        </p:nvSpPr>
        <p:spPr>
          <a:xfrm>
            <a:off x="8001000" y="2273300"/>
            <a:ext cx="3429000" cy="177800"/>
          </a:xfrm>
          <a:prstGeom prst="rect">
            <a:avLst/>
          </a:prstGeom>
          <a:noFill/>
        </p:spPr>
        <p:txBody>
          <a:bodyPr vertOverflow="overflow" vert="horz" wrap="square" rtlCol="0" anchor="t" anchorCtr="0">
            <a:noAutofit/>
          </a:bodyPr>
          <a:lstStyle/>
          <a:p>
            <a:pPr algn="l"/>
            <a:r>
              <a:rPr lang="ja-JP" altLang="en-US" sz="1000">
                <a:solidFill>
                  <a:srgbClr val="1D2125"/>
                </a:solidFill>
                <a:latin typeface="Yu Gothic UI"/>
                <a:ea typeface="Yu Gothic UI"/>
              </a:rPr>
              <a:t>・出入口は他組織の管理範囲</a:t>
            </a:r>
          </a:p>
        </p:txBody>
      </p:sp>
      <p:sp>
        <p:nvSpPr>
          <p:cNvPr id="97" name="テキスト ボックス 96">
            <a:extLst>
              <a:ext uri="{FF2B5EF4-FFF2-40B4-BE49-F238E27FC236}">
                <a16:creationId xmlns:a16="http://schemas.microsoft.com/office/drawing/2014/main" id="{65FF0831-3DCD-2D4F-9BB5-347A91C63DFA}"/>
              </a:ext>
            </a:extLst>
          </p:cNvPr>
          <p:cNvSpPr txBox="1"/>
          <p:nvPr/>
        </p:nvSpPr>
        <p:spPr>
          <a:xfrm>
            <a:off x="812800" y="2489200"/>
            <a:ext cx="10566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いずれも判断理由を記録に残しています。うち</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件は</a:t>
            </a:r>
            <a:r>
              <a:rPr lang="en-US" altLang="ja-JP" sz="1100">
                <a:solidFill>
                  <a:srgbClr val="5A6472"/>
                </a:solidFill>
                <a:latin typeface="Yu Gothic UI"/>
                <a:ea typeface="Yu Gothic UI"/>
              </a:rPr>
              <a:t>7</a:t>
            </a:r>
            <a:r>
              <a:rPr lang="ja-JP" altLang="en-US" sz="1100">
                <a:solidFill>
                  <a:srgbClr val="5A6472"/>
                </a:solidFill>
                <a:latin typeface="Yu Gothic UI"/>
                <a:ea typeface="Yu Gothic UI"/>
              </a:rPr>
              <a:t>月</a:t>
            </a:r>
            <a:r>
              <a:rPr lang="en-US" altLang="ja-JP" sz="1100">
                <a:solidFill>
                  <a:srgbClr val="5A6472"/>
                </a:solidFill>
                <a:latin typeface="Yu Gothic UI"/>
                <a:ea typeface="Yu Gothic UI"/>
              </a:rPr>
              <a:t>30</a:t>
            </a:r>
            <a:r>
              <a:rPr lang="ja-JP" altLang="en-US" sz="1100">
                <a:solidFill>
                  <a:srgbClr val="5A6472"/>
                </a:solidFill>
                <a:latin typeface="Yu Gothic UI"/>
                <a:ea typeface="Yu Gothic UI"/>
              </a:rPr>
              <a:t>日の意思決定で確定に切り替わりました。</a:t>
            </a:r>
          </a:p>
        </p:txBody>
      </p:sp>
      <p:sp>
        <p:nvSpPr>
          <p:cNvPr id="98" name="テキスト ボックス 97">
            <a:extLst>
              <a:ext uri="{FF2B5EF4-FFF2-40B4-BE49-F238E27FC236}">
                <a16:creationId xmlns:a16="http://schemas.microsoft.com/office/drawing/2014/main" id="{562EACB9-6F69-8B49-9A29-CF1E28127FC3}"/>
              </a:ext>
            </a:extLst>
          </p:cNvPr>
          <p:cNvSpPr txBox="1"/>
          <p:nvPr/>
        </p:nvSpPr>
        <p:spPr>
          <a:xfrm>
            <a:off x="812800" y="2768600"/>
            <a:ext cx="5080000" cy="228600"/>
          </a:xfrm>
          <a:prstGeom prst="rect">
            <a:avLst/>
          </a:prstGeom>
          <a:noFill/>
        </p:spPr>
        <p:txBody>
          <a:bodyPr vertOverflow="overflow" vert="horz" wrap="square" rtlCol="0" anchor="t" anchorCtr="0">
            <a:noAutofit/>
          </a:bodyPr>
          <a:lstStyle/>
          <a:p>
            <a:pPr algn="l"/>
            <a:r>
              <a:rPr lang="ja-JP" altLang="en-US" sz="1400" b="1">
                <a:solidFill>
                  <a:srgbClr val="1F3864"/>
                </a:solidFill>
                <a:latin typeface="Yu Gothic UI"/>
                <a:ea typeface="Yu Gothic UI"/>
              </a:rPr>
              <a:t>契約前に検証すべき事項（</a:t>
            </a:r>
            <a:r>
              <a:rPr lang="en-US" altLang="ja-JP" sz="1400" b="1">
                <a:solidFill>
                  <a:srgbClr val="1F3864"/>
                </a:solidFill>
                <a:latin typeface="Yu Gothic UI"/>
                <a:ea typeface="Yu Gothic UI"/>
              </a:rPr>
              <a:t>9</a:t>
            </a:r>
            <a:r>
              <a:rPr lang="ja-JP" altLang="en-US" sz="1400" b="1">
                <a:solidFill>
                  <a:srgbClr val="1F3864"/>
                </a:solidFill>
                <a:latin typeface="Yu Gothic UI"/>
                <a:ea typeface="Yu Gothic UI"/>
              </a:rPr>
              <a:t>件）</a:t>
            </a:r>
          </a:p>
        </p:txBody>
      </p:sp>
      <p:sp>
        <p:nvSpPr>
          <p:cNvPr id="99" name="正方形/長方形 98">
            <a:extLst>
              <a:ext uri="{FF2B5EF4-FFF2-40B4-BE49-F238E27FC236}">
                <a16:creationId xmlns:a16="http://schemas.microsoft.com/office/drawing/2014/main" id="{972B7B8A-9BC3-B04B-8160-664D7F0C4490}"/>
              </a:ext>
            </a:extLst>
          </p:cNvPr>
          <p:cNvSpPr/>
          <p:nvPr/>
        </p:nvSpPr>
        <p:spPr>
          <a:xfrm>
            <a:off x="812800" y="3048000"/>
            <a:ext cx="10566400" cy="2794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0" name="テキスト ボックス 99">
            <a:extLst>
              <a:ext uri="{FF2B5EF4-FFF2-40B4-BE49-F238E27FC236}">
                <a16:creationId xmlns:a16="http://schemas.microsoft.com/office/drawing/2014/main" id="{B6904C50-8DE0-1F48-818E-EDA222164807}"/>
              </a:ext>
            </a:extLst>
          </p:cNvPr>
          <p:cNvSpPr txBox="1"/>
          <p:nvPr/>
        </p:nvSpPr>
        <p:spPr>
          <a:xfrm>
            <a:off x="914400" y="3098800"/>
            <a:ext cx="36068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検証事項</a:t>
            </a:r>
          </a:p>
        </p:txBody>
      </p:sp>
      <p:sp>
        <p:nvSpPr>
          <p:cNvPr id="101" name="テキスト ボックス 100">
            <a:extLst>
              <a:ext uri="{FF2B5EF4-FFF2-40B4-BE49-F238E27FC236}">
                <a16:creationId xmlns:a16="http://schemas.microsoft.com/office/drawing/2014/main" id="{45E00391-4439-C842-8805-7A1E43723A23}"/>
              </a:ext>
            </a:extLst>
          </p:cNvPr>
          <p:cNvSpPr txBox="1"/>
          <p:nvPr/>
        </p:nvSpPr>
        <p:spPr>
          <a:xfrm>
            <a:off x="4699000" y="3098800"/>
            <a:ext cx="8890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状況</a:t>
            </a:r>
          </a:p>
        </p:txBody>
      </p:sp>
      <p:sp>
        <p:nvSpPr>
          <p:cNvPr id="102" name="テキスト ボックス 101">
            <a:extLst>
              <a:ext uri="{FF2B5EF4-FFF2-40B4-BE49-F238E27FC236}">
                <a16:creationId xmlns:a16="http://schemas.microsoft.com/office/drawing/2014/main" id="{3C78A04D-664F-F846-894A-5411606B24F2}"/>
              </a:ext>
            </a:extLst>
          </p:cNvPr>
          <p:cNvSpPr txBox="1"/>
          <p:nvPr/>
        </p:nvSpPr>
        <p:spPr>
          <a:xfrm>
            <a:off x="5765800" y="3098800"/>
            <a:ext cx="5537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現在の位置づけ</a:t>
            </a:r>
          </a:p>
        </p:txBody>
      </p:sp>
      <p:sp>
        <p:nvSpPr>
          <p:cNvPr id="103" name="正方形/長方形 102">
            <a:extLst>
              <a:ext uri="{FF2B5EF4-FFF2-40B4-BE49-F238E27FC236}">
                <a16:creationId xmlns:a16="http://schemas.microsoft.com/office/drawing/2014/main" id="{C735EF55-6479-CF45-837B-046899CDD92A}"/>
              </a:ext>
            </a:extLst>
          </p:cNvPr>
          <p:cNvSpPr/>
          <p:nvPr/>
        </p:nvSpPr>
        <p:spPr>
          <a:xfrm>
            <a:off x="812800" y="3606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4" name="テキスト ボックス 103">
            <a:extLst>
              <a:ext uri="{FF2B5EF4-FFF2-40B4-BE49-F238E27FC236}">
                <a16:creationId xmlns:a16="http://schemas.microsoft.com/office/drawing/2014/main" id="{82B9FD52-8B52-1D47-BE86-8A721AB45E29}"/>
              </a:ext>
            </a:extLst>
          </p:cNvPr>
          <p:cNvSpPr txBox="1"/>
          <p:nvPr/>
        </p:nvSpPr>
        <p:spPr>
          <a:xfrm>
            <a:off x="914400" y="33782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大規模接続時の挙動の実測</a:t>
            </a:r>
          </a:p>
        </p:txBody>
      </p:sp>
      <p:sp>
        <p:nvSpPr>
          <p:cNvPr id="105" name="角丸四角形 104">
            <a:extLst>
              <a:ext uri="{FF2B5EF4-FFF2-40B4-BE49-F238E27FC236}">
                <a16:creationId xmlns:a16="http://schemas.microsoft.com/office/drawing/2014/main" id="{7694B0FA-4830-F14A-AC8F-5C9FDCFF1CF0}"/>
              </a:ext>
            </a:extLst>
          </p:cNvPr>
          <p:cNvSpPr/>
          <p:nvPr/>
        </p:nvSpPr>
        <p:spPr>
          <a:xfrm>
            <a:off x="4699000" y="3365500"/>
            <a:ext cx="736600" cy="203200"/>
          </a:xfrm>
          <a:prstGeom prst="round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検討中</a:t>
            </a:r>
          </a:p>
        </p:txBody>
      </p:sp>
      <p:sp>
        <p:nvSpPr>
          <p:cNvPr id="106" name="テキスト ボックス 105">
            <a:extLst>
              <a:ext uri="{FF2B5EF4-FFF2-40B4-BE49-F238E27FC236}">
                <a16:creationId xmlns:a16="http://schemas.microsoft.com/office/drawing/2014/main" id="{D618A4AC-881C-CC40-95B4-793B182C5BE7}"/>
              </a:ext>
            </a:extLst>
          </p:cNvPr>
          <p:cNvSpPr txBox="1"/>
          <p:nvPr/>
        </p:nvSpPr>
        <p:spPr>
          <a:xfrm>
            <a:off x="5765800" y="33782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仮定値を置いて設計を確定済み。契約の前提条件から外し後追い検証に格下げ</a:t>
            </a:r>
          </a:p>
        </p:txBody>
      </p:sp>
      <p:sp>
        <p:nvSpPr>
          <p:cNvPr id="107" name="正方形/長方形 106">
            <a:extLst>
              <a:ext uri="{FF2B5EF4-FFF2-40B4-BE49-F238E27FC236}">
                <a16:creationId xmlns:a16="http://schemas.microsoft.com/office/drawing/2014/main" id="{3F42A718-9B6B-8C49-A05C-D73797673285}"/>
              </a:ext>
            </a:extLst>
          </p:cNvPr>
          <p:cNvSpPr/>
          <p:nvPr/>
        </p:nvSpPr>
        <p:spPr>
          <a:xfrm>
            <a:off x="812800" y="3619500"/>
            <a:ext cx="10566400" cy="2921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8" name="正方形/長方形 107">
            <a:extLst>
              <a:ext uri="{FF2B5EF4-FFF2-40B4-BE49-F238E27FC236}">
                <a16:creationId xmlns:a16="http://schemas.microsoft.com/office/drawing/2014/main" id="{36D9862E-2D10-AC42-9A00-8D32BB2FD6DA}"/>
              </a:ext>
            </a:extLst>
          </p:cNvPr>
          <p:cNvSpPr/>
          <p:nvPr/>
        </p:nvSpPr>
        <p:spPr>
          <a:xfrm>
            <a:off x="812800" y="3898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9" name="テキスト ボックス 108">
            <a:extLst>
              <a:ext uri="{FF2B5EF4-FFF2-40B4-BE49-F238E27FC236}">
                <a16:creationId xmlns:a16="http://schemas.microsoft.com/office/drawing/2014/main" id="{CCBBF2D6-18C7-0F40-9F53-B91621125C0A}"/>
              </a:ext>
            </a:extLst>
          </p:cNvPr>
          <p:cNvSpPr txBox="1"/>
          <p:nvPr/>
        </p:nvSpPr>
        <p:spPr>
          <a:xfrm>
            <a:off x="914400" y="36703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他組織のセキュリティ製品との互換性</a:t>
            </a:r>
          </a:p>
        </p:txBody>
      </p:sp>
      <p:sp>
        <p:nvSpPr>
          <p:cNvPr id="110" name="角丸四角形 109">
            <a:extLst>
              <a:ext uri="{FF2B5EF4-FFF2-40B4-BE49-F238E27FC236}">
                <a16:creationId xmlns:a16="http://schemas.microsoft.com/office/drawing/2014/main" id="{C0910E16-6B20-014B-895E-4DAD53E2DAE5}"/>
              </a:ext>
            </a:extLst>
          </p:cNvPr>
          <p:cNvSpPr/>
          <p:nvPr/>
        </p:nvSpPr>
        <p:spPr>
          <a:xfrm>
            <a:off x="4699000" y="3657600"/>
            <a:ext cx="736600" cy="203200"/>
          </a:xfrm>
          <a:prstGeom prst="round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検討中</a:t>
            </a:r>
          </a:p>
        </p:txBody>
      </p:sp>
      <p:sp>
        <p:nvSpPr>
          <p:cNvPr id="111" name="テキスト ボックス 110">
            <a:extLst>
              <a:ext uri="{FF2B5EF4-FFF2-40B4-BE49-F238E27FC236}">
                <a16:creationId xmlns:a16="http://schemas.microsoft.com/office/drawing/2014/main" id="{2E205CE9-3585-DD41-A7BE-E5ACE54D5FA6}"/>
              </a:ext>
            </a:extLst>
          </p:cNvPr>
          <p:cNvSpPr txBox="1"/>
          <p:nvPr/>
        </p:nvSpPr>
        <p:spPr>
          <a:xfrm>
            <a:off x="5765800" y="36703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実施が確定。実質的な残ブロッカーの</a:t>
            </a:r>
            <a:r>
              <a:rPr lang="en-US" altLang="ja-JP" sz="1100">
                <a:solidFill>
                  <a:srgbClr val="5A6472"/>
                </a:solidFill>
                <a:latin typeface="Yu Gothic UI"/>
                <a:ea typeface="Yu Gothic UI"/>
              </a:rPr>
              <a:t>1</a:t>
            </a:r>
            <a:r>
              <a:rPr lang="ja-JP" altLang="en-US" sz="1100">
                <a:solidFill>
                  <a:srgbClr val="5A6472"/>
                </a:solidFill>
                <a:latin typeface="Yu Gothic UI"/>
                <a:ea typeface="Yu Gothic UI"/>
              </a:rPr>
              <a:t>件目</a:t>
            </a:r>
          </a:p>
        </p:txBody>
      </p:sp>
      <p:sp>
        <p:nvSpPr>
          <p:cNvPr id="112" name="正方形/長方形 111">
            <a:extLst>
              <a:ext uri="{FF2B5EF4-FFF2-40B4-BE49-F238E27FC236}">
                <a16:creationId xmlns:a16="http://schemas.microsoft.com/office/drawing/2014/main" id="{07172C36-57C7-5C42-A3EC-0D4D1ECAFF07}"/>
              </a:ext>
            </a:extLst>
          </p:cNvPr>
          <p:cNvSpPr/>
          <p:nvPr/>
        </p:nvSpPr>
        <p:spPr>
          <a:xfrm>
            <a:off x="812800" y="41910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3" name="テキスト ボックス 112">
            <a:extLst>
              <a:ext uri="{FF2B5EF4-FFF2-40B4-BE49-F238E27FC236}">
                <a16:creationId xmlns:a16="http://schemas.microsoft.com/office/drawing/2014/main" id="{B6456C35-73EF-CA41-AAD4-1A27F88303AC}"/>
              </a:ext>
            </a:extLst>
          </p:cNvPr>
          <p:cNvSpPr txBox="1"/>
          <p:nvPr/>
        </p:nvSpPr>
        <p:spPr>
          <a:xfrm>
            <a:off x="914400" y="39624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利用者属性の任意化に伴う製品不具合の回避</a:t>
            </a:r>
          </a:p>
        </p:txBody>
      </p:sp>
      <p:sp>
        <p:nvSpPr>
          <p:cNvPr id="114" name="角丸四角形 113">
            <a:extLst>
              <a:ext uri="{FF2B5EF4-FFF2-40B4-BE49-F238E27FC236}">
                <a16:creationId xmlns:a16="http://schemas.microsoft.com/office/drawing/2014/main" id="{1AE1013A-11EC-CA44-9F17-F7B45C16A415}"/>
              </a:ext>
            </a:extLst>
          </p:cNvPr>
          <p:cNvSpPr/>
          <p:nvPr/>
        </p:nvSpPr>
        <p:spPr>
          <a:xfrm>
            <a:off x="4699000" y="3949700"/>
            <a:ext cx="736600" cy="203200"/>
          </a:xfrm>
          <a:prstGeom prst="round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検討中</a:t>
            </a:r>
          </a:p>
        </p:txBody>
      </p:sp>
      <p:sp>
        <p:nvSpPr>
          <p:cNvPr id="115" name="テキスト ボックス 114">
            <a:extLst>
              <a:ext uri="{FF2B5EF4-FFF2-40B4-BE49-F238E27FC236}">
                <a16:creationId xmlns:a16="http://schemas.microsoft.com/office/drawing/2014/main" id="{1736CBDD-0371-FB4D-B634-3C83A97E043C}"/>
              </a:ext>
            </a:extLst>
          </p:cNvPr>
          <p:cNvSpPr txBox="1"/>
          <p:nvPr/>
        </p:nvSpPr>
        <p:spPr>
          <a:xfrm>
            <a:off x="5765800" y="39624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製品側の既知の不具合を避ける方式を検証中（</a:t>
            </a:r>
            <a:r>
              <a:rPr lang="en-US" altLang="ja-JP" sz="1100">
                <a:solidFill>
                  <a:srgbClr val="5A6472"/>
                </a:solidFill>
                <a:latin typeface="Yu Gothic UI"/>
                <a:ea typeface="Yu Gothic UI"/>
              </a:rPr>
              <a:t>8</a:t>
            </a:r>
            <a:r>
              <a:rPr lang="ja-JP" altLang="en-US" sz="1100">
                <a:solidFill>
                  <a:srgbClr val="5A6472"/>
                </a:solidFill>
                <a:latin typeface="Yu Gothic UI"/>
                <a:ea typeface="Yu Gothic UI"/>
              </a:rPr>
              <a:t>月</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日 追加）</a:t>
            </a:r>
          </a:p>
        </p:txBody>
      </p:sp>
      <p:sp>
        <p:nvSpPr>
          <p:cNvPr id="116" name="正方形/長方形 115">
            <a:extLst>
              <a:ext uri="{FF2B5EF4-FFF2-40B4-BE49-F238E27FC236}">
                <a16:creationId xmlns:a16="http://schemas.microsoft.com/office/drawing/2014/main" id="{8D46E95B-265C-C045-B15B-A3D7A91DCCB2}"/>
              </a:ext>
            </a:extLst>
          </p:cNvPr>
          <p:cNvSpPr/>
          <p:nvPr/>
        </p:nvSpPr>
        <p:spPr>
          <a:xfrm>
            <a:off x="812800" y="4203700"/>
            <a:ext cx="10566400" cy="2921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7" name="正方形/長方形 116">
            <a:extLst>
              <a:ext uri="{FF2B5EF4-FFF2-40B4-BE49-F238E27FC236}">
                <a16:creationId xmlns:a16="http://schemas.microsoft.com/office/drawing/2014/main" id="{7608FA11-B71A-1749-B0C8-C7B399872624}"/>
              </a:ext>
            </a:extLst>
          </p:cNvPr>
          <p:cNvSpPr/>
          <p:nvPr/>
        </p:nvSpPr>
        <p:spPr>
          <a:xfrm>
            <a:off x="812800" y="4483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8" name="テキスト ボックス 117">
            <a:extLst>
              <a:ext uri="{FF2B5EF4-FFF2-40B4-BE49-F238E27FC236}">
                <a16:creationId xmlns:a16="http://schemas.microsoft.com/office/drawing/2014/main" id="{25068B2C-9CFB-CD41-90F2-5CBD60A466D3}"/>
              </a:ext>
            </a:extLst>
          </p:cNvPr>
          <p:cNvSpPr txBox="1"/>
          <p:nvPr/>
        </p:nvSpPr>
        <p:spPr>
          <a:xfrm>
            <a:off x="914400" y="42545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利用者情報の一括同期の互換性</a:t>
            </a:r>
          </a:p>
        </p:txBody>
      </p:sp>
      <p:sp>
        <p:nvSpPr>
          <p:cNvPr id="119" name="角丸四角形 118">
            <a:extLst>
              <a:ext uri="{FF2B5EF4-FFF2-40B4-BE49-F238E27FC236}">
                <a16:creationId xmlns:a16="http://schemas.microsoft.com/office/drawing/2014/main" id="{A377D97F-561C-AE4A-AB51-0A396B581359}"/>
              </a:ext>
            </a:extLst>
          </p:cNvPr>
          <p:cNvSpPr/>
          <p:nvPr/>
        </p:nvSpPr>
        <p:spPr>
          <a:xfrm>
            <a:off x="4699000" y="4241800"/>
            <a:ext cx="736600" cy="203200"/>
          </a:xfrm>
          <a:prstGeom prst="round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検討中</a:t>
            </a:r>
          </a:p>
        </p:txBody>
      </p:sp>
      <p:sp>
        <p:nvSpPr>
          <p:cNvPr id="120" name="テキスト ボックス 119">
            <a:extLst>
              <a:ext uri="{FF2B5EF4-FFF2-40B4-BE49-F238E27FC236}">
                <a16:creationId xmlns:a16="http://schemas.microsoft.com/office/drawing/2014/main" id="{749A45D8-0708-9548-A7A0-14C748B7CE6C}"/>
              </a:ext>
            </a:extLst>
          </p:cNvPr>
          <p:cNvSpPr txBox="1"/>
          <p:nvPr/>
        </p:nvSpPr>
        <p:spPr>
          <a:xfrm>
            <a:off x="5765800" y="42545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顧客側製品との組み合わせ確認が必要</a:t>
            </a:r>
          </a:p>
        </p:txBody>
      </p:sp>
      <p:sp>
        <p:nvSpPr>
          <p:cNvPr id="121" name="正方形/長方形 120">
            <a:extLst>
              <a:ext uri="{FF2B5EF4-FFF2-40B4-BE49-F238E27FC236}">
                <a16:creationId xmlns:a16="http://schemas.microsoft.com/office/drawing/2014/main" id="{B3F7982D-5221-444C-B8A7-0682B01617CF}"/>
              </a:ext>
            </a:extLst>
          </p:cNvPr>
          <p:cNvSpPr/>
          <p:nvPr/>
        </p:nvSpPr>
        <p:spPr>
          <a:xfrm>
            <a:off x="812800" y="47752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2" name="テキスト ボックス 121">
            <a:extLst>
              <a:ext uri="{FF2B5EF4-FFF2-40B4-BE49-F238E27FC236}">
                <a16:creationId xmlns:a16="http://schemas.microsoft.com/office/drawing/2014/main" id="{39D520E5-FDD8-D04C-A81A-CFDCCBD4BEE2}"/>
              </a:ext>
            </a:extLst>
          </p:cNvPr>
          <p:cNvSpPr txBox="1"/>
          <p:nvPr/>
        </p:nvSpPr>
        <p:spPr>
          <a:xfrm>
            <a:off x="914400" y="45466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大阪での復旧手順の妥当性</a:t>
            </a:r>
          </a:p>
        </p:txBody>
      </p:sp>
      <p:sp>
        <p:nvSpPr>
          <p:cNvPr id="123" name="角丸四角形 122">
            <a:extLst>
              <a:ext uri="{FF2B5EF4-FFF2-40B4-BE49-F238E27FC236}">
                <a16:creationId xmlns:a16="http://schemas.microsoft.com/office/drawing/2014/main" id="{5B0E6CB0-FD0D-4840-85AA-DECF3DB9B0D2}"/>
              </a:ext>
            </a:extLst>
          </p:cNvPr>
          <p:cNvSpPr/>
          <p:nvPr/>
        </p:nvSpPr>
        <p:spPr>
          <a:xfrm>
            <a:off x="4699000" y="4533900"/>
            <a:ext cx="736600" cy="2032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24" name="テキスト ボックス 123">
            <a:extLst>
              <a:ext uri="{FF2B5EF4-FFF2-40B4-BE49-F238E27FC236}">
                <a16:creationId xmlns:a16="http://schemas.microsoft.com/office/drawing/2014/main" id="{2964F942-A0AC-EC42-A86C-B0BF0A840968}"/>
              </a:ext>
            </a:extLst>
          </p:cNvPr>
          <p:cNvSpPr txBox="1"/>
          <p:nvPr/>
        </p:nvSpPr>
        <p:spPr>
          <a:xfrm>
            <a:off x="5765800" y="45466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論点は構成の可否から復旧手順書の整備へ転換済み</a:t>
            </a:r>
          </a:p>
        </p:txBody>
      </p:sp>
      <p:sp>
        <p:nvSpPr>
          <p:cNvPr id="125" name="正方形/長方形 124">
            <a:extLst>
              <a:ext uri="{FF2B5EF4-FFF2-40B4-BE49-F238E27FC236}">
                <a16:creationId xmlns:a16="http://schemas.microsoft.com/office/drawing/2014/main" id="{3D23C6D6-67F6-FF45-AC6A-24CF2444D950}"/>
              </a:ext>
            </a:extLst>
          </p:cNvPr>
          <p:cNvSpPr/>
          <p:nvPr/>
        </p:nvSpPr>
        <p:spPr>
          <a:xfrm>
            <a:off x="812800" y="4787900"/>
            <a:ext cx="10566400" cy="2921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6" name="正方形/長方形 125">
            <a:extLst>
              <a:ext uri="{FF2B5EF4-FFF2-40B4-BE49-F238E27FC236}">
                <a16:creationId xmlns:a16="http://schemas.microsoft.com/office/drawing/2014/main" id="{E3606B3B-B649-3240-A52D-3E652F29C684}"/>
              </a:ext>
            </a:extLst>
          </p:cNvPr>
          <p:cNvSpPr/>
          <p:nvPr/>
        </p:nvSpPr>
        <p:spPr>
          <a:xfrm>
            <a:off x="812800" y="5067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7" name="テキスト ボックス 126">
            <a:extLst>
              <a:ext uri="{FF2B5EF4-FFF2-40B4-BE49-F238E27FC236}">
                <a16:creationId xmlns:a16="http://schemas.microsoft.com/office/drawing/2014/main" id="{D26B45BB-564F-1244-935B-867350326EFF}"/>
              </a:ext>
            </a:extLst>
          </p:cNvPr>
          <p:cNvSpPr txBox="1"/>
          <p:nvPr/>
        </p:nvSpPr>
        <p:spPr>
          <a:xfrm>
            <a:off x="914400" y="48387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継続的なアクセス評価への対応</a:t>
            </a:r>
          </a:p>
        </p:txBody>
      </p:sp>
      <p:sp>
        <p:nvSpPr>
          <p:cNvPr id="128" name="角丸四角形 127">
            <a:extLst>
              <a:ext uri="{FF2B5EF4-FFF2-40B4-BE49-F238E27FC236}">
                <a16:creationId xmlns:a16="http://schemas.microsoft.com/office/drawing/2014/main" id="{610FC96E-27D0-B749-BA30-470F66B1C6EF}"/>
              </a:ext>
            </a:extLst>
          </p:cNvPr>
          <p:cNvSpPr/>
          <p:nvPr/>
        </p:nvSpPr>
        <p:spPr>
          <a:xfrm>
            <a:off x="4699000" y="4826000"/>
            <a:ext cx="736600" cy="2032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29" name="テキスト ボックス 128">
            <a:extLst>
              <a:ext uri="{FF2B5EF4-FFF2-40B4-BE49-F238E27FC236}">
                <a16:creationId xmlns:a16="http://schemas.microsoft.com/office/drawing/2014/main" id="{4B5559AA-D941-A64A-819F-C5C73D2EC893}"/>
              </a:ext>
            </a:extLst>
          </p:cNvPr>
          <p:cNvSpPr txBox="1"/>
          <p:nvPr/>
        </p:nvSpPr>
        <p:spPr>
          <a:xfrm>
            <a:off x="5765800" y="48387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第</a:t>
            </a:r>
            <a:r>
              <a:rPr lang="en-US" altLang="ja-JP" sz="1100">
                <a:solidFill>
                  <a:srgbClr val="5A6472"/>
                </a:solidFill>
                <a:latin typeface="Yu Gothic UI"/>
                <a:ea typeface="Yu Gothic UI"/>
              </a:rPr>
              <a:t>1</a:t>
            </a:r>
            <a:r>
              <a:rPr lang="ja-JP" altLang="en-US" sz="1100">
                <a:solidFill>
                  <a:srgbClr val="5A6472"/>
                </a:solidFill>
                <a:latin typeface="Yu Gothic UI"/>
                <a:ea typeface="Yu Gothic UI"/>
              </a:rPr>
              <a:t>段階は暫定の橋渡し方式で成立（</a:t>
            </a:r>
            <a:r>
              <a:rPr lang="en-US" altLang="ja-JP" sz="1100">
                <a:solidFill>
                  <a:srgbClr val="5A6472"/>
                </a:solidFill>
                <a:latin typeface="Yu Gothic UI"/>
                <a:ea typeface="Yu Gothic UI"/>
              </a:rPr>
              <a:t>8</a:t>
            </a:r>
            <a:r>
              <a:rPr lang="ja-JP" altLang="en-US" sz="1100">
                <a:solidFill>
                  <a:srgbClr val="5A6472"/>
                </a:solidFill>
                <a:latin typeface="Yu Gothic UI"/>
                <a:ea typeface="Yu Gothic UI"/>
              </a:rPr>
              <a:t>月</a:t>
            </a:r>
            <a:r>
              <a:rPr lang="en-US" altLang="ja-JP" sz="1100">
                <a:solidFill>
                  <a:srgbClr val="5A6472"/>
                </a:solidFill>
                <a:latin typeface="Yu Gothic UI"/>
                <a:ea typeface="Yu Gothic UI"/>
              </a:rPr>
              <a:t>12</a:t>
            </a:r>
            <a:r>
              <a:rPr lang="ja-JP" altLang="en-US" sz="1100">
                <a:solidFill>
                  <a:srgbClr val="5A6472"/>
                </a:solidFill>
                <a:latin typeface="Yu Gothic UI"/>
                <a:ea typeface="Yu Gothic UI"/>
              </a:rPr>
              <a:t>日 追加）</a:t>
            </a:r>
          </a:p>
        </p:txBody>
      </p:sp>
      <p:sp>
        <p:nvSpPr>
          <p:cNvPr id="130" name="正方形/長方形 129">
            <a:extLst>
              <a:ext uri="{FF2B5EF4-FFF2-40B4-BE49-F238E27FC236}">
                <a16:creationId xmlns:a16="http://schemas.microsoft.com/office/drawing/2014/main" id="{2C93F274-9B07-A347-B7E8-3FA2B099282F}"/>
              </a:ext>
            </a:extLst>
          </p:cNvPr>
          <p:cNvSpPr/>
          <p:nvPr/>
        </p:nvSpPr>
        <p:spPr>
          <a:xfrm>
            <a:off x="812800" y="53594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1" name="テキスト ボックス 130">
            <a:extLst>
              <a:ext uri="{FF2B5EF4-FFF2-40B4-BE49-F238E27FC236}">
                <a16:creationId xmlns:a16="http://schemas.microsoft.com/office/drawing/2014/main" id="{68F34FE8-6185-EF49-9FE7-C050FC1BB5DF}"/>
              </a:ext>
            </a:extLst>
          </p:cNvPr>
          <p:cNvSpPr txBox="1"/>
          <p:nvPr/>
        </p:nvSpPr>
        <p:spPr>
          <a:xfrm>
            <a:off x="914400" y="51308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インターネット出入口の通信許可</a:t>
            </a:r>
          </a:p>
        </p:txBody>
      </p:sp>
      <p:sp>
        <p:nvSpPr>
          <p:cNvPr id="132" name="角丸四角形 131">
            <a:extLst>
              <a:ext uri="{FF2B5EF4-FFF2-40B4-BE49-F238E27FC236}">
                <a16:creationId xmlns:a16="http://schemas.microsoft.com/office/drawing/2014/main" id="{62558B87-9332-3541-996A-8CBDB65C0EAB}"/>
              </a:ext>
            </a:extLst>
          </p:cNvPr>
          <p:cNvSpPr/>
          <p:nvPr/>
        </p:nvSpPr>
        <p:spPr>
          <a:xfrm>
            <a:off x="4699000" y="5118100"/>
            <a:ext cx="736600" cy="2032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33" name="テキスト ボックス 132">
            <a:extLst>
              <a:ext uri="{FF2B5EF4-FFF2-40B4-BE49-F238E27FC236}">
                <a16:creationId xmlns:a16="http://schemas.microsoft.com/office/drawing/2014/main" id="{D2B35D98-3D26-B740-9CAA-926B176C963B}"/>
              </a:ext>
            </a:extLst>
          </p:cNvPr>
          <p:cNvSpPr txBox="1"/>
          <p:nvPr/>
        </p:nvSpPr>
        <p:spPr>
          <a:xfrm>
            <a:off x="5765800" y="51308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合意の方向。要求仕様の提示と回答が必要</a:t>
            </a:r>
          </a:p>
        </p:txBody>
      </p:sp>
      <p:sp>
        <p:nvSpPr>
          <p:cNvPr id="134" name="正方形/長方形 133">
            <a:extLst>
              <a:ext uri="{FF2B5EF4-FFF2-40B4-BE49-F238E27FC236}">
                <a16:creationId xmlns:a16="http://schemas.microsoft.com/office/drawing/2014/main" id="{B01569BD-D442-B648-BA30-ADED102777EA}"/>
              </a:ext>
            </a:extLst>
          </p:cNvPr>
          <p:cNvSpPr/>
          <p:nvPr/>
        </p:nvSpPr>
        <p:spPr>
          <a:xfrm>
            <a:off x="812800" y="5372100"/>
            <a:ext cx="10566400" cy="2921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5" name="正方形/長方形 134">
            <a:extLst>
              <a:ext uri="{FF2B5EF4-FFF2-40B4-BE49-F238E27FC236}">
                <a16:creationId xmlns:a16="http://schemas.microsoft.com/office/drawing/2014/main" id="{BAD13C71-E89E-1E4E-9C62-86AFA5FF8DB2}"/>
              </a:ext>
            </a:extLst>
          </p:cNvPr>
          <p:cNvSpPr/>
          <p:nvPr/>
        </p:nvSpPr>
        <p:spPr>
          <a:xfrm>
            <a:off x="812800" y="5651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6" name="テキスト ボックス 135">
            <a:extLst>
              <a:ext uri="{FF2B5EF4-FFF2-40B4-BE49-F238E27FC236}">
                <a16:creationId xmlns:a16="http://schemas.microsoft.com/office/drawing/2014/main" id="{322D1B4A-175F-F04E-9F44-32DB7943B4F1}"/>
              </a:ext>
            </a:extLst>
          </p:cNvPr>
          <p:cNvSpPr txBox="1"/>
          <p:nvPr/>
        </p:nvSpPr>
        <p:spPr>
          <a:xfrm>
            <a:off x="914400" y="54229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保守要員によるデータ越境閲覧の確認</a:t>
            </a:r>
          </a:p>
        </p:txBody>
      </p:sp>
      <p:sp>
        <p:nvSpPr>
          <p:cNvPr id="137" name="角丸四角形 136">
            <a:extLst>
              <a:ext uri="{FF2B5EF4-FFF2-40B4-BE49-F238E27FC236}">
                <a16:creationId xmlns:a16="http://schemas.microsoft.com/office/drawing/2014/main" id="{C9EFF804-016B-8C44-A85D-B9AE9CDE81A5}"/>
              </a:ext>
            </a:extLst>
          </p:cNvPr>
          <p:cNvSpPr/>
          <p:nvPr/>
        </p:nvSpPr>
        <p:spPr>
          <a:xfrm>
            <a:off x="4699000" y="5410200"/>
            <a:ext cx="736600" cy="2032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38" name="テキスト ボックス 137">
            <a:extLst>
              <a:ext uri="{FF2B5EF4-FFF2-40B4-BE49-F238E27FC236}">
                <a16:creationId xmlns:a16="http://schemas.microsoft.com/office/drawing/2014/main" id="{1D407F13-B742-6641-A851-29D84D126E8D}"/>
              </a:ext>
            </a:extLst>
          </p:cNvPr>
          <p:cNvSpPr txBox="1"/>
          <p:nvPr/>
        </p:nvSpPr>
        <p:spPr>
          <a:xfrm>
            <a:off x="5765800" y="54229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法務確認の残り</a:t>
            </a:r>
            <a:r>
              <a:rPr lang="en-US" altLang="ja-JP" sz="1100">
                <a:solidFill>
                  <a:srgbClr val="5A6472"/>
                </a:solidFill>
                <a:latin typeface="Yu Gothic UI"/>
                <a:ea typeface="Yu Gothic UI"/>
              </a:rPr>
              <a:t>1</a:t>
            </a:r>
            <a:r>
              <a:rPr lang="ja-JP" altLang="en-US" sz="1100">
                <a:solidFill>
                  <a:srgbClr val="5A6472"/>
                </a:solidFill>
                <a:latin typeface="Yu Gothic UI"/>
                <a:ea typeface="Yu Gothic UI"/>
              </a:rPr>
              <a:t>点。実質的な残ブロッカーの</a:t>
            </a:r>
            <a:r>
              <a:rPr lang="en-US" altLang="ja-JP" sz="1100">
                <a:solidFill>
                  <a:srgbClr val="5A6472"/>
                </a:solidFill>
                <a:latin typeface="Yu Gothic UI"/>
                <a:ea typeface="Yu Gothic UI"/>
              </a:rPr>
              <a:t>2</a:t>
            </a:r>
            <a:r>
              <a:rPr lang="ja-JP" altLang="en-US" sz="1100">
                <a:solidFill>
                  <a:srgbClr val="5A6472"/>
                </a:solidFill>
                <a:latin typeface="Yu Gothic UI"/>
                <a:ea typeface="Yu Gothic UI"/>
              </a:rPr>
              <a:t>件目</a:t>
            </a:r>
          </a:p>
        </p:txBody>
      </p:sp>
      <p:sp>
        <p:nvSpPr>
          <p:cNvPr id="139" name="正方形/長方形 138">
            <a:extLst>
              <a:ext uri="{FF2B5EF4-FFF2-40B4-BE49-F238E27FC236}">
                <a16:creationId xmlns:a16="http://schemas.microsoft.com/office/drawing/2014/main" id="{1C958FF1-63FC-F640-B3A7-ADD92BEAD36B}"/>
              </a:ext>
            </a:extLst>
          </p:cNvPr>
          <p:cNvSpPr/>
          <p:nvPr/>
        </p:nvSpPr>
        <p:spPr>
          <a:xfrm>
            <a:off x="812800" y="59436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0" name="テキスト ボックス 139">
            <a:extLst>
              <a:ext uri="{FF2B5EF4-FFF2-40B4-BE49-F238E27FC236}">
                <a16:creationId xmlns:a16="http://schemas.microsoft.com/office/drawing/2014/main" id="{A12553A6-3941-7141-8B5E-229DA2605609}"/>
              </a:ext>
            </a:extLst>
          </p:cNvPr>
          <p:cNvSpPr txBox="1"/>
          <p:nvPr/>
        </p:nvSpPr>
        <p:spPr>
          <a:xfrm>
            <a:off x="914400" y="5715000"/>
            <a:ext cx="3581400" cy="1905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端末側からの復旧経路</a:t>
            </a:r>
          </a:p>
        </p:txBody>
      </p:sp>
      <p:sp>
        <p:nvSpPr>
          <p:cNvPr id="141" name="角丸四角形 140">
            <a:extLst>
              <a:ext uri="{FF2B5EF4-FFF2-40B4-BE49-F238E27FC236}">
                <a16:creationId xmlns:a16="http://schemas.microsoft.com/office/drawing/2014/main" id="{296E2865-4678-A34F-9FAD-8ED735ED8363}"/>
              </a:ext>
            </a:extLst>
          </p:cNvPr>
          <p:cNvSpPr/>
          <p:nvPr/>
        </p:nvSpPr>
        <p:spPr>
          <a:xfrm>
            <a:off x="4699000" y="5702300"/>
            <a:ext cx="736600" cy="2032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2" name="テキスト ボックス 141">
            <a:extLst>
              <a:ext uri="{FF2B5EF4-FFF2-40B4-BE49-F238E27FC236}">
                <a16:creationId xmlns:a16="http://schemas.microsoft.com/office/drawing/2014/main" id="{06BBEEF6-937C-1C47-960B-F88848E17E9D}"/>
              </a:ext>
            </a:extLst>
          </p:cNvPr>
          <p:cNvSpPr txBox="1"/>
          <p:nvPr/>
        </p:nvSpPr>
        <p:spPr>
          <a:xfrm>
            <a:off x="5765800" y="5715000"/>
            <a:ext cx="5511800" cy="1905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論点は構成の可否から復旧手順の記述へ転換済み</a:t>
            </a:r>
          </a:p>
        </p:txBody>
      </p:sp>
      <p:sp>
        <p:nvSpPr>
          <p:cNvPr id="143" name="正方形/長方形 142">
            <a:extLst>
              <a:ext uri="{FF2B5EF4-FFF2-40B4-BE49-F238E27FC236}">
                <a16:creationId xmlns:a16="http://schemas.microsoft.com/office/drawing/2014/main" id="{AD9CCDB5-7768-B346-A494-617F2BC107CD}"/>
              </a:ext>
            </a:extLst>
          </p:cNvPr>
          <p:cNvSpPr/>
          <p:nvPr/>
        </p:nvSpPr>
        <p:spPr>
          <a:xfrm>
            <a:off x="812800" y="6083300"/>
            <a:ext cx="38100" cy="431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4" name="テキスト ボックス 143">
            <a:extLst>
              <a:ext uri="{FF2B5EF4-FFF2-40B4-BE49-F238E27FC236}">
                <a16:creationId xmlns:a16="http://schemas.microsoft.com/office/drawing/2014/main" id="{E523F2DC-BB92-694D-85A2-403F57C82E33}"/>
              </a:ext>
            </a:extLst>
          </p:cNvPr>
          <p:cNvSpPr txBox="1"/>
          <p:nvPr/>
        </p:nvSpPr>
        <p:spPr>
          <a:xfrm>
            <a:off x="990600" y="6083300"/>
            <a:ext cx="10388600" cy="431800"/>
          </a:xfrm>
          <a:prstGeom prst="rect">
            <a:avLst/>
          </a:prstGeom>
          <a:noFill/>
        </p:spPr>
        <p:txBody>
          <a:bodyPr vertOverflow="overflow" vert="horz" wrap="square" rtlCol="0" anchor="t" anchorCtr="0">
            <a:noAutofit/>
          </a:bodyPr>
          <a:lstStyle/>
          <a:p>
            <a:pPr algn="l"/>
            <a:r>
              <a:rPr lang="ja-JP" altLang="en-US" sz="1200" b="1">
                <a:solidFill>
                  <a:srgbClr val="1D2125"/>
                </a:solidFill>
                <a:latin typeface="Yu Gothic UI"/>
                <a:ea typeface="Yu Gothic UI"/>
              </a:rPr>
              <a:t>当初は多くが契約を止めうる論点でしたが、</a:t>
            </a:r>
            <a:r>
              <a:rPr lang="en-US" altLang="ja-JP" sz="1200" b="1">
                <a:solidFill>
                  <a:srgbClr val="1D2125"/>
                </a:solidFill>
                <a:latin typeface="Yu Gothic UI"/>
                <a:ea typeface="Yu Gothic UI"/>
              </a:rPr>
              <a:t>7</a:t>
            </a:r>
            <a:r>
              <a:rPr lang="ja-JP" altLang="en-US" sz="1200" b="1">
                <a:solidFill>
                  <a:srgbClr val="1D2125"/>
                </a:solidFill>
                <a:latin typeface="Yu Gothic UI"/>
                <a:ea typeface="Yu Gothic UI"/>
              </a:rPr>
              <a:t>月</a:t>
            </a:r>
            <a:r>
              <a:rPr lang="en-US" altLang="ja-JP" sz="1200" b="1">
                <a:solidFill>
                  <a:srgbClr val="1D2125"/>
                </a:solidFill>
                <a:latin typeface="Yu Gothic UI"/>
                <a:ea typeface="Yu Gothic UI"/>
              </a:rPr>
              <a:t>30</a:t>
            </a:r>
            <a:r>
              <a:rPr lang="ja-JP" altLang="en-US" sz="1200" b="1">
                <a:solidFill>
                  <a:srgbClr val="1D2125"/>
                </a:solidFill>
                <a:latin typeface="Yu Gothic UI"/>
                <a:ea typeface="Yu Gothic UI"/>
              </a:rPr>
              <a:t>日の意思決定で解消・軟化し</a:t>
            </a:r>
            <a:r>
              <a:rPr lang="en-US" altLang="ja-JP" sz="1200" b="1">
                <a:solidFill>
                  <a:srgbClr val="1D2125"/>
                </a:solidFill>
                <a:latin typeface="Yu Gothic UI"/>
                <a:ea typeface="Yu Gothic UI"/>
              </a:rPr>
              <a:t>2</a:t>
            </a:r>
            <a:r>
              <a:rPr lang="ja-JP" altLang="en-US" sz="1200" b="1">
                <a:solidFill>
                  <a:srgbClr val="1D2125"/>
                </a:solidFill>
                <a:latin typeface="Yu Gothic UI"/>
                <a:ea typeface="Yu Gothic UI"/>
              </a:rPr>
              <a:t>件が廃止されました。現在、実質的に契約を止めているのは互換性検証と越境閲覧確認の</a:t>
            </a:r>
            <a:r>
              <a:rPr lang="en-US" altLang="ja-JP" sz="1200" b="1">
                <a:solidFill>
                  <a:srgbClr val="1D2125"/>
                </a:solidFill>
                <a:latin typeface="Yu Gothic UI"/>
                <a:ea typeface="Yu Gothic UI"/>
              </a:rPr>
              <a:t>2</a:t>
            </a:r>
            <a:r>
              <a:rPr lang="ja-JP" altLang="en-US" sz="1200" b="1">
                <a:solidFill>
                  <a:srgbClr val="1D2125"/>
                </a:solidFill>
                <a:latin typeface="Yu Gothic UI"/>
                <a:ea typeface="Yu Gothic UI"/>
              </a:rPr>
              <a:t>件のみです。</a:t>
            </a:r>
          </a:p>
        </p:txBody>
      </p:sp>
      <p:sp>
        <p:nvSpPr>
          <p:cNvPr id="145" name="テキスト ボックス 144">
            <a:extLst>
              <a:ext uri="{FF2B5EF4-FFF2-40B4-BE49-F238E27FC236}">
                <a16:creationId xmlns:a16="http://schemas.microsoft.com/office/drawing/2014/main" id="{46DCF5C7-73E9-B64B-9468-8081775F256C}"/>
              </a:ext>
            </a:extLst>
          </p:cNvPr>
          <p:cNvSpPr txBox="1"/>
          <p:nvPr/>
        </p:nvSpPr>
        <p:spPr>
          <a:xfrm>
            <a:off x="812800" y="6553200"/>
            <a:ext cx="105664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出典：基本設計書「アーキテクチャ前提」（前提</a:t>
            </a:r>
            <a:r>
              <a:rPr lang="en-US" altLang="ja-JP" sz="1000">
                <a:solidFill>
                  <a:srgbClr val="5A6472"/>
                </a:solidFill>
                <a:latin typeface="Yu Gothic UI"/>
                <a:ea typeface="Yu Gothic UI"/>
              </a:rPr>
              <a:t>18</a:t>
            </a:r>
            <a:r>
              <a:rPr lang="ja-JP" altLang="en-US" sz="1000">
                <a:solidFill>
                  <a:srgbClr val="5A6472"/>
                </a:solidFill>
                <a:latin typeface="Yu Gothic UI"/>
                <a:ea typeface="Yu Gothic UI"/>
              </a:rPr>
              <a:t>件・契約前ゲート）、設計判断記録</a:t>
            </a:r>
          </a:p>
        </p:txBody>
      </p:sp>
    </p:spTree>
    <p:extLst>
      <p:ext uri="{BB962C8B-B14F-4D97-AF65-F5344CB8AC3E}">
        <p14:creationId xmlns:p14="http://schemas.microsoft.com/office/powerpoint/2010/main" val="3384985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CDD10F4-378A-7E42-B6E9-89A22AB62738}"/>
              </a:ext>
            </a:extLst>
          </p:cNvPr>
          <p:cNvSpPr/>
          <p:nvPr/>
        </p:nvSpPr>
        <p:spPr>
          <a:xfrm>
            <a:off x="0" y="0"/>
            <a:ext cx="114300" cy="8890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4E8A5AA-C3F3-D648-AF22-3C524D8FCC3E}"/>
              </a:ext>
            </a:extLst>
          </p:cNvPr>
          <p:cNvSpPr txBox="1"/>
          <p:nvPr/>
        </p:nvSpPr>
        <p:spPr>
          <a:xfrm>
            <a:off x="812800" y="279400"/>
            <a:ext cx="8890000" cy="3810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工数とスケジュールの見通し</a:t>
            </a:r>
          </a:p>
        </p:txBody>
      </p:sp>
      <p:sp>
        <p:nvSpPr>
          <p:cNvPr id="4" name="テキスト ボックス 3">
            <a:extLst>
              <a:ext uri="{FF2B5EF4-FFF2-40B4-BE49-F238E27FC236}">
                <a16:creationId xmlns:a16="http://schemas.microsoft.com/office/drawing/2014/main" id="{DEDDFEB3-8B54-004F-8BDC-5CE2557316CD}"/>
              </a:ext>
            </a:extLst>
          </p:cNvPr>
          <p:cNvSpPr txBox="1"/>
          <p:nvPr/>
        </p:nvSpPr>
        <p:spPr>
          <a:xfrm>
            <a:off x="812800" y="685800"/>
            <a:ext cx="10566400" cy="2540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完了時期を決めるのは工数ではなく外部からの回答リードタイムです。人を増やしても、待ちの部分は短縮できません。</a:t>
            </a:r>
          </a:p>
        </p:txBody>
      </p:sp>
      <p:sp>
        <p:nvSpPr>
          <p:cNvPr id="5" name="正方形/長方形 4">
            <a:extLst>
              <a:ext uri="{FF2B5EF4-FFF2-40B4-BE49-F238E27FC236}">
                <a16:creationId xmlns:a16="http://schemas.microsoft.com/office/drawing/2014/main" id="{D29C9149-E5CF-2740-B661-CD0D7AA98ED7}"/>
              </a:ext>
            </a:extLst>
          </p:cNvPr>
          <p:cNvSpPr/>
          <p:nvPr/>
        </p:nvSpPr>
        <p:spPr>
          <a:xfrm>
            <a:off x="812800" y="1066800"/>
            <a:ext cx="52070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FA08EAA3-D0D7-D44C-81BD-E5E33B732951}"/>
              </a:ext>
            </a:extLst>
          </p:cNvPr>
          <p:cNvSpPr/>
          <p:nvPr/>
        </p:nvSpPr>
        <p:spPr>
          <a:xfrm>
            <a:off x="812800" y="1066800"/>
            <a:ext cx="5207000" cy="50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D48C948-DA46-7C4B-ADBD-B7DD29F069CD}"/>
              </a:ext>
            </a:extLst>
          </p:cNvPr>
          <p:cNvSpPr txBox="1"/>
          <p:nvPr/>
        </p:nvSpPr>
        <p:spPr>
          <a:xfrm>
            <a:off x="1041400" y="1219200"/>
            <a:ext cx="4749800" cy="228600"/>
          </a:xfrm>
          <a:prstGeom prst="rect">
            <a:avLst/>
          </a:prstGeom>
          <a:noFill/>
        </p:spPr>
        <p:txBody>
          <a:bodyPr vertOverflow="overflow" vert="horz" wrap="square" rtlCol="0" anchor="t" anchorCtr="0">
            <a:noAutofit/>
          </a:bodyPr>
          <a:lstStyle/>
          <a:p>
            <a:pPr algn="l"/>
            <a:r>
              <a:rPr lang="ja-JP" altLang="en-US" sz="1300" b="1">
                <a:solidFill>
                  <a:srgbClr val="5A6472"/>
                </a:solidFill>
                <a:latin typeface="Yu Gothic UI"/>
                <a:ea typeface="Yu Gothic UI"/>
              </a:rPr>
              <a:t>基本設計を詰め切るまで</a:t>
            </a:r>
          </a:p>
        </p:txBody>
      </p:sp>
      <p:sp>
        <p:nvSpPr>
          <p:cNvPr id="8" name="テキスト ボックス 7">
            <a:extLst>
              <a:ext uri="{FF2B5EF4-FFF2-40B4-BE49-F238E27FC236}">
                <a16:creationId xmlns:a16="http://schemas.microsoft.com/office/drawing/2014/main" id="{093719B9-C2AF-2345-A133-8C6D2674E746}"/>
              </a:ext>
            </a:extLst>
          </p:cNvPr>
          <p:cNvSpPr txBox="1"/>
          <p:nvPr/>
        </p:nvSpPr>
        <p:spPr>
          <a:xfrm>
            <a:off x="1041400" y="1447800"/>
            <a:ext cx="4749800" cy="381000"/>
          </a:xfrm>
          <a:prstGeom prst="rect">
            <a:avLst/>
          </a:prstGeom>
          <a:noFill/>
        </p:spPr>
        <p:txBody>
          <a:bodyPr vertOverflow="overflow" vert="horz" wrap="square" rtlCol="0" anchor="t" anchorCtr="0">
            <a:noAutofit/>
          </a:bodyPr>
          <a:lstStyle/>
          <a:p>
            <a:pPr algn="l"/>
            <a:r>
              <a:rPr lang="en-US" altLang="ja-JP" sz="2600" b="1">
                <a:solidFill>
                  <a:srgbClr val="1F3864"/>
                </a:solidFill>
                <a:latin typeface="Yu Gothic UI"/>
                <a:ea typeface="Yu Gothic UI"/>
              </a:rPr>
              <a:t>244 </a:t>
            </a:r>
            <a:r>
              <a:rPr lang="ja-JP" altLang="en-US" sz="2600" b="1">
                <a:solidFill>
                  <a:srgbClr val="1F3864"/>
                </a:solidFill>
                <a:latin typeface="Yu Gothic UI"/>
                <a:ea typeface="Yu Gothic UI"/>
              </a:rPr>
              <a:t>人日</a:t>
            </a:r>
          </a:p>
        </p:txBody>
      </p:sp>
      <p:sp>
        <p:nvSpPr>
          <p:cNvPr id="9" name="テキスト ボックス 8">
            <a:extLst>
              <a:ext uri="{FF2B5EF4-FFF2-40B4-BE49-F238E27FC236}">
                <a16:creationId xmlns:a16="http://schemas.microsoft.com/office/drawing/2014/main" id="{58926B80-5DC3-904C-BA21-B99C84D6686F}"/>
              </a:ext>
            </a:extLst>
          </p:cNvPr>
          <p:cNvSpPr txBox="1"/>
          <p:nvPr/>
        </p:nvSpPr>
        <p:spPr>
          <a:xfrm>
            <a:off x="1041400" y="1828800"/>
            <a:ext cx="4749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調査 </a:t>
            </a:r>
            <a:r>
              <a:rPr lang="en-US" altLang="ja-JP" sz="1100">
                <a:solidFill>
                  <a:srgbClr val="5A6472"/>
                </a:solidFill>
                <a:latin typeface="Yu Gothic UI"/>
                <a:ea typeface="Yu Gothic UI"/>
              </a:rPr>
              <a:t>97 </a:t>
            </a:r>
            <a:r>
              <a:rPr lang="ja-JP" altLang="en-US" sz="1100">
                <a:solidFill>
                  <a:srgbClr val="5A6472"/>
                </a:solidFill>
                <a:latin typeface="Yu Gothic UI"/>
                <a:ea typeface="Yu Gothic UI"/>
              </a:rPr>
              <a:t>人日 ＋ 検討・設計 </a:t>
            </a:r>
            <a:r>
              <a:rPr lang="en-US" altLang="ja-JP" sz="1100">
                <a:solidFill>
                  <a:srgbClr val="5A6472"/>
                </a:solidFill>
                <a:latin typeface="Yu Gothic UI"/>
                <a:ea typeface="Yu Gothic UI"/>
              </a:rPr>
              <a:t>147 </a:t>
            </a:r>
            <a:r>
              <a:rPr lang="ja-JP" altLang="en-US" sz="1100">
                <a:solidFill>
                  <a:srgbClr val="5A6472"/>
                </a:solidFill>
                <a:latin typeface="Yu Gothic UI"/>
                <a:ea typeface="Yu Gothic UI"/>
              </a:rPr>
              <a:t>人日。体制の目安は</a:t>
            </a:r>
            <a:r>
              <a:rPr lang="en-US" altLang="ja-JP" sz="1100">
                <a:solidFill>
                  <a:srgbClr val="5A6472"/>
                </a:solidFill>
                <a:latin typeface="Yu Gothic UI"/>
                <a:ea typeface="Yu Gothic UI"/>
              </a:rPr>
              <a:t>2</a:t>
            </a:r>
            <a:r>
              <a:rPr lang="ja-JP" altLang="en-US" sz="1100">
                <a:solidFill>
                  <a:srgbClr val="5A6472"/>
                </a:solidFill>
                <a:latin typeface="Yu Gothic UI"/>
                <a:ea typeface="Yu Gothic UI"/>
              </a:rPr>
              <a:t>名専任で約</a:t>
            </a:r>
            <a:r>
              <a:rPr lang="en-US" altLang="ja-JP" sz="1100">
                <a:solidFill>
                  <a:srgbClr val="5A6472"/>
                </a:solidFill>
                <a:latin typeface="Yu Gothic UI"/>
                <a:ea typeface="Yu Gothic UI"/>
              </a:rPr>
              <a:t>6</a:t>
            </a:r>
            <a:r>
              <a:rPr lang="ja-JP" altLang="en-US" sz="1100">
                <a:solidFill>
                  <a:srgbClr val="5A6472"/>
                </a:solidFill>
                <a:latin typeface="Yu Gothic UI"/>
                <a:ea typeface="Yu Gothic UI"/>
              </a:rPr>
              <a:t>ヶ月、</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名で約</a:t>
            </a:r>
            <a:r>
              <a:rPr lang="en-US" altLang="ja-JP" sz="1100">
                <a:solidFill>
                  <a:srgbClr val="5A6472"/>
                </a:solidFill>
                <a:latin typeface="Yu Gothic UI"/>
                <a:ea typeface="Yu Gothic UI"/>
              </a:rPr>
              <a:t>4</a:t>
            </a:r>
            <a:r>
              <a:rPr lang="ja-JP" altLang="en-US" sz="1100">
                <a:solidFill>
                  <a:srgbClr val="5A6472"/>
                </a:solidFill>
                <a:latin typeface="Yu Gothic UI"/>
                <a:ea typeface="Yu Gothic UI"/>
              </a:rPr>
              <a:t>ヶ月。</a:t>
            </a:r>
          </a:p>
        </p:txBody>
      </p:sp>
      <p:sp>
        <p:nvSpPr>
          <p:cNvPr id="10" name="正方形/長方形 9">
            <a:extLst>
              <a:ext uri="{FF2B5EF4-FFF2-40B4-BE49-F238E27FC236}">
                <a16:creationId xmlns:a16="http://schemas.microsoft.com/office/drawing/2014/main" id="{8623B9C4-8678-7A49-842C-507B3913FA4C}"/>
              </a:ext>
            </a:extLst>
          </p:cNvPr>
          <p:cNvSpPr/>
          <p:nvPr/>
        </p:nvSpPr>
        <p:spPr>
          <a:xfrm>
            <a:off x="6172200" y="1066800"/>
            <a:ext cx="5207000" cy="10668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正方形/長方形 10">
            <a:extLst>
              <a:ext uri="{FF2B5EF4-FFF2-40B4-BE49-F238E27FC236}">
                <a16:creationId xmlns:a16="http://schemas.microsoft.com/office/drawing/2014/main" id="{4DBDB14F-F154-3D4D-AB16-DF5EDF02A0FF}"/>
              </a:ext>
            </a:extLst>
          </p:cNvPr>
          <p:cNvSpPr/>
          <p:nvPr/>
        </p:nvSpPr>
        <p:spPr>
          <a:xfrm>
            <a:off x="6172200" y="1066800"/>
            <a:ext cx="5207000" cy="508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テキスト ボックス 11">
            <a:extLst>
              <a:ext uri="{FF2B5EF4-FFF2-40B4-BE49-F238E27FC236}">
                <a16:creationId xmlns:a16="http://schemas.microsoft.com/office/drawing/2014/main" id="{45743CC4-6AD0-1D40-A854-37A5C6509633}"/>
              </a:ext>
            </a:extLst>
          </p:cNvPr>
          <p:cNvSpPr txBox="1"/>
          <p:nvPr/>
        </p:nvSpPr>
        <p:spPr>
          <a:xfrm>
            <a:off x="6400800" y="1219200"/>
            <a:ext cx="4749800" cy="228600"/>
          </a:xfrm>
          <a:prstGeom prst="rect">
            <a:avLst/>
          </a:prstGeom>
          <a:noFill/>
        </p:spPr>
        <p:txBody>
          <a:bodyPr vertOverflow="overflow" vert="horz" wrap="square" rtlCol="0" anchor="t" anchorCtr="0">
            <a:noAutofit/>
          </a:bodyPr>
          <a:lstStyle/>
          <a:p>
            <a:pPr algn="l"/>
            <a:r>
              <a:rPr lang="ja-JP" altLang="en-US" sz="1300" b="1">
                <a:solidFill>
                  <a:srgbClr val="5A6472"/>
                </a:solidFill>
                <a:latin typeface="Yu Gothic UI"/>
                <a:ea typeface="Yu Gothic UI"/>
              </a:rPr>
              <a:t>その後の構築フェーズ</a:t>
            </a:r>
          </a:p>
        </p:txBody>
      </p:sp>
      <p:sp>
        <p:nvSpPr>
          <p:cNvPr id="13" name="テキスト ボックス 12">
            <a:extLst>
              <a:ext uri="{FF2B5EF4-FFF2-40B4-BE49-F238E27FC236}">
                <a16:creationId xmlns:a16="http://schemas.microsoft.com/office/drawing/2014/main" id="{4D31E313-DDCF-DA48-A973-FFBCAADD2AE0}"/>
              </a:ext>
            </a:extLst>
          </p:cNvPr>
          <p:cNvSpPr txBox="1"/>
          <p:nvPr/>
        </p:nvSpPr>
        <p:spPr>
          <a:xfrm>
            <a:off x="6400800" y="1447800"/>
            <a:ext cx="4749800" cy="381000"/>
          </a:xfrm>
          <a:prstGeom prst="rect">
            <a:avLst/>
          </a:prstGeom>
          <a:noFill/>
        </p:spPr>
        <p:txBody>
          <a:bodyPr vertOverflow="overflow" vert="horz" wrap="square" rtlCol="0" anchor="t" anchorCtr="0">
            <a:noAutofit/>
          </a:bodyPr>
          <a:lstStyle/>
          <a:p>
            <a:pPr algn="l"/>
            <a:r>
              <a:rPr lang="en-US" altLang="ja-JP" sz="2600" b="1">
                <a:solidFill>
                  <a:srgbClr val="0F766E"/>
                </a:solidFill>
                <a:latin typeface="Yu Gothic UI"/>
                <a:ea typeface="Yu Gothic UI"/>
              </a:rPr>
              <a:t>325〜455 </a:t>
            </a:r>
            <a:r>
              <a:rPr lang="ja-JP" altLang="en-US" sz="2600" b="1">
                <a:solidFill>
                  <a:srgbClr val="0F766E"/>
                </a:solidFill>
                <a:latin typeface="Yu Gothic UI"/>
                <a:ea typeface="Yu Gothic UI"/>
              </a:rPr>
              <a:t>人日</a:t>
            </a:r>
          </a:p>
        </p:txBody>
      </p:sp>
      <p:sp>
        <p:nvSpPr>
          <p:cNvPr id="14" name="テキスト ボックス 13">
            <a:extLst>
              <a:ext uri="{FF2B5EF4-FFF2-40B4-BE49-F238E27FC236}">
                <a16:creationId xmlns:a16="http://schemas.microsoft.com/office/drawing/2014/main" id="{78B672C5-892A-0C48-823C-E1CF9208E2FE}"/>
              </a:ext>
            </a:extLst>
          </p:cNvPr>
          <p:cNvSpPr txBox="1"/>
          <p:nvPr/>
        </p:nvSpPr>
        <p:spPr>
          <a:xfrm>
            <a:off x="6400800" y="1828800"/>
            <a:ext cx="4749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約</a:t>
            </a:r>
            <a:r>
              <a:rPr lang="en-US" altLang="ja-JP" sz="1100">
                <a:solidFill>
                  <a:srgbClr val="5A6472"/>
                </a:solidFill>
                <a:latin typeface="Yu Gothic UI"/>
                <a:ea typeface="Yu Gothic UI"/>
              </a:rPr>
              <a:t>16〜22</a:t>
            </a:r>
            <a:r>
              <a:rPr lang="ja-JP" altLang="en-US" sz="1100">
                <a:solidFill>
                  <a:srgbClr val="5A6472"/>
                </a:solidFill>
                <a:latin typeface="Yu Gothic UI"/>
                <a:ea typeface="Yu Gothic UI"/>
              </a:rPr>
              <a:t>人月。テスト</a:t>
            </a:r>
            <a:r>
              <a:rPr lang="en-US" altLang="ja-JP" sz="1100">
                <a:solidFill>
                  <a:srgbClr val="5A6472"/>
                </a:solidFill>
                <a:latin typeface="Yu Gothic UI"/>
                <a:ea typeface="Yu Gothic UI"/>
              </a:rPr>
              <a:t>40〜60</a:t>
            </a:r>
            <a:r>
              <a:rPr lang="ja-JP" altLang="en-US" sz="1100">
                <a:solidFill>
                  <a:srgbClr val="5A6472"/>
                </a:solidFill>
                <a:latin typeface="Yu Gothic UI"/>
                <a:ea typeface="Yu Gothic UI"/>
              </a:rPr>
              <a:t>人日を含む。実際の期間は約</a:t>
            </a:r>
            <a:r>
              <a:rPr lang="en-US" altLang="ja-JP" sz="1100">
                <a:solidFill>
                  <a:srgbClr val="5A6472"/>
                </a:solidFill>
                <a:latin typeface="Yu Gothic UI"/>
                <a:ea typeface="Yu Gothic UI"/>
              </a:rPr>
              <a:t>6〜9</a:t>
            </a:r>
            <a:r>
              <a:rPr lang="ja-JP" altLang="en-US" sz="1100">
                <a:solidFill>
                  <a:srgbClr val="5A6472"/>
                </a:solidFill>
                <a:latin typeface="Yu Gothic UI"/>
                <a:ea typeface="Yu Gothic UI"/>
              </a:rPr>
              <a:t>ヶ月の見込み。</a:t>
            </a:r>
          </a:p>
        </p:txBody>
      </p:sp>
      <p:sp>
        <p:nvSpPr>
          <p:cNvPr id="15" name="テキスト ボックス 14">
            <a:extLst>
              <a:ext uri="{FF2B5EF4-FFF2-40B4-BE49-F238E27FC236}">
                <a16:creationId xmlns:a16="http://schemas.microsoft.com/office/drawing/2014/main" id="{AB8DEE79-D8E3-DD4F-806E-4E74E9AE3741}"/>
              </a:ext>
            </a:extLst>
          </p:cNvPr>
          <p:cNvSpPr txBox="1"/>
          <p:nvPr/>
        </p:nvSpPr>
        <p:spPr>
          <a:xfrm>
            <a:off x="812800" y="2286000"/>
            <a:ext cx="5080000" cy="228600"/>
          </a:xfrm>
          <a:prstGeom prst="rect">
            <a:avLst/>
          </a:prstGeom>
          <a:noFill/>
        </p:spPr>
        <p:txBody>
          <a:bodyPr vertOverflow="overflow" vert="horz" wrap="square" rtlCol="0" anchor="t" anchorCtr="0">
            <a:noAutofit/>
          </a:bodyPr>
          <a:lstStyle/>
          <a:p>
            <a:pPr algn="l"/>
            <a:r>
              <a:rPr lang="ja-JP" altLang="en-US" sz="1400" b="1">
                <a:solidFill>
                  <a:srgbClr val="1F3864"/>
                </a:solidFill>
                <a:latin typeface="Yu Gothic UI"/>
                <a:ea typeface="Yu Gothic UI"/>
              </a:rPr>
              <a:t>進め方（</a:t>
            </a:r>
            <a:r>
              <a:rPr lang="en-US" altLang="ja-JP" sz="1400" b="1">
                <a:solidFill>
                  <a:srgbClr val="1F3864"/>
                </a:solidFill>
                <a:latin typeface="Yu Gothic UI"/>
                <a:ea typeface="Yu Gothic UI"/>
              </a:rPr>
              <a:t>3</a:t>
            </a:r>
            <a:r>
              <a:rPr lang="ja-JP" altLang="en-US" sz="1400" b="1">
                <a:solidFill>
                  <a:srgbClr val="1F3864"/>
                </a:solidFill>
                <a:latin typeface="Yu Gothic UI"/>
                <a:ea typeface="Yu Gothic UI"/>
              </a:rPr>
              <a:t>つの波）</a:t>
            </a:r>
          </a:p>
        </p:txBody>
      </p:sp>
      <p:sp>
        <p:nvSpPr>
          <p:cNvPr id="16" name="正方形/長方形 15">
            <a:extLst>
              <a:ext uri="{FF2B5EF4-FFF2-40B4-BE49-F238E27FC236}">
                <a16:creationId xmlns:a16="http://schemas.microsoft.com/office/drawing/2014/main" id="{CA667CDA-E780-A34B-BF5A-06737F292F3A}"/>
              </a:ext>
            </a:extLst>
          </p:cNvPr>
          <p:cNvSpPr/>
          <p:nvPr/>
        </p:nvSpPr>
        <p:spPr>
          <a:xfrm>
            <a:off x="812800" y="2565400"/>
            <a:ext cx="3403600" cy="2006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正方形/長方形 16">
            <a:extLst>
              <a:ext uri="{FF2B5EF4-FFF2-40B4-BE49-F238E27FC236}">
                <a16:creationId xmlns:a16="http://schemas.microsoft.com/office/drawing/2014/main" id="{A0BF1DF6-094F-CD4C-B504-21B70008CFA2}"/>
              </a:ext>
            </a:extLst>
          </p:cNvPr>
          <p:cNvSpPr/>
          <p:nvPr/>
        </p:nvSpPr>
        <p:spPr>
          <a:xfrm>
            <a:off x="812800" y="2565400"/>
            <a:ext cx="3403600" cy="3302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 name="テキスト ボックス 17">
            <a:extLst>
              <a:ext uri="{FF2B5EF4-FFF2-40B4-BE49-F238E27FC236}">
                <a16:creationId xmlns:a16="http://schemas.microsoft.com/office/drawing/2014/main" id="{2E6A5F6A-F361-FE41-A917-8DBE99EEB594}"/>
              </a:ext>
            </a:extLst>
          </p:cNvPr>
          <p:cNvSpPr txBox="1"/>
          <p:nvPr/>
        </p:nvSpPr>
        <p:spPr>
          <a:xfrm>
            <a:off x="965200" y="2628900"/>
            <a:ext cx="21590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Yu Gothic UI"/>
                <a:ea typeface="Yu Gothic UI"/>
              </a:rPr>
              <a:t>第</a:t>
            </a:r>
            <a:r>
              <a:rPr lang="en-US" altLang="ja-JP" sz="1200" b="1">
                <a:solidFill>
                  <a:srgbClr val="FFFFFF"/>
                </a:solidFill>
                <a:latin typeface="Yu Gothic UI"/>
                <a:ea typeface="Yu Gothic UI"/>
              </a:rPr>
              <a:t>1</a:t>
            </a:r>
            <a:r>
              <a:rPr lang="ja-JP" altLang="en-US" sz="1200" b="1">
                <a:solidFill>
                  <a:srgbClr val="FFFFFF"/>
                </a:solidFill>
                <a:latin typeface="Yu Gothic UI"/>
                <a:ea typeface="Yu Gothic UI"/>
              </a:rPr>
              <a:t>波　すぐ着手</a:t>
            </a:r>
          </a:p>
        </p:txBody>
      </p:sp>
      <p:sp>
        <p:nvSpPr>
          <p:cNvPr id="19" name="テキスト ボックス 18">
            <a:extLst>
              <a:ext uri="{FF2B5EF4-FFF2-40B4-BE49-F238E27FC236}">
                <a16:creationId xmlns:a16="http://schemas.microsoft.com/office/drawing/2014/main" id="{B266B573-1B66-B847-87AB-397265115118}"/>
              </a:ext>
            </a:extLst>
          </p:cNvPr>
          <p:cNvSpPr txBox="1"/>
          <p:nvPr/>
        </p:nvSpPr>
        <p:spPr>
          <a:xfrm>
            <a:off x="3149600" y="2628900"/>
            <a:ext cx="939800" cy="228600"/>
          </a:xfrm>
          <a:prstGeom prst="rect">
            <a:avLst/>
          </a:prstGeom>
          <a:noFill/>
        </p:spPr>
        <p:txBody>
          <a:bodyPr vertOverflow="overflow" vert="horz" wrap="square" rtlCol="0" anchor="t" anchorCtr="0">
            <a:noAutofit/>
          </a:bodyPr>
          <a:lstStyle/>
          <a:p>
            <a:pPr algn="l"/>
            <a:r>
              <a:rPr lang="en-US" altLang="ja-JP" sz="1100" b="1">
                <a:solidFill>
                  <a:srgbClr val="FFFFFF"/>
                </a:solidFill>
                <a:latin typeface="Yu Gothic UI"/>
                <a:ea typeface="Yu Gothic UI"/>
              </a:rPr>
              <a:t>1〜2</a:t>
            </a:r>
            <a:r>
              <a:rPr lang="ja-JP" altLang="en-US" sz="1100" b="1">
                <a:solidFill>
                  <a:srgbClr val="FFFFFF"/>
                </a:solidFill>
                <a:latin typeface="Yu Gothic UI"/>
                <a:ea typeface="Yu Gothic UI"/>
              </a:rPr>
              <a:t>週間</a:t>
            </a:r>
          </a:p>
        </p:txBody>
      </p:sp>
      <p:sp>
        <p:nvSpPr>
          <p:cNvPr id="20" name="テキスト ボックス 19">
            <a:extLst>
              <a:ext uri="{FF2B5EF4-FFF2-40B4-BE49-F238E27FC236}">
                <a16:creationId xmlns:a16="http://schemas.microsoft.com/office/drawing/2014/main" id="{2E229E3E-3AE1-C44E-BC00-405DFA527EB6}"/>
              </a:ext>
            </a:extLst>
          </p:cNvPr>
          <p:cNvSpPr txBox="1"/>
          <p:nvPr/>
        </p:nvSpPr>
        <p:spPr>
          <a:xfrm>
            <a:off x="965200" y="2997200"/>
            <a:ext cx="3098800" cy="14986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・顧客への質問状を発行する
・法務へデータ処理契約を起票する（最優先）
・他組織へ要求仕様の初版を提示する
・設計文書の是正 </a:t>
            </a:r>
            <a:r>
              <a:rPr lang="en-US" altLang="ja-JP" sz="1100">
                <a:solidFill>
                  <a:srgbClr val="1D2125"/>
                </a:solidFill>
                <a:latin typeface="Yu Gothic UI"/>
                <a:ea typeface="Yu Gothic UI"/>
              </a:rPr>
              <a:t>6</a:t>
            </a:r>
            <a:r>
              <a:rPr lang="ja-JP" altLang="en-US" sz="1100">
                <a:solidFill>
                  <a:srgbClr val="1D2125"/>
                </a:solidFill>
                <a:latin typeface="Yu Gothic UI"/>
                <a:ea typeface="Yu Gothic UI"/>
              </a:rPr>
              <a:t>件
・負荷試験の計画を作る</a:t>
            </a:r>
          </a:p>
        </p:txBody>
      </p:sp>
      <p:sp>
        <p:nvSpPr>
          <p:cNvPr id="21" name="正方形/長方形 20">
            <a:extLst>
              <a:ext uri="{FF2B5EF4-FFF2-40B4-BE49-F238E27FC236}">
                <a16:creationId xmlns:a16="http://schemas.microsoft.com/office/drawing/2014/main" id="{4BE13405-BB74-5040-9866-C829C8257217}"/>
              </a:ext>
            </a:extLst>
          </p:cNvPr>
          <p:cNvSpPr/>
          <p:nvPr/>
        </p:nvSpPr>
        <p:spPr>
          <a:xfrm>
            <a:off x="4394200" y="2565400"/>
            <a:ext cx="3403600" cy="2006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正方形/長方形 21">
            <a:extLst>
              <a:ext uri="{FF2B5EF4-FFF2-40B4-BE49-F238E27FC236}">
                <a16:creationId xmlns:a16="http://schemas.microsoft.com/office/drawing/2014/main" id="{A6F8986E-972A-8F4F-B918-E87782DAE860}"/>
              </a:ext>
            </a:extLst>
          </p:cNvPr>
          <p:cNvSpPr/>
          <p:nvPr/>
        </p:nvSpPr>
        <p:spPr>
          <a:xfrm>
            <a:off x="4394200" y="2565400"/>
            <a:ext cx="3403600" cy="330200"/>
          </a:xfrm>
          <a:prstGeom prst="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テキスト ボックス 22">
            <a:extLst>
              <a:ext uri="{FF2B5EF4-FFF2-40B4-BE49-F238E27FC236}">
                <a16:creationId xmlns:a16="http://schemas.microsoft.com/office/drawing/2014/main" id="{FD234F7D-ADB1-4E41-993E-425071750B2B}"/>
              </a:ext>
            </a:extLst>
          </p:cNvPr>
          <p:cNvSpPr txBox="1"/>
          <p:nvPr/>
        </p:nvSpPr>
        <p:spPr>
          <a:xfrm>
            <a:off x="4546600" y="2628900"/>
            <a:ext cx="21590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Yu Gothic UI"/>
                <a:ea typeface="Yu Gothic UI"/>
              </a:rPr>
              <a:t>第</a:t>
            </a:r>
            <a:r>
              <a:rPr lang="en-US" altLang="ja-JP" sz="1200" b="1">
                <a:solidFill>
                  <a:srgbClr val="FFFFFF"/>
                </a:solidFill>
                <a:latin typeface="Yu Gothic UI"/>
                <a:ea typeface="Yu Gothic UI"/>
              </a:rPr>
              <a:t>2</a:t>
            </a:r>
            <a:r>
              <a:rPr lang="ja-JP" altLang="en-US" sz="1200" b="1">
                <a:solidFill>
                  <a:srgbClr val="FFFFFF"/>
                </a:solidFill>
                <a:latin typeface="Yu Gothic UI"/>
                <a:ea typeface="Yu Gothic UI"/>
              </a:rPr>
              <a:t>波　技術検証</a:t>
            </a:r>
          </a:p>
        </p:txBody>
      </p:sp>
      <p:sp>
        <p:nvSpPr>
          <p:cNvPr id="24" name="テキスト ボックス 23">
            <a:extLst>
              <a:ext uri="{FF2B5EF4-FFF2-40B4-BE49-F238E27FC236}">
                <a16:creationId xmlns:a16="http://schemas.microsoft.com/office/drawing/2014/main" id="{FDE19172-7C89-9847-A75D-02C8C1D44823}"/>
              </a:ext>
            </a:extLst>
          </p:cNvPr>
          <p:cNvSpPr txBox="1"/>
          <p:nvPr/>
        </p:nvSpPr>
        <p:spPr>
          <a:xfrm>
            <a:off x="6731000" y="2628900"/>
            <a:ext cx="939800" cy="2286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約</a:t>
            </a:r>
            <a:r>
              <a:rPr lang="en-US" altLang="ja-JP" sz="1100" b="1">
                <a:solidFill>
                  <a:srgbClr val="FFFFFF"/>
                </a:solidFill>
                <a:latin typeface="Yu Gothic UI"/>
                <a:ea typeface="Yu Gothic UI"/>
              </a:rPr>
              <a:t>2.5</a:t>
            </a:r>
            <a:r>
              <a:rPr lang="ja-JP" altLang="en-US" sz="1100" b="1">
                <a:solidFill>
                  <a:srgbClr val="FFFFFF"/>
                </a:solidFill>
                <a:latin typeface="Yu Gothic UI"/>
                <a:ea typeface="Yu Gothic UI"/>
              </a:rPr>
              <a:t>ヶ月</a:t>
            </a:r>
          </a:p>
        </p:txBody>
      </p:sp>
      <p:sp>
        <p:nvSpPr>
          <p:cNvPr id="25" name="テキスト ボックス 24">
            <a:extLst>
              <a:ext uri="{FF2B5EF4-FFF2-40B4-BE49-F238E27FC236}">
                <a16:creationId xmlns:a16="http://schemas.microsoft.com/office/drawing/2014/main" id="{416AF2C6-CC1C-E944-9DAF-CB5B18D38186}"/>
              </a:ext>
            </a:extLst>
          </p:cNvPr>
          <p:cNvSpPr txBox="1"/>
          <p:nvPr/>
        </p:nvSpPr>
        <p:spPr>
          <a:xfrm>
            <a:off x="4546600" y="2997200"/>
            <a:ext cx="3098800" cy="14986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・他組織のセキュリティ製品との互換性検証
・大規模接続時の挙動の実測
・利用者情報の一括同期の検証
・新規に洗い出した領域の設計
・運用手順書</a:t>
            </a:r>
            <a:r>
              <a:rPr lang="en-US" altLang="ja-JP" sz="1100">
                <a:solidFill>
                  <a:srgbClr val="1D2125"/>
                </a:solidFill>
                <a:latin typeface="Yu Gothic UI"/>
                <a:ea typeface="Yu Gothic UI"/>
              </a:rPr>
              <a:t>13</a:t>
            </a:r>
            <a:r>
              <a:rPr lang="ja-JP" altLang="en-US" sz="1100">
                <a:solidFill>
                  <a:srgbClr val="1D2125"/>
                </a:solidFill>
                <a:latin typeface="Yu Gothic UI"/>
                <a:ea typeface="Yu Gothic UI"/>
              </a:rPr>
              <a:t>冊の執筆を並行</a:t>
            </a:r>
          </a:p>
        </p:txBody>
      </p:sp>
      <p:sp>
        <p:nvSpPr>
          <p:cNvPr id="26" name="正方形/長方形 25">
            <a:extLst>
              <a:ext uri="{FF2B5EF4-FFF2-40B4-BE49-F238E27FC236}">
                <a16:creationId xmlns:a16="http://schemas.microsoft.com/office/drawing/2014/main" id="{B88A0056-B43A-0242-B91A-0DCB2D8FB1EF}"/>
              </a:ext>
            </a:extLst>
          </p:cNvPr>
          <p:cNvSpPr/>
          <p:nvPr/>
        </p:nvSpPr>
        <p:spPr>
          <a:xfrm>
            <a:off x="7975600" y="2565400"/>
            <a:ext cx="3403600" cy="2006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9A585493-242F-7F48-B764-FD66837F7A3F}"/>
              </a:ext>
            </a:extLst>
          </p:cNvPr>
          <p:cNvSpPr/>
          <p:nvPr/>
        </p:nvSpPr>
        <p:spPr>
          <a:xfrm>
            <a:off x="7975600" y="2565400"/>
            <a:ext cx="3403600" cy="330200"/>
          </a:xfrm>
          <a:prstGeom prst="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D90B76A7-1767-BA43-AC89-837AA6B31DE8}"/>
              </a:ext>
            </a:extLst>
          </p:cNvPr>
          <p:cNvSpPr txBox="1"/>
          <p:nvPr/>
        </p:nvSpPr>
        <p:spPr>
          <a:xfrm>
            <a:off x="8128000" y="2628900"/>
            <a:ext cx="2159000" cy="228600"/>
          </a:xfrm>
          <a:prstGeom prst="rect">
            <a:avLst/>
          </a:prstGeom>
          <a:noFill/>
        </p:spPr>
        <p:txBody>
          <a:bodyPr vertOverflow="overflow" vert="horz" wrap="square" rtlCol="0" anchor="t" anchorCtr="0">
            <a:noAutofit/>
          </a:bodyPr>
          <a:lstStyle/>
          <a:p>
            <a:pPr algn="l"/>
            <a:r>
              <a:rPr lang="ja-JP" altLang="en-US" sz="1200" b="1">
                <a:solidFill>
                  <a:srgbClr val="FFFFFF"/>
                </a:solidFill>
                <a:latin typeface="Yu Gothic UI"/>
                <a:ea typeface="Yu Gothic UI"/>
              </a:rPr>
              <a:t>第</a:t>
            </a:r>
            <a:r>
              <a:rPr lang="en-US" altLang="ja-JP" sz="1200" b="1">
                <a:solidFill>
                  <a:srgbClr val="FFFFFF"/>
                </a:solidFill>
                <a:latin typeface="Yu Gothic UI"/>
                <a:ea typeface="Yu Gothic UI"/>
              </a:rPr>
              <a:t>3</a:t>
            </a:r>
            <a:r>
              <a:rPr lang="ja-JP" altLang="en-US" sz="1200" b="1">
                <a:solidFill>
                  <a:srgbClr val="FFFFFF"/>
                </a:solidFill>
                <a:latin typeface="Yu Gothic UI"/>
                <a:ea typeface="Yu Gothic UI"/>
              </a:rPr>
              <a:t>波　回答の反映</a:t>
            </a:r>
          </a:p>
        </p:txBody>
      </p:sp>
      <p:sp>
        <p:nvSpPr>
          <p:cNvPr id="29" name="テキスト ボックス 28">
            <a:extLst>
              <a:ext uri="{FF2B5EF4-FFF2-40B4-BE49-F238E27FC236}">
                <a16:creationId xmlns:a16="http://schemas.microsoft.com/office/drawing/2014/main" id="{D05D1662-A196-4548-AC83-33D4F9CEDFD0}"/>
              </a:ext>
            </a:extLst>
          </p:cNvPr>
          <p:cNvSpPr txBox="1"/>
          <p:nvPr/>
        </p:nvSpPr>
        <p:spPr>
          <a:xfrm>
            <a:off x="10312400" y="2628900"/>
            <a:ext cx="939800" cy="2286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約</a:t>
            </a:r>
            <a:r>
              <a:rPr lang="en-US" altLang="ja-JP" sz="1100" b="1">
                <a:solidFill>
                  <a:srgbClr val="FFFFFF"/>
                </a:solidFill>
                <a:latin typeface="Yu Gothic UI"/>
                <a:ea typeface="Yu Gothic UI"/>
              </a:rPr>
              <a:t>1.5</a:t>
            </a:r>
            <a:r>
              <a:rPr lang="ja-JP" altLang="en-US" sz="1100" b="1">
                <a:solidFill>
                  <a:srgbClr val="FFFFFF"/>
                </a:solidFill>
                <a:latin typeface="Yu Gothic UI"/>
                <a:ea typeface="Yu Gothic UI"/>
              </a:rPr>
              <a:t>ヶ月</a:t>
            </a:r>
          </a:p>
        </p:txBody>
      </p:sp>
      <p:sp>
        <p:nvSpPr>
          <p:cNvPr id="30" name="テキスト ボックス 29">
            <a:extLst>
              <a:ext uri="{FF2B5EF4-FFF2-40B4-BE49-F238E27FC236}">
                <a16:creationId xmlns:a16="http://schemas.microsoft.com/office/drawing/2014/main" id="{E86023FE-1674-8F4C-93B0-FC544D20213E}"/>
              </a:ext>
            </a:extLst>
          </p:cNvPr>
          <p:cNvSpPr txBox="1"/>
          <p:nvPr/>
        </p:nvSpPr>
        <p:spPr>
          <a:xfrm>
            <a:off x="8128000" y="2997200"/>
            <a:ext cx="3098800" cy="14986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・未確定だった設計を合同で確定させる
・質問状の回答を要件へ反映する
・契約前に検証すべき事項の合意を取る</a:t>
            </a:r>
          </a:p>
        </p:txBody>
      </p:sp>
      <p:sp>
        <p:nvSpPr>
          <p:cNvPr id="31" name="正方形/長方形 30">
            <a:extLst>
              <a:ext uri="{FF2B5EF4-FFF2-40B4-BE49-F238E27FC236}">
                <a16:creationId xmlns:a16="http://schemas.microsoft.com/office/drawing/2014/main" id="{9CABF764-800A-8C49-9060-9006E8556143}"/>
              </a:ext>
            </a:extLst>
          </p:cNvPr>
          <p:cNvSpPr/>
          <p:nvPr/>
        </p:nvSpPr>
        <p:spPr>
          <a:xfrm>
            <a:off x="812800" y="4775200"/>
            <a:ext cx="10566400" cy="1219200"/>
          </a:xfrm>
          <a:prstGeom prst="rect">
            <a:avLst/>
          </a:prstGeom>
          <a:solidFill>
            <a:srgbClr val="EAF0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正方形/長方形 31">
            <a:extLst>
              <a:ext uri="{FF2B5EF4-FFF2-40B4-BE49-F238E27FC236}">
                <a16:creationId xmlns:a16="http://schemas.microsoft.com/office/drawing/2014/main" id="{B10A7ED0-F461-D34D-8D64-88AF09AF6037}"/>
              </a:ext>
            </a:extLst>
          </p:cNvPr>
          <p:cNvSpPr/>
          <p:nvPr/>
        </p:nvSpPr>
        <p:spPr>
          <a:xfrm>
            <a:off x="812800" y="4775200"/>
            <a:ext cx="50800" cy="1219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EA8549E8-54B0-BC44-9F89-7C620E42CF40}"/>
              </a:ext>
            </a:extLst>
          </p:cNvPr>
          <p:cNvSpPr txBox="1"/>
          <p:nvPr/>
        </p:nvSpPr>
        <p:spPr>
          <a:xfrm>
            <a:off x="1041400" y="4902200"/>
            <a:ext cx="5080000" cy="228600"/>
          </a:xfrm>
          <a:prstGeom prst="rect">
            <a:avLst/>
          </a:prstGeom>
          <a:noFill/>
        </p:spPr>
        <p:txBody>
          <a:bodyPr vertOverflow="overflow" vert="horz" wrap="square" rtlCol="0" anchor="t" anchorCtr="0">
            <a:noAutofit/>
          </a:bodyPr>
          <a:lstStyle/>
          <a:p>
            <a:pPr algn="l"/>
            <a:r>
              <a:rPr lang="ja-JP" altLang="en-US" sz="1400" b="1">
                <a:solidFill>
                  <a:srgbClr val="1F3864"/>
                </a:solidFill>
                <a:latin typeface="Yu Gothic UI"/>
                <a:ea typeface="Yu Gothic UI"/>
              </a:rPr>
              <a:t>完了時期を左右するもの</a:t>
            </a:r>
          </a:p>
        </p:txBody>
      </p:sp>
      <p:sp>
        <p:nvSpPr>
          <p:cNvPr id="34" name="テキスト ボックス 33">
            <a:extLst>
              <a:ext uri="{FF2B5EF4-FFF2-40B4-BE49-F238E27FC236}">
                <a16:creationId xmlns:a16="http://schemas.microsoft.com/office/drawing/2014/main" id="{A1F8721D-0BA0-E746-998D-CFFCF6F32955}"/>
              </a:ext>
            </a:extLst>
          </p:cNvPr>
          <p:cNvSpPr txBox="1"/>
          <p:nvPr/>
        </p:nvSpPr>
        <p:spPr>
          <a:xfrm>
            <a:off x="1041400" y="5181600"/>
            <a:ext cx="10160000" cy="711200"/>
          </a:xfrm>
          <a:prstGeom prst="rect">
            <a:avLst/>
          </a:prstGeom>
          <a:noFill/>
        </p:spPr>
        <p:txBody>
          <a:bodyPr vertOverflow="overflow" vert="horz" wrap="square" rtlCol="0" anchor="t" anchorCtr="0">
            <a:noAutofit/>
          </a:bodyPr>
          <a:lstStyle/>
          <a:p>
            <a:pPr algn="l"/>
            <a:r>
              <a:rPr lang="ja-JP" altLang="en-US" sz="1200">
                <a:solidFill>
                  <a:srgbClr val="1D2125"/>
                </a:solidFill>
                <a:latin typeface="Yu Gothic UI"/>
                <a:ea typeface="Yu Gothic UI"/>
              </a:rPr>
              <a:t>社内の作業順序：負荷試験の計画 → 大規模接続の実測（</a:t>
            </a:r>
            <a:r>
              <a:rPr lang="en-US" altLang="ja-JP" sz="1200">
                <a:solidFill>
                  <a:srgbClr val="1D2125"/>
                </a:solidFill>
                <a:latin typeface="Yu Gothic UI"/>
                <a:ea typeface="Yu Gothic UI"/>
              </a:rPr>
              <a:t>25</a:t>
            </a:r>
            <a:r>
              <a:rPr lang="ja-JP" altLang="en-US" sz="1200">
                <a:solidFill>
                  <a:srgbClr val="1D2125"/>
                </a:solidFill>
                <a:latin typeface="Yu Gothic UI"/>
                <a:ea typeface="Yu Gothic UI"/>
              </a:rPr>
              <a:t>人日） → 設計の是正と未確定設計の確定。この鎖が社内で最も長い経路です。
ただし全体の完了時期を決めるのは工数ではありません。質問状・要求仕様・法務起票の</a:t>
            </a:r>
            <a:r>
              <a:rPr lang="en-US" altLang="ja-JP" sz="1200">
                <a:solidFill>
                  <a:srgbClr val="1D2125"/>
                </a:solidFill>
                <a:latin typeface="Yu Gothic UI"/>
                <a:ea typeface="Yu Gothic UI"/>
              </a:rPr>
              <a:t>3</a:t>
            </a:r>
            <a:r>
              <a:rPr lang="ja-JP" altLang="en-US" sz="1200">
                <a:solidFill>
                  <a:srgbClr val="1D2125"/>
                </a:solidFill>
                <a:latin typeface="Yu Gothic UI"/>
                <a:ea typeface="Yu Gothic UI"/>
              </a:rPr>
              <a:t>つの発行が遅れれば、その分だけ全体が後ろにずれます。逆に第</a:t>
            </a:r>
            <a:r>
              <a:rPr lang="en-US" altLang="ja-JP" sz="1200">
                <a:solidFill>
                  <a:srgbClr val="1D2125"/>
                </a:solidFill>
                <a:latin typeface="Yu Gothic UI"/>
                <a:ea typeface="Yu Gothic UI"/>
              </a:rPr>
              <a:t>1</a:t>
            </a:r>
            <a:r>
              <a:rPr lang="ja-JP" altLang="en-US" sz="1200">
                <a:solidFill>
                  <a:srgbClr val="1D2125"/>
                </a:solidFill>
                <a:latin typeface="Yu Gothic UI"/>
                <a:ea typeface="Yu Gothic UI"/>
              </a:rPr>
              <a:t>波を今週中に出せれば、社内の検証と並行して進み、待ち時間は工数に吸収されます。</a:t>
            </a:r>
          </a:p>
        </p:txBody>
      </p:sp>
      <p:sp>
        <p:nvSpPr>
          <p:cNvPr id="35" name="テキスト ボックス 34">
            <a:extLst>
              <a:ext uri="{FF2B5EF4-FFF2-40B4-BE49-F238E27FC236}">
                <a16:creationId xmlns:a16="http://schemas.microsoft.com/office/drawing/2014/main" id="{7D3D90A0-589F-FE40-81B3-044360D1CFD6}"/>
              </a:ext>
            </a:extLst>
          </p:cNvPr>
          <p:cNvSpPr txBox="1"/>
          <p:nvPr/>
        </p:nvSpPr>
        <p:spPr>
          <a:xfrm>
            <a:off x="812800" y="6451600"/>
            <a:ext cx="10566400" cy="2032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出典：基本設計書「残タスクと工数」「単元別の構築工数」／進捗は要件・設計台帳 </a:t>
            </a:r>
            <a:r>
              <a:rPr lang="en-US" altLang="ja-JP" sz="1000">
                <a:solidFill>
                  <a:srgbClr val="5A6472"/>
                </a:solidFill>
                <a:latin typeface="Yu Gothic UI"/>
                <a:ea typeface="Yu Gothic UI"/>
              </a:rPr>
              <a:t>2026-08-12 </a:t>
            </a:r>
            <a:r>
              <a:rPr lang="ja-JP" altLang="en-US" sz="1000">
                <a:solidFill>
                  <a:srgbClr val="5A6472"/>
                </a:solidFill>
                <a:latin typeface="Yu Gothic UI"/>
                <a:ea typeface="Yu Gothic UI"/>
              </a:rPr>
              <a:t>時点</a:t>
            </a:r>
          </a:p>
        </p:txBody>
      </p:sp>
    </p:spTree>
    <p:extLst>
      <p:ext uri="{BB962C8B-B14F-4D97-AF65-F5344CB8AC3E}">
        <p14:creationId xmlns:p14="http://schemas.microsoft.com/office/powerpoint/2010/main" val="303452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8189E92-A161-4246-874C-3466688088C4}"/>
              </a:ext>
            </a:extLst>
          </p:cNvPr>
          <p:cNvSpPr/>
          <p:nvPr/>
        </p:nvSpPr>
        <p:spPr>
          <a:xfrm>
            <a:off x="0" y="0"/>
            <a:ext cx="114300" cy="8890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B8B0DABB-6A16-CB48-B061-CF6BC5B33815}"/>
              </a:ext>
            </a:extLst>
          </p:cNvPr>
          <p:cNvSpPr txBox="1"/>
          <p:nvPr/>
        </p:nvSpPr>
        <p:spPr>
          <a:xfrm>
            <a:off x="812800" y="279400"/>
            <a:ext cx="8890000" cy="381000"/>
          </a:xfrm>
          <a:prstGeom prst="rect">
            <a:avLst/>
          </a:prstGeom>
          <a:noFill/>
        </p:spPr>
        <p:txBody>
          <a:bodyPr vertOverflow="overflow" vert="horz" wrap="square" rtlCol="0" anchor="t" anchorCtr="0">
            <a:noAutofit/>
          </a:bodyPr>
          <a:lstStyle/>
          <a:p>
            <a:pPr algn="l"/>
            <a:r>
              <a:rPr lang="ja-JP" altLang="en-US" sz="2400" b="1">
                <a:solidFill>
                  <a:srgbClr val="1F3864"/>
                </a:solidFill>
                <a:latin typeface="Yu Gothic UI"/>
                <a:ea typeface="Yu Gothic UI"/>
              </a:rPr>
              <a:t>依頼事項と次のアクション</a:t>
            </a:r>
          </a:p>
        </p:txBody>
      </p:sp>
      <p:sp>
        <p:nvSpPr>
          <p:cNvPr id="4" name="テキスト ボックス 3">
            <a:extLst>
              <a:ext uri="{FF2B5EF4-FFF2-40B4-BE49-F238E27FC236}">
                <a16:creationId xmlns:a16="http://schemas.microsoft.com/office/drawing/2014/main" id="{9402C365-0E72-F442-9AFE-07BD7FE92D57}"/>
              </a:ext>
            </a:extLst>
          </p:cNvPr>
          <p:cNvSpPr txBox="1"/>
          <p:nvPr/>
        </p:nvSpPr>
        <p:spPr>
          <a:xfrm>
            <a:off x="812800" y="685800"/>
            <a:ext cx="10566400" cy="254000"/>
          </a:xfrm>
          <a:prstGeom prst="rect">
            <a:avLst/>
          </a:prstGeom>
          <a:noFill/>
        </p:spPr>
        <p:txBody>
          <a:bodyPr vertOverflow="overflow" vert="horz" wrap="square" rtlCol="0" anchor="t" anchorCtr="0">
            <a:noAutofit/>
          </a:bodyPr>
          <a:lstStyle/>
          <a:p>
            <a:pPr algn="l"/>
            <a:r>
              <a:rPr lang="ja-JP" altLang="en-US" sz="1300">
                <a:solidFill>
                  <a:srgbClr val="5A6472"/>
                </a:solidFill>
                <a:latin typeface="Yu Gothic UI"/>
                <a:ea typeface="Yu Gothic UI"/>
              </a:rPr>
              <a:t>本日ご判断・ご手配をお願いしたい</a:t>
            </a:r>
            <a:r>
              <a:rPr lang="en-US" altLang="ja-JP" sz="1300">
                <a:solidFill>
                  <a:srgbClr val="5A6472"/>
                </a:solidFill>
                <a:latin typeface="Yu Gothic UI"/>
                <a:ea typeface="Yu Gothic UI"/>
              </a:rPr>
              <a:t>5</a:t>
            </a:r>
            <a:r>
              <a:rPr lang="ja-JP" altLang="en-US" sz="1300">
                <a:solidFill>
                  <a:srgbClr val="5A6472"/>
                </a:solidFill>
                <a:latin typeface="Yu Gothic UI"/>
                <a:ea typeface="Yu Gothic UI"/>
              </a:rPr>
              <a:t>点です。いずれも当方だけでは進められず、意思決定または他組織・顧客への働きかけが必要です。</a:t>
            </a:r>
          </a:p>
        </p:txBody>
      </p:sp>
      <p:sp>
        <p:nvSpPr>
          <p:cNvPr id="5" name="正方形/長方形 4">
            <a:extLst>
              <a:ext uri="{FF2B5EF4-FFF2-40B4-BE49-F238E27FC236}">
                <a16:creationId xmlns:a16="http://schemas.microsoft.com/office/drawing/2014/main" id="{91FC30E8-8E60-AC42-B5E6-B433214796A7}"/>
              </a:ext>
            </a:extLst>
          </p:cNvPr>
          <p:cNvSpPr/>
          <p:nvPr/>
        </p:nvSpPr>
        <p:spPr>
          <a:xfrm>
            <a:off x="812800" y="1117600"/>
            <a:ext cx="10566400" cy="330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2DEB9936-79B5-D241-9543-76CBABDB4938}"/>
              </a:ext>
            </a:extLst>
          </p:cNvPr>
          <p:cNvSpPr txBox="1"/>
          <p:nvPr/>
        </p:nvSpPr>
        <p:spPr>
          <a:xfrm>
            <a:off x="914400" y="1193800"/>
            <a:ext cx="30988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ご依頼事項</a:t>
            </a:r>
          </a:p>
        </p:txBody>
      </p:sp>
      <p:sp>
        <p:nvSpPr>
          <p:cNvPr id="7" name="テキスト ボックス 6">
            <a:extLst>
              <a:ext uri="{FF2B5EF4-FFF2-40B4-BE49-F238E27FC236}">
                <a16:creationId xmlns:a16="http://schemas.microsoft.com/office/drawing/2014/main" id="{57C40247-4C64-6341-914A-F2F5DC381EF0}"/>
              </a:ext>
            </a:extLst>
          </p:cNvPr>
          <p:cNvSpPr txBox="1"/>
          <p:nvPr/>
        </p:nvSpPr>
        <p:spPr>
          <a:xfrm>
            <a:off x="4191000" y="1193800"/>
            <a:ext cx="42926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なぜ必要か／これが動くと何が進むか</a:t>
            </a:r>
          </a:p>
        </p:txBody>
      </p:sp>
      <p:sp>
        <p:nvSpPr>
          <p:cNvPr id="8" name="テキスト ボックス 7">
            <a:extLst>
              <a:ext uri="{FF2B5EF4-FFF2-40B4-BE49-F238E27FC236}">
                <a16:creationId xmlns:a16="http://schemas.microsoft.com/office/drawing/2014/main" id="{A4114CBC-B1C0-BD42-A186-80A4AEAEDF86}"/>
              </a:ext>
            </a:extLst>
          </p:cNvPr>
          <p:cNvSpPr txBox="1"/>
          <p:nvPr/>
        </p:nvSpPr>
        <p:spPr>
          <a:xfrm>
            <a:off x="8661400" y="1193800"/>
            <a:ext cx="12192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ご担当</a:t>
            </a:r>
          </a:p>
        </p:txBody>
      </p:sp>
      <p:sp>
        <p:nvSpPr>
          <p:cNvPr id="9" name="テキスト ボックス 8">
            <a:extLst>
              <a:ext uri="{FF2B5EF4-FFF2-40B4-BE49-F238E27FC236}">
                <a16:creationId xmlns:a16="http://schemas.microsoft.com/office/drawing/2014/main" id="{CAF43921-147A-0846-81A1-C0ABC32E0567}"/>
              </a:ext>
            </a:extLst>
          </p:cNvPr>
          <p:cNvSpPr txBox="1"/>
          <p:nvPr/>
        </p:nvSpPr>
        <p:spPr>
          <a:xfrm>
            <a:off x="10058400" y="1193800"/>
            <a:ext cx="1244600" cy="2032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ご期限</a:t>
            </a:r>
          </a:p>
        </p:txBody>
      </p:sp>
      <p:sp>
        <p:nvSpPr>
          <p:cNvPr id="10" name="正方形/長方形 9">
            <a:extLst>
              <a:ext uri="{FF2B5EF4-FFF2-40B4-BE49-F238E27FC236}">
                <a16:creationId xmlns:a16="http://schemas.microsoft.com/office/drawing/2014/main" id="{C43E324E-AF5D-2945-8359-0AF99C9BA322}"/>
              </a:ext>
            </a:extLst>
          </p:cNvPr>
          <p:cNvSpPr/>
          <p:nvPr/>
        </p:nvSpPr>
        <p:spPr>
          <a:xfrm>
            <a:off x="812800" y="214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0AF98454-6A29-2C45-8D2C-EE78563DB2A9}"/>
              </a:ext>
            </a:extLst>
          </p:cNvPr>
          <p:cNvSpPr txBox="1"/>
          <p:nvPr/>
        </p:nvSpPr>
        <p:spPr>
          <a:xfrm>
            <a:off x="914400" y="1549400"/>
            <a:ext cx="3073400" cy="5334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① </a:t>
            </a:r>
            <a:r>
              <a:rPr lang="ja-JP" altLang="en-US" sz="1300" b="1">
                <a:solidFill>
                  <a:srgbClr val="1F3864"/>
                </a:solidFill>
                <a:latin typeface="Yu Gothic UI"/>
                <a:ea typeface="Yu Gothic UI"/>
              </a:rPr>
              <a:t>顧客への質問状の展開</a:t>
            </a:r>
          </a:p>
        </p:txBody>
      </p:sp>
      <p:sp>
        <p:nvSpPr>
          <p:cNvPr id="12" name="テキスト ボックス 11">
            <a:extLst>
              <a:ext uri="{FF2B5EF4-FFF2-40B4-BE49-F238E27FC236}">
                <a16:creationId xmlns:a16="http://schemas.microsoft.com/office/drawing/2014/main" id="{CFE8C198-1804-304E-BF58-037BE0ABDB72}"/>
              </a:ext>
            </a:extLst>
          </p:cNvPr>
          <p:cNvSpPr txBox="1"/>
          <p:nvPr/>
        </p:nvSpPr>
        <p:spPr>
          <a:xfrm>
            <a:off x="4191000" y="1536700"/>
            <a:ext cx="42672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質問状</a:t>
            </a:r>
            <a:r>
              <a:rPr lang="en-US" altLang="ja-JP" sz="1100">
                <a:solidFill>
                  <a:srgbClr val="1D2125"/>
                </a:solidFill>
                <a:latin typeface="Yu Gothic UI"/>
                <a:ea typeface="Yu Gothic UI"/>
              </a:rPr>
              <a:t>127</a:t>
            </a:r>
            <a:r>
              <a:rPr lang="ja-JP" altLang="en-US" sz="1100">
                <a:solidFill>
                  <a:srgbClr val="1D2125"/>
                </a:solidFill>
                <a:latin typeface="Yu Gothic UI"/>
                <a:ea typeface="Yu Gothic UI"/>
              </a:rPr>
              <a:t>項目のうち</a:t>
            </a:r>
            <a:r>
              <a:rPr lang="en-US" altLang="ja-JP" sz="1100">
                <a:solidFill>
                  <a:srgbClr val="1D2125"/>
                </a:solidFill>
                <a:latin typeface="Yu Gothic UI"/>
                <a:ea typeface="Yu Gothic UI"/>
              </a:rPr>
              <a:t>123</a:t>
            </a:r>
            <a:r>
              <a:rPr lang="ja-JP" altLang="en-US" sz="1100">
                <a:solidFill>
                  <a:srgbClr val="1D2125"/>
                </a:solidFill>
                <a:latin typeface="Yu Gothic UI"/>
                <a:ea typeface="Yu Gothic UI"/>
              </a:rPr>
              <a:t>項目が未回答。外部回答待ち</a:t>
            </a:r>
            <a:r>
              <a:rPr lang="en-US" altLang="ja-JP" sz="1100">
                <a:solidFill>
                  <a:srgbClr val="1D2125"/>
                </a:solidFill>
                <a:latin typeface="Yu Gothic UI"/>
                <a:ea typeface="Yu Gothic UI"/>
              </a:rPr>
              <a:t>72</a:t>
            </a:r>
            <a:r>
              <a:rPr lang="ja-JP" altLang="en-US" sz="1100">
                <a:solidFill>
                  <a:srgbClr val="1D2125"/>
                </a:solidFill>
                <a:latin typeface="Yu Gothic UI"/>
                <a:ea typeface="Yu Gothic UI"/>
              </a:rPr>
              <a:t>件の大半がここに紐づき、規模・稼働率・復旧目標といった構成判断の起点になります。</a:t>
            </a:r>
          </a:p>
        </p:txBody>
      </p:sp>
      <p:sp>
        <p:nvSpPr>
          <p:cNvPr id="13" name="正方形/長方形 12">
            <a:extLst>
              <a:ext uri="{FF2B5EF4-FFF2-40B4-BE49-F238E27FC236}">
                <a16:creationId xmlns:a16="http://schemas.microsoft.com/office/drawing/2014/main" id="{15132E93-34F9-CA40-B5A6-AEF7322137E7}"/>
              </a:ext>
            </a:extLst>
          </p:cNvPr>
          <p:cNvSpPr/>
          <p:nvPr/>
        </p:nvSpPr>
        <p:spPr>
          <a:xfrm>
            <a:off x="8686800" y="1651000"/>
            <a:ext cx="10922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3EB861F1-F55D-4245-B731-8924563C04B9}"/>
              </a:ext>
            </a:extLst>
          </p:cNvPr>
          <p:cNvSpPr/>
          <p:nvPr/>
        </p:nvSpPr>
        <p:spPr>
          <a:xfrm>
            <a:off x="10083800" y="1651000"/>
            <a:ext cx="11176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正方形/長方形 14">
            <a:extLst>
              <a:ext uri="{FF2B5EF4-FFF2-40B4-BE49-F238E27FC236}">
                <a16:creationId xmlns:a16="http://schemas.microsoft.com/office/drawing/2014/main" id="{0886A028-19D8-B04A-8194-0E46D5CF52D9}"/>
              </a:ext>
            </a:extLst>
          </p:cNvPr>
          <p:cNvSpPr/>
          <p:nvPr/>
        </p:nvSpPr>
        <p:spPr>
          <a:xfrm>
            <a:off x="812800" y="2159000"/>
            <a:ext cx="10566400" cy="711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1D734F69-1CF9-2E44-B982-7E4116E56262}"/>
              </a:ext>
            </a:extLst>
          </p:cNvPr>
          <p:cNvSpPr/>
          <p:nvPr/>
        </p:nvSpPr>
        <p:spPr>
          <a:xfrm>
            <a:off x="812800" y="2857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E99A7005-66FB-9D41-B8AD-A0744AF124C8}"/>
              </a:ext>
            </a:extLst>
          </p:cNvPr>
          <p:cNvSpPr txBox="1"/>
          <p:nvPr/>
        </p:nvSpPr>
        <p:spPr>
          <a:xfrm>
            <a:off x="914400" y="2260600"/>
            <a:ext cx="3073400" cy="5334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② </a:t>
            </a:r>
            <a:r>
              <a:rPr lang="ja-JP" altLang="en-US" sz="1300" b="1">
                <a:solidFill>
                  <a:srgbClr val="1F3864"/>
                </a:solidFill>
                <a:latin typeface="Yu Gothic UI"/>
                <a:ea typeface="Yu Gothic UI"/>
              </a:rPr>
              <a:t>他組織への要求仕様の回答手配</a:t>
            </a:r>
          </a:p>
        </p:txBody>
      </p:sp>
      <p:sp>
        <p:nvSpPr>
          <p:cNvPr id="18" name="テキスト ボックス 17">
            <a:extLst>
              <a:ext uri="{FF2B5EF4-FFF2-40B4-BE49-F238E27FC236}">
                <a16:creationId xmlns:a16="http://schemas.microsoft.com/office/drawing/2014/main" id="{C7FF8382-773D-364D-8833-AA3D2BB3D467}"/>
              </a:ext>
            </a:extLst>
          </p:cNvPr>
          <p:cNvSpPr txBox="1"/>
          <p:nvPr/>
        </p:nvSpPr>
        <p:spPr>
          <a:xfrm>
            <a:off x="4191000" y="2247900"/>
            <a:ext cx="42672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インターネットの出入口は他組織の管理範囲です。初版を提示し回答を得ないと、境界の設計と検証を始められません。</a:t>
            </a:r>
          </a:p>
        </p:txBody>
      </p:sp>
      <p:sp>
        <p:nvSpPr>
          <p:cNvPr id="19" name="正方形/長方形 18">
            <a:extLst>
              <a:ext uri="{FF2B5EF4-FFF2-40B4-BE49-F238E27FC236}">
                <a16:creationId xmlns:a16="http://schemas.microsoft.com/office/drawing/2014/main" id="{6FC211CE-17A4-B445-84CD-833393256494}"/>
              </a:ext>
            </a:extLst>
          </p:cNvPr>
          <p:cNvSpPr/>
          <p:nvPr/>
        </p:nvSpPr>
        <p:spPr>
          <a:xfrm>
            <a:off x="8686800" y="2362200"/>
            <a:ext cx="10922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31458EE8-ABF5-D148-82C8-76AC983E15DF}"/>
              </a:ext>
            </a:extLst>
          </p:cNvPr>
          <p:cNvSpPr/>
          <p:nvPr/>
        </p:nvSpPr>
        <p:spPr>
          <a:xfrm>
            <a:off x="10083800" y="2362200"/>
            <a:ext cx="11176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正方形/長方形 20">
            <a:extLst>
              <a:ext uri="{FF2B5EF4-FFF2-40B4-BE49-F238E27FC236}">
                <a16:creationId xmlns:a16="http://schemas.microsoft.com/office/drawing/2014/main" id="{B01065D5-1285-0B45-A9BE-B80D9F3F143B}"/>
              </a:ext>
            </a:extLst>
          </p:cNvPr>
          <p:cNvSpPr/>
          <p:nvPr/>
        </p:nvSpPr>
        <p:spPr>
          <a:xfrm>
            <a:off x="812800" y="3568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30B66DC1-C8FD-9748-81DF-6B7A2A70F46C}"/>
              </a:ext>
            </a:extLst>
          </p:cNvPr>
          <p:cNvSpPr txBox="1"/>
          <p:nvPr/>
        </p:nvSpPr>
        <p:spPr>
          <a:xfrm>
            <a:off x="914400" y="2971800"/>
            <a:ext cx="3073400" cy="5334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③ </a:t>
            </a:r>
            <a:r>
              <a:rPr lang="ja-JP" altLang="en-US" sz="1300" b="1">
                <a:solidFill>
                  <a:srgbClr val="1F3864"/>
                </a:solidFill>
                <a:latin typeface="Yu Gothic UI"/>
                <a:ea typeface="Yu Gothic UI"/>
              </a:rPr>
              <a:t>予算の確保</a:t>
            </a:r>
          </a:p>
        </p:txBody>
      </p:sp>
      <p:sp>
        <p:nvSpPr>
          <p:cNvPr id="23" name="テキスト ボックス 22">
            <a:extLst>
              <a:ext uri="{FF2B5EF4-FFF2-40B4-BE49-F238E27FC236}">
                <a16:creationId xmlns:a16="http://schemas.microsoft.com/office/drawing/2014/main" id="{3B8B72A6-99B4-A046-9D1C-84D5599264DC}"/>
              </a:ext>
            </a:extLst>
          </p:cNvPr>
          <p:cNvSpPr txBox="1"/>
          <p:nvPr/>
        </p:nvSpPr>
        <p:spPr>
          <a:xfrm>
            <a:off x="4191000" y="2959100"/>
            <a:ext cx="42672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製品の保守サブスクリプションと、検証環境の費用です。金額の枠が決まらないと互換性検証に着手できません。</a:t>
            </a:r>
          </a:p>
        </p:txBody>
      </p:sp>
      <p:sp>
        <p:nvSpPr>
          <p:cNvPr id="24" name="正方形/長方形 23">
            <a:extLst>
              <a:ext uri="{FF2B5EF4-FFF2-40B4-BE49-F238E27FC236}">
                <a16:creationId xmlns:a16="http://schemas.microsoft.com/office/drawing/2014/main" id="{675E9026-4020-464F-81FF-4EED49529866}"/>
              </a:ext>
            </a:extLst>
          </p:cNvPr>
          <p:cNvSpPr/>
          <p:nvPr/>
        </p:nvSpPr>
        <p:spPr>
          <a:xfrm>
            <a:off x="8686800" y="3073400"/>
            <a:ext cx="10922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正方形/長方形 24">
            <a:extLst>
              <a:ext uri="{FF2B5EF4-FFF2-40B4-BE49-F238E27FC236}">
                <a16:creationId xmlns:a16="http://schemas.microsoft.com/office/drawing/2014/main" id="{40797C1E-EE0C-4A49-B6BF-CA23B28ADDA8}"/>
              </a:ext>
            </a:extLst>
          </p:cNvPr>
          <p:cNvSpPr/>
          <p:nvPr/>
        </p:nvSpPr>
        <p:spPr>
          <a:xfrm>
            <a:off x="10083800" y="3073400"/>
            <a:ext cx="11176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6" name="正方形/長方形 25">
            <a:extLst>
              <a:ext uri="{FF2B5EF4-FFF2-40B4-BE49-F238E27FC236}">
                <a16:creationId xmlns:a16="http://schemas.microsoft.com/office/drawing/2014/main" id="{C3C25200-6F8B-D24F-9735-7090FA41F330}"/>
              </a:ext>
            </a:extLst>
          </p:cNvPr>
          <p:cNvSpPr/>
          <p:nvPr/>
        </p:nvSpPr>
        <p:spPr>
          <a:xfrm>
            <a:off x="812800" y="3581400"/>
            <a:ext cx="10566400" cy="7112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93748FD3-4069-044C-9DFB-64E2AB1DE6E9}"/>
              </a:ext>
            </a:extLst>
          </p:cNvPr>
          <p:cNvSpPr/>
          <p:nvPr/>
        </p:nvSpPr>
        <p:spPr>
          <a:xfrm>
            <a:off x="812800" y="427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857C8934-5655-8F4E-ABC4-C088DB4D0AD9}"/>
              </a:ext>
            </a:extLst>
          </p:cNvPr>
          <p:cNvSpPr txBox="1"/>
          <p:nvPr/>
        </p:nvSpPr>
        <p:spPr>
          <a:xfrm>
            <a:off x="914400" y="3683000"/>
            <a:ext cx="3073400" cy="5334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④ </a:t>
            </a:r>
            <a:r>
              <a:rPr lang="ja-JP" altLang="en-US" sz="1300" b="1">
                <a:solidFill>
                  <a:srgbClr val="1F3864"/>
                </a:solidFill>
                <a:latin typeface="Yu Gothic UI"/>
                <a:ea typeface="Yu Gothic UI"/>
              </a:rPr>
              <a:t>新規要件化の承認</a:t>
            </a:r>
          </a:p>
        </p:txBody>
      </p:sp>
      <p:sp>
        <p:nvSpPr>
          <p:cNvPr id="29" name="テキスト ボックス 28">
            <a:extLst>
              <a:ext uri="{FF2B5EF4-FFF2-40B4-BE49-F238E27FC236}">
                <a16:creationId xmlns:a16="http://schemas.microsoft.com/office/drawing/2014/main" id="{10A33659-89E9-A34C-8E71-87D4A502332E}"/>
              </a:ext>
            </a:extLst>
          </p:cNvPr>
          <p:cNvSpPr txBox="1"/>
          <p:nvPr/>
        </p:nvSpPr>
        <p:spPr>
          <a:xfrm>
            <a:off x="4191000" y="3670300"/>
            <a:ext cx="42672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再監査で追加した</a:t>
            </a:r>
            <a:r>
              <a:rPr lang="en-US" altLang="ja-JP" sz="1100">
                <a:solidFill>
                  <a:srgbClr val="1D2125"/>
                </a:solidFill>
                <a:latin typeface="Yu Gothic UI"/>
                <a:ea typeface="Yu Gothic UI"/>
              </a:rPr>
              <a:t>5</a:t>
            </a:r>
            <a:r>
              <a:rPr lang="ja-JP" altLang="en-US" sz="1100">
                <a:solidFill>
                  <a:srgbClr val="1D2125"/>
                </a:solidFill>
                <a:latin typeface="Yu Gothic UI"/>
                <a:ea typeface="Yu Gothic UI"/>
              </a:rPr>
              <a:t>領域（読みやすさへの配慮、多言語、継続的なアクセス評価、人以外の</a:t>
            </a:r>
            <a:r>
              <a:rPr lang="en" altLang="ja-JP" sz="1100">
                <a:solidFill>
                  <a:srgbClr val="1D2125"/>
                </a:solidFill>
                <a:latin typeface="Yu Gothic UI"/>
                <a:ea typeface="Yu Gothic UI"/>
              </a:rPr>
              <a:t>ID</a:t>
            </a:r>
            <a:r>
              <a:rPr lang="ja-JP" altLang="en-US" sz="1100">
                <a:solidFill>
                  <a:srgbClr val="1D2125"/>
                </a:solidFill>
                <a:latin typeface="Yu Gothic UI"/>
                <a:ea typeface="Yu Gothic UI"/>
              </a:rPr>
              <a:t>の管理、同意管理）を要件として認めていただく必要があります。</a:t>
            </a:r>
          </a:p>
        </p:txBody>
      </p:sp>
      <p:sp>
        <p:nvSpPr>
          <p:cNvPr id="30" name="正方形/長方形 29">
            <a:extLst>
              <a:ext uri="{FF2B5EF4-FFF2-40B4-BE49-F238E27FC236}">
                <a16:creationId xmlns:a16="http://schemas.microsoft.com/office/drawing/2014/main" id="{F5F1D690-4269-2842-8458-D861E464513E}"/>
              </a:ext>
            </a:extLst>
          </p:cNvPr>
          <p:cNvSpPr/>
          <p:nvPr/>
        </p:nvSpPr>
        <p:spPr>
          <a:xfrm>
            <a:off x="8686800" y="3784600"/>
            <a:ext cx="10922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1" name="正方形/長方形 30">
            <a:extLst>
              <a:ext uri="{FF2B5EF4-FFF2-40B4-BE49-F238E27FC236}">
                <a16:creationId xmlns:a16="http://schemas.microsoft.com/office/drawing/2014/main" id="{8BB5E8D2-52A4-9B4B-8AB5-531823547976}"/>
              </a:ext>
            </a:extLst>
          </p:cNvPr>
          <p:cNvSpPr/>
          <p:nvPr/>
        </p:nvSpPr>
        <p:spPr>
          <a:xfrm>
            <a:off x="10083800" y="3784600"/>
            <a:ext cx="11176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2" name="正方形/長方形 31">
            <a:extLst>
              <a:ext uri="{FF2B5EF4-FFF2-40B4-BE49-F238E27FC236}">
                <a16:creationId xmlns:a16="http://schemas.microsoft.com/office/drawing/2014/main" id="{764E81B2-8E87-B54A-B013-C0D99721483E}"/>
              </a:ext>
            </a:extLst>
          </p:cNvPr>
          <p:cNvSpPr/>
          <p:nvPr/>
        </p:nvSpPr>
        <p:spPr>
          <a:xfrm>
            <a:off x="812800" y="4991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3C01D9AA-88B7-964B-9E0A-76A21511E9F9}"/>
              </a:ext>
            </a:extLst>
          </p:cNvPr>
          <p:cNvSpPr txBox="1"/>
          <p:nvPr/>
        </p:nvSpPr>
        <p:spPr>
          <a:xfrm>
            <a:off x="914400" y="4394200"/>
            <a:ext cx="3073400" cy="533400"/>
          </a:xfrm>
          <a:prstGeom prst="rect">
            <a:avLst/>
          </a:prstGeom>
          <a:noFill/>
        </p:spPr>
        <p:txBody>
          <a:bodyPr vertOverflow="overflow" vert="horz" wrap="square" rtlCol="0" anchor="t" anchorCtr="0">
            <a:noAutofit/>
          </a:bodyPr>
          <a:lstStyle/>
          <a:p>
            <a:pPr algn="l"/>
            <a:r>
              <a:rPr lang="en-US" altLang="ja-JP" sz="1300" b="1">
                <a:solidFill>
                  <a:srgbClr val="1F3864"/>
                </a:solidFill>
                <a:latin typeface="Yu Gothic UI"/>
                <a:ea typeface="Yu Gothic UI"/>
              </a:rPr>
              <a:t>⑤ </a:t>
            </a:r>
            <a:r>
              <a:rPr lang="ja-JP" altLang="en-US" sz="1300" b="1">
                <a:solidFill>
                  <a:srgbClr val="1F3864"/>
                </a:solidFill>
                <a:latin typeface="Yu Gothic UI"/>
                <a:ea typeface="Yu Gothic UI"/>
              </a:rPr>
              <a:t>法務への起票</a:t>
            </a:r>
          </a:p>
        </p:txBody>
      </p:sp>
      <p:sp>
        <p:nvSpPr>
          <p:cNvPr id="34" name="テキスト ボックス 33">
            <a:extLst>
              <a:ext uri="{FF2B5EF4-FFF2-40B4-BE49-F238E27FC236}">
                <a16:creationId xmlns:a16="http://schemas.microsoft.com/office/drawing/2014/main" id="{63FA1DBD-5A25-6A41-BE9C-D65DCF52AF7A}"/>
              </a:ext>
            </a:extLst>
          </p:cNvPr>
          <p:cNvSpPr txBox="1"/>
          <p:nvPr/>
        </p:nvSpPr>
        <p:spPr>
          <a:xfrm>
            <a:off x="4191000" y="4381500"/>
            <a:ext cx="4267200" cy="5588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保守要員によるデータ越境閲覧の確認</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点。実質的な残ブロッカーの</a:t>
            </a:r>
            <a:r>
              <a:rPr lang="en-US" altLang="ja-JP" sz="1100">
                <a:solidFill>
                  <a:srgbClr val="1D2125"/>
                </a:solidFill>
                <a:latin typeface="Yu Gothic UI"/>
                <a:ea typeface="Yu Gothic UI"/>
              </a:rPr>
              <a:t>1</a:t>
            </a:r>
            <a:r>
              <a:rPr lang="ja-JP" altLang="en-US" sz="1100">
                <a:solidFill>
                  <a:srgbClr val="1D2125"/>
                </a:solidFill>
                <a:latin typeface="Yu Gothic UI"/>
                <a:ea typeface="Yu Gothic UI"/>
              </a:rPr>
              <a:t>つで、確認が済めば契約前の障害が解消します。</a:t>
            </a:r>
          </a:p>
        </p:txBody>
      </p:sp>
      <p:sp>
        <p:nvSpPr>
          <p:cNvPr id="35" name="正方形/長方形 34">
            <a:extLst>
              <a:ext uri="{FF2B5EF4-FFF2-40B4-BE49-F238E27FC236}">
                <a16:creationId xmlns:a16="http://schemas.microsoft.com/office/drawing/2014/main" id="{012A48FE-D1E0-EA4C-AB4D-347C4FE04556}"/>
              </a:ext>
            </a:extLst>
          </p:cNvPr>
          <p:cNvSpPr/>
          <p:nvPr/>
        </p:nvSpPr>
        <p:spPr>
          <a:xfrm>
            <a:off x="8686800" y="4495800"/>
            <a:ext cx="10922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正方形/長方形 35">
            <a:extLst>
              <a:ext uri="{FF2B5EF4-FFF2-40B4-BE49-F238E27FC236}">
                <a16:creationId xmlns:a16="http://schemas.microsoft.com/office/drawing/2014/main" id="{F15B9C52-4331-9641-AD45-9688C7DC819B}"/>
              </a:ext>
            </a:extLst>
          </p:cNvPr>
          <p:cNvSpPr/>
          <p:nvPr/>
        </p:nvSpPr>
        <p:spPr>
          <a:xfrm>
            <a:off x="10083800" y="4495800"/>
            <a:ext cx="1117600" cy="304800"/>
          </a:xfrm>
          <a:prstGeom prst="rect">
            <a:avLst/>
          </a:prstGeom>
          <a:solidFill>
            <a:srgbClr val="FFFFFF"/>
          </a:solidFill>
          <a:ln w="12700" cap="flat" cmpd="sng" algn="ctr">
            <a:solidFill>
              <a:srgbClr val="BFC8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7" name="正方形/長方形 36">
            <a:extLst>
              <a:ext uri="{FF2B5EF4-FFF2-40B4-BE49-F238E27FC236}">
                <a16:creationId xmlns:a16="http://schemas.microsoft.com/office/drawing/2014/main" id="{99052AFA-3587-8A41-95F2-1C700F7D2F16}"/>
              </a:ext>
            </a:extLst>
          </p:cNvPr>
          <p:cNvSpPr/>
          <p:nvPr/>
        </p:nvSpPr>
        <p:spPr>
          <a:xfrm>
            <a:off x="812800" y="5156200"/>
            <a:ext cx="50800" cy="838200"/>
          </a:xfrm>
          <a:prstGeom prst="rect">
            <a:avLst/>
          </a:prstGeom>
          <a:solidFill>
            <a:srgbClr val="B26B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テキスト ボックス 37">
            <a:extLst>
              <a:ext uri="{FF2B5EF4-FFF2-40B4-BE49-F238E27FC236}">
                <a16:creationId xmlns:a16="http://schemas.microsoft.com/office/drawing/2014/main" id="{E00FAE78-E222-634C-9855-DC63B78A2140}"/>
              </a:ext>
            </a:extLst>
          </p:cNvPr>
          <p:cNvSpPr txBox="1"/>
          <p:nvPr/>
        </p:nvSpPr>
        <p:spPr>
          <a:xfrm>
            <a:off x="1041400" y="5156200"/>
            <a:ext cx="5080000" cy="254000"/>
          </a:xfrm>
          <a:prstGeom prst="rect">
            <a:avLst/>
          </a:prstGeom>
          <a:noFill/>
        </p:spPr>
        <p:txBody>
          <a:bodyPr vertOverflow="overflow" vert="horz" wrap="square" rtlCol="0" anchor="t" anchorCtr="0">
            <a:noAutofit/>
          </a:bodyPr>
          <a:lstStyle/>
          <a:p>
            <a:pPr algn="l"/>
            <a:r>
              <a:rPr lang="ja-JP" altLang="en-US" sz="1400" b="1">
                <a:solidFill>
                  <a:srgbClr val="B26B00"/>
                </a:solidFill>
                <a:latin typeface="Yu Gothic UI"/>
                <a:ea typeface="Yu Gothic UI"/>
              </a:rPr>
              <a:t>特に</a:t>
            </a:r>
            <a:r>
              <a:rPr lang="en-US" altLang="ja-JP" sz="1400" b="1">
                <a:solidFill>
                  <a:srgbClr val="B26B00"/>
                </a:solidFill>
                <a:latin typeface="Yu Gothic UI"/>
                <a:ea typeface="Yu Gothic UI"/>
              </a:rPr>
              <a:t>①</a:t>
            </a:r>
            <a:r>
              <a:rPr lang="ja-JP" altLang="en-US" sz="1400" b="1">
                <a:solidFill>
                  <a:srgbClr val="B26B00"/>
                </a:solidFill>
                <a:latin typeface="Yu Gothic UI"/>
                <a:ea typeface="Yu Gothic UI"/>
              </a:rPr>
              <a:t>と</a:t>
            </a:r>
            <a:r>
              <a:rPr lang="en-US" altLang="ja-JP" sz="1400" b="1">
                <a:solidFill>
                  <a:srgbClr val="B26B00"/>
                </a:solidFill>
                <a:latin typeface="Yu Gothic UI"/>
                <a:ea typeface="Yu Gothic UI"/>
              </a:rPr>
              <a:t>⑤</a:t>
            </a:r>
            <a:r>
              <a:rPr lang="ja-JP" altLang="en-US" sz="1400" b="1">
                <a:solidFill>
                  <a:srgbClr val="B26B00"/>
                </a:solidFill>
                <a:latin typeface="Yu Gothic UI"/>
                <a:ea typeface="Yu Gothic UI"/>
              </a:rPr>
              <a:t>を優先してください</a:t>
            </a:r>
          </a:p>
        </p:txBody>
      </p:sp>
      <p:sp>
        <p:nvSpPr>
          <p:cNvPr id="39" name="テキスト ボックス 38">
            <a:extLst>
              <a:ext uri="{FF2B5EF4-FFF2-40B4-BE49-F238E27FC236}">
                <a16:creationId xmlns:a16="http://schemas.microsoft.com/office/drawing/2014/main" id="{0E0912BA-F948-284D-B266-85F29F937F7C}"/>
              </a:ext>
            </a:extLst>
          </p:cNvPr>
          <p:cNvSpPr txBox="1"/>
          <p:nvPr/>
        </p:nvSpPr>
        <p:spPr>
          <a:xfrm>
            <a:off x="1041400" y="5435600"/>
            <a:ext cx="10236200" cy="558800"/>
          </a:xfrm>
          <a:prstGeom prst="rect">
            <a:avLst/>
          </a:prstGeom>
          <a:noFill/>
        </p:spPr>
        <p:txBody>
          <a:bodyPr vertOverflow="overflow" vert="horz" wrap="square" rtlCol="0" anchor="t" anchorCtr="0">
            <a:noAutofit/>
          </a:bodyPr>
          <a:lstStyle/>
          <a:p>
            <a:pPr algn="l"/>
            <a:r>
              <a:rPr lang="en-US" altLang="ja-JP" sz="1200">
                <a:solidFill>
                  <a:srgbClr val="1D2125"/>
                </a:solidFill>
                <a:latin typeface="Yu Gothic UI"/>
                <a:ea typeface="Yu Gothic UI"/>
              </a:rPr>
              <a:t>①</a:t>
            </a:r>
            <a:r>
              <a:rPr lang="ja-JP" altLang="en-US" sz="1200">
                <a:solidFill>
                  <a:srgbClr val="1D2125"/>
                </a:solidFill>
                <a:latin typeface="Yu Gothic UI"/>
                <a:ea typeface="Yu Gothic UI"/>
              </a:rPr>
              <a:t>は外部回答待ち</a:t>
            </a:r>
            <a:r>
              <a:rPr lang="en-US" altLang="ja-JP" sz="1200">
                <a:solidFill>
                  <a:srgbClr val="1D2125"/>
                </a:solidFill>
                <a:latin typeface="Yu Gothic UI"/>
                <a:ea typeface="Yu Gothic UI"/>
              </a:rPr>
              <a:t>72</a:t>
            </a:r>
            <a:r>
              <a:rPr lang="ja-JP" altLang="en-US" sz="1200">
                <a:solidFill>
                  <a:srgbClr val="1D2125"/>
                </a:solidFill>
                <a:latin typeface="Yu Gothic UI"/>
                <a:ea typeface="Yu Gothic UI"/>
              </a:rPr>
              <a:t>件のほぼ全ての起点であり、発行が</a:t>
            </a:r>
            <a:r>
              <a:rPr lang="en-US" altLang="ja-JP" sz="1200">
                <a:solidFill>
                  <a:srgbClr val="1D2125"/>
                </a:solidFill>
                <a:latin typeface="Yu Gothic UI"/>
                <a:ea typeface="Yu Gothic UI"/>
              </a:rPr>
              <a:t>1</a:t>
            </a:r>
            <a:r>
              <a:rPr lang="ja-JP" altLang="en-US" sz="1200">
                <a:solidFill>
                  <a:srgbClr val="1D2125"/>
                </a:solidFill>
                <a:latin typeface="Yu Gothic UI"/>
                <a:ea typeface="Yu Gothic UI"/>
              </a:rPr>
              <a:t>週間遅れれば全体が</a:t>
            </a:r>
            <a:r>
              <a:rPr lang="en-US" altLang="ja-JP" sz="1200">
                <a:solidFill>
                  <a:srgbClr val="1D2125"/>
                </a:solidFill>
                <a:latin typeface="Yu Gothic UI"/>
                <a:ea typeface="Yu Gothic UI"/>
              </a:rPr>
              <a:t>1</a:t>
            </a:r>
            <a:r>
              <a:rPr lang="ja-JP" altLang="en-US" sz="1200">
                <a:solidFill>
                  <a:srgbClr val="1D2125"/>
                </a:solidFill>
                <a:latin typeface="Yu Gothic UI"/>
                <a:ea typeface="Yu Gothic UI"/>
              </a:rPr>
              <a:t>週間そのまま後ろにずれます。</a:t>
            </a:r>
            <a:r>
              <a:rPr lang="en-US" altLang="ja-JP" sz="1200">
                <a:solidFill>
                  <a:srgbClr val="1D2125"/>
                </a:solidFill>
                <a:latin typeface="Yu Gothic UI"/>
                <a:ea typeface="Yu Gothic UI"/>
              </a:rPr>
              <a:t>⑤</a:t>
            </a:r>
            <a:r>
              <a:rPr lang="ja-JP" altLang="en-US" sz="1200">
                <a:solidFill>
                  <a:srgbClr val="1D2125"/>
                </a:solidFill>
                <a:latin typeface="Yu Gothic UI"/>
                <a:ea typeface="Yu Gothic UI"/>
              </a:rPr>
              <a:t>は残る</a:t>
            </a:r>
            <a:r>
              <a:rPr lang="en-US" altLang="ja-JP" sz="1200">
                <a:solidFill>
                  <a:srgbClr val="1D2125"/>
                </a:solidFill>
                <a:latin typeface="Yu Gothic UI"/>
                <a:ea typeface="Yu Gothic UI"/>
              </a:rPr>
              <a:t>2</a:t>
            </a:r>
            <a:r>
              <a:rPr lang="ja-JP" altLang="en-US" sz="1200">
                <a:solidFill>
                  <a:srgbClr val="1D2125"/>
                </a:solidFill>
                <a:latin typeface="Yu Gothic UI"/>
                <a:ea typeface="Yu Gothic UI"/>
              </a:rPr>
              <a:t>つのブロッカーのうち、当方の作業がゼロで解消できる唯一のものです。この</a:t>
            </a:r>
            <a:r>
              <a:rPr lang="en-US" altLang="ja-JP" sz="1200">
                <a:solidFill>
                  <a:srgbClr val="1D2125"/>
                </a:solidFill>
                <a:latin typeface="Yu Gothic UI"/>
                <a:ea typeface="Yu Gothic UI"/>
              </a:rPr>
              <a:t>2</a:t>
            </a:r>
            <a:r>
              <a:rPr lang="ja-JP" altLang="en-US" sz="1200">
                <a:solidFill>
                  <a:srgbClr val="1D2125"/>
                </a:solidFill>
                <a:latin typeface="Yu Gothic UI"/>
                <a:ea typeface="Yu Gothic UI"/>
              </a:rPr>
              <a:t>点が動けば、残る作業は社内の検証と執筆に収束し、期間を自分たちで管理できる状態になります。</a:t>
            </a:r>
          </a:p>
        </p:txBody>
      </p:sp>
      <p:sp>
        <p:nvSpPr>
          <p:cNvPr id="40" name="テキスト ボックス 39">
            <a:extLst>
              <a:ext uri="{FF2B5EF4-FFF2-40B4-BE49-F238E27FC236}">
                <a16:creationId xmlns:a16="http://schemas.microsoft.com/office/drawing/2014/main" id="{D25096D6-F8CA-CE48-9522-3A4686E9CC89}"/>
              </a:ext>
            </a:extLst>
          </p:cNvPr>
          <p:cNvSpPr txBox="1"/>
          <p:nvPr/>
        </p:nvSpPr>
        <p:spPr>
          <a:xfrm>
            <a:off x="812800" y="6502400"/>
            <a:ext cx="10566400" cy="177800"/>
          </a:xfrm>
          <a:prstGeom prst="rect">
            <a:avLst/>
          </a:prstGeom>
          <a:noFill/>
        </p:spPr>
        <p:txBody>
          <a:bodyPr vertOverflow="overflow" vert="horz" wrap="square" rtlCol="0" anchor="t" anchorCtr="0">
            <a:noAutofit/>
          </a:bodyPr>
          <a:lstStyle/>
          <a:p>
            <a:pPr algn="l"/>
            <a:r>
              <a:rPr lang="ja-JP" altLang="en-US" sz="1000">
                <a:solidFill>
                  <a:srgbClr val="5A6472"/>
                </a:solidFill>
                <a:latin typeface="Yu Gothic UI"/>
                <a:ea typeface="Yu Gothic UI"/>
              </a:rPr>
              <a:t>出典：ヒアリング項目表（</a:t>
            </a:r>
            <a:r>
              <a:rPr lang="en-US" altLang="ja-JP" sz="1000">
                <a:solidFill>
                  <a:srgbClr val="5A6472"/>
                </a:solidFill>
                <a:latin typeface="Yu Gothic UI"/>
                <a:ea typeface="Yu Gothic UI"/>
              </a:rPr>
              <a:t>127</a:t>
            </a:r>
            <a:r>
              <a:rPr lang="ja-JP" altLang="en-US" sz="1000">
                <a:solidFill>
                  <a:srgbClr val="5A6472"/>
                </a:solidFill>
                <a:latin typeface="Yu Gothic UI"/>
                <a:ea typeface="Yu Gothic UI"/>
              </a:rPr>
              <a:t>項目・未回答</a:t>
            </a:r>
            <a:r>
              <a:rPr lang="en-US" altLang="ja-JP" sz="1000">
                <a:solidFill>
                  <a:srgbClr val="5A6472"/>
                </a:solidFill>
                <a:latin typeface="Yu Gothic UI"/>
                <a:ea typeface="Yu Gothic UI"/>
              </a:rPr>
              <a:t>123</a:t>
            </a:r>
            <a:r>
              <a:rPr lang="ja-JP" altLang="en-US" sz="1000">
                <a:solidFill>
                  <a:srgbClr val="5A6472"/>
                </a:solidFill>
                <a:latin typeface="Yu Gothic UI"/>
                <a:ea typeface="Yu Gothic UI"/>
              </a:rPr>
              <a:t>）、基本設計書「残タスクと工数」、要件・設計台帳 </a:t>
            </a:r>
            <a:r>
              <a:rPr lang="en-US" altLang="ja-JP" sz="1000">
                <a:solidFill>
                  <a:srgbClr val="5A6472"/>
                </a:solidFill>
                <a:latin typeface="Yu Gothic UI"/>
                <a:ea typeface="Yu Gothic UI"/>
              </a:rPr>
              <a:t>2026-08-12 </a:t>
            </a:r>
            <a:r>
              <a:rPr lang="ja-JP" altLang="en-US" sz="1000">
                <a:solidFill>
                  <a:srgbClr val="5A6472"/>
                </a:solidFill>
                <a:latin typeface="Yu Gothic UI"/>
                <a:ea typeface="Yu Gothic UI"/>
              </a:rPr>
              <a:t>時点</a:t>
            </a:r>
          </a:p>
        </p:txBody>
      </p:sp>
    </p:spTree>
    <p:extLst>
      <p:ext uri="{BB962C8B-B14F-4D97-AF65-F5344CB8AC3E}">
        <p14:creationId xmlns:p14="http://schemas.microsoft.com/office/powerpoint/2010/main" val="2156680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177528E-A023-DB4B-AF70-07529496BDD0}"/>
              </a:ext>
            </a:extLst>
          </p:cNvPr>
          <p:cNvSpPr/>
          <p:nvPr/>
        </p:nvSpPr>
        <p:spPr>
          <a:xfrm>
            <a:off x="0" y="0"/>
            <a:ext cx="114300" cy="68580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正方形/長方形 2">
            <a:extLst>
              <a:ext uri="{FF2B5EF4-FFF2-40B4-BE49-F238E27FC236}">
                <a16:creationId xmlns:a16="http://schemas.microsoft.com/office/drawing/2014/main" id="{9B920835-D6E8-7E4F-98F1-1717985AEA14}"/>
              </a:ext>
            </a:extLst>
          </p:cNvPr>
          <p:cNvSpPr/>
          <p:nvPr/>
        </p:nvSpPr>
        <p:spPr>
          <a:xfrm>
            <a:off x="812800" y="2286000"/>
            <a:ext cx="10566400" cy="2286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正方形/長方形 3">
            <a:extLst>
              <a:ext uri="{FF2B5EF4-FFF2-40B4-BE49-F238E27FC236}">
                <a16:creationId xmlns:a16="http://schemas.microsoft.com/office/drawing/2014/main" id="{A1C50AF0-C642-D440-820A-53E9781D4A88}"/>
              </a:ext>
            </a:extLst>
          </p:cNvPr>
          <p:cNvSpPr/>
          <p:nvPr/>
        </p:nvSpPr>
        <p:spPr>
          <a:xfrm>
            <a:off x="812800" y="2286000"/>
            <a:ext cx="10566400" cy="635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テキスト ボックス 4">
            <a:extLst>
              <a:ext uri="{FF2B5EF4-FFF2-40B4-BE49-F238E27FC236}">
                <a16:creationId xmlns:a16="http://schemas.microsoft.com/office/drawing/2014/main" id="{5C606619-B168-5E4C-AC7C-D4544867C5E1}"/>
              </a:ext>
            </a:extLst>
          </p:cNvPr>
          <p:cNvSpPr txBox="1"/>
          <p:nvPr/>
        </p:nvSpPr>
        <p:spPr>
          <a:xfrm>
            <a:off x="1219200" y="2616200"/>
            <a:ext cx="5080000" cy="304800"/>
          </a:xfrm>
          <a:prstGeom prst="rect">
            <a:avLst/>
          </a:prstGeom>
          <a:noFill/>
        </p:spPr>
        <p:txBody>
          <a:bodyPr vertOverflow="overflow" vert="horz" wrap="square" rtlCol="0" anchor="t" anchorCtr="0">
            <a:noAutofit/>
          </a:bodyPr>
          <a:lstStyle/>
          <a:p>
            <a:pPr algn="l"/>
            <a:r>
              <a:rPr lang="ja-JP" altLang="en-US" sz="1500" b="1">
                <a:solidFill>
                  <a:srgbClr val="5A6472"/>
                </a:solidFill>
                <a:latin typeface="Yu Gothic UI"/>
                <a:ea typeface="Yu Gothic UI"/>
              </a:rPr>
              <a:t>付録</a:t>
            </a:r>
          </a:p>
        </p:txBody>
      </p:sp>
      <p:sp>
        <p:nvSpPr>
          <p:cNvPr id="6" name="テキスト ボックス 5">
            <a:extLst>
              <a:ext uri="{FF2B5EF4-FFF2-40B4-BE49-F238E27FC236}">
                <a16:creationId xmlns:a16="http://schemas.microsoft.com/office/drawing/2014/main" id="{2510AC68-61D4-8744-95FF-0E372AE1D420}"/>
              </a:ext>
            </a:extLst>
          </p:cNvPr>
          <p:cNvSpPr txBox="1"/>
          <p:nvPr/>
        </p:nvSpPr>
        <p:spPr>
          <a:xfrm>
            <a:off x="1219200" y="2946400"/>
            <a:ext cx="8890000" cy="558800"/>
          </a:xfrm>
          <a:prstGeom prst="rect">
            <a:avLst/>
          </a:prstGeom>
          <a:noFill/>
        </p:spPr>
        <p:txBody>
          <a:bodyPr vertOverflow="overflow" vert="horz" wrap="square" rtlCol="0" anchor="t" anchorCtr="0">
            <a:noAutofit/>
          </a:bodyPr>
          <a:lstStyle/>
          <a:p>
            <a:pPr algn="l"/>
            <a:r>
              <a:rPr lang="ja-JP" altLang="en-US" sz="3400" b="1">
                <a:solidFill>
                  <a:srgbClr val="1F3864"/>
                </a:solidFill>
                <a:latin typeface="Yu Gothic UI"/>
                <a:ea typeface="Yu Gothic UI"/>
              </a:rPr>
              <a:t>要件一覧　</a:t>
            </a:r>
            <a:r>
              <a:rPr lang="en-US" altLang="ja-JP" sz="3400" b="1">
                <a:solidFill>
                  <a:srgbClr val="1F3864"/>
                </a:solidFill>
                <a:latin typeface="Yu Gothic UI"/>
                <a:ea typeface="Yu Gothic UI"/>
              </a:rPr>
              <a:t>179</a:t>
            </a:r>
            <a:r>
              <a:rPr lang="ja-JP" altLang="en-US" sz="3400" b="1">
                <a:solidFill>
                  <a:srgbClr val="1F3864"/>
                </a:solidFill>
                <a:latin typeface="Yu Gothic UI"/>
                <a:ea typeface="Yu Gothic UI"/>
              </a:rPr>
              <a:t>件の個別サマリ</a:t>
            </a:r>
          </a:p>
        </p:txBody>
      </p:sp>
      <p:sp>
        <p:nvSpPr>
          <p:cNvPr id="7" name="テキスト ボックス 6">
            <a:extLst>
              <a:ext uri="{FF2B5EF4-FFF2-40B4-BE49-F238E27FC236}">
                <a16:creationId xmlns:a16="http://schemas.microsoft.com/office/drawing/2014/main" id="{5BB759F9-D6B3-574A-8FD7-EBB941558203}"/>
              </a:ext>
            </a:extLst>
          </p:cNvPr>
          <p:cNvSpPr txBox="1"/>
          <p:nvPr/>
        </p:nvSpPr>
        <p:spPr>
          <a:xfrm>
            <a:off x="1219200" y="3606800"/>
            <a:ext cx="9753600" cy="762000"/>
          </a:xfrm>
          <a:prstGeom prst="rect">
            <a:avLst/>
          </a:prstGeom>
          <a:noFill/>
        </p:spPr>
        <p:txBody>
          <a:bodyPr vertOverflow="overflow" vert="horz" wrap="square" rtlCol="0" anchor="t" anchorCtr="0">
            <a:noAutofit/>
          </a:bodyPr>
          <a:lstStyle/>
          <a:p>
            <a:pPr algn="l"/>
            <a:r>
              <a:rPr lang="ja-JP" altLang="en-US" sz="1300">
                <a:solidFill>
                  <a:srgbClr val="1D2125"/>
                </a:solidFill>
                <a:latin typeface="Yu Gothic UI"/>
                <a:ea typeface="Yu Gothic UI"/>
              </a:rPr>
              <a:t>本編の棚卸し</a:t>
            </a:r>
            <a:r>
              <a:rPr lang="en-US" altLang="ja-JP" sz="1300">
                <a:solidFill>
                  <a:srgbClr val="1D2125"/>
                </a:solidFill>
                <a:latin typeface="Yu Gothic UI"/>
                <a:ea typeface="Yu Gothic UI"/>
              </a:rPr>
              <a:t>14</a:t>
            </a:r>
            <a:r>
              <a:rPr lang="ja-JP" altLang="en-US" sz="1300">
                <a:solidFill>
                  <a:srgbClr val="1D2125"/>
                </a:solidFill>
                <a:latin typeface="Yu Gothic UI"/>
                <a:ea typeface="Yu Gothic UI"/>
              </a:rPr>
              <a:t>枚は小項目単位の要約です。ここから先は、機能要件</a:t>
            </a:r>
            <a:r>
              <a:rPr lang="en-US" altLang="ja-JP" sz="1300">
                <a:solidFill>
                  <a:srgbClr val="1D2125"/>
                </a:solidFill>
                <a:latin typeface="Yu Gothic UI"/>
                <a:ea typeface="Yu Gothic UI"/>
              </a:rPr>
              <a:t>91</a:t>
            </a:r>
            <a:r>
              <a:rPr lang="ja-JP" altLang="en-US" sz="1300">
                <a:solidFill>
                  <a:srgbClr val="1D2125"/>
                </a:solidFill>
                <a:latin typeface="Yu Gothic UI"/>
                <a:ea typeface="Yu Gothic UI"/>
              </a:rPr>
              <a:t>件・非機能要件</a:t>
            </a:r>
            <a:r>
              <a:rPr lang="en-US" altLang="ja-JP" sz="1300">
                <a:solidFill>
                  <a:srgbClr val="1D2125"/>
                </a:solidFill>
                <a:latin typeface="Yu Gothic UI"/>
                <a:ea typeface="Yu Gothic UI"/>
              </a:rPr>
              <a:t>88</a:t>
            </a:r>
            <a:r>
              <a:rPr lang="ja-JP" altLang="en-US" sz="1300">
                <a:solidFill>
                  <a:srgbClr val="1D2125"/>
                </a:solidFill>
                <a:latin typeface="Yu Gothic UI"/>
                <a:ea typeface="Yu Gothic UI"/>
              </a:rPr>
              <a:t>件を</a:t>
            </a:r>
            <a:r>
              <a:rPr lang="en-US" altLang="ja-JP" sz="1300">
                <a:solidFill>
                  <a:srgbClr val="1D2125"/>
                </a:solidFill>
                <a:latin typeface="Yu Gothic UI"/>
                <a:ea typeface="Yu Gothic UI"/>
              </a:rPr>
              <a:t>1</a:t>
            </a:r>
            <a:r>
              <a:rPr lang="ja-JP" altLang="en-US" sz="1300">
                <a:solidFill>
                  <a:srgbClr val="1D2125"/>
                </a:solidFill>
                <a:latin typeface="Yu Gothic UI"/>
                <a:ea typeface="Yu Gothic UI"/>
              </a:rPr>
              <a:t>件ずつ、
「何を決めるか」「重要度」「状態」「現在の内容または未確定の理由」の</a:t>
            </a:r>
            <a:r>
              <a:rPr lang="en-US" altLang="ja-JP" sz="1300">
                <a:solidFill>
                  <a:srgbClr val="1D2125"/>
                </a:solidFill>
                <a:latin typeface="Yu Gothic UI"/>
                <a:ea typeface="Yu Gothic UI"/>
              </a:rPr>
              <a:t>4</a:t>
            </a:r>
            <a:r>
              <a:rPr lang="ja-JP" altLang="en-US" sz="1300">
                <a:solidFill>
                  <a:srgbClr val="1D2125"/>
                </a:solidFill>
                <a:latin typeface="Yu Gothic UI"/>
                <a:ea typeface="Yu Gothic UI"/>
              </a:rPr>
              <a:t>点で並べています。
領域ごとに分割しており、並び順は必要に応じて入れ替えてください。</a:t>
            </a:r>
          </a:p>
        </p:txBody>
      </p:sp>
      <p:sp>
        <p:nvSpPr>
          <p:cNvPr id="8" name="テキスト ボックス 7">
            <a:extLst>
              <a:ext uri="{FF2B5EF4-FFF2-40B4-BE49-F238E27FC236}">
                <a16:creationId xmlns:a16="http://schemas.microsoft.com/office/drawing/2014/main" id="{028BBBE8-C0FE-2148-8BCA-2D0BA3605EC4}"/>
              </a:ext>
            </a:extLst>
          </p:cNvPr>
          <p:cNvSpPr txBox="1"/>
          <p:nvPr/>
        </p:nvSpPr>
        <p:spPr>
          <a:xfrm>
            <a:off x="812800" y="4876800"/>
            <a:ext cx="105664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状態　確定＝要件として決定済み／方向性＝推奨値を用意し承認待ち／検討中＝自社で判断・検証できる／外部待ち＝顧客・他組織・法務の回答待ち／対象外＝今回のスコープ外</a:t>
            </a:r>
          </a:p>
        </p:txBody>
      </p:sp>
      <p:sp>
        <p:nvSpPr>
          <p:cNvPr id="9" name="テキスト ボックス 8">
            <a:extLst>
              <a:ext uri="{FF2B5EF4-FFF2-40B4-BE49-F238E27FC236}">
                <a16:creationId xmlns:a16="http://schemas.microsoft.com/office/drawing/2014/main" id="{AEA68B23-261B-9244-9416-3B56CAB2778A}"/>
              </a:ext>
            </a:extLst>
          </p:cNvPr>
          <p:cNvSpPr txBox="1"/>
          <p:nvPr/>
        </p:nvSpPr>
        <p:spPr>
          <a:xfrm>
            <a:off x="812800" y="5130800"/>
            <a:ext cx="10566400" cy="2286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重要度　必須＝満たさなければ成立しない／推奨＝満たすべき／任意＝あれば望ましい／不採用＝提供しないと決めたもの</a:t>
            </a:r>
          </a:p>
        </p:txBody>
      </p:sp>
    </p:spTree>
    <p:extLst>
      <p:ext uri="{BB962C8B-B14F-4D97-AF65-F5344CB8AC3E}">
        <p14:creationId xmlns:p14="http://schemas.microsoft.com/office/powerpoint/2010/main" val="257993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C9FF26E-D633-D243-BAB0-A28EF37AC14C}"/>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2745034-3CF4-214A-8550-F8572E46816F}"/>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認証方式（</a:t>
            </a:r>
            <a:r>
              <a:rPr lang="en-US" altLang="ja-JP" sz="2300" b="1">
                <a:solidFill>
                  <a:srgbClr val="1F3864"/>
                </a:solidFill>
                <a:latin typeface="Yu Gothic UI"/>
                <a:ea typeface="Yu Gothic UI"/>
              </a:rPr>
              <a:t>1</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ABB10350-338C-8A45-A50C-49CD6D14487D}"/>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DDEBF9A5-A0BA-6546-BF09-9E70F31D1043}"/>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0AE78264-868D-E54D-9628-D0CC6297A57F}"/>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9AE21D48-1A82-7E4E-B9CA-95E15AE28438}"/>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AF809040-CE17-274A-90EF-E1FA2C551F1C}"/>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A5626C5F-99CB-E74C-990A-0429D087D527}"/>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1F9FC4CB-B0F9-4841-B96D-F95CC15E8878}"/>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BB03CCEA-EF65-B04A-96E3-E89B91709774}"/>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自社で直接持つ利用者に、</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とパスワードでのログインを</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CD9B1B6C-9C9F-8442-8F03-D54C85B744EA}"/>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DB28B07C-1096-E648-8BDD-0E8D793E8547}"/>
              </a:ext>
            </a:extLst>
          </p:cNvPr>
          <p:cNvSpPr/>
          <p:nvPr/>
        </p:nvSpPr>
        <p:spPr>
          <a:xfrm>
            <a:off x="5943600" y="1524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FE9891F1-F848-C346-88CA-4134F1BA08A1}"/>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 Login Page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649F6611-A17D-3D4F-95C0-FA4CC88BD868}"/>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CF4AD1CF-8D29-8E4A-8004-C86E4B0DD7F4}"/>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288D7FBF-13F4-AF4D-BD45-EF50F32DBAF9}"/>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スマホアプリや画面だけで動く</a:t>
            </a:r>
            <a:r>
              <a:rPr lang="en" altLang="ja-JP" sz="1100" b="1">
                <a:solidFill>
                  <a:srgbClr val="1D2125"/>
                </a:solidFill>
                <a:latin typeface="Yu Gothic UI"/>
                <a:ea typeface="Yu Gothic UI"/>
              </a:rPr>
              <a:t>Web</a:t>
            </a:r>
            <a:r>
              <a:rPr lang="ja-JP" altLang="en-US" sz="1100" b="1">
                <a:solidFill>
                  <a:srgbClr val="1D2125"/>
                </a:solidFill>
                <a:latin typeface="Yu Gothic UI"/>
                <a:ea typeface="Yu Gothic UI"/>
              </a:rPr>
              <a:t>アプリから安全にログイ</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8689EBBE-2DF4-4E44-94A8-E03C02DBD8DA}"/>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4514BC53-F918-7648-B470-0B8B40B87E70}"/>
              </a:ext>
            </a:extLst>
          </p:cNvPr>
          <p:cNvSpPr/>
          <p:nvPr/>
        </p:nvSpPr>
        <p:spPr>
          <a:xfrm>
            <a:off x="5943600" y="2032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DFF1509D-5B4C-D44C-8BA5-0483B674D64F}"/>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Public Client</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 Phase 1,4,5,6,7</a:t>
            </a:r>
            <a:r>
              <a:rPr lang="ja-JP" altLang="en-US" sz="1100">
                <a:solidFill>
                  <a:srgbClr val="5A6472"/>
                </a:solidFill>
                <a:latin typeface="Yu Gothic UI"/>
                <a:ea typeface="Yu Gothic UI"/>
              </a:rPr>
              <a:t>で検証済</a:t>
            </a:r>
          </a:p>
        </p:txBody>
      </p:sp>
      <p:sp>
        <p:nvSpPr>
          <p:cNvPr id="21" name="正方形/長方形 20">
            <a:extLst>
              <a:ext uri="{FF2B5EF4-FFF2-40B4-BE49-F238E27FC236}">
                <a16:creationId xmlns:a16="http://schemas.microsoft.com/office/drawing/2014/main" id="{788BBB30-3BD2-A94B-8F6F-35A047D9A9A2}"/>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A5809233-5FF2-7B43-9DC7-ABD7B4C86E56}"/>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サーバー側で画面を組み立てる</a:t>
            </a:r>
            <a:r>
              <a:rPr lang="en" altLang="ja-JP" sz="1100" b="1">
                <a:solidFill>
                  <a:srgbClr val="1D2125"/>
                </a:solidFill>
                <a:latin typeface="Yu Gothic UI"/>
                <a:ea typeface="Yu Gothic UI"/>
              </a:rPr>
              <a:t>Web</a:t>
            </a:r>
            <a:r>
              <a:rPr lang="ja-JP" altLang="en-US" sz="1100" b="1">
                <a:solidFill>
                  <a:srgbClr val="1D2125"/>
                </a:solidFill>
                <a:latin typeface="Yu Gothic UI"/>
                <a:ea typeface="Yu Gothic UI"/>
              </a:rPr>
              <a:t>アプリのログイン方式を</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687DC866-4CED-2440-AA6F-8C731AE557BB}"/>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8015139C-1BB8-8942-99E3-01B17B881832}"/>
              </a:ext>
            </a:extLst>
          </p:cNvPr>
          <p:cNvSpPr/>
          <p:nvPr/>
        </p:nvSpPr>
        <p:spPr>
          <a:xfrm>
            <a:off x="5943600" y="2540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5" name="テキスト ボックス 24">
            <a:extLst>
              <a:ext uri="{FF2B5EF4-FFF2-40B4-BE49-F238E27FC236}">
                <a16:creationId xmlns:a16="http://schemas.microsoft.com/office/drawing/2014/main" id="{2D10A921-A53E-484D-945C-E6EE821924FF}"/>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Confidential Client</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未検証のため承認要</a:t>
            </a:r>
          </a:p>
        </p:txBody>
      </p:sp>
      <p:sp>
        <p:nvSpPr>
          <p:cNvPr id="26" name="正方形/長方形 25">
            <a:extLst>
              <a:ext uri="{FF2B5EF4-FFF2-40B4-BE49-F238E27FC236}">
                <a16:creationId xmlns:a16="http://schemas.microsoft.com/office/drawing/2014/main" id="{5085B533-B328-A949-8346-AE7D835FD216}"/>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F0D2D356-B71E-F947-87D6-93F8EFBBCE4F}"/>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AD4837DB-70EE-E94B-8336-6F168C00301B}"/>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人を介さないシステム同士の通信で、機械が自分の身元を証</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ECA4469D-EE74-4E48-A87E-63A96EEBCAEC}"/>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0" name="角丸四角形 29">
            <a:extLst>
              <a:ext uri="{FF2B5EF4-FFF2-40B4-BE49-F238E27FC236}">
                <a16:creationId xmlns:a16="http://schemas.microsoft.com/office/drawing/2014/main" id="{4E465E18-4EB0-454C-AEB3-3524C532B81E}"/>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189C2A17-DB66-DF42-B282-70246920F83D}"/>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Service Account</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32" name="正方形/長方形 31">
            <a:extLst>
              <a:ext uri="{FF2B5EF4-FFF2-40B4-BE49-F238E27FC236}">
                <a16:creationId xmlns:a16="http://schemas.microsoft.com/office/drawing/2014/main" id="{ECE9E0FB-722C-1642-BA1F-8905E3795190}"/>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A0FF72E6-5F37-9242-A3F2-1560C80CD73D}"/>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あるシステム向けの通行証を別システム向けに引き換える仕</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A24E9FB2-6BA1-1F44-85B5-AFCFD400B267}"/>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BD9CB333-9581-7148-ACB9-36E46362785A}"/>
              </a:ext>
            </a:extLst>
          </p:cNvPr>
          <p:cNvSpPr/>
          <p:nvPr/>
        </p:nvSpPr>
        <p:spPr>
          <a:xfrm>
            <a:off x="5943600" y="3556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6" name="テキスト ボックス 35">
            <a:extLst>
              <a:ext uri="{FF2B5EF4-FFF2-40B4-BE49-F238E27FC236}">
                <a16:creationId xmlns:a16="http://schemas.microsoft.com/office/drawing/2014/main" id="{7E03C474-FA7D-3F48-B7E4-27502C93A62C}"/>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ネイティブ。★</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必須要</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37" name="正方形/長方形 36">
            <a:extLst>
              <a:ext uri="{FF2B5EF4-FFF2-40B4-BE49-F238E27FC236}">
                <a16:creationId xmlns:a16="http://schemas.microsoft.com/office/drawing/2014/main" id="{301C3EC9-882A-434F-A1B6-B1359BDF5AA3}"/>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EC514893-BBD8-3D4E-B290-D958A3762D15}"/>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638B3008-5275-C54A-B0E1-734DD52C7521}"/>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テレビやプリンタのように文字入力が難しい機器からログイ</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867EC030-83F0-5F4D-BF10-4FF957445D5A}"/>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28607D4C-31CF-E749-8AB4-FD458817835A}"/>
              </a:ext>
            </a:extLst>
          </p:cNvPr>
          <p:cNvSpPr/>
          <p:nvPr/>
        </p:nvSpPr>
        <p:spPr>
          <a:xfrm>
            <a:off x="5943600" y="406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4DD1C9E5-182B-324F-8799-6D85F3174472}"/>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ネイティブ。★</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必須要</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20507977-20AB-EE48-BB57-13E0E311FC56}"/>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E30D52D0-A8FB-8444-873B-B2ABC599F0BB}"/>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電子証明書を使ってアプリ自身の身元を証明させる必要があ</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51BE14C5-1BD8-2340-AF64-80882AB6FB19}"/>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46" name="角丸四角形 45">
            <a:extLst>
              <a:ext uri="{FF2B5EF4-FFF2-40B4-BE49-F238E27FC236}">
                <a16:creationId xmlns:a16="http://schemas.microsoft.com/office/drawing/2014/main" id="{6F1CE9E2-0DA6-0F46-BE7D-0976D200ECAA}"/>
              </a:ext>
            </a:extLst>
          </p:cNvPr>
          <p:cNvSpPr/>
          <p:nvPr/>
        </p:nvSpPr>
        <p:spPr>
          <a:xfrm>
            <a:off x="5943600" y="457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61051D47-7E7F-A64E-A672-FF571FDAFD42}"/>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 FAPI Profile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必須要</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3225890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B6E5F58-D198-5B47-8F7D-EE2BF1C82440}"/>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883BC9BE-069C-A341-ADA5-7D0DAFCD6F76}"/>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認証方式（</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45A964D8-A4C5-764F-8C17-18DC98B6B444}"/>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2FFB56EA-3C98-5540-A0CA-D48360128A37}"/>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B8FD3D3C-775B-2742-A37A-63220B3B33A0}"/>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6449E6B6-BCB3-3A43-80AC-F19BE83CCA39}"/>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3D1829FC-280B-B24F-BAC7-EEA362D2B9C2}"/>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9B07E73A-2920-5B47-AC42-BC08A264D9EF}"/>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9587C253-DEAE-0B44-98F2-8D19CD7EF291}"/>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37AFE3E8-FC72-8649-B4C6-433E33D255C4}"/>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とパスワードを直接アプリに預ける古い方式は使わない</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9DE00D69-029B-EC40-96C6-96636D2D22F4}"/>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ja-JP" altLang="en-US" sz="1100" b="1">
                <a:solidFill>
                  <a:srgbClr val="6B7076"/>
                </a:solidFill>
                <a:latin typeface="Yu Gothic UI"/>
                <a:ea typeface="Yu Gothic UI"/>
              </a:rPr>
              <a:t>不採用</a:t>
            </a:r>
          </a:p>
        </p:txBody>
      </p:sp>
      <p:sp>
        <p:nvSpPr>
          <p:cNvPr id="13" name="角丸四角形 12">
            <a:extLst>
              <a:ext uri="{FF2B5EF4-FFF2-40B4-BE49-F238E27FC236}">
                <a16:creationId xmlns:a16="http://schemas.microsoft.com/office/drawing/2014/main" id="{7828D612-97E8-2744-8106-AE7F5FD4A2A5}"/>
              </a:ext>
            </a:extLst>
          </p:cNvPr>
          <p:cNvSpPr/>
          <p:nvPr/>
        </p:nvSpPr>
        <p:spPr>
          <a:xfrm>
            <a:off x="5943600" y="1524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C044244B-F13F-C045-8FEA-EB0ADDA94893}"/>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不採用で決定。両者対応だが非推奨</a:t>
            </a:r>
          </a:p>
        </p:txBody>
      </p:sp>
      <p:sp>
        <p:nvSpPr>
          <p:cNvPr id="15" name="正方形/長方形 14">
            <a:extLst>
              <a:ext uri="{FF2B5EF4-FFF2-40B4-BE49-F238E27FC236}">
                <a16:creationId xmlns:a16="http://schemas.microsoft.com/office/drawing/2014/main" id="{E180F7EC-37E1-0841-A440-69A9726C9A51}"/>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C7CDFC07-3552-714C-B57C-D3678B4BEDA8}"/>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A0FB2D9A-C6D2-B24D-93B4-262EA5381E77}"/>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パスワードの最低文字数や、記号・数字を混ぜる条件をどう</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3241642F-6840-AF4D-8520-0DF24F0AEF50}"/>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AEB21EC2-A445-6D4A-AF22-C5AC70C21411}"/>
              </a:ext>
            </a:extLst>
          </p:cNvPr>
          <p:cNvSpPr/>
          <p:nvPr/>
        </p:nvSpPr>
        <p:spPr>
          <a:xfrm>
            <a:off x="5943600" y="2032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A7C049DC-D502-0145-9A84-4491B17BB068}"/>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明示設定済（</a:t>
            </a:r>
            <a:r>
              <a:rPr lang="en" altLang="ja-JP" sz="1100">
                <a:solidFill>
                  <a:srgbClr val="5A6472"/>
                </a:solidFill>
                <a:latin typeface="Yu Gothic UI"/>
                <a:ea typeface="Yu Gothic UI"/>
              </a:rPr>
              <a:t>min 8+</a:t>
            </a:r>
            <a:r>
              <a:rPr lang="ja-JP" altLang="en-US" sz="1100">
                <a:solidFill>
                  <a:srgbClr val="5A6472"/>
                </a:solidFill>
                <a:latin typeface="Yu Gothic UI"/>
                <a:ea typeface="Yu Gothic UI"/>
              </a:rPr>
              <a:t>大小数字必須）</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 Realm …</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6A7B7ED3-7813-3942-983A-AB73278D0F36}"/>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0FFD8366-F806-904D-B00F-F64065088719}"/>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過去に使ったパスワードの再利用を禁止するか。禁止するな</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4BD48810-8188-4346-9A9B-6D6EEB2BD85C}"/>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24" name="角丸四角形 23">
            <a:extLst>
              <a:ext uri="{FF2B5EF4-FFF2-40B4-BE49-F238E27FC236}">
                <a16:creationId xmlns:a16="http://schemas.microsoft.com/office/drawing/2014/main" id="{494357DA-125B-F342-B09B-BEDF3A2D93AA}"/>
              </a:ext>
            </a:extLst>
          </p:cNvPr>
          <p:cNvSpPr/>
          <p:nvPr/>
        </p:nvSpPr>
        <p:spPr>
          <a:xfrm>
            <a:off x="5943600" y="2540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5" name="テキスト ボックス 24">
            <a:extLst>
              <a:ext uri="{FF2B5EF4-FFF2-40B4-BE49-F238E27FC236}">
                <a16:creationId xmlns:a16="http://schemas.microsoft.com/office/drawing/2014/main" id="{0F30CA50-40F4-2249-A2E3-AFAA94ED05E2}"/>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ティア選定に影響</a:t>
            </a:r>
          </a:p>
        </p:txBody>
      </p:sp>
      <p:sp>
        <p:nvSpPr>
          <p:cNvPr id="26" name="正方形/長方形 25">
            <a:extLst>
              <a:ext uri="{FF2B5EF4-FFF2-40B4-BE49-F238E27FC236}">
                <a16:creationId xmlns:a16="http://schemas.microsoft.com/office/drawing/2014/main" id="{82DA4F55-9611-F64B-8DA0-350E55A684DB}"/>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15E97ED2-8288-FC4B-9193-79D94C314C34}"/>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094B7CB2-93D0-9649-B7CE-D0D6E5AE5F44}"/>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ログイン失敗が続いたときアカウントを一時的に止めるか。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EFF41462-8BC9-7042-8B0B-88178B62BA29}"/>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0" name="角丸四角形 29">
            <a:extLst>
              <a:ext uri="{FF2B5EF4-FFF2-40B4-BE49-F238E27FC236}">
                <a16:creationId xmlns:a16="http://schemas.microsoft.com/office/drawing/2014/main" id="{CDD58B27-FE88-E04F-A9FC-33BFCC816630}"/>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45B36AF2-9528-324B-93FE-7688372F31C8}"/>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MAU) / failureFactor</a:t>
            </a:r>
            <a:r>
              <a:rPr lang="ja-JP" altLang="en-US" sz="1100">
                <a:solidFill>
                  <a:srgbClr val="5A6472"/>
                </a:solidFill>
                <a:latin typeface="Yu Gothic UI"/>
                <a:ea typeface="Yu Gothic UI"/>
              </a:rPr>
              <a:t>等細制御可。検証済</a:t>
            </a:r>
          </a:p>
        </p:txBody>
      </p:sp>
      <p:sp>
        <p:nvSpPr>
          <p:cNvPr id="32" name="正方形/長方形 31">
            <a:extLst>
              <a:ext uri="{FF2B5EF4-FFF2-40B4-BE49-F238E27FC236}">
                <a16:creationId xmlns:a16="http://schemas.microsoft.com/office/drawing/2014/main" id="{A738D0FA-BDD9-794D-929F-5C96533A608F}"/>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1DCD945-3424-6B41-BE2B-96982A299CED}"/>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パスワードに有効期限を設けて定期変更を求めるか。何日で</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F90CBABC-4197-EC4B-BDA4-B578067D49AA}"/>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5" name="角丸四角形 34">
            <a:extLst>
              <a:ext uri="{FF2B5EF4-FFF2-40B4-BE49-F238E27FC236}">
                <a16:creationId xmlns:a16="http://schemas.microsoft.com/office/drawing/2014/main" id="{99276663-536B-3848-8C52-28EA8376CB02}"/>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336EB16E-ABD2-E342-B5F3-9984A37B6DD3}"/>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両者設定可。</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37" name="正方形/長方形 36">
            <a:extLst>
              <a:ext uri="{FF2B5EF4-FFF2-40B4-BE49-F238E27FC236}">
                <a16:creationId xmlns:a16="http://schemas.microsoft.com/office/drawing/2014/main" id="{ECE0AB6C-1BFC-6C4D-8C0F-6870A913E9C4}"/>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DA1FC4D2-866D-2B48-B59C-5432F39E3E45}"/>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C59823D0-C37E-0148-A2BB-1A310A80CD64}"/>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利用者が自分でパスワードを再設定できるようにするか。そ</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B832076A-8F88-1E44-9AB2-6D9B4F537305}"/>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1" name="角丸四角形 40">
            <a:extLst>
              <a:ext uri="{FF2B5EF4-FFF2-40B4-BE49-F238E27FC236}">
                <a16:creationId xmlns:a16="http://schemas.microsoft.com/office/drawing/2014/main" id="{6821C9F5-2FC3-144B-9A9E-22444E6E725E}"/>
              </a:ext>
            </a:extLst>
          </p:cNvPr>
          <p:cNvSpPr/>
          <p:nvPr/>
        </p:nvSpPr>
        <p:spPr>
          <a:xfrm>
            <a:off x="5943600" y="406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A6D07990-18ED-2D4B-92AE-AFB0809C592D}"/>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Forgot Password</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43" name="正方形/長方形 42">
            <a:extLst>
              <a:ext uri="{FF2B5EF4-FFF2-40B4-BE49-F238E27FC236}">
                <a16:creationId xmlns:a16="http://schemas.microsoft.com/office/drawing/2014/main" id="{75CA470E-8145-9841-B201-0D82AEFB6F44}"/>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3A1CFFBA-643D-C04D-8E58-72C201820748}"/>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初回ログイン時にパスワードの変更を強制するか</a:t>
            </a:r>
          </a:p>
        </p:txBody>
      </p:sp>
      <p:sp>
        <p:nvSpPr>
          <p:cNvPr id="45" name="テキスト ボックス 44">
            <a:extLst>
              <a:ext uri="{FF2B5EF4-FFF2-40B4-BE49-F238E27FC236}">
                <a16:creationId xmlns:a16="http://schemas.microsoft.com/office/drawing/2014/main" id="{DEE159A8-5982-9247-BDFD-446AC74217A9}"/>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6" name="角丸四角形 45">
            <a:extLst>
              <a:ext uri="{FF2B5EF4-FFF2-40B4-BE49-F238E27FC236}">
                <a16:creationId xmlns:a16="http://schemas.microsoft.com/office/drawing/2014/main" id="{B128BA19-53EA-4846-9EA2-0B45CE58B3A2}"/>
              </a:ext>
            </a:extLst>
          </p:cNvPr>
          <p:cNvSpPr/>
          <p:nvPr/>
        </p:nvSpPr>
        <p:spPr>
          <a:xfrm>
            <a:off x="5943600" y="457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ACF7A31D-2696-0F44-84F4-1286E51C1925}"/>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Required Action</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Tree>
    <p:extLst>
      <p:ext uri="{BB962C8B-B14F-4D97-AF65-F5344CB8AC3E}">
        <p14:creationId xmlns:p14="http://schemas.microsoft.com/office/powerpoint/2010/main" val="712093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CA1D1AE-675D-7545-9184-6D0D50EE6A02}"/>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C2553C99-F031-2646-B64D-A5A8674C9104}"/>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外部</a:t>
            </a:r>
            <a:r>
              <a:rPr lang="en" altLang="ja-JP" sz="2300" b="1">
                <a:solidFill>
                  <a:srgbClr val="1F3864"/>
                </a:solidFill>
                <a:latin typeface="Yu Gothic UI"/>
                <a:ea typeface="Yu Gothic UI"/>
              </a:rPr>
              <a:t>ID</a:t>
            </a:r>
            <a:r>
              <a:rPr lang="ja-JP" altLang="en-US" sz="2300" b="1">
                <a:solidFill>
                  <a:srgbClr val="1F3864"/>
                </a:solidFill>
                <a:latin typeface="Yu Gothic UI"/>
                <a:ea typeface="Yu Gothic UI"/>
              </a:rPr>
              <a:t>連携（</a:t>
            </a:r>
            <a:r>
              <a:rPr lang="en-US" altLang="ja-JP" sz="2300" b="1">
                <a:solidFill>
                  <a:srgbClr val="1F3864"/>
                </a:solidFill>
                <a:latin typeface="Yu Gothic UI"/>
                <a:ea typeface="Yu Gothic UI"/>
              </a:rPr>
              <a:t>1</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813E69C4-F3E7-0D4A-AA18-DDD1D2E77DF2}"/>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64422571-158A-334D-A30E-93AD8E870A16}"/>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54B1350F-D8E3-474A-9EB1-89A06EA51A8B}"/>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53BE3B01-5A8B-734D-93C6-D7C6BC9A70E6}"/>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9915EACD-B1E6-804A-BC0B-92B6D0611FB7}"/>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925A7B29-1936-C449-BBBB-4B7AFFCD0884}"/>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7D8FCD07-9C5F-2B47-A926-F7EFB917BE22}"/>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665D4492-298A-084B-92FD-E374B5CDD1EB}"/>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既存の認証サービス（</a:t>
            </a:r>
            <a:r>
              <a:rPr lang="en" altLang="ja-JP" sz="1100" b="1">
                <a:solidFill>
                  <a:srgbClr val="1D2125"/>
                </a:solidFill>
                <a:latin typeface="Yu Gothic UI"/>
                <a:ea typeface="Yu Gothic UI"/>
              </a:rPr>
              <a:t>Auth0</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と連携してログインさせるか</a:t>
            </a:r>
          </a:p>
        </p:txBody>
      </p:sp>
      <p:sp>
        <p:nvSpPr>
          <p:cNvPr id="12" name="テキスト ボックス 11">
            <a:extLst>
              <a:ext uri="{FF2B5EF4-FFF2-40B4-BE49-F238E27FC236}">
                <a16:creationId xmlns:a16="http://schemas.microsoft.com/office/drawing/2014/main" id="{875BDC76-1B38-5D4E-8838-FC8FAE80BB68}"/>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1FA64372-1B1E-7C46-B851-CB4F29A02D00}"/>
              </a:ext>
            </a:extLst>
          </p:cNvPr>
          <p:cNvSpPr/>
          <p:nvPr/>
        </p:nvSpPr>
        <p:spPr>
          <a:xfrm>
            <a:off x="5943600" y="1524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385CF192-91C3-1448-BF7F-427268834568}"/>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優先度</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2,7</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E60E6627-1C90-6041-AFC0-88E672B3096D}"/>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16300110-2804-F54C-8131-E8A35FCB4B99}"/>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27AC298B-EEB5-8F4E-91F5-637C9BE6747A}"/>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顧客が使っている</a:t>
            </a:r>
            <a:r>
              <a:rPr lang="en" altLang="ja-JP" sz="1100" b="1">
                <a:solidFill>
                  <a:srgbClr val="1D2125"/>
                </a:solidFill>
                <a:latin typeface="Yu Gothic UI"/>
                <a:ea typeface="Yu Gothic UI"/>
              </a:rPr>
              <a:t>Microsoft</a:t>
            </a:r>
            <a:r>
              <a:rPr lang="ja-JP" altLang="en-US" sz="1100" b="1">
                <a:solidFill>
                  <a:srgbClr val="1D2125"/>
                </a:solidFill>
                <a:latin typeface="Yu Gothic UI"/>
                <a:ea typeface="Yu Gothic UI"/>
              </a:rPr>
              <a:t>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基盤と連携するか。最優</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7991E53C-1DE7-1C4F-9F5F-22458F838E54}"/>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F2F35A34-C37A-1349-ADB5-1D548B1413E9}"/>
              </a:ext>
            </a:extLst>
          </p:cNvPr>
          <p:cNvSpPr/>
          <p:nvPr/>
        </p:nvSpPr>
        <p:spPr>
          <a:xfrm>
            <a:off x="5943600" y="203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6A430BDE-1724-D94C-A4D7-1298D1D9A0B6}"/>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両者対応だが</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a:t>
            </a:r>
            <a:r>
              <a:rPr lang="en" altLang="ja-JP" sz="1100">
                <a:solidFill>
                  <a:srgbClr val="5A6472"/>
                </a:solidFill>
                <a:latin typeface="Yu Gothic UI"/>
                <a:ea typeface="Yu Gothic UI"/>
              </a:rPr>
              <a:t>Auth0</a:t>
            </a:r>
            <a:r>
              <a:rPr lang="ja-JP" altLang="en-US" sz="1100">
                <a:solidFill>
                  <a:srgbClr val="5A6472"/>
                </a:solidFill>
                <a:latin typeface="Yu Gothic UI"/>
                <a:ea typeface="Yu Gothic UI"/>
              </a:rPr>
              <a:t>で代替。★ヒアリング最優先</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優先度</a:t>
            </a:r>
            <a:r>
              <a:rPr lang="en-US" altLang="ja-JP" sz="1100">
                <a:solidFill>
                  <a:srgbClr val="5A6472"/>
                </a:solidFill>
                <a:latin typeface="Yu Gothic UI"/>
                <a:ea typeface="Yu Gothic UI"/>
              </a:rPr>
              <a:t>1)…</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3699ED02-9E92-9141-9F3A-08CE4C0400F7}"/>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BA98D231-3EA1-AE40-AA1A-54AF5E7655F0}"/>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顧客が使っている</a:t>
            </a:r>
            <a:r>
              <a:rPr lang="en" altLang="ja-JP" sz="1100" b="1">
                <a:solidFill>
                  <a:srgbClr val="1D2125"/>
                </a:solidFill>
                <a:latin typeface="Yu Gothic UI"/>
                <a:ea typeface="Yu Gothic UI"/>
              </a:rPr>
              <a:t>Okta</a:t>
            </a:r>
            <a:r>
              <a:rPr lang="ja-JP" altLang="en-US" sz="1100" b="1">
                <a:solidFill>
                  <a:srgbClr val="1D2125"/>
                </a:solidFill>
                <a:latin typeface="Yu Gothic UI"/>
                <a:ea typeface="Yu Gothic UI"/>
              </a:rPr>
              <a:t>と連携するか</a:t>
            </a:r>
          </a:p>
        </p:txBody>
      </p:sp>
      <p:sp>
        <p:nvSpPr>
          <p:cNvPr id="23" name="テキスト ボックス 22">
            <a:extLst>
              <a:ext uri="{FF2B5EF4-FFF2-40B4-BE49-F238E27FC236}">
                <a16:creationId xmlns:a16="http://schemas.microsoft.com/office/drawing/2014/main" id="{E9FCB292-3F1C-4841-B53C-7E40659487AC}"/>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24" name="角丸四角形 23">
            <a:extLst>
              <a:ext uri="{FF2B5EF4-FFF2-40B4-BE49-F238E27FC236}">
                <a16:creationId xmlns:a16="http://schemas.microsoft.com/office/drawing/2014/main" id="{70A17F2F-6BA4-244E-8212-217ACAEEF7E7}"/>
              </a:ext>
            </a:extLst>
          </p:cNvPr>
          <p:cNvSpPr/>
          <p:nvPr/>
        </p:nvSpPr>
        <p:spPr>
          <a:xfrm>
            <a:off x="5943600" y="2540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5" name="テキスト ボックス 24">
            <a:extLst>
              <a:ext uri="{FF2B5EF4-FFF2-40B4-BE49-F238E27FC236}">
                <a16:creationId xmlns:a16="http://schemas.microsoft.com/office/drawing/2014/main" id="{FD2438B1-7FDC-D342-A8F2-A1ECE32FEB37}"/>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両者対応。未検証・要ヒアリング</a:t>
            </a:r>
          </a:p>
        </p:txBody>
      </p:sp>
      <p:sp>
        <p:nvSpPr>
          <p:cNvPr id="26" name="正方形/長方形 25">
            <a:extLst>
              <a:ext uri="{FF2B5EF4-FFF2-40B4-BE49-F238E27FC236}">
                <a16:creationId xmlns:a16="http://schemas.microsoft.com/office/drawing/2014/main" id="{E67527C5-25AD-404A-B74B-33E6B3399EE1}"/>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30A11FCB-9569-EC41-A5B0-A376FE429012}"/>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0EFD2CEB-F840-0144-8D78-014AA0043030}"/>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Google Workspace</a:t>
            </a:r>
            <a:r>
              <a:rPr lang="ja-JP" altLang="en-US" sz="1100" b="1">
                <a:solidFill>
                  <a:srgbClr val="1D2125"/>
                </a:solidFill>
                <a:latin typeface="Yu Gothic UI"/>
                <a:ea typeface="Yu Gothic UI"/>
              </a:rPr>
              <a:t>のアカウントでログインできるようにす</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BFB913F7-45C8-5E45-B2FF-566EB9A42F5D}"/>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30" name="角丸四角形 29">
            <a:extLst>
              <a:ext uri="{FF2B5EF4-FFF2-40B4-BE49-F238E27FC236}">
                <a16:creationId xmlns:a16="http://schemas.microsoft.com/office/drawing/2014/main" id="{8BE80550-42EC-E54C-AC75-5616971F4E12}"/>
              </a:ext>
            </a:extLst>
          </p:cNvPr>
          <p:cNvSpPr/>
          <p:nvPr/>
        </p:nvSpPr>
        <p:spPr>
          <a:xfrm>
            <a:off x="5943600" y="3048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1" name="テキスト ボックス 30">
            <a:extLst>
              <a:ext uri="{FF2B5EF4-FFF2-40B4-BE49-F238E27FC236}">
                <a16:creationId xmlns:a16="http://schemas.microsoft.com/office/drawing/2014/main" id="{9B3A8AC2-B721-AE41-BD9C-C292B5F55BC4}"/>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両者対応。未検証・要ヒアリング</a:t>
            </a:r>
          </a:p>
        </p:txBody>
      </p:sp>
      <p:sp>
        <p:nvSpPr>
          <p:cNvPr id="32" name="正方形/長方形 31">
            <a:extLst>
              <a:ext uri="{FF2B5EF4-FFF2-40B4-BE49-F238E27FC236}">
                <a16:creationId xmlns:a16="http://schemas.microsoft.com/office/drawing/2014/main" id="{E494D737-46D1-7B4F-9352-5AD8A19C1459}"/>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0C8C4F3F-573F-9C40-BDBE-639EEE600CBD}"/>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顧客側の旧来方式（</a:t>
            </a:r>
            <a:r>
              <a:rPr lang="en" altLang="ja-JP" sz="1100" b="1">
                <a:solidFill>
                  <a:srgbClr val="1D2125"/>
                </a:solidFill>
                <a:latin typeface="Yu Gothic UI"/>
                <a:ea typeface="Yu Gothic UI"/>
              </a:rPr>
              <a:t>SAML</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基盤を受け入れる必要があ</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F88D51FD-3DCA-A044-BB98-F67745012B9E}"/>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5" name="角丸四角形 34">
            <a:extLst>
              <a:ext uri="{FF2B5EF4-FFF2-40B4-BE49-F238E27FC236}">
                <a16:creationId xmlns:a16="http://schemas.microsoft.com/office/drawing/2014/main" id="{DE59D313-5BD1-A64E-A150-1763E545B8F2}"/>
              </a:ext>
            </a:extLst>
          </p:cNvPr>
          <p:cNvSpPr/>
          <p:nvPr/>
        </p:nvSpPr>
        <p:spPr>
          <a:xfrm>
            <a:off x="5943600" y="3556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6" name="テキスト ボックス 35">
            <a:extLst>
              <a:ext uri="{FF2B5EF4-FFF2-40B4-BE49-F238E27FC236}">
                <a16:creationId xmlns:a16="http://schemas.microsoft.com/office/drawing/2014/main" id="{6CB95FD2-5491-9240-B8D6-B49964338588}"/>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両者対応。未検証・要ヒアリング</a:t>
            </a:r>
          </a:p>
        </p:txBody>
      </p:sp>
      <p:sp>
        <p:nvSpPr>
          <p:cNvPr id="37" name="正方形/長方形 36">
            <a:extLst>
              <a:ext uri="{FF2B5EF4-FFF2-40B4-BE49-F238E27FC236}">
                <a16:creationId xmlns:a16="http://schemas.microsoft.com/office/drawing/2014/main" id="{FA74E045-1F4D-DF47-98F0-F152F5A084C5}"/>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327D0AC6-4C7C-D749-AB8B-EACC6365B0E4}"/>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5370CB06-AC14-0044-A146-A553F476F2C9}"/>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自分たちが旧来方式（</a:t>
            </a:r>
            <a:r>
              <a:rPr lang="en" altLang="ja-JP" sz="1100" b="1">
                <a:solidFill>
                  <a:srgbClr val="1D2125"/>
                </a:solidFill>
                <a:latin typeface="Yu Gothic UI"/>
                <a:ea typeface="Yu Gothic UI"/>
              </a:rPr>
              <a:t>SAML</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提供元として振る舞う必</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6980D2E1-6BD5-2047-A93A-384422F27A82}"/>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5CF9A805-74C9-1C4B-A5C2-EDDA0AE865C7}"/>
              </a:ext>
            </a:extLst>
          </p:cNvPr>
          <p:cNvSpPr/>
          <p:nvPr/>
        </p:nvSpPr>
        <p:spPr>
          <a:xfrm>
            <a:off x="5943600" y="406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D9CA22E3-8835-4C40-9178-37BCB40B7DA4}"/>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必須要因。ヒ</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829D77F3-CE7E-F247-BA19-F0986F5C7DED}"/>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F231D210-13CE-A641-9B8D-8BC082107C6E}"/>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社内のディレクトリサーバー（</a:t>
            </a:r>
            <a:r>
              <a:rPr lang="en" altLang="ja-JP" sz="1100" b="1">
                <a:solidFill>
                  <a:srgbClr val="1D2125"/>
                </a:solidFill>
                <a:latin typeface="Yu Gothic UI"/>
                <a:ea typeface="Yu Gothic UI"/>
              </a:rPr>
              <a:t>LDAP/AD</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と直接つなぐ必要</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5D23CE4D-7B72-8C47-9FD7-009826BFB851}"/>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80A2BBF8-F0BC-E54F-A257-DF6402DF9222}"/>
              </a:ext>
            </a:extLst>
          </p:cNvPr>
          <p:cNvSpPr/>
          <p:nvPr/>
        </p:nvSpPr>
        <p:spPr>
          <a:xfrm>
            <a:off x="5943600" y="457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53EAF698-8644-BF49-9E35-78B1DE1A079E}"/>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 User Federation</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Keyclo…</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3619887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9FA2302-0970-0745-BC9B-3FA34B532DF3}"/>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C159EF98-A41C-A348-B05F-D4F335D053E7}"/>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外部</a:t>
            </a:r>
            <a:r>
              <a:rPr lang="en" altLang="ja-JP" sz="2300" b="1">
                <a:solidFill>
                  <a:srgbClr val="1F3864"/>
                </a:solidFill>
                <a:latin typeface="Yu Gothic UI"/>
                <a:ea typeface="Yu Gothic UI"/>
              </a:rPr>
              <a:t>ID</a:t>
            </a:r>
            <a:r>
              <a:rPr lang="ja-JP" altLang="en-US" sz="2300" b="1">
                <a:solidFill>
                  <a:srgbClr val="1F3864"/>
                </a:solidFill>
                <a:latin typeface="Yu Gothic UI"/>
                <a:ea typeface="Yu Gothic UI"/>
              </a:rPr>
              <a:t>連携（</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C86407DD-BF95-CB46-AF01-78DB5B4B5046}"/>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1FFFAE2B-2191-0142-8CD6-584EA7703F05}"/>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C77CB516-F91B-DD41-AC3D-1EC8F33E123C}"/>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459BE222-E5DF-2144-964B-67AAB7AA5F1E}"/>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A9621D83-7FC2-2F46-9412-E63C6B46BF6D}"/>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4BCBA5FA-11A4-E141-BC3C-4A05868BC62D}"/>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1F54965D-CF92-3C4C-9421-A3996C29FF9D}"/>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B4D7AD23-6C1B-3442-AFE8-36D7231D4A7B}"/>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顧客ごとの独自ドメイン名でログイン画面を出す必要がある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BB9E67C3-06A1-9046-8583-F85DF3BD98B5}"/>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13" name="角丸四角形 12">
            <a:extLst>
              <a:ext uri="{FF2B5EF4-FFF2-40B4-BE49-F238E27FC236}">
                <a16:creationId xmlns:a16="http://schemas.microsoft.com/office/drawing/2014/main" id="{FAEC0F0B-6EDB-5747-935B-B0F857A40B21}"/>
              </a:ext>
            </a:extLst>
          </p:cNvPr>
          <p:cNvSpPr/>
          <p:nvPr/>
        </p:nvSpPr>
        <p:spPr>
          <a:xfrm>
            <a:off x="5943600" y="152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ED1805BE-95E9-F146-A5F8-7B27A79610AC}"/>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Hostname</a:t>
            </a:r>
            <a:r>
              <a:rPr lang="ja-JP" altLang="en-US" sz="1100">
                <a:solidFill>
                  <a:srgbClr val="5A6472"/>
                </a:solidFill>
                <a:latin typeface="Yu Gothic UI"/>
                <a:ea typeface="Yu Gothic UI"/>
              </a:rPr>
              <a:t>設定。</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15" name="正方形/長方形 14">
            <a:extLst>
              <a:ext uri="{FF2B5EF4-FFF2-40B4-BE49-F238E27FC236}">
                <a16:creationId xmlns:a16="http://schemas.microsoft.com/office/drawing/2014/main" id="{7EC7F427-3AC2-E544-BB2E-3735DF65DBA0}"/>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6A19A113-7361-2E42-BC10-0142BC252116}"/>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3180554C-892B-5042-BC3A-1138F83E3FF7}"/>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初回ログイン時に利用者情報を自動で作るか。作る項目と、</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009B3628-6FAF-9444-A0BC-0E19564274CF}"/>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717EE8C9-162E-E54F-AF2F-644D510917F3}"/>
              </a:ext>
            </a:extLst>
          </p:cNvPr>
          <p:cNvSpPr/>
          <p:nvPr/>
        </p:nvSpPr>
        <p:spPr>
          <a:xfrm>
            <a:off x="5943600" y="2032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3DEC4522-0BEB-5246-AE15-59A7228CF2C6}"/>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First Login Flow</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21" name="正方形/長方形 20">
            <a:extLst>
              <a:ext uri="{FF2B5EF4-FFF2-40B4-BE49-F238E27FC236}">
                <a16:creationId xmlns:a16="http://schemas.microsoft.com/office/drawing/2014/main" id="{07299C7A-A501-9447-8565-AD78C7B10EBE}"/>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F3471431-2C4F-0E48-B13D-2CA59D3C13F0}"/>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顧客側の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基盤から受け取る項目を、自分たちの項目にど</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E5575ED7-FA26-B344-B2AE-6EA23FF0C1F0}"/>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162A733F-7BE5-A944-9A06-87B9E01EB16A}"/>
              </a:ext>
            </a:extLst>
          </p:cNvPr>
          <p:cNvSpPr/>
          <p:nvPr/>
        </p:nvSpPr>
        <p:spPr>
          <a:xfrm>
            <a:off x="5943600" y="2540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F8FA8C8B-3DF9-6F40-8564-E4710163A807}"/>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IdP Mapper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26" name="正方形/長方形 25">
            <a:extLst>
              <a:ext uri="{FF2B5EF4-FFF2-40B4-BE49-F238E27FC236}">
                <a16:creationId xmlns:a16="http://schemas.microsoft.com/office/drawing/2014/main" id="{D4E5D3CD-B01C-BE45-82FF-A314D4CD3C36}"/>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9F8A1C44-64D7-9945-AA41-B6E728C962F0}"/>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4D42D361-527C-154A-A2CD-34C030C82AB9}"/>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顧客側で追加認証を済ませた利用者に、こちらで二重に求め</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12A417CE-457E-3E47-89FD-8A1BC0CB2764}"/>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0" name="角丸四角形 29">
            <a:extLst>
              <a:ext uri="{FF2B5EF4-FFF2-40B4-BE49-F238E27FC236}">
                <a16:creationId xmlns:a16="http://schemas.microsoft.com/office/drawing/2014/main" id="{73FA1904-51ED-5249-B6AA-0E9BF1F289F1}"/>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24E4FAE7-4AAD-8A4D-8754-C108DAC7D52D}"/>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Conditional OTP</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7</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のみ）。</a:t>
            </a:r>
            <a:r>
              <a:rPr lang="en" altLang="ja-JP" sz="1100">
                <a:solidFill>
                  <a:srgbClr val="5A6472"/>
                </a:solidFill>
                <a:latin typeface="Yu Gothic UI"/>
                <a:ea typeface="Yu Gothic UI"/>
              </a:rPr>
              <a:t>MFA</a:t>
            </a:r>
            <a:r>
              <a:rPr lang="ja-JP" altLang="en-US" sz="1100">
                <a:solidFill>
                  <a:srgbClr val="5A6472"/>
                </a:solidFill>
                <a:latin typeface="Yu Gothic UI"/>
                <a:ea typeface="Yu Gothic UI"/>
              </a:rPr>
              <a:t>責務は</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32" name="正方形/長方形 31">
            <a:extLst>
              <a:ext uri="{FF2B5EF4-FFF2-40B4-BE49-F238E27FC236}">
                <a16:creationId xmlns:a16="http://schemas.microsoft.com/office/drawing/2014/main" id="{532A4524-4300-434C-9BB8-7F73C4C338A2}"/>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826EB45E-7160-F044-94DB-F6DD7C10E2D8}"/>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複数の顧客の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基盤を同時に並行運用する前提でよいか</a:t>
            </a:r>
          </a:p>
        </p:txBody>
      </p:sp>
      <p:sp>
        <p:nvSpPr>
          <p:cNvPr id="34" name="テキスト ボックス 33">
            <a:extLst>
              <a:ext uri="{FF2B5EF4-FFF2-40B4-BE49-F238E27FC236}">
                <a16:creationId xmlns:a16="http://schemas.microsoft.com/office/drawing/2014/main" id="{4D3B81A6-B03D-4A40-8CDE-2F41A64D2CE3}"/>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5" name="角丸四角形 34">
            <a:extLst>
              <a:ext uri="{FF2B5EF4-FFF2-40B4-BE49-F238E27FC236}">
                <a16:creationId xmlns:a16="http://schemas.microsoft.com/office/drawing/2014/main" id="{85FA1F33-AE73-E745-98BF-297741C47A5C}"/>
              </a:ext>
            </a:extLst>
          </p:cNvPr>
          <p:cNvSpPr/>
          <p:nvPr/>
        </p:nvSpPr>
        <p:spPr>
          <a:xfrm>
            <a:off x="5943600" y="3556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6" name="テキスト ボックス 35">
            <a:extLst>
              <a:ext uri="{FF2B5EF4-FFF2-40B4-BE49-F238E27FC236}">
                <a16:creationId xmlns:a16="http://schemas.microsoft.com/office/drawing/2014/main" id="{21784D2B-714D-414D-8203-66AB7C73429E}"/>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に複数登録。</a:t>
            </a:r>
            <a:r>
              <a:rPr lang="en" altLang="ja-JP" sz="1100">
                <a:solidFill>
                  <a:srgbClr val="5A6472"/>
                </a:solidFill>
                <a:latin typeface="Yu Gothic UI"/>
                <a:ea typeface="Yu Gothic UI"/>
              </a:rPr>
              <a:t>PoC Phase 4,5</a:t>
            </a:r>
            <a:r>
              <a:rPr lang="ja-JP" altLang="en-US" sz="1100">
                <a:solidFill>
                  <a:srgbClr val="5A6472"/>
                </a:solidFill>
                <a:latin typeface="Yu Gothic UI"/>
                <a:ea typeface="Yu Gothic UI"/>
              </a:rPr>
              <a:t>検証済</a:t>
            </a:r>
          </a:p>
        </p:txBody>
      </p:sp>
      <p:sp>
        <p:nvSpPr>
          <p:cNvPr id="37" name="正方形/長方形 36">
            <a:extLst>
              <a:ext uri="{FF2B5EF4-FFF2-40B4-BE49-F238E27FC236}">
                <a16:creationId xmlns:a16="http://schemas.microsoft.com/office/drawing/2014/main" id="{31C5A35A-B78C-DD4D-A685-E407EF29FDDF}"/>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414A7821-5BA3-444D-B245-95D95D4228DB}"/>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4F1562AD-706C-4347-A295-582F9E0852CB}"/>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新しい顧客を追加するときの申請から開通までの手順と、所</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7E377A9F-5EE6-0943-936B-F5ECC99F1A11}"/>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1" name="角丸四角形 40">
            <a:extLst>
              <a:ext uri="{FF2B5EF4-FFF2-40B4-BE49-F238E27FC236}">
                <a16:creationId xmlns:a16="http://schemas.microsoft.com/office/drawing/2014/main" id="{A9121230-BA70-3448-8390-8AB7212CCD1A}"/>
              </a:ext>
            </a:extLst>
          </p:cNvPr>
          <p:cNvSpPr/>
          <p:nvPr/>
        </p:nvSpPr>
        <p:spPr>
          <a:xfrm>
            <a:off x="5943600" y="406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5DB0490C-603F-EF47-A7A9-80A9754E5BA3}"/>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両者設計可（手動</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IaC</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は概念設計のみ</a:t>
            </a:r>
          </a:p>
        </p:txBody>
      </p:sp>
      <p:sp>
        <p:nvSpPr>
          <p:cNvPr id="43" name="正方形/長方形 42">
            <a:extLst>
              <a:ext uri="{FF2B5EF4-FFF2-40B4-BE49-F238E27FC236}">
                <a16:creationId xmlns:a16="http://schemas.microsoft.com/office/drawing/2014/main" id="{63626188-3371-7B4A-9ED8-267C4EC67F28}"/>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7CDB79FC-0393-7A45-BFAD-689455449E1B}"/>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ログイン画面で所属を利用者に選ばせるか、メールアドレス</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4B8165F1-2761-4749-B6C0-2F260F34FC9E}"/>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6" name="角丸四角形 45">
            <a:extLst>
              <a:ext uri="{FF2B5EF4-FFF2-40B4-BE49-F238E27FC236}">
                <a16:creationId xmlns:a16="http://schemas.microsoft.com/office/drawing/2014/main" id="{7D0E0C85-0412-7F40-985E-DAEB998C3E9A}"/>
              </a:ext>
            </a:extLst>
          </p:cNvPr>
          <p:cNvSpPr/>
          <p:nvPr/>
        </p:nvSpPr>
        <p:spPr>
          <a:xfrm>
            <a:off x="5943600" y="457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4003B5EA-6763-E942-B5B7-5FC9D2AA0607}"/>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ボタン自動表示。検証済</a:t>
            </a:r>
          </a:p>
        </p:txBody>
      </p:sp>
    </p:spTree>
    <p:extLst>
      <p:ext uri="{BB962C8B-B14F-4D97-AF65-F5344CB8AC3E}">
        <p14:creationId xmlns:p14="http://schemas.microsoft.com/office/powerpoint/2010/main" val="259436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5BDF86F-5E89-F04D-BF3D-692666236179}"/>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E5D6EA9C-57B6-3541-9892-B06A4071A331}"/>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多要素認証（追加確認）</a:t>
            </a:r>
          </a:p>
        </p:txBody>
      </p:sp>
      <p:sp>
        <p:nvSpPr>
          <p:cNvPr id="4" name="テキスト ボックス 3">
            <a:extLst>
              <a:ext uri="{FF2B5EF4-FFF2-40B4-BE49-F238E27FC236}">
                <a16:creationId xmlns:a16="http://schemas.microsoft.com/office/drawing/2014/main" id="{CBDE077E-8F61-1D4E-90A3-E1E1D517EB30}"/>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9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BD616753-03CF-784A-8E7C-7232B553E3DC}"/>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86AEAD2F-5185-1744-BEC7-E04217EB27DE}"/>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111A0905-6886-E94F-9D9D-5E7EAC7CDACA}"/>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BAAAAC69-3B05-E24B-813B-DA8034D05065}"/>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9A7622E6-BE01-AC42-B8B5-0463B51608D9}"/>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646A3BCC-23DD-5E4C-BF4E-2515AD0C910F}"/>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43A144E5-65C3-ED4F-94D7-D983A5629ECC}"/>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スマホの認証アプリによる追加確認を用意するか</a:t>
            </a:r>
          </a:p>
        </p:txBody>
      </p:sp>
      <p:sp>
        <p:nvSpPr>
          <p:cNvPr id="12" name="テキスト ボックス 11">
            <a:extLst>
              <a:ext uri="{FF2B5EF4-FFF2-40B4-BE49-F238E27FC236}">
                <a16:creationId xmlns:a16="http://schemas.microsoft.com/office/drawing/2014/main" id="{27577164-552C-F349-9650-C46D7B4888FC}"/>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8EF3042C-6247-AD43-98C2-35AA4B90661A}"/>
              </a:ext>
            </a:extLst>
          </p:cNvPr>
          <p:cNvSpPr/>
          <p:nvPr/>
        </p:nvSpPr>
        <p:spPr>
          <a:xfrm>
            <a:off x="5943600" y="1524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E95D4D98-9141-644F-B9EE-1F6AAD64AD96}"/>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1,7</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257E88CD-83AF-2748-8779-C6C7AC8A104B}"/>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E29897C4-E397-664C-8D25-CF0FEDACC174}"/>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E12660E2-A40F-3B47-B18A-21CB9F774CDE}"/>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指紋・顔認証やセキュリティキーを使ったパスワード不要の</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68BD1B5B-9F5A-C943-B180-03FF89DE478B}"/>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19" name="角丸四角形 18">
            <a:extLst>
              <a:ext uri="{FF2B5EF4-FFF2-40B4-BE49-F238E27FC236}">
                <a16:creationId xmlns:a16="http://schemas.microsoft.com/office/drawing/2014/main" id="{BAB749EE-E246-B04A-9D40-83BBE36DE5B3}"/>
              </a:ext>
            </a:extLst>
          </p:cNvPr>
          <p:cNvSpPr/>
          <p:nvPr/>
        </p:nvSpPr>
        <p:spPr>
          <a:xfrm>
            <a:off x="5943600" y="203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0" name="テキスト ボックス 19">
            <a:extLst>
              <a:ext uri="{FF2B5EF4-FFF2-40B4-BE49-F238E27FC236}">
                <a16:creationId xmlns:a16="http://schemas.microsoft.com/office/drawing/2014/main" id="{7C8FB5BB-BC54-D34B-BF52-8D4ACA7B10CE}"/>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は</a:t>
            </a:r>
            <a:r>
              <a:rPr lang="en-US" altLang="ja-JP" sz="1100">
                <a:solidFill>
                  <a:srgbClr val="5A6472"/>
                </a:solidFill>
                <a:latin typeface="Yu Gothic UI"/>
                <a:ea typeface="Yu Gothic UI"/>
              </a:rPr>
              <a:t>2024-11〜</a:t>
            </a:r>
            <a:r>
              <a:rPr lang="en" altLang="ja-JP" sz="1100">
                <a:solidFill>
                  <a:srgbClr val="5A6472"/>
                </a:solidFill>
                <a:latin typeface="Yu Gothic UI"/>
                <a:ea typeface="Yu Gothic UI"/>
              </a:rPr>
              <a:t>Essentials+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フェデ利用なら追</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F69B941B-A868-7043-BE6D-5CC3D667B035}"/>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59744C5F-0EA9-5D42-B7E9-36513561516C}"/>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SMS</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携帯メッセージ）による追加確認を用意するか。費用</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4494F52E-BA88-D04E-8248-872CFBB26099}"/>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24" name="角丸四角形 23">
            <a:extLst>
              <a:ext uri="{FF2B5EF4-FFF2-40B4-BE49-F238E27FC236}">
                <a16:creationId xmlns:a16="http://schemas.microsoft.com/office/drawing/2014/main" id="{389FF059-AA15-E047-8D43-1C113E6D989E}"/>
              </a:ext>
            </a:extLst>
          </p:cNvPr>
          <p:cNvSpPr/>
          <p:nvPr/>
        </p:nvSpPr>
        <p:spPr>
          <a:xfrm>
            <a:off x="5943600" y="2540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5" name="テキスト ボックス 24">
            <a:extLst>
              <a:ext uri="{FF2B5EF4-FFF2-40B4-BE49-F238E27FC236}">
                <a16:creationId xmlns:a16="http://schemas.microsoft.com/office/drawing/2014/main" id="{49E64431-3DD9-DF41-9D86-79C4439BEF37}"/>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プラグイン。未検証</a:t>
            </a:r>
          </a:p>
        </p:txBody>
      </p:sp>
      <p:sp>
        <p:nvSpPr>
          <p:cNvPr id="26" name="正方形/長方形 25">
            <a:extLst>
              <a:ext uri="{FF2B5EF4-FFF2-40B4-BE49-F238E27FC236}">
                <a16:creationId xmlns:a16="http://schemas.microsoft.com/office/drawing/2014/main" id="{0A279AB4-454A-3848-9E8D-1C98283B34F1}"/>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DC175A42-9E6D-4A4E-BFDE-7ED329A16AB3}"/>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E892A50D-4273-EB4A-85C0-9FAC8151B84F}"/>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メールによる追加確認を用意するか</a:t>
            </a:r>
          </a:p>
        </p:txBody>
      </p:sp>
      <p:sp>
        <p:nvSpPr>
          <p:cNvPr id="29" name="テキスト ボックス 28">
            <a:extLst>
              <a:ext uri="{FF2B5EF4-FFF2-40B4-BE49-F238E27FC236}">
                <a16:creationId xmlns:a16="http://schemas.microsoft.com/office/drawing/2014/main" id="{27571F41-A5EC-9C4F-B89A-9DE86A176C0F}"/>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30" name="角丸四角形 29">
            <a:extLst>
              <a:ext uri="{FF2B5EF4-FFF2-40B4-BE49-F238E27FC236}">
                <a16:creationId xmlns:a16="http://schemas.microsoft.com/office/drawing/2014/main" id="{60C26323-5AD7-D345-A9F3-DB35E9365C6B}"/>
              </a:ext>
            </a:extLst>
          </p:cNvPr>
          <p:cNvSpPr/>
          <p:nvPr/>
        </p:nvSpPr>
        <p:spPr>
          <a:xfrm>
            <a:off x="5943600" y="3048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1" name="テキスト ボックス 30">
            <a:extLst>
              <a:ext uri="{FF2B5EF4-FFF2-40B4-BE49-F238E27FC236}">
                <a16:creationId xmlns:a16="http://schemas.microsoft.com/office/drawing/2014/main" id="{C8FF1234-6FEE-CF4B-9FC7-912FC6BC37EB}"/>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両者対応。未検証</a:t>
            </a:r>
          </a:p>
        </p:txBody>
      </p:sp>
      <p:sp>
        <p:nvSpPr>
          <p:cNvPr id="32" name="正方形/長方形 31">
            <a:extLst>
              <a:ext uri="{FF2B5EF4-FFF2-40B4-BE49-F238E27FC236}">
                <a16:creationId xmlns:a16="http://schemas.microsoft.com/office/drawing/2014/main" id="{262C363D-A74D-124D-83F8-0BC31D30F603}"/>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6848158D-A9B7-C64E-8F59-4F458E77748D}"/>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端末を失くしたとき用の予備コードを発行するか</a:t>
            </a:r>
          </a:p>
        </p:txBody>
      </p:sp>
      <p:sp>
        <p:nvSpPr>
          <p:cNvPr id="34" name="テキスト ボックス 33">
            <a:extLst>
              <a:ext uri="{FF2B5EF4-FFF2-40B4-BE49-F238E27FC236}">
                <a16:creationId xmlns:a16="http://schemas.microsoft.com/office/drawing/2014/main" id="{D13A7AF7-F0C7-2C4F-BF14-89534387C5EF}"/>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5" name="角丸四角形 34">
            <a:extLst>
              <a:ext uri="{FF2B5EF4-FFF2-40B4-BE49-F238E27FC236}">
                <a16:creationId xmlns:a16="http://schemas.microsoft.com/office/drawing/2014/main" id="{C0673657-81B8-5545-AD6B-DC736FCBA192}"/>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03BCC967-645D-B048-9AA1-25F739E4F6E2}"/>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対応。未検証</a:t>
            </a:r>
          </a:p>
        </p:txBody>
      </p:sp>
      <p:sp>
        <p:nvSpPr>
          <p:cNvPr id="37" name="正方形/長方形 36">
            <a:extLst>
              <a:ext uri="{FF2B5EF4-FFF2-40B4-BE49-F238E27FC236}">
                <a16:creationId xmlns:a16="http://schemas.microsoft.com/office/drawing/2014/main" id="{88A38FCE-0706-1E43-AA15-F6DBC5E51457}"/>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F1354527-802D-6746-8624-CEA06BD55EF8}"/>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87A44DA1-ABA8-1E42-90E3-FE6A28C82CB1}"/>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普段と違う場所や不審な状況のときだけ追加確認を求めるか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6332FED6-015E-414B-A8A1-14D345C9D869}"/>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1" name="角丸四角形 40">
            <a:extLst>
              <a:ext uri="{FF2B5EF4-FFF2-40B4-BE49-F238E27FC236}">
                <a16:creationId xmlns:a16="http://schemas.microsoft.com/office/drawing/2014/main" id="{5F806CCD-5F22-174D-A813-EDF019119D9B}"/>
              </a:ext>
            </a:extLst>
          </p:cNvPr>
          <p:cNvSpPr/>
          <p:nvPr/>
        </p:nvSpPr>
        <p:spPr>
          <a:xfrm>
            <a:off x="5943600" y="406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0F737968-F037-ED4B-9018-A5F86525E98E}"/>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MAU)</a:t>
            </a:r>
            <a:r>
              <a:rPr lang="ja-JP" altLang="en-US" sz="1100">
                <a:solidFill>
                  <a:srgbClr val="5A6472"/>
                </a:solidFill>
                <a:latin typeface="Yu Gothic UI"/>
                <a:ea typeface="Yu Gothic UI"/>
              </a:rPr>
              <a:t>必要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Conditional Flow</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7</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Keycloak</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17EF1C34-9B5B-1F4D-BE68-E714DE922EBC}"/>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0BA812D5-B500-1645-9A07-1C856AEE1E4A}"/>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追加確認を全員必須にするか、役割ごとに任意とするか</a:t>
            </a:r>
          </a:p>
        </p:txBody>
      </p:sp>
      <p:sp>
        <p:nvSpPr>
          <p:cNvPr id="45" name="テキスト ボックス 44">
            <a:extLst>
              <a:ext uri="{FF2B5EF4-FFF2-40B4-BE49-F238E27FC236}">
                <a16:creationId xmlns:a16="http://schemas.microsoft.com/office/drawing/2014/main" id="{6AD32A08-7A2B-8246-9E15-03D966A7E68E}"/>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6" name="角丸四角形 45">
            <a:extLst>
              <a:ext uri="{FF2B5EF4-FFF2-40B4-BE49-F238E27FC236}">
                <a16:creationId xmlns:a16="http://schemas.microsoft.com/office/drawing/2014/main" id="{19DF4ED3-B112-6547-884E-E7B2B9584995}"/>
              </a:ext>
            </a:extLst>
          </p:cNvPr>
          <p:cNvSpPr/>
          <p:nvPr/>
        </p:nvSpPr>
        <p:spPr>
          <a:xfrm>
            <a:off x="5943600" y="457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16979655-BD8F-4349-A537-B131E545DC3D}"/>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Flow</a:t>
            </a:r>
            <a:r>
              <a:rPr lang="ja-JP" altLang="en-US" sz="1100">
                <a:solidFill>
                  <a:srgbClr val="5A6472"/>
                </a:solidFill>
                <a:latin typeface="Yu Gothic UI"/>
                <a:ea typeface="Yu Gothic UI"/>
              </a:rPr>
              <a:t>単位制御可。検証済</a:t>
            </a:r>
          </a:p>
        </p:txBody>
      </p:sp>
      <p:sp>
        <p:nvSpPr>
          <p:cNvPr id="48" name="正方形/長方形 47">
            <a:extLst>
              <a:ext uri="{FF2B5EF4-FFF2-40B4-BE49-F238E27FC236}">
                <a16:creationId xmlns:a16="http://schemas.microsoft.com/office/drawing/2014/main" id="{4839753A-130A-2847-9C5B-3FC7F03E42A8}"/>
              </a:ext>
            </a:extLst>
          </p:cNvPr>
          <p:cNvSpPr/>
          <p:nvPr/>
        </p:nvSpPr>
        <p:spPr>
          <a:xfrm>
            <a:off x="812800" y="4953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2AE81330-07F2-B140-9B44-7F19C76D9E3A}"/>
              </a:ext>
            </a:extLst>
          </p:cNvPr>
          <p:cNvSpPr/>
          <p:nvPr/>
        </p:nvSpPr>
        <p:spPr>
          <a:xfrm>
            <a:off x="812800" y="544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3FA439DC-CC1E-1D4F-A666-B2B1DA229145}"/>
              </a:ext>
            </a:extLst>
          </p:cNvPr>
          <p:cNvSpPr txBox="1"/>
          <p:nvPr/>
        </p:nvSpPr>
        <p:spPr>
          <a:xfrm>
            <a:off x="914400" y="510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一度確認した端末を記憶して次回以降の追加確認を省くか。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C4FC7836-5971-DB4D-9DB5-152A3E8BEE9A}"/>
              </a:ext>
            </a:extLst>
          </p:cNvPr>
          <p:cNvSpPr txBox="1"/>
          <p:nvPr/>
        </p:nvSpPr>
        <p:spPr>
          <a:xfrm>
            <a:off x="5105400" y="51054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52" name="角丸四角形 51">
            <a:extLst>
              <a:ext uri="{FF2B5EF4-FFF2-40B4-BE49-F238E27FC236}">
                <a16:creationId xmlns:a16="http://schemas.microsoft.com/office/drawing/2014/main" id="{8BE451E6-AE62-734E-AE7A-463C46A20DFC}"/>
              </a:ext>
            </a:extLst>
          </p:cNvPr>
          <p:cNvSpPr/>
          <p:nvPr/>
        </p:nvSpPr>
        <p:spPr>
          <a:xfrm>
            <a:off x="5943600" y="5080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3" name="テキスト ボックス 52">
            <a:extLst>
              <a:ext uri="{FF2B5EF4-FFF2-40B4-BE49-F238E27FC236}">
                <a16:creationId xmlns:a16="http://schemas.microsoft.com/office/drawing/2014/main" id="{34BB7DBF-6FA9-814B-9B9B-80C1D77E9E35}"/>
              </a:ext>
            </a:extLst>
          </p:cNvPr>
          <p:cNvSpPr txBox="1"/>
          <p:nvPr/>
        </p:nvSpPr>
        <p:spPr>
          <a:xfrm>
            <a:off x="6908800" y="5105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設定要。未検証</a:t>
            </a:r>
          </a:p>
        </p:txBody>
      </p:sp>
      <p:sp>
        <p:nvSpPr>
          <p:cNvPr id="54" name="正方形/長方形 53">
            <a:extLst>
              <a:ext uri="{FF2B5EF4-FFF2-40B4-BE49-F238E27FC236}">
                <a16:creationId xmlns:a16="http://schemas.microsoft.com/office/drawing/2014/main" id="{CD80F3AA-3FB1-C048-9B7D-4118455D3393}"/>
              </a:ext>
            </a:extLst>
          </p:cNvPr>
          <p:cNvSpPr/>
          <p:nvPr/>
        </p:nvSpPr>
        <p:spPr>
          <a:xfrm>
            <a:off x="812800" y="595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E162189C-87A0-5A4F-96F3-C98412135D81}"/>
              </a:ext>
            </a:extLst>
          </p:cNvPr>
          <p:cNvSpPr txBox="1"/>
          <p:nvPr/>
        </p:nvSpPr>
        <p:spPr>
          <a:xfrm>
            <a:off x="914400" y="561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管理者権限を持つ人には追加確認を必須にするか</a:t>
            </a:r>
          </a:p>
        </p:txBody>
      </p:sp>
      <p:sp>
        <p:nvSpPr>
          <p:cNvPr id="56" name="テキスト ボックス 55">
            <a:extLst>
              <a:ext uri="{FF2B5EF4-FFF2-40B4-BE49-F238E27FC236}">
                <a16:creationId xmlns:a16="http://schemas.microsoft.com/office/drawing/2014/main" id="{3C27DBB4-DBDC-B34F-8AA7-C1E4BF4A2D60}"/>
              </a:ext>
            </a:extLst>
          </p:cNvPr>
          <p:cNvSpPr txBox="1"/>
          <p:nvPr/>
        </p:nvSpPr>
        <p:spPr>
          <a:xfrm>
            <a:off x="5105400" y="5613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57" name="角丸四角形 56">
            <a:extLst>
              <a:ext uri="{FF2B5EF4-FFF2-40B4-BE49-F238E27FC236}">
                <a16:creationId xmlns:a16="http://schemas.microsoft.com/office/drawing/2014/main" id="{87041249-5090-A842-81C3-C3AAE3AAA828}"/>
              </a:ext>
            </a:extLst>
          </p:cNvPr>
          <p:cNvSpPr/>
          <p:nvPr/>
        </p:nvSpPr>
        <p:spPr>
          <a:xfrm>
            <a:off x="5943600" y="558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8" name="テキスト ボックス 57">
            <a:extLst>
              <a:ext uri="{FF2B5EF4-FFF2-40B4-BE49-F238E27FC236}">
                <a16:creationId xmlns:a16="http://schemas.microsoft.com/office/drawing/2014/main" id="{3B5C5CBA-D953-9F48-AAF1-959539DC5CCD}"/>
              </a:ext>
            </a:extLst>
          </p:cNvPr>
          <p:cNvSpPr txBox="1"/>
          <p:nvPr/>
        </p:nvSpPr>
        <p:spPr>
          <a:xfrm>
            <a:off x="6908800" y="5613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Tree>
    <p:extLst>
      <p:ext uri="{BB962C8B-B14F-4D97-AF65-F5344CB8AC3E}">
        <p14:creationId xmlns:p14="http://schemas.microsoft.com/office/powerpoint/2010/main" val="1318145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DF5FB0E-CE68-1F4D-854F-45B015B3AD83}"/>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6E3AF40-88EC-D64B-A2AA-11080D7303E9}"/>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シングルサインオンとセッション</a:t>
            </a:r>
          </a:p>
        </p:txBody>
      </p:sp>
      <p:sp>
        <p:nvSpPr>
          <p:cNvPr id="4" name="テキスト ボックス 3">
            <a:extLst>
              <a:ext uri="{FF2B5EF4-FFF2-40B4-BE49-F238E27FC236}">
                <a16:creationId xmlns:a16="http://schemas.microsoft.com/office/drawing/2014/main" id="{FC1A47D6-E35F-204F-A09F-99D28E9A461A}"/>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10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04BEDA82-6861-5D40-AC67-EED6A0F35812}"/>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8B455A1-0C48-4548-9E07-56F9D9A7AE63}"/>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BE6527F7-CBF9-EF4F-B6CB-C8DB81F5857D}"/>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5F1AEE43-CC73-8C44-BA59-BD9C7469B7FC}"/>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1EC03926-253E-9944-A4C5-6BF4C193787D}"/>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A2A21A21-7B88-354A-AB9F-E2E48D48E41A}"/>
              </a:ext>
            </a:extLst>
          </p:cNvPr>
          <p:cNvSpPr/>
          <p:nvPr/>
        </p:nvSpPr>
        <p:spPr>
          <a:xfrm>
            <a:off x="812800" y="186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46EC9F61-95A7-764E-B7AE-A01373485B2B}"/>
              </a:ext>
            </a:extLst>
          </p:cNvPr>
          <p:cNvSpPr txBox="1"/>
          <p:nvPr/>
        </p:nvSpPr>
        <p:spPr>
          <a:xfrm>
            <a:off x="914400" y="1536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一度ログインすれば複数のアプリを使い回せる状態にするか</a:t>
            </a:r>
          </a:p>
        </p:txBody>
      </p:sp>
      <p:sp>
        <p:nvSpPr>
          <p:cNvPr id="12" name="テキスト ボックス 11">
            <a:extLst>
              <a:ext uri="{FF2B5EF4-FFF2-40B4-BE49-F238E27FC236}">
                <a16:creationId xmlns:a16="http://schemas.microsoft.com/office/drawing/2014/main" id="{C1983BCD-3CD6-3E4F-AF9D-623DEF0E06C9}"/>
              </a:ext>
            </a:extLst>
          </p:cNvPr>
          <p:cNvSpPr txBox="1"/>
          <p:nvPr/>
        </p:nvSpPr>
        <p:spPr>
          <a:xfrm>
            <a:off x="5105400" y="15367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A779076C-64FD-2544-9ADE-B7D45C3C1171}"/>
              </a:ext>
            </a:extLst>
          </p:cNvPr>
          <p:cNvSpPr/>
          <p:nvPr/>
        </p:nvSpPr>
        <p:spPr>
          <a:xfrm>
            <a:off x="5943600" y="15113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E2B7DEB3-56CA-7F4B-B68E-5348E076FD83}"/>
              </a:ext>
            </a:extLst>
          </p:cNvPr>
          <p:cNvSpPr txBox="1"/>
          <p:nvPr/>
        </p:nvSpPr>
        <p:spPr>
          <a:xfrm>
            <a:off x="6908800" y="15367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内。</a:t>
            </a:r>
            <a:r>
              <a:rPr lang="en" altLang="ja-JP" sz="1100">
                <a:solidFill>
                  <a:srgbClr val="5A6472"/>
                </a:solidFill>
                <a:latin typeface="Yu Gothic UI"/>
                <a:ea typeface="Yu Gothic UI"/>
              </a:rPr>
              <a:t>PoC Phase 1,7</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A3605722-FD6B-7B4E-AEFD-CB82B7399CD2}"/>
              </a:ext>
            </a:extLst>
          </p:cNvPr>
          <p:cNvSpPr/>
          <p:nvPr/>
        </p:nvSpPr>
        <p:spPr>
          <a:xfrm>
            <a:off x="812800" y="18796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7D8CFB3C-B00A-4C47-B170-B6C1B2AE48A5}"/>
              </a:ext>
            </a:extLst>
          </p:cNvPr>
          <p:cNvSpPr/>
          <p:nvPr/>
        </p:nvSpPr>
        <p:spPr>
          <a:xfrm>
            <a:off x="812800" y="2349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9A2209AA-A47E-6D48-A50D-90AD16185C61}"/>
              </a:ext>
            </a:extLst>
          </p:cNvPr>
          <p:cNvSpPr txBox="1"/>
          <p:nvPr/>
        </p:nvSpPr>
        <p:spPr>
          <a:xfrm>
            <a:off x="914400" y="201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顧客側の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基盤を経由した場合も同じく使い回せるように</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82B3C299-ADA7-CD4D-A20D-14CF03BC2484}"/>
              </a:ext>
            </a:extLst>
          </p:cNvPr>
          <p:cNvSpPr txBox="1"/>
          <p:nvPr/>
        </p:nvSpPr>
        <p:spPr>
          <a:xfrm>
            <a:off x="5105400" y="20193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ECDA805C-69F5-8649-8281-BB1781222036}"/>
              </a:ext>
            </a:extLst>
          </p:cNvPr>
          <p:cNvSpPr/>
          <p:nvPr/>
        </p:nvSpPr>
        <p:spPr>
          <a:xfrm>
            <a:off x="5943600" y="1993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A732C433-08F1-BF4A-8989-B0FBB89D5562}"/>
              </a:ext>
            </a:extLst>
          </p:cNvPr>
          <p:cNvSpPr txBox="1"/>
          <p:nvPr/>
        </p:nvSpPr>
        <p:spPr>
          <a:xfrm>
            <a:off x="6908800" y="20193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2,7</a:t>
            </a:r>
            <a:r>
              <a:rPr lang="ja-JP" altLang="en-US" sz="1100">
                <a:solidFill>
                  <a:srgbClr val="5A6472"/>
                </a:solidFill>
                <a:latin typeface="Yu Gothic UI"/>
                <a:ea typeface="Yu Gothic UI"/>
              </a:rPr>
              <a:t>検証済</a:t>
            </a:r>
          </a:p>
        </p:txBody>
      </p:sp>
      <p:sp>
        <p:nvSpPr>
          <p:cNvPr id="21" name="正方形/長方形 20">
            <a:extLst>
              <a:ext uri="{FF2B5EF4-FFF2-40B4-BE49-F238E27FC236}">
                <a16:creationId xmlns:a16="http://schemas.microsoft.com/office/drawing/2014/main" id="{7ED35FE8-35C2-504A-B975-8F0F7DF6317D}"/>
              </a:ext>
            </a:extLst>
          </p:cNvPr>
          <p:cNvSpPr/>
          <p:nvPr/>
        </p:nvSpPr>
        <p:spPr>
          <a:xfrm>
            <a:off x="812800" y="2832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430650EB-CDF7-7041-A862-B306BB11AE47}"/>
              </a:ext>
            </a:extLst>
          </p:cNvPr>
          <p:cNvSpPr txBox="1"/>
          <p:nvPr/>
        </p:nvSpPr>
        <p:spPr>
          <a:xfrm>
            <a:off x="914400" y="2501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ログアウト操作でアプリ内の状態だけを消す動作を用意する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02C3EF12-A3D5-6E4D-8F29-B097681147DD}"/>
              </a:ext>
            </a:extLst>
          </p:cNvPr>
          <p:cNvSpPr txBox="1"/>
          <p:nvPr/>
        </p:nvSpPr>
        <p:spPr>
          <a:xfrm>
            <a:off x="5105400" y="25019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144CD71F-4772-7B4B-BE5B-A0FC5B75E05F}"/>
              </a:ext>
            </a:extLst>
          </p:cNvPr>
          <p:cNvSpPr/>
          <p:nvPr/>
        </p:nvSpPr>
        <p:spPr>
          <a:xfrm>
            <a:off x="5943600" y="24765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6FF0BF12-4F6D-8247-BFC5-B2F5CFC8529F}"/>
              </a:ext>
            </a:extLst>
          </p:cNvPr>
          <p:cNvSpPr txBox="1"/>
          <p:nvPr/>
        </p:nvSpPr>
        <p:spPr>
          <a:xfrm>
            <a:off x="6908800" y="25019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両者対応。検証済</a:t>
            </a:r>
          </a:p>
        </p:txBody>
      </p:sp>
      <p:sp>
        <p:nvSpPr>
          <p:cNvPr id="26" name="正方形/長方形 25">
            <a:extLst>
              <a:ext uri="{FF2B5EF4-FFF2-40B4-BE49-F238E27FC236}">
                <a16:creationId xmlns:a16="http://schemas.microsoft.com/office/drawing/2014/main" id="{A7653B2F-BC02-BB4A-A3CC-2795ABCB4A18}"/>
              </a:ext>
            </a:extLst>
          </p:cNvPr>
          <p:cNvSpPr/>
          <p:nvPr/>
        </p:nvSpPr>
        <p:spPr>
          <a:xfrm>
            <a:off x="812800" y="28448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597E7396-A9C8-594D-859F-209FC1DEA2DF}"/>
              </a:ext>
            </a:extLst>
          </p:cNvPr>
          <p:cNvSpPr/>
          <p:nvPr/>
        </p:nvSpPr>
        <p:spPr>
          <a:xfrm>
            <a:off x="812800" y="331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848525DF-7F6A-8148-806E-605B905D7D4A}"/>
              </a:ext>
            </a:extLst>
          </p:cNvPr>
          <p:cNvSpPr txBox="1"/>
          <p:nvPr/>
        </p:nvSpPr>
        <p:spPr>
          <a:xfrm>
            <a:off x="914400" y="2984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ログアウト時に認証基盤側のログイン状態も併せて消すか</a:t>
            </a:r>
          </a:p>
        </p:txBody>
      </p:sp>
      <p:sp>
        <p:nvSpPr>
          <p:cNvPr id="29" name="テキスト ボックス 28">
            <a:extLst>
              <a:ext uri="{FF2B5EF4-FFF2-40B4-BE49-F238E27FC236}">
                <a16:creationId xmlns:a16="http://schemas.microsoft.com/office/drawing/2014/main" id="{AD70AE2E-1B1B-7040-9D06-ED58CB3CFF53}"/>
              </a:ext>
            </a:extLst>
          </p:cNvPr>
          <p:cNvSpPr txBox="1"/>
          <p:nvPr/>
        </p:nvSpPr>
        <p:spPr>
          <a:xfrm>
            <a:off x="5105400" y="29845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0" name="角丸四角形 29">
            <a:extLst>
              <a:ext uri="{FF2B5EF4-FFF2-40B4-BE49-F238E27FC236}">
                <a16:creationId xmlns:a16="http://schemas.microsoft.com/office/drawing/2014/main" id="{468183AC-C789-BB4F-93BC-B5D9B1F6F96C}"/>
              </a:ext>
            </a:extLst>
          </p:cNvPr>
          <p:cNvSpPr/>
          <p:nvPr/>
        </p:nvSpPr>
        <p:spPr>
          <a:xfrm>
            <a:off x="5943600" y="29591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1" name="テキスト ボックス 30">
            <a:extLst>
              <a:ext uri="{FF2B5EF4-FFF2-40B4-BE49-F238E27FC236}">
                <a16:creationId xmlns:a16="http://schemas.microsoft.com/office/drawing/2014/main" id="{0919BD57-D232-6245-9409-C918FD825BEC}"/>
              </a:ext>
            </a:extLst>
          </p:cNvPr>
          <p:cNvSpPr txBox="1"/>
          <p:nvPr/>
        </p:nvSpPr>
        <p:spPr>
          <a:xfrm>
            <a:off x="6908800" y="29845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両者対応。検証済</a:t>
            </a:r>
          </a:p>
        </p:txBody>
      </p:sp>
      <p:sp>
        <p:nvSpPr>
          <p:cNvPr id="32" name="正方形/長方形 31">
            <a:extLst>
              <a:ext uri="{FF2B5EF4-FFF2-40B4-BE49-F238E27FC236}">
                <a16:creationId xmlns:a16="http://schemas.microsoft.com/office/drawing/2014/main" id="{81E88B73-0980-7241-AC33-93BCC9861698}"/>
              </a:ext>
            </a:extLst>
          </p:cNvPr>
          <p:cNvSpPr/>
          <p:nvPr/>
        </p:nvSpPr>
        <p:spPr>
          <a:xfrm>
            <a:off x="812800" y="3797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C1B1940-E972-C14C-A6A9-648C6354BA9D}"/>
              </a:ext>
            </a:extLst>
          </p:cNvPr>
          <p:cNvSpPr txBox="1"/>
          <p:nvPr/>
        </p:nvSpPr>
        <p:spPr>
          <a:xfrm>
            <a:off x="914400" y="3467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ログアウト時に顧客側の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基盤のログイン状態まで消すか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1BE7118F-2731-3C40-B1D8-0B9D69390A6C}"/>
              </a:ext>
            </a:extLst>
          </p:cNvPr>
          <p:cNvSpPr txBox="1"/>
          <p:nvPr/>
        </p:nvSpPr>
        <p:spPr>
          <a:xfrm>
            <a:off x="5105400" y="34671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5" name="角丸四角形 34">
            <a:extLst>
              <a:ext uri="{FF2B5EF4-FFF2-40B4-BE49-F238E27FC236}">
                <a16:creationId xmlns:a16="http://schemas.microsoft.com/office/drawing/2014/main" id="{BAB2C38B-4B06-3840-99AD-7A5E5E8221C6}"/>
              </a:ext>
            </a:extLst>
          </p:cNvPr>
          <p:cNvSpPr/>
          <p:nvPr/>
        </p:nvSpPr>
        <p:spPr>
          <a:xfrm>
            <a:off x="5943600" y="34417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52C22C16-E759-014F-BBA0-B2580452486A}"/>
              </a:ext>
            </a:extLst>
          </p:cNvPr>
          <p:cNvSpPr txBox="1"/>
          <p:nvPr/>
        </p:nvSpPr>
        <p:spPr>
          <a:xfrm>
            <a:off x="6908800" y="34671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 Phase 2,5</a:t>
            </a:r>
            <a:r>
              <a:rPr lang="ja-JP" altLang="en-US" sz="1100">
                <a:solidFill>
                  <a:srgbClr val="5A6472"/>
                </a:solidFill>
                <a:latin typeface="Yu Gothic UI"/>
                <a:ea typeface="Yu Gothic UI"/>
              </a:rPr>
              <a:t>検証済</a:t>
            </a:r>
          </a:p>
        </p:txBody>
      </p:sp>
      <p:sp>
        <p:nvSpPr>
          <p:cNvPr id="37" name="正方形/長方形 36">
            <a:extLst>
              <a:ext uri="{FF2B5EF4-FFF2-40B4-BE49-F238E27FC236}">
                <a16:creationId xmlns:a16="http://schemas.microsoft.com/office/drawing/2014/main" id="{853814CC-E6D4-914B-A7C9-4704AB9C8C40}"/>
              </a:ext>
            </a:extLst>
          </p:cNvPr>
          <p:cNvSpPr/>
          <p:nvPr/>
        </p:nvSpPr>
        <p:spPr>
          <a:xfrm>
            <a:off x="812800" y="38100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9CF93BFB-D1E8-E64A-BFE7-71FB5EF2E678}"/>
              </a:ext>
            </a:extLst>
          </p:cNvPr>
          <p:cNvSpPr/>
          <p:nvPr/>
        </p:nvSpPr>
        <p:spPr>
          <a:xfrm>
            <a:off x="812800" y="427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E387E2DF-8CF9-BB4E-86EF-14992741E323}"/>
              </a:ext>
            </a:extLst>
          </p:cNvPr>
          <p:cNvSpPr txBox="1"/>
          <p:nvPr/>
        </p:nvSpPr>
        <p:spPr>
          <a:xfrm>
            <a:off x="914400" y="3949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利用者のブラウザ経由で各アプリに一斉ログアウトを伝える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8A58E73A-86CB-3D4B-B5B3-5D82EDF02009}"/>
              </a:ext>
            </a:extLst>
          </p:cNvPr>
          <p:cNvSpPr txBox="1"/>
          <p:nvPr/>
        </p:nvSpPr>
        <p:spPr>
          <a:xfrm>
            <a:off x="5105400" y="39497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1" name="角丸四角形 40">
            <a:extLst>
              <a:ext uri="{FF2B5EF4-FFF2-40B4-BE49-F238E27FC236}">
                <a16:creationId xmlns:a16="http://schemas.microsoft.com/office/drawing/2014/main" id="{97A392A9-B26C-8442-93D4-14DDB1F718E4}"/>
              </a:ext>
            </a:extLst>
          </p:cNvPr>
          <p:cNvSpPr/>
          <p:nvPr/>
        </p:nvSpPr>
        <p:spPr>
          <a:xfrm>
            <a:off x="5943600" y="39243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D578C568-120A-A04C-A250-A61148D8A723}"/>
              </a:ext>
            </a:extLst>
          </p:cNvPr>
          <p:cNvSpPr txBox="1"/>
          <p:nvPr/>
        </p:nvSpPr>
        <p:spPr>
          <a:xfrm>
            <a:off x="6908800" y="39497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43" name="正方形/長方形 42">
            <a:extLst>
              <a:ext uri="{FF2B5EF4-FFF2-40B4-BE49-F238E27FC236}">
                <a16:creationId xmlns:a16="http://schemas.microsoft.com/office/drawing/2014/main" id="{70F7A969-C7CB-5D41-A4E4-C7B86EB32AB3}"/>
              </a:ext>
            </a:extLst>
          </p:cNvPr>
          <p:cNvSpPr/>
          <p:nvPr/>
        </p:nvSpPr>
        <p:spPr>
          <a:xfrm>
            <a:off x="812800" y="4762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A8B40A8C-5EB2-6F43-8707-4BB736D0FBC0}"/>
              </a:ext>
            </a:extLst>
          </p:cNvPr>
          <p:cNvSpPr txBox="1"/>
          <p:nvPr/>
        </p:nvSpPr>
        <p:spPr>
          <a:xfrm>
            <a:off x="914400" y="4432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サーバー同士の通信で各アプリに確実にログアウトを伝える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C72D57BD-DFEC-F042-8C28-B7829B9B56FB}"/>
              </a:ext>
            </a:extLst>
          </p:cNvPr>
          <p:cNvSpPr txBox="1"/>
          <p:nvPr/>
        </p:nvSpPr>
        <p:spPr>
          <a:xfrm>
            <a:off x="5105400" y="44323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6" name="角丸四角形 45">
            <a:extLst>
              <a:ext uri="{FF2B5EF4-FFF2-40B4-BE49-F238E27FC236}">
                <a16:creationId xmlns:a16="http://schemas.microsoft.com/office/drawing/2014/main" id="{1C299156-B59D-1A48-981B-A1158A7DC712}"/>
              </a:ext>
            </a:extLst>
          </p:cNvPr>
          <p:cNvSpPr/>
          <p:nvPr/>
        </p:nvSpPr>
        <p:spPr>
          <a:xfrm>
            <a:off x="5943600" y="4406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53AA4E0F-57E4-B24F-A626-C632BBAE0C09}"/>
              </a:ext>
            </a:extLst>
          </p:cNvPr>
          <p:cNvSpPr txBox="1"/>
          <p:nvPr/>
        </p:nvSpPr>
        <p:spPr>
          <a:xfrm>
            <a:off x="6908800" y="4432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ネイティブ。★</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必須要因。</a:t>
            </a:r>
            <a:r>
              <a:rPr lang="en" altLang="ja-JP" sz="1100">
                <a:solidFill>
                  <a:srgbClr val="5A6472"/>
                </a:solidFill>
                <a:latin typeface="Yu Gothic UI"/>
                <a:ea typeface="Yu Gothic UI"/>
              </a:rPr>
              <a:t>P…</a:t>
            </a:r>
            <a:endParaRPr lang="ja-JP" altLang="en-US" sz="1100">
              <a:solidFill>
                <a:srgbClr val="5A6472"/>
              </a:solidFill>
              <a:latin typeface="Yu Gothic UI"/>
              <a:ea typeface="Yu Gothic UI"/>
            </a:endParaRPr>
          </a:p>
        </p:txBody>
      </p:sp>
      <p:sp>
        <p:nvSpPr>
          <p:cNvPr id="48" name="正方形/長方形 47">
            <a:extLst>
              <a:ext uri="{FF2B5EF4-FFF2-40B4-BE49-F238E27FC236}">
                <a16:creationId xmlns:a16="http://schemas.microsoft.com/office/drawing/2014/main" id="{FBB82A2C-66C1-8E42-90BF-80A1F91AC39B}"/>
              </a:ext>
            </a:extLst>
          </p:cNvPr>
          <p:cNvSpPr/>
          <p:nvPr/>
        </p:nvSpPr>
        <p:spPr>
          <a:xfrm>
            <a:off x="812800" y="47752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9C648AF1-E091-3E43-9227-AF4B482DC85B}"/>
              </a:ext>
            </a:extLst>
          </p:cNvPr>
          <p:cNvSpPr/>
          <p:nvPr/>
        </p:nvSpPr>
        <p:spPr>
          <a:xfrm>
            <a:off x="812800" y="5245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46FCBB99-2F24-3F44-931D-3740FE4E36FD}"/>
              </a:ext>
            </a:extLst>
          </p:cNvPr>
          <p:cNvSpPr txBox="1"/>
          <p:nvPr/>
        </p:nvSpPr>
        <p:spPr>
          <a:xfrm>
            <a:off x="914400" y="4914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無操作が続いたときに自動ログアウトするまでの時間をどう</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43B93412-F799-2940-83E2-F4A3D3AF0FF0}"/>
              </a:ext>
            </a:extLst>
          </p:cNvPr>
          <p:cNvSpPr txBox="1"/>
          <p:nvPr/>
        </p:nvSpPr>
        <p:spPr>
          <a:xfrm>
            <a:off x="5105400" y="49149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52" name="角丸四角形 51">
            <a:extLst>
              <a:ext uri="{FF2B5EF4-FFF2-40B4-BE49-F238E27FC236}">
                <a16:creationId xmlns:a16="http://schemas.microsoft.com/office/drawing/2014/main" id="{604A3B2E-A169-CC44-8289-A1048110FE18}"/>
              </a:ext>
            </a:extLst>
          </p:cNvPr>
          <p:cNvSpPr/>
          <p:nvPr/>
        </p:nvSpPr>
        <p:spPr>
          <a:xfrm>
            <a:off x="5943600" y="48895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C8F196A7-9FA3-FF44-9610-A2A47EA5824F}"/>
              </a:ext>
            </a:extLst>
          </p:cNvPr>
          <p:cNvSpPr txBox="1"/>
          <p:nvPr/>
        </p:nvSpPr>
        <p:spPr>
          <a:xfrm>
            <a:off x="6908800" y="49149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はデフォルトのみ</a:t>
            </a:r>
          </a:p>
        </p:txBody>
      </p:sp>
      <p:sp>
        <p:nvSpPr>
          <p:cNvPr id="54" name="正方形/長方形 53">
            <a:extLst>
              <a:ext uri="{FF2B5EF4-FFF2-40B4-BE49-F238E27FC236}">
                <a16:creationId xmlns:a16="http://schemas.microsoft.com/office/drawing/2014/main" id="{2EEB5F07-F35E-DB47-A170-283C5ACF5111}"/>
              </a:ext>
            </a:extLst>
          </p:cNvPr>
          <p:cNvSpPr/>
          <p:nvPr/>
        </p:nvSpPr>
        <p:spPr>
          <a:xfrm>
            <a:off x="812800" y="5727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C4F7A24B-6A6E-484C-9F1B-3DD0C872ED55}"/>
              </a:ext>
            </a:extLst>
          </p:cNvPr>
          <p:cNvSpPr txBox="1"/>
          <p:nvPr/>
        </p:nvSpPr>
        <p:spPr>
          <a:xfrm>
            <a:off x="914400" y="5397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発行済みの通行証を有効期限前に強制的に無効化できる必要</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CFDE6B97-ADCB-F240-975B-E1ADA51BBB26}"/>
              </a:ext>
            </a:extLst>
          </p:cNvPr>
          <p:cNvSpPr txBox="1"/>
          <p:nvPr/>
        </p:nvSpPr>
        <p:spPr>
          <a:xfrm>
            <a:off x="5105400" y="53975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57" name="角丸四角形 56">
            <a:extLst>
              <a:ext uri="{FF2B5EF4-FFF2-40B4-BE49-F238E27FC236}">
                <a16:creationId xmlns:a16="http://schemas.microsoft.com/office/drawing/2014/main" id="{2721354F-F54E-184C-A070-D16B7A14DB6D}"/>
              </a:ext>
            </a:extLst>
          </p:cNvPr>
          <p:cNvSpPr/>
          <p:nvPr/>
        </p:nvSpPr>
        <p:spPr>
          <a:xfrm>
            <a:off x="5943600" y="53721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8" name="テキスト ボックス 57">
            <a:extLst>
              <a:ext uri="{FF2B5EF4-FFF2-40B4-BE49-F238E27FC236}">
                <a16:creationId xmlns:a16="http://schemas.microsoft.com/office/drawing/2014/main" id="{69FAA530-4603-0A48-965A-11978F458CF5}"/>
              </a:ext>
            </a:extLst>
          </p:cNvPr>
          <p:cNvSpPr txBox="1"/>
          <p:nvPr/>
        </p:nvSpPr>
        <p:spPr>
          <a:xfrm>
            <a:off x="6908800" y="5397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Token Revocation</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未検証</a:t>
            </a:r>
          </a:p>
        </p:txBody>
      </p:sp>
      <p:sp>
        <p:nvSpPr>
          <p:cNvPr id="59" name="正方形/長方形 58">
            <a:extLst>
              <a:ext uri="{FF2B5EF4-FFF2-40B4-BE49-F238E27FC236}">
                <a16:creationId xmlns:a16="http://schemas.microsoft.com/office/drawing/2014/main" id="{FCF38191-0750-9243-9A61-D6E3CF37C2C5}"/>
              </a:ext>
            </a:extLst>
          </p:cNvPr>
          <p:cNvSpPr/>
          <p:nvPr/>
        </p:nvSpPr>
        <p:spPr>
          <a:xfrm>
            <a:off x="812800" y="57404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2D09359A-6E84-DE4C-BC5B-615A03587226}"/>
              </a:ext>
            </a:extLst>
          </p:cNvPr>
          <p:cNvSpPr/>
          <p:nvPr/>
        </p:nvSpPr>
        <p:spPr>
          <a:xfrm>
            <a:off x="812800" y="621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8F0E748C-F502-544E-9CD0-63A1C826F5CA}"/>
              </a:ext>
            </a:extLst>
          </p:cNvPr>
          <p:cNvSpPr txBox="1"/>
          <p:nvPr/>
        </p:nvSpPr>
        <p:spPr>
          <a:xfrm>
            <a:off x="914400" y="5880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管理者が特定の利用者のログイン状態を一括で切断できる機</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33DCC0C1-82EF-C742-B090-8959CDFFF166}"/>
              </a:ext>
            </a:extLst>
          </p:cNvPr>
          <p:cNvSpPr txBox="1"/>
          <p:nvPr/>
        </p:nvSpPr>
        <p:spPr>
          <a:xfrm>
            <a:off x="5105400" y="58801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63" name="角丸四角形 62">
            <a:extLst>
              <a:ext uri="{FF2B5EF4-FFF2-40B4-BE49-F238E27FC236}">
                <a16:creationId xmlns:a16="http://schemas.microsoft.com/office/drawing/2014/main" id="{2CC766CA-97F3-0944-8954-3DA3400209BF}"/>
              </a:ext>
            </a:extLst>
          </p:cNvPr>
          <p:cNvSpPr/>
          <p:nvPr/>
        </p:nvSpPr>
        <p:spPr>
          <a:xfrm>
            <a:off x="5943600" y="58547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4" name="テキスト ボックス 63">
            <a:extLst>
              <a:ext uri="{FF2B5EF4-FFF2-40B4-BE49-F238E27FC236}">
                <a16:creationId xmlns:a16="http://schemas.microsoft.com/office/drawing/2014/main" id="{7FE9E822-8114-4147-806E-D49B34C83724}"/>
              </a:ext>
            </a:extLst>
          </p:cNvPr>
          <p:cNvSpPr txBox="1"/>
          <p:nvPr/>
        </p:nvSpPr>
        <p:spPr>
          <a:xfrm>
            <a:off x="6908800" y="5880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Console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Tree>
    <p:extLst>
      <p:ext uri="{BB962C8B-B14F-4D97-AF65-F5344CB8AC3E}">
        <p14:creationId xmlns:p14="http://schemas.microsoft.com/office/powerpoint/2010/main" val="2747048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708242A-BE1E-9147-9D17-3191553CA7B8}"/>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A100C656-4BB0-5E41-9752-34DCA3388300}"/>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認可</a:t>
            </a:r>
          </a:p>
        </p:txBody>
      </p:sp>
      <p:sp>
        <p:nvSpPr>
          <p:cNvPr id="4" name="テキスト ボックス 3">
            <a:extLst>
              <a:ext uri="{FF2B5EF4-FFF2-40B4-BE49-F238E27FC236}">
                <a16:creationId xmlns:a16="http://schemas.microsoft.com/office/drawing/2014/main" id="{F062CA91-1D5E-0243-AF52-3EEC032E27D3}"/>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10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27FE3F87-21B1-2248-93AC-71E9C2116D5F}"/>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3223DB21-1A10-7147-A2AC-05946DE69C79}"/>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4DDF35CE-5A0A-9B4E-B8BB-D723217EF9C5}"/>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1AE3BE34-0340-3D45-B4E9-360D3932DDBC}"/>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C57AAAA1-2511-D44C-BEA2-D1220C4FE12D}"/>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1A99DB4D-A6A1-E748-ADDC-C01B6203D4D8}"/>
              </a:ext>
            </a:extLst>
          </p:cNvPr>
          <p:cNvSpPr/>
          <p:nvPr/>
        </p:nvSpPr>
        <p:spPr>
          <a:xfrm>
            <a:off x="812800" y="186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5FE3A60C-2531-DD46-B27E-A4A8BA6C9260}"/>
              </a:ext>
            </a:extLst>
          </p:cNvPr>
          <p:cNvSpPr txBox="1"/>
          <p:nvPr/>
        </p:nvSpPr>
        <p:spPr>
          <a:xfrm>
            <a:off x="914400" y="1536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通行証に含まれる情報をもとに各アプリが権限を判定する方</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384783A9-7438-CB41-826B-D9407D1E85FD}"/>
              </a:ext>
            </a:extLst>
          </p:cNvPr>
          <p:cNvSpPr txBox="1"/>
          <p:nvPr/>
        </p:nvSpPr>
        <p:spPr>
          <a:xfrm>
            <a:off x="5105400" y="15367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C3DEF45E-A132-3140-959F-FA9B3034B36A}"/>
              </a:ext>
            </a:extLst>
          </p:cNvPr>
          <p:cNvSpPr/>
          <p:nvPr/>
        </p:nvSpPr>
        <p:spPr>
          <a:xfrm>
            <a:off x="5943600" y="15113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17ACFBC5-8433-B34F-BB31-27EA28303174}"/>
              </a:ext>
            </a:extLst>
          </p:cNvPr>
          <p:cNvSpPr txBox="1"/>
          <p:nvPr/>
        </p:nvSpPr>
        <p:spPr>
          <a:xfrm>
            <a:off x="6908800" y="15367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3,8,9</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EFCEF766-974B-A041-8DC6-12D2016F7252}"/>
              </a:ext>
            </a:extLst>
          </p:cNvPr>
          <p:cNvSpPr/>
          <p:nvPr/>
        </p:nvSpPr>
        <p:spPr>
          <a:xfrm>
            <a:off x="812800" y="18796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718BD8CC-2E5A-FA41-97C3-0153D9FE8097}"/>
              </a:ext>
            </a:extLst>
          </p:cNvPr>
          <p:cNvSpPr/>
          <p:nvPr/>
        </p:nvSpPr>
        <p:spPr>
          <a:xfrm>
            <a:off x="812800" y="2349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9EE64CE3-6484-E04B-82AB-2A4A10B20383}"/>
              </a:ext>
            </a:extLst>
          </p:cNvPr>
          <p:cNvSpPr txBox="1"/>
          <p:nvPr/>
        </p:nvSpPr>
        <p:spPr>
          <a:xfrm>
            <a:off x="914400" y="201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顧客ごとのデータが混ざらないよう、所属情報を通行証に必</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3882C84B-A876-F74A-8B76-10D8EE6F2B2A}"/>
              </a:ext>
            </a:extLst>
          </p:cNvPr>
          <p:cNvSpPr txBox="1"/>
          <p:nvPr/>
        </p:nvSpPr>
        <p:spPr>
          <a:xfrm>
            <a:off x="5105400" y="20193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0B59C728-A77D-F743-A095-88E1C17EF343}"/>
              </a:ext>
            </a:extLst>
          </p:cNvPr>
          <p:cNvSpPr/>
          <p:nvPr/>
        </p:nvSpPr>
        <p:spPr>
          <a:xfrm>
            <a:off x="5943600" y="1993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CD17006C-3D6E-6640-8EE4-BBC49F03F84C}"/>
              </a:ext>
            </a:extLst>
          </p:cNvPr>
          <p:cNvSpPr txBox="1"/>
          <p:nvPr/>
        </p:nvSpPr>
        <p:spPr>
          <a:xfrm>
            <a:off x="6908800" y="201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Protocol Mapper</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8/9</a:t>
            </a:r>
            <a:r>
              <a:rPr lang="ja-JP" altLang="en-US" sz="1100">
                <a:solidFill>
                  <a:srgbClr val="5A6472"/>
                </a:solidFill>
                <a:latin typeface="Yu Gothic UI"/>
                <a:ea typeface="Yu Gothic UI"/>
              </a:rPr>
              <a:t>検証済（</a:t>
            </a:r>
            <a:r>
              <a:rPr lang="en" altLang="ja-JP" sz="1100">
                <a:solidFill>
                  <a:srgbClr val="5A6472"/>
                </a:solidFill>
                <a:latin typeface="Yu Gothic UI"/>
                <a:ea typeface="Yu Gothic UI"/>
              </a:rPr>
              <a:t>DR Cognito</a:t>
            </a:r>
            <a:r>
              <a:rPr lang="ja-JP" altLang="en-US" sz="1100">
                <a:solidFill>
                  <a:srgbClr val="5A6472"/>
                </a:solidFill>
                <a:latin typeface="Yu Gothic UI"/>
                <a:ea typeface="Yu Gothic UI"/>
              </a:rPr>
              <a:t>は</a:t>
            </a:r>
            <a:r>
              <a:rPr lang="en" altLang="ja-JP" sz="1100">
                <a:solidFill>
                  <a:srgbClr val="5A6472"/>
                </a:solidFill>
                <a:latin typeface="Yu Gothic UI"/>
                <a:ea typeface="Yu Gothic UI"/>
              </a:rPr>
              <a:t>Pre T…</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0951140D-0CFC-AE46-BA0A-A61B094397FE}"/>
              </a:ext>
            </a:extLst>
          </p:cNvPr>
          <p:cNvSpPr/>
          <p:nvPr/>
        </p:nvSpPr>
        <p:spPr>
          <a:xfrm>
            <a:off x="812800" y="2832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3A833BB3-FFE9-2F40-8E77-423FDEAB2BEB}"/>
              </a:ext>
            </a:extLst>
          </p:cNvPr>
          <p:cNvSpPr txBox="1"/>
          <p:nvPr/>
        </p:nvSpPr>
        <p:spPr>
          <a:xfrm>
            <a:off x="914400" y="2501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役割（ロール）の情報を通行証に載せて権限判定に使うか</a:t>
            </a:r>
          </a:p>
        </p:txBody>
      </p:sp>
      <p:sp>
        <p:nvSpPr>
          <p:cNvPr id="23" name="テキスト ボックス 22">
            <a:extLst>
              <a:ext uri="{FF2B5EF4-FFF2-40B4-BE49-F238E27FC236}">
                <a16:creationId xmlns:a16="http://schemas.microsoft.com/office/drawing/2014/main" id="{09BCE915-865D-5342-9402-9FE4B4CC7D07}"/>
              </a:ext>
            </a:extLst>
          </p:cNvPr>
          <p:cNvSpPr txBox="1"/>
          <p:nvPr/>
        </p:nvSpPr>
        <p:spPr>
          <a:xfrm>
            <a:off x="5105400" y="25019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6A21BA95-AAEF-A641-9233-4A3CBACE30E8}"/>
              </a:ext>
            </a:extLst>
          </p:cNvPr>
          <p:cNvSpPr/>
          <p:nvPr/>
        </p:nvSpPr>
        <p:spPr>
          <a:xfrm>
            <a:off x="5943600" y="24765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07EDFA60-08A3-1A4B-AFAE-34CA49E058AB}"/>
              </a:ext>
            </a:extLst>
          </p:cNvPr>
          <p:cNvSpPr txBox="1"/>
          <p:nvPr/>
        </p:nvSpPr>
        <p:spPr>
          <a:xfrm>
            <a:off x="6908800" y="25019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Protocol Mapper</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Realm Role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8/9</a:t>
            </a:r>
            <a:r>
              <a:rPr lang="ja-JP" altLang="en-US" sz="1100">
                <a:solidFill>
                  <a:srgbClr val="5A6472"/>
                </a:solidFill>
                <a:latin typeface="Yu Gothic UI"/>
                <a:ea typeface="Yu Gothic UI"/>
              </a:rPr>
              <a:t>検証済</a:t>
            </a:r>
          </a:p>
        </p:txBody>
      </p:sp>
      <p:sp>
        <p:nvSpPr>
          <p:cNvPr id="26" name="正方形/長方形 25">
            <a:extLst>
              <a:ext uri="{FF2B5EF4-FFF2-40B4-BE49-F238E27FC236}">
                <a16:creationId xmlns:a16="http://schemas.microsoft.com/office/drawing/2014/main" id="{2EA7D728-69E3-D548-A4E3-560C065DF30F}"/>
              </a:ext>
            </a:extLst>
          </p:cNvPr>
          <p:cNvSpPr/>
          <p:nvPr/>
        </p:nvSpPr>
        <p:spPr>
          <a:xfrm>
            <a:off x="812800" y="28448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021958D3-580E-1345-B31F-045030722953}"/>
              </a:ext>
            </a:extLst>
          </p:cNvPr>
          <p:cNvSpPr/>
          <p:nvPr/>
        </p:nvSpPr>
        <p:spPr>
          <a:xfrm>
            <a:off x="812800" y="331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52C8BA64-DF0E-8C43-95DE-2CF674382B42}"/>
              </a:ext>
            </a:extLst>
          </p:cNvPr>
          <p:cNvSpPr txBox="1"/>
          <p:nvPr/>
        </p:nvSpPr>
        <p:spPr>
          <a:xfrm>
            <a:off x="914400" y="2984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役割に上下関係（上位が下位を兼ねる）を持たせるか</a:t>
            </a:r>
          </a:p>
        </p:txBody>
      </p:sp>
      <p:sp>
        <p:nvSpPr>
          <p:cNvPr id="29" name="テキスト ボックス 28">
            <a:extLst>
              <a:ext uri="{FF2B5EF4-FFF2-40B4-BE49-F238E27FC236}">
                <a16:creationId xmlns:a16="http://schemas.microsoft.com/office/drawing/2014/main" id="{4742306A-701D-894D-A411-7DB0C6629695}"/>
              </a:ext>
            </a:extLst>
          </p:cNvPr>
          <p:cNvSpPr txBox="1"/>
          <p:nvPr/>
        </p:nvSpPr>
        <p:spPr>
          <a:xfrm>
            <a:off x="5105400" y="29845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0" name="角丸四角形 29">
            <a:extLst>
              <a:ext uri="{FF2B5EF4-FFF2-40B4-BE49-F238E27FC236}">
                <a16:creationId xmlns:a16="http://schemas.microsoft.com/office/drawing/2014/main" id="{871176FE-99C0-1A4F-9C66-953092C0074F}"/>
              </a:ext>
            </a:extLst>
          </p:cNvPr>
          <p:cNvSpPr/>
          <p:nvPr/>
        </p:nvSpPr>
        <p:spPr>
          <a:xfrm>
            <a:off x="5943600" y="29591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1E623259-2F5A-814E-BF12-B7A990DC6DB5}"/>
              </a:ext>
            </a:extLst>
          </p:cNvPr>
          <p:cNvSpPr txBox="1"/>
          <p:nvPr/>
        </p:nvSpPr>
        <p:spPr>
          <a:xfrm>
            <a:off x="6908800" y="2984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Composite Role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8</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アプリ側）</a:t>
            </a:r>
          </a:p>
        </p:txBody>
      </p:sp>
      <p:sp>
        <p:nvSpPr>
          <p:cNvPr id="32" name="正方形/長方形 31">
            <a:extLst>
              <a:ext uri="{FF2B5EF4-FFF2-40B4-BE49-F238E27FC236}">
                <a16:creationId xmlns:a16="http://schemas.microsoft.com/office/drawing/2014/main" id="{9DBD208D-FCDF-C143-9971-9DD61F080486}"/>
              </a:ext>
            </a:extLst>
          </p:cNvPr>
          <p:cNvSpPr/>
          <p:nvPr/>
        </p:nvSpPr>
        <p:spPr>
          <a:xfrm>
            <a:off x="812800" y="3797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DBB9B14-7EFA-7F49-BEFD-1B993742C850}"/>
              </a:ext>
            </a:extLst>
          </p:cNvPr>
          <p:cNvSpPr txBox="1"/>
          <p:nvPr/>
        </p:nvSpPr>
        <p:spPr>
          <a:xfrm>
            <a:off x="914400" y="3467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システム同士の通信でも、呼び出せる機能の範囲を絞り込む</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ABF83F55-EBEB-0B4B-B8AC-5424909789BC}"/>
              </a:ext>
            </a:extLst>
          </p:cNvPr>
          <p:cNvSpPr txBox="1"/>
          <p:nvPr/>
        </p:nvSpPr>
        <p:spPr>
          <a:xfrm>
            <a:off x="5105400" y="34671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5" name="角丸四角形 34">
            <a:extLst>
              <a:ext uri="{FF2B5EF4-FFF2-40B4-BE49-F238E27FC236}">
                <a16:creationId xmlns:a16="http://schemas.microsoft.com/office/drawing/2014/main" id="{DA16572C-244D-F04D-92D6-A0B8BCD0F6F2}"/>
              </a:ext>
            </a:extLst>
          </p:cNvPr>
          <p:cNvSpPr/>
          <p:nvPr/>
        </p:nvSpPr>
        <p:spPr>
          <a:xfrm>
            <a:off x="5943600" y="34417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E3A6BDF6-317B-BD41-85BE-8071A57EC761}"/>
              </a:ext>
            </a:extLst>
          </p:cNvPr>
          <p:cNvSpPr txBox="1"/>
          <p:nvPr/>
        </p:nvSpPr>
        <p:spPr>
          <a:xfrm>
            <a:off x="6908800" y="3467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Client Scope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37" name="正方形/長方形 36">
            <a:extLst>
              <a:ext uri="{FF2B5EF4-FFF2-40B4-BE49-F238E27FC236}">
                <a16:creationId xmlns:a16="http://schemas.microsoft.com/office/drawing/2014/main" id="{37ACB659-7010-4C4E-AC9D-F2D550DD892B}"/>
              </a:ext>
            </a:extLst>
          </p:cNvPr>
          <p:cNvSpPr/>
          <p:nvPr/>
        </p:nvSpPr>
        <p:spPr>
          <a:xfrm>
            <a:off x="812800" y="38100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C50AAEE5-C37B-3849-884D-A59A91BEB79D}"/>
              </a:ext>
            </a:extLst>
          </p:cNvPr>
          <p:cNvSpPr/>
          <p:nvPr/>
        </p:nvSpPr>
        <p:spPr>
          <a:xfrm>
            <a:off x="812800" y="427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421C4A58-F9B4-BA43-9293-C1F7B4E51291}"/>
              </a:ext>
            </a:extLst>
          </p:cNvPr>
          <p:cNvSpPr txBox="1"/>
          <p:nvPr/>
        </p:nvSpPr>
        <p:spPr>
          <a:xfrm>
            <a:off x="914400" y="3949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顧客固有の項目を通行証に追加できるようにするか。追加を</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93A898EE-6D86-BE4F-9733-4149E47D3E09}"/>
              </a:ext>
            </a:extLst>
          </p:cNvPr>
          <p:cNvSpPr txBox="1"/>
          <p:nvPr/>
        </p:nvSpPr>
        <p:spPr>
          <a:xfrm>
            <a:off x="5105400" y="39497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1" name="角丸四角形 40">
            <a:extLst>
              <a:ext uri="{FF2B5EF4-FFF2-40B4-BE49-F238E27FC236}">
                <a16:creationId xmlns:a16="http://schemas.microsoft.com/office/drawing/2014/main" id="{1CA2748D-7A4A-0844-A3C9-641FF6F78AB9}"/>
              </a:ext>
            </a:extLst>
          </p:cNvPr>
          <p:cNvSpPr/>
          <p:nvPr/>
        </p:nvSpPr>
        <p:spPr>
          <a:xfrm>
            <a:off x="5943600" y="39243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42" name="テキスト ボックス 41">
            <a:extLst>
              <a:ext uri="{FF2B5EF4-FFF2-40B4-BE49-F238E27FC236}">
                <a16:creationId xmlns:a16="http://schemas.microsoft.com/office/drawing/2014/main" id="{0FB87DA6-5088-0D4A-B623-390D840530CF}"/>
              </a:ext>
            </a:extLst>
          </p:cNvPr>
          <p:cNvSpPr txBox="1"/>
          <p:nvPr/>
        </p:nvSpPr>
        <p:spPr>
          <a:xfrm>
            <a:off x="6908800" y="39497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Protocol Mapper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宣言的）。</a:t>
            </a:r>
            <a:r>
              <a:rPr lang="en" altLang="ja-JP" sz="1100">
                <a:solidFill>
                  <a:srgbClr val="5A6472"/>
                </a:solidFill>
                <a:latin typeface="Yu Gothic UI"/>
                <a:ea typeface="Yu Gothic UI"/>
              </a:rPr>
              <a:t>PoC Phase 8/9</a:t>
            </a:r>
            <a:r>
              <a:rPr lang="ja-JP" altLang="en-US" sz="1100">
                <a:solidFill>
                  <a:srgbClr val="5A6472"/>
                </a:solidFill>
                <a:latin typeface="Yu Gothic UI"/>
                <a:ea typeface="Yu Gothic UI"/>
              </a:rPr>
              <a:t>検証済</a:t>
            </a:r>
          </a:p>
        </p:txBody>
      </p:sp>
      <p:sp>
        <p:nvSpPr>
          <p:cNvPr id="43" name="正方形/長方形 42">
            <a:extLst>
              <a:ext uri="{FF2B5EF4-FFF2-40B4-BE49-F238E27FC236}">
                <a16:creationId xmlns:a16="http://schemas.microsoft.com/office/drawing/2014/main" id="{0265D7E8-93C9-6140-9E0E-DF5285BD93C3}"/>
              </a:ext>
            </a:extLst>
          </p:cNvPr>
          <p:cNvSpPr/>
          <p:nvPr/>
        </p:nvSpPr>
        <p:spPr>
          <a:xfrm>
            <a:off x="812800" y="4762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C117B93F-4968-074B-94C1-3E07ADD01FEF}"/>
              </a:ext>
            </a:extLst>
          </p:cNvPr>
          <p:cNvSpPr txBox="1"/>
          <p:nvPr/>
        </p:nvSpPr>
        <p:spPr>
          <a:xfrm>
            <a:off x="914400" y="4432300"/>
            <a:ext cx="3987800" cy="2540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AWS</a:t>
            </a:r>
            <a:r>
              <a:rPr lang="ja-JP" altLang="en-US" sz="1100" b="1">
                <a:solidFill>
                  <a:srgbClr val="1D2125"/>
                </a:solidFill>
                <a:latin typeface="Yu Gothic UI"/>
                <a:ea typeface="Yu Gothic UI"/>
              </a:rPr>
              <a:t>の</a:t>
            </a:r>
            <a:r>
              <a:rPr lang="en" altLang="ja-JP" sz="1100" b="1">
                <a:solidFill>
                  <a:srgbClr val="1D2125"/>
                </a:solidFill>
                <a:latin typeface="Yu Gothic UI"/>
                <a:ea typeface="Yu Gothic UI"/>
              </a:rPr>
              <a:t>API</a:t>
            </a:r>
            <a:r>
              <a:rPr lang="ja-JP" altLang="en-US" sz="1100" b="1">
                <a:solidFill>
                  <a:srgbClr val="1D2125"/>
                </a:solidFill>
                <a:latin typeface="Yu Gothic UI"/>
                <a:ea typeface="Yu Gothic UI"/>
              </a:rPr>
              <a:t>入口で通行証を検証する共通部品を用意するか</a:t>
            </a:r>
          </a:p>
        </p:txBody>
      </p:sp>
      <p:sp>
        <p:nvSpPr>
          <p:cNvPr id="45" name="テキスト ボックス 44">
            <a:extLst>
              <a:ext uri="{FF2B5EF4-FFF2-40B4-BE49-F238E27FC236}">
                <a16:creationId xmlns:a16="http://schemas.microsoft.com/office/drawing/2014/main" id="{BC82494D-98B2-164E-95A2-4AFA51A873EF}"/>
              </a:ext>
            </a:extLst>
          </p:cNvPr>
          <p:cNvSpPr txBox="1"/>
          <p:nvPr/>
        </p:nvSpPr>
        <p:spPr>
          <a:xfrm>
            <a:off x="5105400" y="44323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6" name="角丸四角形 45">
            <a:extLst>
              <a:ext uri="{FF2B5EF4-FFF2-40B4-BE49-F238E27FC236}">
                <a16:creationId xmlns:a16="http://schemas.microsoft.com/office/drawing/2014/main" id="{05980571-A342-8D46-9FFE-B796CD286970}"/>
              </a:ext>
            </a:extLst>
          </p:cNvPr>
          <p:cNvSpPr/>
          <p:nvPr/>
        </p:nvSpPr>
        <p:spPr>
          <a:xfrm>
            <a:off x="5943600" y="4406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47" name="テキスト ボックス 46">
            <a:extLst>
              <a:ext uri="{FF2B5EF4-FFF2-40B4-BE49-F238E27FC236}">
                <a16:creationId xmlns:a16="http://schemas.microsoft.com/office/drawing/2014/main" id="{F5824E86-C91E-1242-A835-845165BE5B0D}"/>
              </a:ext>
            </a:extLst>
          </p:cNvPr>
          <p:cNvSpPr txBox="1"/>
          <p:nvPr/>
        </p:nvSpPr>
        <p:spPr>
          <a:xfrm>
            <a:off x="6908800" y="44323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3 / VPC</a:t>
            </a:r>
            <a:r>
              <a:rPr lang="ja-JP" altLang="en-US" sz="1100">
                <a:solidFill>
                  <a:srgbClr val="5A6472"/>
                </a:solidFill>
                <a:latin typeface="Yu Gothic UI"/>
                <a:ea typeface="Yu Gothic UI"/>
              </a:rPr>
              <a:t>版</a:t>
            </a:r>
            <a:r>
              <a:rPr lang="en" altLang="ja-JP" sz="1100">
                <a:solidFill>
                  <a:srgbClr val="5A6472"/>
                </a:solidFill>
                <a:latin typeface="Yu Gothic UI"/>
                <a:ea typeface="Yu Gothic UI"/>
              </a:rPr>
              <a:t>Phase 9</a:t>
            </a:r>
            <a:r>
              <a:rPr lang="ja-JP" altLang="en-US" sz="1100">
                <a:solidFill>
                  <a:srgbClr val="5A6472"/>
                </a:solidFill>
                <a:latin typeface="Yu Gothic UI"/>
                <a:ea typeface="Yu Gothic UI"/>
              </a:rPr>
              <a:t>検証済</a:t>
            </a:r>
          </a:p>
        </p:txBody>
      </p:sp>
      <p:sp>
        <p:nvSpPr>
          <p:cNvPr id="48" name="正方形/長方形 47">
            <a:extLst>
              <a:ext uri="{FF2B5EF4-FFF2-40B4-BE49-F238E27FC236}">
                <a16:creationId xmlns:a16="http://schemas.microsoft.com/office/drawing/2014/main" id="{5B220FFE-0A74-7041-92BB-E13DFD0BD95A}"/>
              </a:ext>
            </a:extLst>
          </p:cNvPr>
          <p:cNvSpPr/>
          <p:nvPr/>
        </p:nvSpPr>
        <p:spPr>
          <a:xfrm>
            <a:off x="812800" y="47752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206E0ED8-05C1-8F41-A048-856D4A0F1C82}"/>
              </a:ext>
            </a:extLst>
          </p:cNvPr>
          <p:cNvSpPr/>
          <p:nvPr/>
        </p:nvSpPr>
        <p:spPr>
          <a:xfrm>
            <a:off x="812800" y="5245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E4EA6D92-4436-3543-BD37-2CD38CAA87A5}"/>
              </a:ext>
            </a:extLst>
          </p:cNvPr>
          <p:cNvSpPr txBox="1"/>
          <p:nvPr/>
        </p:nvSpPr>
        <p:spPr>
          <a:xfrm>
            <a:off x="914400" y="4914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通行証の発行元が複数ある状態を、各アプリが受け入れられ</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A0DFCACF-96AC-B24D-9FA8-D38C8E48F5C5}"/>
              </a:ext>
            </a:extLst>
          </p:cNvPr>
          <p:cNvSpPr txBox="1"/>
          <p:nvPr/>
        </p:nvSpPr>
        <p:spPr>
          <a:xfrm>
            <a:off x="5105400" y="49149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52" name="角丸四角形 51">
            <a:extLst>
              <a:ext uri="{FF2B5EF4-FFF2-40B4-BE49-F238E27FC236}">
                <a16:creationId xmlns:a16="http://schemas.microsoft.com/office/drawing/2014/main" id="{0B0DAF6A-3B29-6747-9AA3-04632A4AFE7A}"/>
              </a:ext>
            </a:extLst>
          </p:cNvPr>
          <p:cNvSpPr/>
          <p:nvPr/>
        </p:nvSpPr>
        <p:spPr>
          <a:xfrm>
            <a:off x="5943600" y="48895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53" name="テキスト ボックス 52">
            <a:extLst>
              <a:ext uri="{FF2B5EF4-FFF2-40B4-BE49-F238E27FC236}">
                <a16:creationId xmlns:a16="http://schemas.microsoft.com/office/drawing/2014/main" id="{02C99752-66B6-574A-8C33-45E0BE7E7735}"/>
              </a:ext>
            </a:extLst>
          </p:cNvPr>
          <p:cNvSpPr txBox="1"/>
          <p:nvPr/>
        </p:nvSpPr>
        <p:spPr>
          <a:xfrm>
            <a:off x="6908800" y="49149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 Phase 4,5,9</a:t>
            </a:r>
            <a:r>
              <a:rPr lang="ja-JP" altLang="en-US" sz="1100">
                <a:solidFill>
                  <a:srgbClr val="5A6472"/>
                </a:solidFill>
                <a:latin typeface="Yu Gothic UI"/>
                <a:ea typeface="Yu Gothic UI"/>
              </a:rPr>
              <a:t>で</a:t>
            </a:r>
            <a:r>
              <a:rPr lang="en-US" altLang="ja-JP" sz="1100">
                <a:solidFill>
                  <a:srgbClr val="5A6472"/>
                </a:solidFill>
                <a:latin typeface="Yu Gothic UI"/>
                <a:ea typeface="Yu Gothic UI"/>
              </a:rPr>
              <a:t>4</a:t>
            </a:r>
            <a:r>
              <a:rPr lang="ja-JP" altLang="en-US" sz="1100">
                <a:solidFill>
                  <a:srgbClr val="5A6472"/>
                </a:solidFill>
                <a:latin typeface="Yu Gothic UI"/>
                <a:ea typeface="Yu Gothic UI"/>
              </a:rPr>
              <a:t>イシュア（</a:t>
            </a:r>
            <a:r>
              <a:rPr lang="en" altLang="ja-JP" sz="1100">
                <a:solidFill>
                  <a:srgbClr val="5A6472"/>
                </a:solidFill>
                <a:latin typeface="Yu Gothic UI"/>
                <a:ea typeface="Yu Gothic UI"/>
              </a:rPr>
              <a:t>central/local/dr/k…</a:t>
            </a:r>
            <a:endParaRPr lang="ja-JP" altLang="en-US" sz="1100">
              <a:solidFill>
                <a:srgbClr val="5A6472"/>
              </a:solidFill>
              <a:latin typeface="Yu Gothic UI"/>
              <a:ea typeface="Yu Gothic UI"/>
            </a:endParaRPr>
          </a:p>
        </p:txBody>
      </p:sp>
      <p:sp>
        <p:nvSpPr>
          <p:cNvPr id="54" name="正方形/長方形 53">
            <a:extLst>
              <a:ext uri="{FF2B5EF4-FFF2-40B4-BE49-F238E27FC236}">
                <a16:creationId xmlns:a16="http://schemas.microsoft.com/office/drawing/2014/main" id="{842985DD-1BFC-754B-8723-3155219FC4E4}"/>
              </a:ext>
            </a:extLst>
          </p:cNvPr>
          <p:cNvSpPr/>
          <p:nvPr/>
        </p:nvSpPr>
        <p:spPr>
          <a:xfrm>
            <a:off x="812800" y="5727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1991EE65-9E1D-1C4B-9418-1772C8E0B8E7}"/>
              </a:ext>
            </a:extLst>
          </p:cNvPr>
          <p:cNvSpPr txBox="1"/>
          <p:nvPr/>
        </p:nvSpPr>
        <p:spPr>
          <a:xfrm>
            <a:off x="914400" y="5397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「この書類はこの人だけ」といった個別データ単位の細かい</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FDBC174B-6340-DB44-B6F8-0BBB0B094315}"/>
              </a:ext>
            </a:extLst>
          </p:cNvPr>
          <p:cNvSpPr txBox="1"/>
          <p:nvPr/>
        </p:nvSpPr>
        <p:spPr>
          <a:xfrm>
            <a:off x="5105400" y="53975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57" name="角丸四角形 56">
            <a:extLst>
              <a:ext uri="{FF2B5EF4-FFF2-40B4-BE49-F238E27FC236}">
                <a16:creationId xmlns:a16="http://schemas.microsoft.com/office/drawing/2014/main" id="{67BDFACD-1D3A-6047-AA53-0118C1E9E14F}"/>
              </a:ext>
            </a:extLst>
          </p:cNvPr>
          <p:cNvSpPr/>
          <p:nvPr/>
        </p:nvSpPr>
        <p:spPr>
          <a:xfrm>
            <a:off x="5943600" y="53721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8" name="テキスト ボックス 57">
            <a:extLst>
              <a:ext uri="{FF2B5EF4-FFF2-40B4-BE49-F238E27FC236}">
                <a16:creationId xmlns:a16="http://schemas.microsoft.com/office/drawing/2014/main" id="{95D24BC0-ECFA-E643-8D32-F905E3FF5D6B}"/>
              </a:ext>
            </a:extLst>
          </p:cNvPr>
          <p:cNvSpPr txBox="1"/>
          <p:nvPr/>
        </p:nvSpPr>
        <p:spPr>
          <a:xfrm>
            <a:off x="6908800" y="5397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非対応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Authorization Services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必須</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3F5563EF-D028-7840-90DC-3B0F73B64B17}"/>
              </a:ext>
            </a:extLst>
          </p:cNvPr>
          <p:cNvSpPr/>
          <p:nvPr/>
        </p:nvSpPr>
        <p:spPr>
          <a:xfrm>
            <a:off x="812800" y="57404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36A376BA-B047-1E4B-B1D3-4E8473F30305}"/>
              </a:ext>
            </a:extLst>
          </p:cNvPr>
          <p:cNvSpPr/>
          <p:nvPr/>
        </p:nvSpPr>
        <p:spPr>
          <a:xfrm>
            <a:off x="812800" y="621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81A63BBC-CC21-7743-A0B6-9B4BEC9DC4F9}"/>
              </a:ext>
            </a:extLst>
          </p:cNvPr>
          <p:cNvSpPr txBox="1"/>
          <p:nvPr/>
        </p:nvSpPr>
        <p:spPr>
          <a:xfrm>
            <a:off x="914400" y="5880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部署や職位などの属性を組み合わせて、その場で権限を決め</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00352C9D-BA0F-5348-A753-C2C59CC4B5D7}"/>
              </a:ext>
            </a:extLst>
          </p:cNvPr>
          <p:cNvSpPr txBox="1"/>
          <p:nvPr/>
        </p:nvSpPr>
        <p:spPr>
          <a:xfrm>
            <a:off x="5105400" y="58801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63" name="角丸四角形 62">
            <a:extLst>
              <a:ext uri="{FF2B5EF4-FFF2-40B4-BE49-F238E27FC236}">
                <a16:creationId xmlns:a16="http://schemas.microsoft.com/office/drawing/2014/main" id="{01E78CAC-86AD-5E41-9FB8-C2843B9EDE4D}"/>
              </a:ext>
            </a:extLst>
          </p:cNvPr>
          <p:cNvSpPr/>
          <p:nvPr/>
        </p:nvSpPr>
        <p:spPr>
          <a:xfrm>
            <a:off x="5943600" y="58547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64" name="テキスト ボックス 63">
            <a:extLst>
              <a:ext uri="{FF2B5EF4-FFF2-40B4-BE49-F238E27FC236}">
                <a16:creationId xmlns:a16="http://schemas.microsoft.com/office/drawing/2014/main" id="{D0D020D4-53FF-004B-98A3-E50517A8EFA4}"/>
              </a:ext>
            </a:extLst>
          </p:cNvPr>
          <p:cNvSpPr txBox="1"/>
          <p:nvPr/>
        </p:nvSpPr>
        <p:spPr>
          <a:xfrm>
            <a:off x="6908800" y="5880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Policy Enforcer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ヒアリング優先度</a:t>
            </a:r>
            <a:r>
              <a:rPr lang="en-US" altLang="ja-JP" sz="1100">
                <a:solidFill>
                  <a:srgbClr val="5A6472"/>
                </a:solidFill>
                <a:latin typeface="Yu Gothic UI"/>
                <a:ea typeface="Yu Gothic UI"/>
              </a:rPr>
              <a:t>4</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1090251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5D4DCE8-DEA8-7A4D-9CB8-7BD105241BDB}"/>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3F44FBBA-1459-EC49-A8CE-4586CE3432BD}"/>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利用者情報の管理と同期</a:t>
            </a:r>
          </a:p>
        </p:txBody>
      </p:sp>
      <p:sp>
        <p:nvSpPr>
          <p:cNvPr id="4" name="テキスト ボックス 3">
            <a:extLst>
              <a:ext uri="{FF2B5EF4-FFF2-40B4-BE49-F238E27FC236}">
                <a16:creationId xmlns:a16="http://schemas.microsoft.com/office/drawing/2014/main" id="{69080CA7-4BF4-DB48-8748-091497B302C0}"/>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12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5046032B-A665-1745-AA5F-CAF8487CE5D2}"/>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90A5A6DE-429F-794B-B69A-239AEA1F9AA0}"/>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B9EED478-30BB-C64C-89FD-030EA66F7FCF}"/>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21CC5BE5-51E4-9345-AC8D-2F920C0E76A9}"/>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FDFB4F48-AC1A-4F4D-9DAC-A393C3F2F805}"/>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06695306-E073-564A-94E2-6C2C3EBC09B8}"/>
              </a:ext>
            </a:extLst>
          </p:cNvPr>
          <p:cNvSpPr/>
          <p:nvPr/>
        </p:nvSpPr>
        <p:spPr>
          <a:xfrm>
            <a:off x="812800" y="1790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28D35D80-7DA7-1642-B708-D2FF01570A11}"/>
              </a:ext>
            </a:extLst>
          </p:cNvPr>
          <p:cNvSpPr txBox="1"/>
          <p:nvPr/>
        </p:nvSpPr>
        <p:spPr>
          <a:xfrm>
            <a:off x="914400" y="1498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利用者情報の登録・変更・削除を、誰がどの画面や</a:t>
            </a:r>
            <a:r>
              <a:rPr lang="en" altLang="ja-JP" sz="1100" b="1">
                <a:solidFill>
                  <a:srgbClr val="1D2125"/>
                </a:solidFill>
                <a:latin typeface="Yu Gothic UI"/>
                <a:ea typeface="Yu Gothic UI"/>
              </a:rPr>
              <a:t>API</a:t>
            </a:r>
            <a:r>
              <a:rPr lang="ja-JP" altLang="en-US" sz="1100" b="1">
                <a:solidFill>
                  <a:srgbClr val="1D2125"/>
                </a:solidFill>
                <a:latin typeface="Yu Gothic UI"/>
                <a:ea typeface="Yu Gothic UI"/>
              </a:rPr>
              <a:t>から</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5E4B00CE-E36F-0A45-ABE8-4EB59A081E2B}"/>
              </a:ext>
            </a:extLst>
          </p:cNvPr>
          <p:cNvSpPr txBox="1"/>
          <p:nvPr/>
        </p:nvSpPr>
        <p:spPr>
          <a:xfrm>
            <a:off x="5105400" y="14986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BC468C87-90F5-3641-8155-CAA6AA34558F}"/>
              </a:ext>
            </a:extLst>
          </p:cNvPr>
          <p:cNvSpPr/>
          <p:nvPr/>
        </p:nvSpPr>
        <p:spPr>
          <a:xfrm>
            <a:off x="5943600" y="14732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9DC20BA0-233F-0E43-B550-DE5B72C48AAF}"/>
              </a:ext>
            </a:extLst>
          </p:cNvPr>
          <p:cNvSpPr txBox="1"/>
          <p:nvPr/>
        </p:nvSpPr>
        <p:spPr>
          <a:xfrm>
            <a:off x="6908800" y="1498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REST API</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127BEA2A-39CA-EA48-9FD5-C8F5C6D06FC2}"/>
              </a:ext>
            </a:extLst>
          </p:cNvPr>
          <p:cNvSpPr/>
          <p:nvPr/>
        </p:nvSpPr>
        <p:spPr>
          <a:xfrm>
            <a:off x="812800" y="18034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CDCF2283-E269-EE49-9C62-18FA64561E26}"/>
              </a:ext>
            </a:extLst>
          </p:cNvPr>
          <p:cNvSpPr/>
          <p:nvPr/>
        </p:nvSpPr>
        <p:spPr>
          <a:xfrm>
            <a:off x="812800" y="2197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A7307263-B4D2-2849-9124-8D6C82BD0F7C}"/>
              </a:ext>
            </a:extLst>
          </p:cNvPr>
          <p:cNvSpPr txBox="1"/>
          <p:nvPr/>
        </p:nvSpPr>
        <p:spPr>
          <a:xfrm>
            <a:off x="914400" y="1905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利用者の検索・一覧表示に必要な検索条件と表示項目をどう</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758148F8-A060-1F46-95B6-9A41E48DA798}"/>
              </a:ext>
            </a:extLst>
          </p:cNvPr>
          <p:cNvSpPr txBox="1"/>
          <p:nvPr/>
        </p:nvSpPr>
        <p:spPr>
          <a:xfrm>
            <a:off x="5105400" y="19050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6098A8B7-991E-A44C-9A33-4D4E7FE217BB}"/>
              </a:ext>
            </a:extLst>
          </p:cNvPr>
          <p:cNvSpPr/>
          <p:nvPr/>
        </p:nvSpPr>
        <p:spPr>
          <a:xfrm>
            <a:off x="5943600" y="18796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A97CCDF7-78D0-3343-88FB-CF9B48777100}"/>
              </a:ext>
            </a:extLst>
          </p:cNvPr>
          <p:cNvSpPr txBox="1"/>
          <p:nvPr/>
        </p:nvSpPr>
        <p:spPr>
          <a:xfrm>
            <a:off x="6908800" y="19050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Search API</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21" name="正方形/長方形 20">
            <a:extLst>
              <a:ext uri="{FF2B5EF4-FFF2-40B4-BE49-F238E27FC236}">
                <a16:creationId xmlns:a16="http://schemas.microsoft.com/office/drawing/2014/main" id="{46AB3A74-0BA2-2642-902C-E71F51FA000D}"/>
              </a:ext>
            </a:extLst>
          </p:cNvPr>
          <p:cNvSpPr/>
          <p:nvPr/>
        </p:nvSpPr>
        <p:spPr>
          <a:xfrm>
            <a:off x="812800" y="2603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54A3CEFC-5BC4-6149-92B4-5BFF409A3F69}"/>
              </a:ext>
            </a:extLst>
          </p:cNvPr>
          <p:cNvSpPr txBox="1"/>
          <p:nvPr/>
        </p:nvSpPr>
        <p:spPr>
          <a:xfrm>
            <a:off x="914400" y="231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利用者を削除せず一時停止できる状態を用意するか</a:t>
            </a:r>
          </a:p>
        </p:txBody>
      </p:sp>
      <p:sp>
        <p:nvSpPr>
          <p:cNvPr id="23" name="テキスト ボックス 22">
            <a:extLst>
              <a:ext uri="{FF2B5EF4-FFF2-40B4-BE49-F238E27FC236}">
                <a16:creationId xmlns:a16="http://schemas.microsoft.com/office/drawing/2014/main" id="{EBE56E50-105C-1649-B2D0-17E65E7D37F6}"/>
              </a:ext>
            </a:extLst>
          </p:cNvPr>
          <p:cNvSpPr txBox="1"/>
          <p:nvPr/>
        </p:nvSpPr>
        <p:spPr>
          <a:xfrm>
            <a:off x="5105400" y="2311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16E13C78-50BD-8D4C-B96D-86FBD44ECC60}"/>
              </a:ext>
            </a:extLst>
          </p:cNvPr>
          <p:cNvSpPr/>
          <p:nvPr/>
        </p:nvSpPr>
        <p:spPr>
          <a:xfrm>
            <a:off x="5943600" y="2286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057B3239-F823-FD42-9B2B-4AB5199497F5}"/>
              </a:ext>
            </a:extLst>
          </p:cNvPr>
          <p:cNvSpPr txBox="1"/>
          <p:nvPr/>
        </p:nvSpPr>
        <p:spPr>
          <a:xfrm>
            <a:off x="6908800" y="231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Enable/Disable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26" name="正方形/長方形 25">
            <a:extLst>
              <a:ext uri="{FF2B5EF4-FFF2-40B4-BE49-F238E27FC236}">
                <a16:creationId xmlns:a16="http://schemas.microsoft.com/office/drawing/2014/main" id="{413630EF-AEA7-014F-ABEC-1BDF807396BE}"/>
              </a:ext>
            </a:extLst>
          </p:cNvPr>
          <p:cNvSpPr/>
          <p:nvPr/>
        </p:nvSpPr>
        <p:spPr>
          <a:xfrm>
            <a:off x="812800" y="26162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B6D2C9DF-2FDD-B44D-92AD-40E1D29C9461}"/>
              </a:ext>
            </a:extLst>
          </p:cNvPr>
          <p:cNvSpPr/>
          <p:nvPr/>
        </p:nvSpPr>
        <p:spPr>
          <a:xfrm>
            <a:off x="812800" y="300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7D723792-AE83-BF49-A5AB-0A4D533D6A1F}"/>
              </a:ext>
            </a:extLst>
          </p:cNvPr>
          <p:cNvSpPr txBox="1"/>
          <p:nvPr/>
        </p:nvSpPr>
        <p:spPr>
          <a:xfrm>
            <a:off x="914400" y="2717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退職・解約時に利用者情報と関連データをどこまで消すか。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8FD9C770-240A-754C-9794-22E120E1B6F8}"/>
              </a:ext>
            </a:extLst>
          </p:cNvPr>
          <p:cNvSpPr txBox="1"/>
          <p:nvPr/>
        </p:nvSpPr>
        <p:spPr>
          <a:xfrm>
            <a:off x="5105400" y="27178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0" name="角丸四角形 29">
            <a:extLst>
              <a:ext uri="{FF2B5EF4-FFF2-40B4-BE49-F238E27FC236}">
                <a16:creationId xmlns:a16="http://schemas.microsoft.com/office/drawing/2014/main" id="{CD67A22E-4CFB-3747-AD87-B8DA610819E1}"/>
              </a:ext>
            </a:extLst>
          </p:cNvPr>
          <p:cNvSpPr/>
          <p:nvPr/>
        </p:nvSpPr>
        <p:spPr>
          <a:xfrm>
            <a:off x="5943600" y="2692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7AE65737-D05A-D049-B3A2-DC3A130F101B}"/>
              </a:ext>
            </a:extLst>
          </p:cNvPr>
          <p:cNvSpPr txBox="1"/>
          <p:nvPr/>
        </p:nvSpPr>
        <p:spPr>
          <a:xfrm>
            <a:off x="6908800" y="2717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Cascade Delete</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32" name="正方形/長方形 31">
            <a:extLst>
              <a:ext uri="{FF2B5EF4-FFF2-40B4-BE49-F238E27FC236}">
                <a16:creationId xmlns:a16="http://schemas.microsoft.com/office/drawing/2014/main" id="{F3BCCE7D-7474-5D42-B81A-00F247CC7E0E}"/>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DF488EE6-4039-5242-9487-166C2255F048}"/>
              </a:ext>
            </a:extLst>
          </p:cNvPr>
          <p:cNvSpPr txBox="1"/>
          <p:nvPr/>
        </p:nvSpPr>
        <p:spPr>
          <a:xfrm>
            <a:off x="914400" y="31242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標準で用意される項目以外に、独自に持たせたい項目を何に</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0AA06E9E-8843-ED4C-BA32-C2A45156D958}"/>
              </a:ext>
            </a:extLst>
          </p:cNvPr>
          <p:cNvSpPr txBox="1"/>
          <p:nvPr/>
        </p:nvSpPr>
        <p:spPr>
          <a:xfrm>
            <a:off x="5105400" y="31242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5" name="角丸四角形 34">
            <a:extLst>
              <a:ext uri="{FF2B5EF4-FFF2-40B4-BE49-F238E27FC236}">
                <a16:creationId xmlns:a16="http://schemas.microsoft.com/office/drawing/2014/main" id="{69A89751-0CAA-1842-ACD9-D294BC97BA04}"/>
              </a:ext>
            </a:extLst>
          </p:cNvPr>
          <p:cNvSpPr/>
          <p:nvPr/>
        </p:nvSpPr>
        <p:spPr>
          <a:xfrm>
            <a:off x="5943600" y="30988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6" name="テキスト ボックス 35">
            <a:extLst>
              <a:ext uri="{FF2B5EF4-FFF2-40B4-BE49-F238E27FC236}">
                <a16:creationId xmlns:a16="http://schemas.microsoft.com/office/drawing/2014/main" id="{8EFA94CA-E63F-9540-941B-92D780151EC3}"/>
              </a:ext>
            </a:extLst>
          </p:cNvPr>
          <p:cNvSpPr txBox="1"/>
          <p:nvPr/>
        </p:nvSpPr>
        <p:spPr>
          <a:xfrm>
            <a:off x="6908800" y="31242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User Attributes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無制限）。検証済</a:t>
            </a:r>
          </a:p>
        </p:txBody>
      </p:sp>
      <p:sp>
        <p:nvSpPr>
          <p:cNvPr id="37" name="正方形/長方形 36">
            <a:extLst>
              <a:ext uri="{FF2B5EF4-FFF2-40B4-BE49-F238E27FC236}">
                <a16:creationId xmlns:a16="http://schemas.microsoft.com/office/drawing/2014/main" id="{59936AF2-4FE0-024E-B7CE-5D12DB30D834}"/>
              </a:ext>
            </a:extLst>
          </p:cNvPr>
          <p:cNvSpPr/>
          <p:nvPr/>
        </p:nvSpPr>
        <p:spPr>
          <a:xfrm>
            <a:off x="812800" y="34290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2F819779-878C-D44B-9F83-1E0303E697F5}"/>
              </a:ext>
            </a:extLst>
          </p:cNvPr>
          <p:cNvSpPr/>
          <p:nvPr/>
        </p:nvSpPr>
        <p:spPr>
          <a:xfrm>
            <a:off x="812800" y="382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75E4B6FB-306D-A54A-AA40-5B06784CAD58}"/>
              </a:ext>
            </a:extLst>
          </p:cNvPr>
          <p:cNvSpPr txBox="1"/>
          <p:nvPr/>
        </p:nvSpPr>
        <p:spPr>
          <a:xfrm>
            <a:off x="914400" y="3530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利用者をグループにまとめて管理する必要があるか</a:t>
            </a:r>
          </a:p>
        </p:txBody>
      </p:sp>
      <p:sp>
        <p:nvSpPr>
          <p:cNvPr id="40" name="テキスト ボックス 39">
            <a:extLst>
              <a:ext uri="{FF2B5EF4-FFF2-40B4-BE49-F238E27FC236}">
                <a16:creationId xmlns:a16="http://schemas.microsoft.com/office/drawing/2014/main" id="{029E280F-FE9E-6C49-8BAA-65C88B9A78EA}"/>
              </a:ext>
            </a:extLst>
          </p:cNvPr>
          <p:cNvSpPr txBox="1"/>
          <p:nvPr/>
        </p:nvSpPr>
        <p:spPr>
          <a:xfrm>
            <a:off x="5105400" y="35306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41" name="角丸四角形 40">
            <a:extLst>
              <a:ext uri="{FF2B5EF4-FFF2-40B4-BE49-F238E27FC236}">
                <a16:creationId xmlns:a16="http://schemas.microsoft.com/office/drawing/2014/main" id="{08E5A940-7207-0C42-9979-27DCF31FACA5}"/>
              </a:ext>
            </a:extLst>
          </p:cNvPr>
          <p:cNvSpPr/>
          <p:nvPr/>
        </p:nvSpPr>
        <p:spPr>
          <a:xfrm>
            <a:off x="5943600" y="35052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82A4C149-6E07-7240-A0B6-85469D5935FB}"/>
              </a:ext>
            </a:extLst>
          </p:cNvPr>
          <p:cNvSpPr txBox="1"/>
          <p:nvPr/>
        </p:nvSpPr>
        <p:spPr>
          <a:xfrm>
            <a:off x="6908800" y="3530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Groups / Keycloak Realm Groups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は概念のみ</a:t>
            </a:r>
          </a:p>
        </p:txBody>
      </p:sp>
      <p:sp>
        <p:nvSpPr>
          <p:cNvPr id="43" name="正方形/長方形 42">
            <a:extLst>
              <a:ext uri="{FF2B5EF4-FFF2-40B4-BE49-F238E27FC236}">
                <a16:creationId xmlns:a16="http://schemas.microsoft.com/office/drawing/2014/main" id="{7A8F8EBC-12E7-6E4E-9107-2D98A011EAE7}"/>
              </a:ext>
            </a:extLst>
          </p:cNvPr>
          <p:cNvSpPr/>
          <p:nvPr/>
        </p:nvSpPr>
        <p:spPr>
          <a:xfrm>
            <a:off x="812800" y="4229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0B375066-1773-FF48-82B2-E32089AA7A44}"/>
              </a:ext>
            </a:extLst>
          </p:cNvPr>
          <p:cNvSpPr txBox="1"/>
          <p:nvPr/>
        </p:nvSpPr>
        <p:spPr>
          <a:xfrm>
            <a:off x="914400" y="3937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誰がどの役割を割り当てられるようにするか</a:t>
            </a:r>
          </a:p>
        </p:txBody>
      </p:sp>
      <p:sp>
        <p:nvSpPr>
          <p:cNvPr id="45" name="テキスト ボックス 44">
            <a:extLst>
              <a:ext uri="{FF2B5EF4-FFF2-40B4-BE49-F238E27FC236}">
                <a16:creationId xmlns:a16="http://schemas.microsoft.com/office/drawing/2014/main" id="{5C068952-8F1A-7C46-96DE-BD996580B78F}"/>
              </a:ext>
            </a:extLst>
          </p:cNvPr>
          <p:cNvSpPr txBox="1"/>
          <p:nvPr/>
        </p:nvSpPr>
        <p:spPr>
          <a:xfrm>
            <a:off x="5105400" y="39370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6" name="角丸四角形 45">
            <a:extLst>
              <a:ext uri="{FF2B5EF4-FFF2-40B4-BE49-F238E27FC236}">
                <a16:creationId xmlns:a16="http://schemas.microsoft.com/office/drawing/2014/main" id="{BD91C4C3-F870-054C-A63B-C8B8AAF53187}"/>
              </a:ext>
            </a:extLst>
          </p:cNvPr>
          <p:cNvSpPr/>
          <p:nvPr/>
        </p:nvSpPr>
        <p:spPr>
          <a:xfrm>
            <a:off x="5943600" y="39116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63CDAD95-B041-6641-9364-063FC73BB236}"/>
              </a:ext>
            </a:extLst>
          </p:cNvPr>
          <p:cNvSpPr txBox="1"/>
          <p:nvPr/>
        </p:nvSpPr>
        <p:spPr>
          <a:xfrm>
            <a:off x="6908800" y="39370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 Role Assignment</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48" name="正方形/長方形 47">
            <a:extLst>
              <a:ext uri="{FF2B5EF4-FFF2-40B4-BE49-F238E27FC236}">
                <a16:creationId xmlns:a16="http://schemas.microsoft.com/office/drawing/2014/main" id="{31C101D5-C6E4-9247-91F7-FCBC0294C851}"/>
              </a:ext>
            </a:extLst>
          </p:cNvPr>
          <p:cNvSpPr/>
          <p:nvPr/>
        </p:nvSpPr>
        <p:spPr>
          <a:xfrm>
            <a:off x="812800" y="42418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133AF1D5-A99D-8146-8152-4396728BC28C}"/>
              </a:ext>
            </a:extLst>
          </p:cNvPr>
          <p:cNvSpPr/>
          <p:nvPr/>
        </p:nvSpPr>
        <p:spPr>
          <a:xfrm>
            <a:off x="812800" y="4635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E0D28712-9E7F-6A4A-83D0-CD79A5C26BD0}"/>
              </a:ext>
            </a:extLst>
          </p:cNvPr>
          <p:cNvSpPr txBox="1"/>
          <p:nvPr/>
        </p:nvSpPr>
        <p:spPr>
          <a:xfrm>
            <a:off x="914400" y="434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利用者が自分のプロフィールを自分で編集できる範囲をどこ</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0392D7E4-9D11-B64E-8F3E-3F7598CBD776}"/>
              </a:ext>
            </a:extLst>
          </p:cNvPr>
          <p:cNvSpPr txBox="1"/>
          <p:nvPr/>
        </p:nvSpPr>
        <p:spPr>
          <a:xfrm>
            <a:off x="5105400" y="4343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52" name="角丸四角形 51">
            <a:extLst>
              <a:ext uri="{FF2B5EF4-FFF2-40B4-BE49-F238E27FC236}">
                <a16:creationId xmlns:a16="http://schemas.microsoft.com/office/drawing/2014/main" id="{9E64414A-7F92-F14E-B63D-86A50A43F96A}"/>
              </a:ext>
            </a:extLst>
          </p:cNvPr>
          <p:cNvSpPr/>
          <p:nvPr/>
        </p:nvSpPr>
        <p:spPr>
          <a:xfrm>
            <a:off x="5943600" y="431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EB8F602F-EA0C-B249-B6E4-D600BBF4199D}"/>
              </a:ext>
            </a:extLst>
          </p:cNvPr>
          <p:cNvSpPr txBox="1"/>
          <p:nvPr/>
        </p:nvSpPr>
        <p:spPr>
          <a:xfrm>
            <a:off x="6908800" y="4343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アカウント設定画面。</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54" name="正方形/長方形 53">
            <a:extLst>
              <a:ext uri="{FF2B5EF4-FFF2-40B4-BE49-F238E27FC236}">
                <a16:creationId xmlns:a16="http://schemas.microsoft.com/office/drawing/2014/main" id="{4CF7B216-C1CF-5E4D-A4D7-412DA5B2673D}"/>
              </a:ext>
            </a:extLst>
          </p:cNvPr>
          <p:cNvSpPr/>
          <p:nvPr/>
        </p:nvSpPr>
        <p:spPr>
          <a:xfrm>
            <a:off x="812800" y="5041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3EF0DD7C-AC1F-C242-B570-C4C81EE4738C}"/>
              </a:ext>
            </a:extLst>
          </p:cNvPr>
          <p:cNvSpPr txBox="1"/>
          <p:nvPr/>
        </p:nvSpPr>
        <p:spPr>
          <a:xfrm>
            <a:off x="914400" y="4749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新規登録時に招待メールを送る運用にするか。文面と有効期</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67970D69-4463-A34F-8FC7-72A287ED6E3F}"/>
              </a:ext>
            </a:extLst>
          </p:cNvPr>
          <p:cNvSpPr txBox="1"/>
          <p:nvPr/>
        </p:nvSpPr>
        <p:spPr>
          <a:xfrm>
            <a:off x="5105400" y="47498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57" name="角丸四角形 56">
            <a:extLst>
              <a:ext uri="{FF2B5EF4-FFF2-40B4-BE49-F238E27FC236}">
                <a16:creationId xmlns:a16="http://schemas.microsoft.com/office/drawing/2014/main" id="{7F8F928D-F39A-2447-B484-668F68FFDC58}"/>
              </a:ext>
            </a:extLst>
          </p:cNvPr>
          <p:cNvSpPr/>
          <p:nvPr/>
        </p:nvSpPr>
        <p:spPr>
          <a:xfrm>
            <a:off x="5943600" y="4724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8" name="テキスト ボックス 57">
            <a:extLst>
              <a:ext uri="{FF2B5EF4-FFF2-40B4-BE49-F238E27FC236}">
                <a16:creationId xmlns:a16="http://schemas.microsoft.com/office/drawing/2014/main" id="{D33C35E4-B475-1F40-9A8F-CE918902F2F3}"/>
              </a:ext>
            </a:extLst>
          </p:cNvPr>
          <p:cNvSpPr txBox="1"/>
          <p:nvPr/>
        </p:nvSpPr>
        <p:spPr>
          <a:xfrm>
            <a:off x="6908800" y="4749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Email Verification</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はデフォルト</a:t>
            </a:r>
          </a:p>
        </p:txBody>
      </p:sp>
      <p:sp>
        <p:nvSpPr>
          <p:cNvPr id="59" name="正方形/長方形 58">
            <a:extLst>
              <a:ext uri="{FF2B5EF4-FFF2-40B4-BE49-F238E27FC236}">
                <a16:creationId xmlns:a16="http://schemas.microsoft.com/office/drawing/2014/main" id="{81963FAD-433F-7440-A716-E42680A11438}"/>
              </a:ext>
            </a:extLst>
          </p:cNvPr>
          <p:cNvSpPr/>
          <p:nvPr/>
        </p:nvSpPr>
        <p:spPr>
          <a:xfrm>
            <a:off x="812800" y="50546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2ED16D1D-69E5-624D-9FA9-72681220BE54}"/>
              </a:ext>
            </a:extLst>
          </p:cNvPr>
          <p:cNvSpPr/>
          <p:nvPr/>
        </p:nvSpPr>
        <p:spPr>
          <a:xfrm>
            <a:off x="812800" y="544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D6E7611D-9B29-2F46-9C50-660E479E9640}"/>
              </a:ext>
            </a:extLst>
          </p:cNvPr>
          <p:cNvSpPr txBox="1"/>
          <p:nvPr/>
        </p:nvSpPr>
        <p:spPr>
          <a:xfrm>
            <a:off x="914400" y="51562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基盤から利用者情報を自動同期する標準方式に対</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1C7C9B9E-137D-7C48-90D9-880EB3F248FE}"/>
              </a:ext>
            </a:extLst>
          </p:cNvPr>
          <p:cNvSpPr txBox="1"/>
          <p:nvPr/>
        </p:nvSpPr>
        <p:spPr>
          <a:xfrm>
            <a:off x="5105400" y="51562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47526520-5BFA-B846-A310-8F4288CDC877}"/>
              </a:ext>
            </a:extLst>
          </p:cNvPr>
          <p:cNvSpPr/>
          <p:nvPr/>
        </p:nvSpPr>
        <p:spPr>
          <a:xfrm>
            <a:off x="5943600" y="51308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64" name="テキスト ボックス 63">
            <a:extLst>
              <a:ext uri="{FF2B5EF4-FFF2-40B4-BE49-F238E27FC236}">
                <a16:creationId xmlns:a16="http://schemas.microsoft.com/office/drawing/2014/main" id="{F5666053-14A7-7B4C-947B-8AE8927E12EF}"/>
              </a:ext>
            </a:extLst>
          </p:cNvPr>
          <p:cNvSpPr txBox="1"/>
          <p:nvPr/>
        </p:nvSpPr>
        <p:spPr>
          <a:xfrm>
            <a:off x="6908800" y="51562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ja-JP" altLang="en-US" sz="1100">
                <a:solidFill>
                  <a:srgbClr val="5A6472"/>
                </a:solidFill>
                <a:latin typeface="Yu Gothic UI"/>
                <a:ea typeface="Yu Gothic UI"/>
              </a:rPr>
              <a:t>プラグイン対応。ヒアリング優先度</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。基本設計側は</a:t>
            </a:r>
            <a:r>
              <a:rPr lang="en" altLang="ja-JP" sz="1100">
                <a:solidFill>
                  <a:srgbClr val="5A6472"/>
                </a:solidFill>
                <a:latin typeface="Yu Gothic UI"/>
                <a:ea typeface="Yu Gothic UI"/>
              </a:rPr>
              <a:t>SCIM</a:t>
            </a:r>
            <a:r>
              <a:rPr lang="ja-JP" altLang="en-US" sz="1100">
                <a:solidFill>
                  <a:srgbClr val="5A6472"/>
                </a:solidFill>
                <a:latin typeface="Yu Gothic UI"/>
                <a:ea typeface="Yu Gothic UI"/>
              </a:rPr>
              <a:t>自</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65" name="正方形/長方形 64">
            <a:extLst>
              <a:ext uri="{FF2B5EF4-FFF2-40B4-BE49-F238E27FC236}">
                <a16:creationId xmlns:a16="http://schemas.microsoft.com/office/drawing/2014/main" id="{1E8CBFA1-5B2C-784A-B69A-32CDB986D272}"/>
              </a:ext>
            </a:extLst>
          </p:cNvPr>
          <p:cNvSpPr/>
          <p:nvPr/>
        </p:nvSpPr>
        <p:spPr>
          <a:xfrm>
            <a:off x="812800" y="585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F2B5F701-1C58-EF4A-B866-C6275100215A}"/>
              </a:ext>
            </a:extLst>
          </p:cNvPr>
          <p:cNvSpPr txBox="1"/>
          <p:nvPr/>
        </p:nvSpPr>
        <p:spPr>
          <a:xfrm>
            <a:off x="914400" y="5562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表形式ファイルによる一括登録を用意するか。</a:t>
            </a:r>
            <a:r>
              <a:rPr lang="en-US" altLang="ja-JP" sz="1100" b="1">
                <a:solidFill>
                  <a:srgbClr val="1D2125"/>
                </a:solidFill>
                <a:latin typeface="Yu Gothic UI"/>
                <a:ea typeface="Yu Gothic UI"/>
              </a:rPr>
              <a:t>1</a:t>
            </a:r>
            <a:r>
              <a:rPr lang="ja-JP" altLang="en-US" sz="1100" b="1">
                <a:solidFill>
                  <a:srgbClr val="1D2125"/>
                </a:solidFill>
                <a:latin typeface="Yu Gothic UI"/>
                <a:ea typeface="Yu Gothic UI"/>
              </a:rPr>
              <a:t>回あたりの</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7" name="テキスト ボックス 66">
            <a:extLst>
              <a:ext uri="{FF2B5EF4-FFF2-40B4-BE49-F238E27FC236}">
                <a16:creationId xmlns:a16="http://schemas.microsoft.com/office/drawing/2014/main" id="{485D3D9F-72F8-4D4A-9F8C-954682D71EDC}"/>
              </a:ext>
            </a:extLst>
          </p:cNvPr>
          <p:cNvSpPr txBox="1"/>
          <p:nvPr/>
        </p:nvSpPr>
        <p:spPr>
          <a:xfrm>
            <a:off x="5105400" y="55626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68" name="角丸四角形 67">
            <a:extLst>
              <a:ext uri="{FF2B5EF4-FFF2-40B4-BE49-F238E27FC236}">
                <a16:creationId xmlns:a16="http://schemas.microsoft.com/office/drawing/2014/main" id="{B3FDEAF1-35AE-1445-A60B-78AD26B8C54B}"/>
              </a:ext>
            </a:extLst>
          </p:cNvPr>
          <p:cNvSpPr/>
          <p:nvPr/>
        </p:nvSpPr>
        <p:spPr>
          <a:xfrm>
            <a:off x="5943600" y="55372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9" name="テキスト ボックス 68">
            <a:extLst>
              <a:ext uri="{FF2B5EF4-FFF2-40B4-BE49-F238E27FC236}">
                <a16:creationId xmlns:a16="http://schemas.microsoft.com/office/drawing/2014/main" id="{62F48681-D54F-CE40-803F-7AB322F13A40}"/>
              </a:ext>
            </a:extLst>
          </p:cNvPr>
          <p:cNvSpPr txBox="1"/>
          <p:nvPr/>
        </p:nvSpPr>
        <p:spPr>
          <a:xfrm>
            <a:off x="6908800" y="5562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 Import</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70" name="正方形/長方形 69">
            <a:extLst>
              <a:ext uri="{FF2B5EF4-FFF2-40B4-BE49-F238E27FC236}">
                <a16:creationId xmlns:a16="http://schemas.microsoft.com/office/drawing/2014/main" id="{C5DDDB24-33E8-ED4A-A63E-D62AAB8179A9}"/>
              </a:ext>
            </a:extLst>
          </p:cNvPr>
          <p:cNvSpPr/>
          <p:nvPr/>
        </p:nvSpPr>
        <p:spPr>
          <a:xfrm>
            <a:off x="812800" y="58674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0DA71FBD-86A1-974F-816C-1EB70E5F6270}"/>
              </a:ext>
            </a:extLst>
          </p:cNvPr>
          <p:cNvSpPr/>
          <p:nvPr/>
        </p:nvSpPr>
        <p:spPr>
          <a:xfrm>
            <a:off x="812800" y="6261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B205C6DB-C0F8-D74D-9D83-AD33F23A0DE1}"/>
              </a:ext>
            </a:extLst>
          </p:cNvPr>
          <p:cNvSpPr txBox="1"/>
          <p:nvPr/>
        </p:nvSpPr>
        <p:spPr>
          <a:xfrm>
            <a:off x="914400" y="5969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管理者が利用者のパスワードを強制的に再設定できるように</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73" name="テキスト ボックス 72">
            <a:extLst>
              <a:ext uri="{FF2B5EF4-FFF2-40B4-BE49-F238E27FC236}">
                <a16:creationId xmlns:a16="http://schemas.microsoft.com/office/drawing/2014/main" id="{8859B03E-4C63-2245-A10C-4858EEF8F105}"/>
              </a:ext>
            </a:extLst>
          </p:cNvPr>
          <p:cNvSpPr txBox="1"/>
          <p:nvPr/>
        </p:nvSpPr>
        <p:spPr>
          <a:xfrm>
            <a:off x="5105400" y="59690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74" name="角丸四角形 73">
            <a:extLst>
              <a:ext uri="{FF2B5EF4-FFF2-40B4-BE49-F238E27FC236}">
                <a16:creationId xmlns:a16="http://schemas.microsoft.com/office/drawing/2014/main" id="{010C77FD-231C-AA46-9570-90CC8FF5F0EA}"/>
              </a:ext>
            </a:extLst>
          </p:cNvPr>
          <p:cNvSpPr/>
          <p:nvPr/>
        </p:nvSpPr>
        <p:spPr>
          <a:xfrm>
            <a:off x="5943600" y="59436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75" name="テキスト ボックス 74">
            <a:extLst>
              <a:ext uri="{FF2B5EF4-FFF2-40B4-BE49-F238E27FC236}">
                <a16:creationId xmlns:a16="http://schemas.microsoft.com/office/drawing/2014/main" id="{C51DD17E-F850-1E44-8641-C6762B1AF6D9}"/>
              </a:ext>
            </a:extLst>
          </p:cNvPr>
          <p:cNvSpPr txBox="1"/>
          <p:nvPr/>
        </p:nvSpPr>
        <p:spPr>
          <a:xfrm>
            <a:off x="6908800" y="59690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Console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Tree>
    <p:extLst>
      <p:ext uri="{BB962C8B-B14F-4D97-AF65-F5344CB8AC3E}">
        <p14:creationId xmlns:p14="http://schemas.microsoft.com/office/powerpoint/2010/main" val="94447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57A62A8-EB83-0F48-8D51-A4EFBA5EFF08}"/>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869E442E-0F9D-4B4E-AA74-71F600B67D47}"/>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管理機能と権限委譲</a:t>
            </a:r>
          </a:p>
        </p:txBody>
      </p:sp>
      <p:sp>
        <p:nvSpPr>
          <p:cNvPr id="4" name="テキスト ボックス 3">
            <a:extLst>
              <a:ext uri="{FF2B5EF4-FFF2-40B4-BE49-F238E27FC236}">
                <a16:creationId xmlns:a16="http://schemas.microsoft.com/office/drawing/2014/main" id="{ABFE94B0-388E-A14C-994C-8C8018599CF6}"/>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12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BE19B182-7D56-FA45-8EA2-C4019A96C1D4}"/>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F8CFF315-6A7E-9B40-ABB0-F1F63494E337}"/>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2C1138BC-E266-0E4C-82F4-8B346A8E13EA}"/>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43288EA2-F1BC-4942-BAB9-DCE50A1F6368}"/>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D67EC391-1BD4-724E-B603-65DAB22C9DDC}"/>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50C1DE29-81A5-C34E-909A-45C02A8AC928}"/>
              </a:ext>
            </a:extLst>
          </p:cNvPr>
          <p:cNvSpPr/>
          <p:nvPr/>
        </p:nvSpPr>
        <p:spPr>
          <a:xfrm>
            <a:off x="812800" y="1790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F4B63D53-9B23-D143-B65A-82137BDED323}"/>
              </a:ext>
            </a:extLst>
          </p:cNvPr>
          <p:cNvSpPr txBox="1"/>
          <p:nvPr/>
        </p:nvSpPr>
        <p:spPr>
          <a:xfrm>
            <a:off x="914400" y="1498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運用担当者が使う管理画面を、どこまで自前で作るか</a:t>
            </a:r>
          </a:p>
        </p:txBody>
      </p:sp>
      <p:sp>
        <p:nvSpPr>
          <p:cNvPr id="12" name="テキスト ボックス 11">
            <a:extLst>
              <a:ext uri="{FF2B5EF4-FFF2-40B4-BE49-F238E27FC236}">
                <a16:creationId xmlns:a16="http://schemas.microsoft.com/office/drawing/2014/main" id="{1784E158-2B17-FA43-AE7C-AEC41F245CF9}"/>
              </a:ext>
            </a:extLst>
          </p:cNvPr>
          <p:cNvSpPr txBox="1"/>
          <p:nvPr/>
        </p:nvSpPr>
        <p:spPr>
          <a:xfrm>
            <a:off x="5105400" y="14986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81CB3BD6-A15F-2A43-8B23-ABC02E3ADBB1}"/>
              </a:ext>
            </a:extLst>
          </p:cNvPr>
          <p:cNvSpPr/>
          <p:nvPr/>
        </p:nvSpPr>
        <p:spPr>
          <a:xfrm>
            <a:off x="5943600" y="14732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C9BA3830-2A8A-824C-BFAD-2B91BA8BAA44}"/>
              </a:ext>
            </a:extLst>
          </p:cNvPr>
          <p:cNvSpPr txBox="1"/>
          <p:nvPr/>
        </p:nvSpPr>
        <p:spPr>
          <a:xfrm>
            <a:off x="6908800" y="1498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Console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15" name="正方形/長方形 14">
            <a:extLst>
              <a:ext uri="{FF2B5EF4-FFF2-40B4-BE49-F238E27FC236}">
                <a16:creationId xmlns:a16="http://schemas.microsoft.com/office/drawing/2014/main" id="{29343B54-9BC0-CC48-9B73-E2BA1E8F5C8D}"/>
              </a:ext>
            </a:extLst>
          </p:cNvPr>
          <p:cNvSpPr/>
          <p:nvPr/>
        </p:nvSpPr>
        <p:spPr>
          <a:xfrm>
            <a:off x="812800" y="18034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02F05F6C-FCAD-BD49-ABA0-E62D8100C6BE}"/>
              </a:ext>
            </a:extLst>
          </p:cNvPr>
          <p:cNvSpPr/>
          <p:nvPr/>
        </p:nvSpPr>
        <p:spPr>
          <a:xfrm>
            <a:off x="812800" y="2197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16FCBFE1-FC09-6241-93AA-C97BE44F85EF}"/>
              </a:ext>
            </a:extLst>
          </p:cNvPr>
          <p:cNvSpPr txBox="1"/>
          <p:nvPr/>
        </p:nvSpPr>
        <p:spPr>
          <a:xfrm>
            <a:off x="914400" y="1905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顧客テナントの追加・削除を誰がどの手順で行うか</a:t>
            </a:r>
          </a:p>
        </p:txBody>
      </p:sp>
      <p:sp>
        <p:nvSpPr>
          <p:cNvPr id="18" name="テキスト ボックス 17">
            <a:extLst>
              <a:ext uri="{FF2B5EF4-FFF2-40B4-BE49-F238E27FC236}">
                <a16:creationId xmlns:a16="http://schemas.microsoft.com/office/drawing/2014/main" id="{40F4034E-8C36-F04E-A440-D9C05613BBA9}"/>
              </a:ext>
            </a:extLst>
          </p:cNvPr>
          <p:cNvSpPr txBox="1"/>
          <p:nvPr/>
        </p:nvSpPr>
        <p:spPr>
          <a:xfrm>
            <a:off x="5105400" y="19050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AD0F7CDE-6E85-6F41-A359-8F3FADC8E2FF}"/>
              </a:ext>
            </a:extLst>
          </p:cNvPr>
          <p:cNvSpPr/>
          <p:nvPr/>
        </p:nvSpPr>
        <p:spPr>
          <a:xfrm>
            <a:off x="5943600" y="18796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0" name="テキスト ボックス 19">
            <a:extLst>
              <a:ext uri="{FF2B5EF4-FFF2-40B4-BE49-F238E27FC236}">
                <a16:creationId xmlns:a16="http://schemas.microsoft.com/office/drawing/2014/main" id="{F60AD478-8BCF-7243-A8FA-415926DEB204}"/>
              </a:ext>
            </a:extLst>
          </p:cNvPr>
          <p:cNvSpPr txBox="1"/>
          <p:nvPr/>
        </p:nvSpPr>
        <p:spPr>
          <a:xfrm>
            <a:off x="6908800" y="19050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Group / Realm</a:t>
            </a:r>
            <a:r>
              <a:rPr lang="ja-JP" altLang="en-US" sz="1100">
                <a:solidFill>
                  <a:srgbClr val="5A6472"/>
                </a:solidFill>
                <a:latin typeface="Yu Gothic UI"/>
                <a:ea typeface="Yu Gothic UI"/>
              </a:rPr>
              <a:t>単位</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IdP</a:t>
            </a:r>
            <a:r>
              <a:rPr lang="ja-JP" altLang="en-US" sz="1100">
                <a:solidFill>
                  <a:srgbClr val="5A6472"/>
                </a:solidFill>
                <a:latin typeface="Yu Gothic UI"/>
                <a:ea typeface="Yu Gothic UI"/>
              </a:rPr>
              <a:t>単位。</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は設計のみ</a:t>
            </a:r>
          </a:p>
        </p:txBody>
      </p:sp>
      <p:sp>
        <p:nvSpPr>
          <p:cNvPr id="21" name="正方形/長方形 20">
            <a:extLst>
              <a:ext uri="{FF2B5EF4-FFF2-40B4-BE49-F238E27FC236}">
                <a16:creationId xmlns:a16="http://schemas.microsoft.com/office/drawing/2014/main" id="{D30EB8EB-4D6B-9C4E-B158-2371D71D5BF5}"/>
              </a:ext>
            </a:extLst>
          </p:cNvPr>
          <p:cNvSpPr/>
          <p:nvPr/>
        </p:nvSpPr>
        <p:spPr>
          <a:xfrm>
            <a:off x="812800" y="2603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D0121F36-653B-534C-9548-02FECD82BE19}"/>
              </a:ext>
            </a:extLst>
          </p:cNvPr>
          <p:cNvSpPr txBox="1"/>
          <p:nvPr/>
        </p:nvSpPr>
        <p:spPr>
          <a:xfrm>
            <a:off x="914400" y="231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顧客の</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基盤の登録・変更・削除を誰がどの手順で行うか</a:t>
            </a:r>
          </a:p>
        </p:txBody>
      </p:sp>
      <p:sp>
        <p:nvSpPr>
          <p:cNvPr id="23" name="テキスト ボックス 22">
            <a:extLst>
              <a:ext uri="{FF2B5EF4-FFF2-40B4-BE49-F238E27FC236}">
                <a16:creationId xmlns:a16="http://schemas.microsoft.com/office/drawing/2014/main" id="{B285D4CC-14CD-5542-82C0-F1E30FB0633A}"/>
              </a:ext>
            </a:extLst>
          </p:cNvPr>
          <p:cNvSpPr txBox="1"/>
          <p:nvPr/>
        </p:nvSpPr>
        <p:spPr>
          <a:xfrm>
            <a:off x="5105400" y="23114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E1961768-811B-7943-92A9-DE530EE880DD}"/>
              </a:ext>
            </a:extLst>
          </p:cNvPr>
          <p:cNvSpPr/>
          <p:nvPr/>
        </p:nvSpPr>
        <p:spPr>
          <a:xfrm>
            <a:off x="5943600" y="2286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D78CD2AF-D864-214C-A53F-D764D3D23CBE}"/>
              </a:ext>
            </a:extLst>
          </p:cNvPr>
          <p:cNvSpPr txBox="1"/>
          <p:nvPr/>
        </p:nvSpPr>
        <p:spPr>
          <a:xfrm>
            <a:off x="6908800" y="23114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Console/Terraform</a:t>
            </a:r>
            <a:r>
              <a:rPr lang="ja-JP" altLang="en-US" sz="1100">
                <a:solidFill>
                  <a:srgbClr val="5A6472"/>
                </a:solidFill>
                <a:latin typeface="Yu Gothic UI"/>
                <a:ea typeface="Yu Gothic UI"/>
              </a:rPr>
              <a:t>対応。</a:t>
            </a:r>
            <a:r>
              <a:rPr lang="en" altLang="ja-JP" sz="1100">
                <a:solidFill>
                  <a:srgbClr val="5A6472"/>
                </a:solidFill>
                <a:latin typeface="Yu Gothic UI"/>
                <a:ea typeface="Yu Gothic UI"/>
              </a:rPr>
              <a:t>PoC Phase 2,5,7</a:t>
            </a:r>
            <a:r>
              <a:rPr lang="ja-JP" altLang="en-US" sz="1100">
                <a:solidFill>
                  <a:srgbClr val="5A6472"/>
                </a:solidFill>
                <a:latin typeface="Yu Gothic UI"/>
                <a:ea typeface="Yu Gothic UI"/>
              </a:rPr>
              <a:t>検証済</a:t>
            </a:r>
          </a:p>
        </p:txBody>
      </p:sp>
      <p:sp>
        <p:nvSpPr>
          <p:cNvPr id="26" name="正方形/長方形 25">
            <a:extLst>
              <a:ext uri="{FF2B5EF4-FFF2-40B4-BE49-F238E27FC236}">
                <a16:creationId xmlns:a16="http://schemas.microsoft.com/office/drawing/2014/main" id="{D8603EC2-597E-4D42-BA6D-2C17E4F4CF9F}"/>
              </a:ext>
            </a:extLst>
          </p:cNvPr>
          <p:cNvSpPr/>
          <p:nvPr/>
        </p:nvSpPr>
        <p:spPr>
          <a:xfrm>
            <a:off x="812800" y="26162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15A07D84-7CB2-CD43-B575-2906DD984D9D}"/>
              </a:ext>
            </a:extLst>
          </p:cNvPr>
          <p:cNvSpPr/>
          <p:nvPr/>
        </p:nvSpPr>
        <p:spPr>
          <a:xfrm>
            <a:off x="812800" y="300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5878D18A-AF24-E747-BCBF-B4CF00CD6424}"/>
              </a:ext>
            </a:extLst>
          </p:cNvPr>
          <p:cNvSpPr txBox="1"/>
          <p:nvPr/>
        </p:nvSpPr>
        <p:spPr>
          <a:xfrm>
            <a:off x="914400" y="2717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アプリの登録と設定変更を誰がどの手順で行うか</a:t>
            </a:r>
          </a:p>
        </p:txBody>
      </p:sp>
      <p:sp>
        <p:nvSpPr>
          <p:cNvPr id="29" name="テキスト ボックス 28">
            <a:extLst>
              <a:ext uri="{FF2B5EF4-FFF2-40B4-BE49-F238E27FC236}">
                <a16:creationId xmlns:a16="http://schemas.microsoft.com/office/drawing/2014/main" id="{173D676C-980D-134C-93FD-8105B2CDE112}"/>
              </a:ext>
            </a:extLst>
          </p:cNvPr>
          <p:cNvSpPr txBox="1"/>
          <p:nvPr/>
        </p:nvSpPr>
        <p:spPr>
          <a:xfrm>
            <a:off x="5105400" y="27178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0" name="角丸四角形 29">
            <a:extLst>
              <a:ext uri="{FF2B5EF4-FFF2-40B4-BE49-F238E27FC236}">
                <a16:creationId xmlns:a16="http://schemas.microsoft.com/office/drawing/2014/main" id="{9FD31E27-BFA4-B440-89AE-837D3C0E4BB5}"/>
              </a:ext>
            </a:extLst>
          </p:cNvPr>
          <p:cNvSpPr/>
          <p:nvPr/>
        </p:nvSpPr>
        <p:spPr>
          <a:xfrm>
            <a:off x="5943600" y="2692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1" name="テキスト ボックス 30">
            <a:extLst>
              <a:ext uri="{FF2B5EF4-FFF2-40B4-BE49-F238E27FC236}">
                <a16:creationId xmlns:a16="http://schemas.microsoft.com/office/drawing/2014/main" id="{958CF325-229D-BF48-9E32-19AC824207C9}"/>
              </a:ext>
            </a:extLst>
          </p:cNvPr>
          <p:cNvSpPr txBox="1"/>
          <p:nvPr/>
        </p:nvSpPr>
        <p:spPr>
          <a:xfrm>
            <a:off x="6908800" y="2717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Client</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32" name="正方形/長方形 31">
            <a:extLst>
              <a:ext uri="{FF2B5EF4-FFF2-40B4-BE49-F238E27FC236}">
                <a16:creationId xmlns:a16="http://schemas.microsoft.com/office/drawing/2014/main" id="{6B1F6151-41F5-B845-9EF6-28AA6D0C4EA4}"/>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B225B2F8-7F63-CE43-94F1-DAE9ADB5DBA8}"/>
              </a:ext>
            </a:extLst>
          </p:cNvPr>
          <p:cNvSpPr txBox="1"/>
          <p:nvPr/>
        </p:nvSpPr>
        <p:spPr>
          <a:xfrm>
            <a:off x="914400" y="31242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どんな役割を用意するかの定義を、誰が管理するか</a:t>
            </a:r>
          </a:p>
        </p:txBody>
      </p:sp>
      <p:sp>
        <p:nvSpPr>
          <p:cNvPr id="34" name="テキスト ボックス 33">
            <a:extLst>
              <a:ext uri="{FF2B5EF4-FFF2-40B4-BE49-F238E27FC236}">
                <a16:creationId xmlns:a16="http://schemas.microsoft.com/office/drawing/2014/main" id="{13068B26-D3E5-3149-95A9-D76A91955C22}"/>
              </a:ext>
            </a:extLst>
          </p:cNvPr>
          <p:cNvSpPr txBox="1"/>
          <p:nvPr/>
        </p:nvSpPr>
        <p:spPr>
          <a:xfrm>
            <a:off x="5105400" y="31242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5" name="角丸四角形 34">
            <a:extLst>
              <a:ext uri="{FF2B5EF4-FFF2-40B4-BE49-F238E27FC236}">
                <a16:creationId xmlns:a16="http://schemas.microsoft.com/office/drawing/2014/main" id="{88121BC4-4597-264D-9CE4-B4A15609B6E9}"/>
              </a:ext>
            </a:extLst>
          </p:cNvPr>
          <p:cNvSpPr/>
          <p:nvPr/>
        </p:nvSpPr>
        <p:spPr>
          <a:xfrm>
            <a:off x="5943600" y="30988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F5E468BD-3E96-C748-9DE7-F8F3C1D4492A}"/>
              </a:ext>
            </a:extLst>
          </p:cNvPr>
          <p:cNvSpPr txBox="1"/>
          <p:nvPr/>
        </p:nvSpPr>
        <p:spPr>
          <a:xfrm>
            <a:off x="6908800" y="31242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Group / Realm Role/Client Role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37" name="正方形/長方形 36">
            <a:extLst>
              <a:ext uri="{FF2B5EF4-FFF2-40B4-BE49-F238E27FC236}">
                <a16:creationId xmlns:a16="http://schemas.microsoft.com/office/drawing/2014/main" id="{E8FA40A5-534D-D440-B40B-825EA5525262}"/>
              </a:ext>
            </a:extLst>
          </p:cNvPr>
          <p:cNvSpPr/>
          <p:nvPr/>
        </p:nvSpPr>
        <p:spPr>
          <a:xfrm>
            <a:off x="812800" y="34290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A88BE543-8657-0C41-9D31-022F3580DD71}"/>
              </a:ext>
            </a:extLst>
          </p:cNvPr>
          <p:cNvSpPr/>
          <p:nvPr/>
        </p:nvSpPr>
        <p:spPr>
          <a:xfrm>
            <a:off x="812800" y="3822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28DD998B-9565-9544-95E8-8256CECAFF6C}"/>
              </a:ext>
            </a:extLst>
          </p:cNvPr>
          <p:cNvSpPr txBox="1"/>
          <p:nvPr/>
        </p:nvSpPr>
        <p:spPr>
          <a:xfrm>
            <a:off x="914400" y="3530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顧客ごとの設定が互いに見えない・触れない状態を、どう担</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A227DBCA-CB86-5542-A4E7-C58E84ED1F49}"/>
              </a:ext>
            </a:extLst>
          </p:cNvPr>
          <p:cNvSpPr txBox="1"/>
          <p:nvPr/>
        </p:nvSpPr>
        <p:spPr>
          <a:xfrm>
            <a:off x="5105400" y="35306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1" name="角丸四角形 40">
            <a:extLst>
              <a:ext uri="{FF2B5EF4-FFF2-40B4-BE49-F238E27FC236}">
                <a16:creationId xmlns:a16="http://schemas.microsoft.com/office/drawing/2014/main" id="{27F1CF9E-C60B-C742-BA3F-81C246ABF92B}"/>
              </a:ext>
            </a:extLst>
          </p:cNvPr>
          <p:cNvSpPr/>
          <p:nvPr/>
        </p:nvSpPr>
        <p:spPr>
          <a:xfrm>
            <a:off x="5943600" y="35052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42" name="テキスト ボックス 41">
            <a:extLst>
              <a:ext uri="{FF2B5EF4-FFF2-40B4-BE49-F238E27FC236}">
                <a16:creationId xmlns:a16="http://schemas.microsoft.com/office/drawing/2014/main" id="{B1318772-C368-184F-BF25-39F54E226C2D}"/>
              </a:ext>
            </a:extLst>
          </p:cNvPr>
          <p:cNvSpPr txBox="1"/>
          <p:nvPr/>
        </p:nvSpPr>
        <p:spPr>
          <a:xfrm>
            <a:off x="6908800" y="3530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分離。</a:t>
            </a:r>
            <a:r>
              <a:rPr lang="en" altLang="ja-JP" sz="1100">
                <a:solidFill>
                  <a:srgbClr val="5A6472"/>
                </a:solidFill>
                <a:latin typeface="Yu Gothic UI"/>
                <a:ea typeface="Yu Gothic UI"/>
              </a:rPr>
              <a:t>PoC Phase 4,5</a:t>
            </a:r>
            <a:r>
              <a:rPr lang="ja-JP" altLang="en-US" sz="1100">
                <a:solidFill>
                  <a:srgbClr val="5A6472"/>
                </a:solidFill>
                <a:latin typeface="Yu Gothic UI"/>
                <a:ea typeface="Yu Gothic UI"/>
              </a:rPr>
              <a:t>検証済</a:t>
            </a:r>
          </a:p>
        </p:txBody>
      </p:sp>
      <p:sp>
        <p:nvSpPr>
          <p:cNvPr id="43" name="正方形/長方形 42">
            <a:extLst>
              <a:ext uri="{FF2B5EF4-FFF2-40B4-BE49-F238E27FC236}">
                <a16:creationId xmlns:a16="http://schemas.microsoft.com/office/drawing/2014/main" id="{95BCFC19-B6C9-BE49-A011-637DFB824148}"/>
              </a:ext>
            </a:extLst>
          </p:cNvPr>
          <p:cNvSpPr/>
          <p:nvPr/>
        </p:nvSpPr>
        <p:spPr>
          <a:xfrm>
            <a:off x="812800" y="4229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C830772A-4912-E049-AE0F-95F577A0C5C1}"/>
              </a:ext>
            </a:extLst>
          </p:cNvPr>
          <p:cNvSpPr txBox="1"/>
          <p:nvPr/>
        </p:nvSpPr>
        <p:spPr>
          <a:xfrm>
            <a:off x="914400" y="3937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誰がいつ何をしたかの記録を、誰がどの画面で見られるよう</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3C76F305-6FBC-304E-8E67-ABCEB23FAD38}"/>
              </a:ext>
            </a:extLst>
          </p:cNvPr>
          <p:cNvSpPr txBox="1"/>
          <p:nvPr/>
        </p:nvSpPr>
        <p:spPr>
          <a:xfrm>
            <a:off x="5105400" y="39370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6" name="角丸四角形 45">
            <a:extLst>
              <a:ext uri="{FF2B5EF4-FFF2-40B4-BE49-F238E27FC236}">
                <a16:creationId xmlns:a16="http://schemas.microsoft.com/office/drawing/2014/main" id="{9A28E855-F351-404C-AB00-5ED28FC94CB7}"/>
              </a:ext>
            </a:extLst>
          </p:cNvPr>
          <p:cNvSpPr/>
          <p:nvPr/>
        </p:nvSpPr>
        <p:spPr>
          <a:xfrm>
            <a:off x="5943600" y="39116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91276693-04A7-C444-8156-1C365155EE99}"/>
              </a:ext>
            </a:extLst>
          </p:cNvPr>
          <p:cNvSpPr txBox="1"/>
          <p:nvPr/>
        </p:nvSpPr>
        <p:spPr>
          <a:xfrm>
            <a:off x="6908800" y="39370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Event Listener</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は設定要</a:t>
            </a:r>
          </a:p>
        </p:txBody>
      </p:sp>
      <p:sp>
        <p:nvSpPr>
          <p:cNvPr id="48" name="正方形/長方形 47">
            <a:extLst>
              <a:ext uri="{FF2B5EF4-FFF2-40B4-BE49-F238E27FC236}">
                <a16:creationId xmlns:a16="http://schemas.microsoft.com/office/drawing/2014/main" id="{62B876CB-7367-164E-9072-5F07D341DEF8}"/>
              </a:ext>
            </a:extLst>
          </p:cNvPr>
          <p:cNvSpPr/>
          <p:nvPr/>
        </p:nvSpPr>
        <p:spPr>
          <a:xfrm>
            <a:off x="812800" y="42418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FCE27FC8-05B4-9249-A14A-2858B29AC3F3}"/>
              </a:ext>
            </a:extLst>
          </p:cNvPr>
          <p:cNvSpPr/>
          <p:nvPr/>
        </p:nvSpPr>
        <p:spPr>
          <a:xfrm>
            <a:off x="812800" y="4635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87E638EC-954B-5749-B433-326980A94583}"/>
              </a:ext>
            </a:extLst>
          </p:cNvPr>
          <p:cNvSpPr txBox="1"/>
          <p:nvPr/>
        </p:nvSpPr>
        <p:spPr>
          <a:xfrm>
            <a:off x="914400" y="434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設定変更の履歴をどこまで残し、いつまで保存するか</a:t>
            </a:r>
          </a:p>
        </p:txBody>
      </p:sp>
      <p:sp>
        <p:nvSpPr>
          <p:cNvPr id="51" name="テキスト ボックス 50">
            <a:extLst>
              <a:ext uri="{FF2B5EF4-FFF2-40B4-BE49-F238E27FC236}">
                <a16:creationId xmlns:a16="http://schemas.microsoft.com/office/drawing/2014/main" id="{185937B9-6714-9D44-8BB1-9C2AC52CE904}"/>
              </a:ext>
            </a:extLst>
          </p:cNvPr>
          <p:cNvSpPr txBox="1"/>
          <p:nvPr/>
        </p:nvSpPr>
        <p:spPr>
          <a:xfrm>
            <a:off x="5105400" y="43434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52" name="角丸四角形 51">
            <a:extLst>
              <a:ext uri="{FF2B5EF4-FFF2-40B4-BE49-F238E27FC236}">
                <a16:creationId xmlns:a16="http://schemas.microsoft.com/office/drawing/2014/main" id="{9B38AC15-F107-844C-9E08-86E3578BFBDA}"/>
              </a:ext>
            </a:extLst>
          </p:cNvPr>
          <p:cNvSpPr/>
          <p:nvPr/>
        </p:nvSpPr>
        <p:spPr>
          <a:xfrm>
            <a:off x="5943600" y="431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F8250650-B5D3-974E-BCCA-F99FEDEB2E04}"/>
              </a:ext>
            </a:extLst>
          </p:cNvPr>
          <p:cNvSpPr txBox="1"/>
          <p:nvPr/>
        </p:nvSpPr>
        <p:spPr>
          <a:xfrm>
            <a:off x="6908800" y="434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Events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54" name="正方形/長方形 53">
            <a:extLst>
              <a:ext uri="{FF2B5EF4-FFF2-40B4-BE49-F238E27FC236}">
                <a16:creationId xmlns:a16="http://schemas.microsoft.com/office/drawing/2014/main" id="{9F914878-2160-444A-B097-263E1EDEE4B9}"/>
              </a:ext>
            </a:extLst>
          </p:cNvPr>
          <p:cNvSpPr/>
          <p:nvPr/>
        </p:nvSpPr>
        <p:spPr>
          <a:xfrm>
            <a:off x="812800" y="5041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A373CB8A-4545-0146-91F8-145FBF0FD97C}"/>
              </a:ext>
            </a:extLst>
          </p:cNvPr>
          <p:cNvSpPr txBox="1"/>
          <p:nvPr/>
        </p:nvSpPr>
        <p:spPr>
          <a:xfrm>
            <a:off x="914400" y="4749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管理画面の操作権限を細かく分ける必要があるか</a:t>
            </a:r>
          </a:p>
        </p:txBody>
      </p:sp>
      <p:sp>
        <p:nvSpPr>
          <p:cNvPr id="56" name="テキスト ボックス 55">
            <a:extLst>
              <a:ext uri="{FF2B5EF4-FFF2-40B4-BE49-F238E27FC236}">
                <a16:creationId xmlns:a16="http://schemas.microsoft.com/office/drawing/2014/main" id="{D3A8CA6C-3D5C-2447-B2A3-AFDB6151B857}"/>
              </a:ext>
            </a:extLst>
          </p:cNvPr>
          <p:cNvSpPr txBox="1"/>
          <p:nvPr/>
        </p:nvSpPr>
        <p:spPr>
          <a:xfrm>
            <a:off x="5105400" y="47498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57" name="角丸四角形 56">
            <a:extLst>
              <a:ext uri="{FF2B5EF4-FFF2-40B4-BE49-F238E27FC236}">
                <a16:creationId xmlns:a16="http://schemas.microsoft.com/office/drawing/2014/main" id="{378AD8F4-2D92-F04F-A430-855C54404B82}"/>
              </a:ext>
            </a:extLst>
          </p:cNvPr>
          <p:cNvSpPr/>
          <p:nvPr/>
        </p:nvSpPr>
        <p:spPr>
          <a:xfrm>
            <a:off x="5943600" y="47244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8" name="テキスト ボックス 57">
            <a:extLst>
              <a:ext uri="{FF2B5EF4-FFF2-40B4-BE49-F238E27FC236}">
                <a16:creationId xmlns:a16="http://schemas.microsoft.com/office/drawing/2014/main" id="{BC346572-0399-C649-B5A8-B10C77DF2BB1}"/>
              </a:ext>
            </a:extLst>
          </p:cNvPr>
          <p:cNvSpPr txBox="1"/>
          <p:nvPr/>
        </p:nvSpPr>
        <p:spPr>
          <a:xfrm>
            <a:off x="6908800" y="4749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Authorization Services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未検証</a:t>
            </a:r>
          </a:p>
        </p:txBody>
      </p:sp>
      <p:sp>
        <p:nvSpPr>
          <p:cNvPr id="59" name="正方形/長方形 58">
            <a:extLst>
              <a:ext uri="{FF2B5EF4-FFF2-40B4-BE49-F238E27FC236}">
                <a16:creationId xmlns:a16="http://schemas.microsoft.com/office/drawing/2014/main" id="{9C9C2D0A-E7CF-C04E-A8D3-277C83D04680}"/>
              </a:ext>
            </a:extLst>
          </p:cNvPr>
          <p:cNvSpPr/>
          <p:nvPr/>
        </p:nvSpPr>
        <p:spPr>
          <a:xfrm>
            <a:off x="812800" y="50546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65A0C4A9-08C5-6841-8181-63376F229417}"/>
              </a:ext>
            </a:extLst>
          </p:cNvPr>
          <p:cNvSpPr/>
          <p:nvPr/>
        </p:nvSpPr>
        <p:spPr>
          <a:xfrm>
            <a:off x="812800" y="544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7AAADA6F-8740-A246-BCEB-1BB4186D7BA2}"/>
              </a:ext>
            </a:extLst>
          </p:cNvPr>
          <p:cNvSpPr txBox="1"/>
          <p:nvPr/>
        </p:nvSpPr>
        <p:spPr>
          <a:xfrm>
            <a:off x="914400" y="51562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運用担当者側の役割分担（見るだけ／変更できる等）をどう</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A5F2B091-2E6A-2549-974C-F5A7F1C660B5}"/>
              </a:ext>
            </a:extLst>
          </p:cNvPr>
          <p:cNvSpPr txBox="1"/>
          <p:nvPr/>
        </p:nvSpPr>
        <p:spPr>
          <a:xfrm>
            <a:off x="5105400" y="51562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63" name="角丸四角形 62">
            <a:extLst>
              <a:ext uri="{FF2B5EF4-FFF2-40B4-BE49-F238E27FC236}">
                <a16:creationId xmlns:a16="http://schemas.microsoft.com/office/drawing/2014/main" id="{FA00C5C8-9114-7E44-AC14-20C77EEF296A}"/>
              </a:ext>
            </a:extLst>
          </p:cNvPr>
          <p:cNvSpPr/>
          <p:nvPr/>
        </p:nvSpPr>
        <p:spPr>
          <a:xfrm>
            <a:off x="5943600" y="51308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4" name="テキスト ボックス 63">
            <a:extLst>
              <a:ext uri="{FF2B5EF4-FFF2-40B4-BE49-F238E27FC236}">
                <a16:creationId xmlns:a16="http://schemas.microsoft.com/office/drawing/2014/main" id="{2064D874-8365-7443-A70B-D2CB0FFFD31C}"/>
              </a:ext>
            </a:extLst>
          </p:cNvPr>
          <p:cNvSpPr txBox="1"/>
          <p:nvPr/>
        </p:nvSpPr>
        <p:spPr>
          <a:xfrm>
            <a:off x="6908800" y="51562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 Admin Roles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はデフォルト</a:t>
            </a:r>
          </a:p>
        </p:txBody>
      </p:sp>
      <p:sp>
        <p:nvSpPr>
          <p:cNvPr id="65" name="正方形/長方形 64">
            <a:extLst>
              <a:ext uri="{FF2B5EF4-FFF2-40B4-BE49-F238E27FC236}">
                <a16:creationId xmlns:a16="http://schemas.microsoft.com/office/drawing/2014/main" id="{3B2524A4-BC25-734B-896F-68F1F4D990A4}"/>
              </a:ext>
            </a:extLst>
          </p:cNvPr>
          <p:cNvSpPr/>
          <p:nvPr/>
        </p:nvSpPr>
        <p:spPr>
          <a:xfrm>
            <a:off x="812800" y="585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0FCC6753-18A5-5341-96AA-8E0682B8A17E}"/>
              </a:ext>
            </a:extLst>
          </p:cNvPr>
          <p:cNvSpPr txBox="1"/>
          <p:nvPr/>
        </p:nvSpPr>
        <p:spPr>
          <a:xfrm>
            <a:off x="914400" y="55626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顧客自身に自社の利用者管理を任せるか。任せる範囲をどこ</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7" name="テキスト ボックス 66">
            <a:extLst>
              <a:ext uri="{FF2B5EF4-FFF2-40B4-BE49-F238E27FC236}">
                <a16:creationId xmlns:a16="http://schemas.microsoft.com/office/drawing/2014/main" id="{465FF277-7A83-AD43-8B4D-92E4BAF575F9}"/>
              </a:ext>
            </a:extLst>
          </p:cNvPr>
          <p:cNvSpPr txBox="1"/>
          <p:nvPr/>
        </p:nvSpPr>
        <p:spPr>
          <a:xfrm>
            <a:off x="5105400" y="55626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68" name="角丸四角形 67">
            <a:extLst>
              <a:ext uri="{FF2B5EF4-FFF2-40B4-BE49-F238E27FC236}">
                <a16:creationId xmlns:a16="http://schemas.microsoft.com/office/drawing/2014/main" id="{46F5552B-3141-E048-9D81-76D177C75186}"/>
              </a:ext>
            </a:extLst>
          </p:cNvPr>
          <p:cNvSpPr/>
          <p:nvPr/>
        </p:nvSpPr>
        <p:spPr>
          <a:xfrm>
            <a:off x="5943600" y="55372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69" name="テキスト ボックス 68">
            <a:extLst>
              <a:ext uri="{FF2B5EF4-FFF2-40B4-BE49-F238E27FC236}">
                <a16:creationId xmlns:a16="http://schemas.microsoft.com/office/drawing/2014/main" id="{3EDA7C58-00F6-1245-A4AE-7197A6A88A95}"/>
              </a:ext>
            </a:extLst>
          </p:cNvPr>
          <p:cNvSpPr txBox="1"/>
          <p:nvPr/>
        </p:nvSpPr>
        <p:spPr>
          <a:xfrm>
            <a:off x="6908800" y="55626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Realm-level Admin</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未検証</a:t>
            </a:r>
          </a:p>
        </p:txBody>
      </p:sp>
      <p:sp>
        <p:nvSpPr>
          <p:cNvPr id="70" name="正方形/長方形 69">
            <a:extLst>
              <a:ext uri="{FF2B5EF4-FFF2-40B4-BE49-F238E27FC236}">
                <a16:creationId xmlns:a16="http://schemas.microsoft.com/office/drawing/2014/main" id="{41CCF63D-D0C4-F343-8E81-13E633079286}"/>
              </a:ext>
            </a:extLst>
          </p:cNvPr>
          <p:cNvSpPr/>
          <p:nvPr/>
        </p:nvSpPr>
        <p:spPr>
          <a:xfrm>
            <a:off x="812800" y="5867400"/>
            <a:ext cx="10566400" cy="4064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1" name="正方形/長方形 70">
            <a:extLst>
              <a:ext uri="{FF2B5EF4-FFF2-40B4-BE49-F238E27FC236}">
                <a16:creationId xmlns:a16="http://schemas.microsoft.com/office/drawing/2014/main" id="{8F3D191D-39D9-8A4A-BE0F-B4ED6B9C2CBF}"/>
              </a:ext>
            </a:extLst>
          </p:cNvPr>
          <p:cNvSpPr/>
          <p:nvPr/>
        </p:nvSpPr>
        <p:spPr>
          <a:xfrm>
            <a:off x="812800" y="6261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2" name="テキスト ボックス 71">
            <a:extLst>
              <a:ext uri="{FF2B5EF4-FFF2-40B4-BE49-F238E27FC236}">
                <a16:creationId xmlns:a16="http://schemas.microsoft.com/office/drawing/2014/main" id="{37B15163-279F-6049-A521-CEC5EEE512AA}"/>
              </a:ext>
            </a:extLst>
          </p:cNvPr>
          <p:cNvSpPr txBox="1"/>
          <p:nvPr/>
        </p:nvSpPr>
        <p:spPr>
          <a:xfrm>
            <a:off x="914400" y="59690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ログイン画面を顧客ごとのロゴや配色に変えられるようにす</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73" name="テキスト ボックス 72">
            <a:extLst>
              <a:ext uri="{FF2B5EF4-FFF2-40B4-BE49-F238E27FC236}">
                <a16:creationId xmlns:a16="http://schemas.microsoft.com/office/drawing/2014/main" id="{31C2A2E2-C8CB-BB42-BFE0-1B02926364F0}"/>
              </a:ext>
            </a:extLst>
          </p:cNvPr>
          <p:cNvSpPr txBox="1"/>
          <p:nvPr/>
        </p:nvSpPr>
        <p:spPr>
          <a:xfrm>
            <a:off x="5105400" y="59690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74" name="角丸四角形 73">
            <a:extLst>
              <a:ext uri="{FF2B5EF4-FFF2-40B4-BE49-F238E27FC236}">
                <a16:creationId xmlns:a16="http://schemas.microsoft.com/office/drawing/2014/main" id="{55642253-4D94-2948-947B-9120BBF3FAAD}"/>
              </a:ext>
            </a:extLst>
          </p:cNvPr>
          <p:cNvSpPr/>
          <p:nvPr/>
        </p:nvSpPr>
        <p:spPr>
          <a:xfrm>
            <a:off x="5943600" y="59436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75" name="テキスト ボックス 74">
            <a:extLst>
              <a:ext uri="{FF2B5EF4-FFF2-40B4-BE49-F238E27FC236}">
                <a16:creationId xmlns:a16="http://schemas.microsoft.com/office/drawing/2014/main" id="{64EF410D-6545-574C-A271-5D57AA9F8054}"/>
              </a:ext>
            </a:extLst>
          </p:cNvPr>
          <p:cNvSpPr txBox="1"/>
          <p:nvPr/>
        </p:nvSpPr>
        <p:spPr>
          <a:xfrm>
            <a:off x="6908800" y="59690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ロゴのみ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Theme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フルカスタム）。基本設計はブランディング</a:t>
            </a:r>
            <a:r>
              <a:rPr lang="en" altLang="ja-JP" sz="1100">
                <a:solidFill>
                  <a:srgbClr val="5A6472"/>
                </a:solidFill>
                <a:latin typeface="Yu Gothic UI"/>
                <a:ea typeface="Yu Gothic UI"/>
              </a:rPr>
              <a:t>A…</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2024210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D030D3A-2CA5-5647-A856-8E5EC4D964DA}"/>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39187D74-6CB1-4B43-A41E-BDED17E0373E}"/>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外部システムとの連携</a:t>
            </a:r>
          </a:p>
        </p:txBody>
      </p:sp>
      <p:sp>
        <p:nvSpPr>
          <p:cNvPr id="4" name="テキスト ボックス 3">
            <a:extLst>
              <a:ext uri="{FF2B5EF4-FFF2-40B4-BE49-F238E27FC236}">
                <a16:creationId xmlns:a16="http://schemas.microsoft.com/office/drawing/2014/main" id="{CF5EA8C1-0EFA-024E-B510-A21B1AC4801B}"/>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10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91D33C36-0566-E24E-B4D9-34C29D567975}"/>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25798AF-FF9B-C845-ACDE-3F5D1F0824CC}"/>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58C46923-20BB-F845-B976-D0E3447A4B15}"/>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A78CA78B-A338-CC44-B2DA-10D6FEDA7D93}"/>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7C124511-B7CB-734F-808A-7165A65EECCF}"/>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70E8D175-7476-1F45-AC37-ADFAADC88438}"/>
              </a:ext>
            </a:extLst>
          </p:cNvPr>
          <p:cNvSpPr/>
          <p:nvPr/>
        </p:nvSpPr>
        <p:spPr>
          <a:xfrm>
            <a:off x="812800" y="186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8BBD904A-20AB-D940-810B-767FB3BFC16B}"/>
              </a:ext>
            </a:extLst>
          </p:cNvPr>
          <p:cNvSpPr txBox="1"/>
          <p:nvPr/>
        </p:nvSpPr>
        <p:spPr>
          <a:xfrm>
            <a:off x="914400" y="1536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業界標準の認証仕様に準拠する方針でよいか</a:t>
            </a:r>
          </a:p>
        </p:txBody>
      </p:sp>
      <p:sp>
        <p:nvSpPr>
          <p:cNvPr id="12" name="テキスト ボックス 11">
            <a:extLst>
              <a:ext uri="{FF2B5EF4-FFF2-40B4-BE49-F238E27FC236}">
                <a16:creationId xmlns:a16="http://schemas.microsoft.com/office/drawing/2014/main" id="{27DDD6E7-8D44-F44F-8D9B-E7C73082766B}"/>
              </a:ext>
            </a:extLst>
          </p:cNvPr>
          <p:cNvSpPr txBox="1"/>
          <p:nvPr/>
        </p:nvSpPr>
        <p:spPr>
          <a:xfrm>
            <a:off x="5105400" y="15367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3" name="角丸四角形 12">
            <a:extLst>
              <a:ext uri="{FF2B5EF4-FFF2-40B4-BE49-F238E27FC236}">
                <a16:creationId xmlns:a16="http://schemas.microsoft.com/office/drawing/2014/main" id="{F04740E1-1A20-4B4C-9D47-B0D615F18CD6}"/>
              </a:ext>
            </a:extLst>
          </p:cNvPr>
          <p:cNvSpPr/>
          <p:nvPr/>
        </p:nvSpPr>
        <p:spPr>
          <a:xfrm>
            <a:off x="5943600" y="15113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CB0C57D5-1B8E-CF4D-8BC7-EB734AD529EE}"/>
              </a:ext>
            </a:extLst>
          </p:cNvPr>
          <p:cNvSpPr txBox="1"/>
          <p:nvPr/>
        </p:nvSpPr>
        <p:spPr>
          <a:xfrm>
            <a:off x="6908800" y="15367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両者対応。検証済</a:t>
            </a:r>
          </a:p>
        </p:txBody>
      </p:sp>
      <p:sp>
        <p:nvSpPr>
          <p:cNvPr id="15" name="正方形/長方形 14">
            <a:extLst>
              <a:ext uri="{FF2B5EF4-FFF2-40B4-BE49-F238E27FC236}">
                <a16:creationId xmlns:a16="http://schemas.microsoft.com/office/drawing/2014/main" id="{3B0B1857-5D7E-5647-AF04-2A8CDDDD0E9E}"/>
              </a:ext>
            </a:extLst>
          </p:cNvPr>
          <p:cNvSpPr/>
          <p:nvPr/>
        </p:nvSpPr>
        <p:spPr>
          <a:xfrm>
            <a:off x="812800" y="18796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3321FA86-BFC9-9C47-A2C6-DD279912E67C}"/>
              </a:ext>
            </a:extLst>
          </p:cNvPr>
          <p:cNvSpPr/>
          <p:nvPr/>
        </p:nvSpPr>
        <p:spPr>
          <a:xfrm>
            <a:off x="812800" y="2349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96820D68-A216-F741-A9A1-34682DF02464}"/>
              </a:ext>
            </a:extLst>
          </p:cNvPr>
          <p:cNvSpPr txBox="1"/>
          <p:nvPr/>
        </p:nvSpPr>
        <p:spPr>
          <a:xfrm>
            <a:off x="914400" y="201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アプリが接続設定を自動取得できる標準の窓口を公開するか</a:t>
            </a:r>
          </a:p>
        </p:txBody>
      </p:sp>
      <p:sp>
        <p:nvSpPr>
          <p:cNvPr id="18" name="テキスト ボックス 17">
            <a:extLst>
              <a:ext uri="{FF2B5EF4-FFF2-40B4-BE49-F238E27FC236}">
                <a16:creationId xmlns:a16="http://schemas.microsoft.com/office/drawing/2014/main" id="{2CB8F313-37D2-7E46-A102-C68E1388D4B0}"/>
              </a:ext>
            </a:extLst>
          </p:cNvPr>
          <p:cNvSpPr txBox="1"/>
          <p:nvPr/>
        </p:nvSpPr>
        <p:spPr>
          <a:xfrm>
            <a:off x="5105400" y="20193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19" name="角丸四角形 18">
            <a:extLst>
              <a:ext uri="{FF2B5EF4-FFF2-40B4-BE49-F238E27FC236}">
                <a16:creationId xmlns:a16="http://schemas.microsoft.com/office/drawing/2014/main" id="{D323AD1E-9EAB-D741-8A7D-CCD6C9FBA958}"/>
              </a:ext>
            </a:extLst>
          </p:cNvPr>
          <p:cNvSpPr/>
          <p:nvPr/>
        </p:nvSpPr>
        <p:spPr>
          <a:xfrm>
            <a:off x="5943600" y="1993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44981002-A998-D54A-A95E-2710B5620AB2}"/>
              </a:ext>
            </a:extLst>
          </p:cNvPr>
          <p:cNvSpPr txBox="1"/>
          <p:nvPr/>
        </p:nvSpPr>
        <p:spPr>
          <a:xfrm>
            <a:off x="6908800" y="20193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両者対応。検証済</a:t>
            </a:r>
          </a:p>
        </p:txBody>
      </p:sp>
      <p:sp>
        <p:nvSpPr>
          <p:cNvPr id="21" name="正方形/長方形 20">
            <a:extLst>
              <a:ext uri="{FF2B5EF4-FFF2-40B4-BE49-F238E27FC236}">
                <a16:creationId xmlns:a16="http://schemas.microsoft.com/office/drawing/2014/main" id="{1C1A7186-2F4E-9F4E-9CBF-1D9B44D0A31D}"/>
              </a:ext>
            </a:extLst>
          </p:cNvPr>
          <p:cNvSpPr/>
          <p:nvPr/>
        </p:nvSpPr>
        <p:spPr>
          <a:xfrm>
            <a:off x="812800" y="2832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925EB51A-1E5D-6C4A-B8B8-6006CB568EB6}"/>
              </a:ext>
            </a:extLst>
          </p:cNvPr>
          <p:cNvSpPr txBox="1"/>
          <p:nvPr/>
        </p:nvSpPr>
        <p:spPr>
          <a:xfrm>
            <a:off x="914400" y="2501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通行証の正しさを検証するための鍵情報を公開する窓口を用</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AABBF01A-18EB-7C4E-8755-86D0911DA8B2}"/>
              </a:ext>
            </a:extLst>
          </p:cNvPr>
          <p:cNvSpPr txBox="1"/>
          <p:nvPr/>
        </p:nvSpPr>
        <p:spPr>
          <a:xfrm>
            <a:off x="5105400" y="25019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24" name="角丸四角形 23">
            <a:extLst>
              <a:ext uri="{FF2B5EF4-FFF2-40B4-BE49-F238E27FC236}">
                <a16:creationId xmlns:a16="http://schemas.microsoft.com/office/drawing/2014/main" id="{ADBBE3B4-B4F9-9443-89BE-9561833E5B36}"/>
              </a:ext>
            </a:extLst>
          </p:cNvPr>
          <p:cNvSpPr/>
          <p:nvPr/>
        </p:nvSpPr>
        <p:spPr>
          <a:xfrm>
            <a:off x="5943600" y="24765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B0F0E27D-9B5A-074B-96D4-AA92497D01EE}"/>
              </a:ext>
            </a:extLst>
          </p:cNvPr>
          <p:cNvSpPr txBox="1"/>
          <p:nvPr/>
        </p:nvSpPr>
        <p:spPr>
          <a:xfrm>
            <a:off x="6908800" y="25019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ALB</a:t>
            </a:r>
            <a:r>
              <a:rPr lang="ja-JP" altLang="en-US" sz="1100">
                <a:solidFill>
                  <a:srgbClr val="5A6472"/>
                </a:solidFill>
                <a:latin typeface="Yu Gothic UI"/>
                <a:ea typeface="Yu Gothic UI"/>
              </a:rPr>
              <a:t>経由。検証済</a:t>
            </a:r>
          </a:p>
        </p:txBody>
      </p:sp>
      <p:sp>
        <p:nvSpPr>
          <p:cNvPr id="26" name="正方形/長方形 25">
            <a:extLst>
              <a:ext uri="{FF2B5EF4-FFF2-40B4-BE49-F238E27FC236}">
                <a16:creationId xmlns:a16="http://schemas.microsoft.com/office/drawing/2014/main" id="{5CE28E54-D64B-F74F-9EF8-67FDF163F605}"/>
              </a:ext>
            </a:extLst>
          </p:cNvPr>
          <p:cNvSpPr/>
          <p:nvPr/>
        </p:nvSpPr>
        <p:spPr>
          <a:xfrm>
            <a:off x="812800" y="28448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5CC19B9A-37BC-404F-AE1F-3B098D4D9200}"/>
              </a:ext>
            </a:extLst>
          </p:cNvPr>
          <p:cNvSpPr/>
          <p:nvPr/>
        </p:nvSpPr>
        <p:spPr>
          <a:xfrm>
            <a:off x="812800" y="331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D2F07004-FB3C-E045-B6BC-4995C117A9C4}"/>
              </a:ext>
            </a:extLst>
          </p:cNvPr>
          <p:cNvSpPr txBox="1"/>
          <p:nvPr/>
        </p:nvSpPr>
        <p:spPr>
          <a:xfrm>
            <a:off x="914400" y="2984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旧来方式（</a:t>
            </a:r>
            <a:r>
              <a:rPr lang="en" altLang="ja-JP" sz="1100" b="1">
                <a:solidFill>
                  <a:srgbClr val="1D2125"/>
                </a:solidFill>
                <a:latin typeface="Yu Gothic UI"/>
                <a:ea typeface="Yu Gothic UI"/>
              </a:rPr>
              <a:t>SAML</a:t>
            </a:r>
            <a:r>
              <a:rPr lang="ja-JP" altLang="en" sz="1100" b="1">
                <a:solidFill>
                  <a:srgbClr val="1D2125"/>
                </a:solidFill>
                <a:latin typeface="Yu Gothic UI"/>
                <a:ea typeface="Yu Gothic UI"/>
              </a:rPr>
              <a:t>）</a:t>
            </a:r>
            <a:r>
              <a:rPr lang="ja-JP" altLang="en-US" sz="1100" b="1">
                <a:solidFill>
                  <a:srgbClr val="1D2125"/>
                </a:solidFill>
                <a:latin typeface="Yu Gothic UI"/>
                <a:ea typeface="Yu Gothic UI"/>
              </a:rPr>
              <a:t>向けの接続情報を公開する必要があるか</a:t>
            </a:r>
          </a:p>
        </p:txBody>
      </p:sp>
      <p:sp>
        <p:nvSpPr>
          <p:cNvPr id="29" name="テキスト ボックス 28">
            <a:extLst>
              <a:ext uri="{FF2B5EF4-FFF2-40B4-BE49-F238E27FC236}">
                <a16:creationId xmlns:a16="http://schemas.microsoft.com/office/drawing/2014/main" id="{9D669C32-46DD-7A46-B489-2EF04CC55DDB}"/>
              </a:ext>
            </a:extLst>
          </p:cNvPr>
          <p:cNvSpPr txBox="1"/>
          <p:nvPr/>
        </p:nvSpPr>
        <p:spPr>
          <a:xfrm>
            <a:off x="5105400" y="29845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30" name="角丸四角形 29">
            <a:extLst>
              <a:ext uri="{FF2B5EF4-FFF2-40B4-BE49-F238E27FC236}">
                <a16:creationId xmlns:a16="http://schemas.microsoft.com/office/drawing/2014/main" id="{34BECF1D-7179-1D4E-9049-2D838000403F}"/>
              </a:ext>
            </a:extLst>
          </p:cNvPr>
          <p:cNvSpPr/>
          <p:nvPr/>
        </p:nvSpPr>
        <p:spPr>
          <a:xfrm>
            <a:off x="5943600" y="29591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C90BD878-49CD-1A46-B7D9-1DBE519BDB29}"/>
              </a:ext>
            </a:extLst>
          </p:cNvPr>
          <p:cNvSpPr txBox="1"/>
          <p:nvPr/>
        </p:nvSpPr>
        <p:spPr>
          <a:xfrm>
            <a:off x="6908800" y="29845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未検証</a:t>
            </a:r>
          </a:p>
        </p:txBody>
      </p:sp>
      <p:sp>
        <p:nvSpPr>
          <p:cNvPr id="32" name="正方形/長方形 31">
            <a:extLst>
              <a:ext uri="{FF2B5EF4-FFF2-40B4-BE49-F238E27FC236}">
                <a16:creationId xmlns:a16="http://schemas.microsoft.com/office/drawing/2014/main" id="{DD261F64-95C6-A043-8B6A-82618A7BE428}"/>
              </a:ext>
            </a:extLst>
          </p:cNvPr>
          <p:cNvSpPr/>
          <p:nvPr/>
        </p:nvSpPr>
        <p:spPr>
          <a:xfrm>
            <a:off x="812800" y="3797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3D8FF7C6-8074-C045-AAAF-02100D91A0D2}"/>
              </a:ext>
            </a:extLst>
          </p:cNvPr>
          <p:cNvSpPr txBox="1"/>
          <p:nvPr/>
        </p:nvSpPr>
        <p:spPr>
          <a:xfrm>
            <a:off x="914400" y="3467100"/>
            <a:ext cx="3987800" cy="2540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AWS</a:t>
            </a:r>
            <a:r>
              <a:rPr lang="ja-JP" altLang="en-US" sz="1100" b="1">
                <a:solidFill>
                  <a:srgbClr val="1D2125"/>
                </a:solidFill>
                <a:latin typeface="Yu Gothic UI"/>
                <a:ea typeface="Yu Gothic UI"/>
              </a:rPr>
              <a:t>の</a:t>
            </a:r>
            <a:r>
              <a:rPr lang="en" altLang="ja-JP" sz="1100" b="1">
                <a:solidFill>
                  <a:srgbClr val="1D2125"/>
                </a:solidFill>
                <a:latin typeface="Yu Gothic UI"/>
                <a:ea typeface="Yu Gothic UI"/>
              </a:rPr>
              <a:t>API</a:t>
            </a:r>
            <a:r>
              <a:rPr lang="ja-JP" altLang="en-US" sz="1100" b="1">
                <a:solidFill>
                  <a:srgbClr val="1D2125"/>
                </a:solidFill>
                <a:latin typeface="Yu Gothic UI"/>
                <a:ea typeface="Yu Gothic UI"/>
              </a:rPr>
              <a:t>入口との接続方法を標準化するか</a:t>
            </a:r>
          </a:p>
        </p:txBody>
      </p:sp>
      <p:sp>
        <p:nvSpPr>
          <p:cNvPr id="34" name="テキスト ボックス 33">
            <a:extLst>
              <a:ext uri="{FF2B5EF4-FFF2-40B4-BE49-F238E27FC236}">
                <a16:creationId xmlns:a16="http://schemas.microsoft.com/office/drawing/2014/main" id="{8F2425EE-5AA4-7840-A98A-ED4E31F6319C}"/>
              </a:ext>
            </a:extLst>
          </p:cNvPr>
          <p:cNvSpPr txBox="1"/>
          <p:nvPr/>
        </p:nvSpPr>
        <p:spPr>
          <a:xfrm>
            <a:off x="5105400" y="34671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35" name="角丸四角形 34">
            <a:extLst>
              <a:ext uri="{FF2B5EF4-FFF2-40B4-BE49-F238E27FC236}">
                <a16:creationId xmlns:a16="http://schemas.microsoft.com/office/drawing/2014/main" id="{CEDA6667-BA3A-6546-868A-53DB086AD329}"/>
              </a:ext>
            </a:extLst>
          </p:cNvPr>
          <p:cNvSpPr/>
          <p:nvPr/>
        </p:nvSpPr>
        <p:spPr>
          <a:xfrm>
            <a:off x="5943600" y="34417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6" name="テキスト ボックス 35">
            <a:extLst>
              <a:ext uri="{FF2B5EF4-FFF2-40B4-BE49-F238E27FC236}">
                <a16:creationId xmlns:a16="http://schemas.microsoft.com/office/drawing/2014/main" id="{619248C6-59EC-1C4A-AD5F-2FF7EA82E930}"/>
              </a:ext>
            </a:extLst>
          </p:cNvPr>
          <p:cNvSpPr txBox="1"/>
          <p:nvPr/>
        </p:nvSpPr>
        <p:spPr>
          <a:xfrm>
            <a:off x="6908800" y="34671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両者対応。検証済</a:t>
            </a:r>
          </a:p>
        </p:txBody>
      </p:sp>
      <p:sp>
        <p:nvSpPr>
          <p:cNvPr id="37" name="正方形/長方形 36">
            <a:extLst>
              <a:ext uri="{FF2B5EF4-FFF2-40B4-BE49-F238E27FC236}">
                <a16:creationId xmlns:a16="http://schemas.microsoft.com/office/drawing/2014/main" id="{2878795E-63A3-5745-A519-C9E2D81B1523}"/>
              </a:ext>
            </a:extLst>
          </p:cNvPr>
          <p:cNvSpPr/>
          <p:nvPr/>
        </p:nvSpPr>
        <p:spPr>
          <a:xfrm>
            <a:off x="812800" y="38100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1A4DC17D-38ED-5945-8341-01D5FDADAAC4}"/>
              </a:ext>
            </a:extLst>
          </p:cNvPr>
          <p:cNvSpPr/>
          <p:nvPr/>
        </p:nvSpPr>
        <p:spPr>
          <a:xfrm>
            <a:off x="812800" y="427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C5E15D33-AEA5-FB42-8E2D-8A8FE904954D}"/>
              </a:ext>
            </a:extLst>
          </p:cNvPr>
          <p:cNvSpPr txBox="1"/>
          <p:nvPr/>
        </p:nvSpPr>
        <p:spPr>
          <a:xfrm>
            <a:off x="914400" y="3949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操作記録を外部にどの形式・どの頻度で出すか</a:t>
            </a:r>
          </a:p>
        </p:txBody>
      </p:sp>
      <p:sp>
        <p:nvSpPr>
          <p:cNvPr id="40" name="テキスト ボックス 39">
            <a:extLst>
              <a:ext uri="{FF2B5EF4-FFF2-40B4-BE49-F238E27FC236}">
                <a16:creationId xmlns:a16="http://schemas.microsoft.com/office/drawing/2014/main" id="{3C359890-2A2D-964B-8939-C168880AD007}"/>
              </a:ext>
            </a:extLst>
          </p:cNvPr>
          <p:cNvSpPr txBox="1"/>
          <p:nvPr/>
        </p:nvSpPr>
        <p:spPr>
          <a:xfrm>
            <a:off x="5105400" y="39497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41" name="角丸四角形 40">
            <a:extLst>
              <a:ext uri="{FF2B5EF4-FFF2-40B4-BE49-F238E27FC236}">
                <a16:creationId xmlns:a16="http://schemas.microsoft.com/office/drawing/2014/main" id="{5D81827B-27F9-C641-A6AB-E7FD985C390A}"/>
              </a:ext>
            </a:extLst>
          </p:cNvPr>
          <p:cNvSpPr/>
          <p:nvPr/>
        </p:nvSpPr>
        <p:spPr>
          <a:xfrm>
            <a:off x="5943600" y="39243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D78EBF52-DCE9-4D4A-BA5D-2C55C62A6C83}"/>
              </a:ext>
            </a:extLst>
          </p:cNvPr>
          <p:cNvSpPr txBox="1"/>
          <p:nvPr/>
        </p:nvSpPr>
        <p:spPr>
          <a:xfrm>
            <a:off x="6908800" y="39497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CloudWatch / Event Listener</a:t>
            </a:r>
            <a:r>
              <a:rPr lang="ja-JP" altLang="en-US" sz="1100">
                <a:solidFill>
                  <a:srgbClr val="5A6472"/>
                </a:solidFill>
                <a:latin typeface="Yu Gothic UI"/>
                <a:ea typeface="Yu Gothic UI"/>
              </a:rPr>
              <a:t>自前実装。</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はデフォルト</a:t>
            </a:r>
          </a:p>
        </p:txBody>
      </p:sp>
      <p:sp>
        <p:nvSpPr>
          <p:cNvPr id="43" name="正方形/長方形 42">
            <a:extLst>
              <a:ext uri="{FF2B5EF4-FFF2-40B4-BE49-F238E27FC236}">
                <a16:creationId xmlns:a16="http://schemas.microsoft.com/office/drawing/2014/main" id="{595EEF12-F1BA-EA43-BF27-2142118A2F3F}"/>
              </a:ext>
            </a:extLst>
          </p:cNvPr>
          <p:cNvSpPr/>
          <p:nvPr/>
        </p:nvSpPr>
        <p:spPr>
          <a:xfrm>
            <a:off x="812800" y="4762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B62B13BC-EDA7-B348-97CD-99957CED6C79}"/>
              </a:ext>
            </a:extLst>
          </p:cNvPr>
          <p:cNvSpPr txBox="1"/>
          <p:nvPr/>
        </p:nvSpPr>
        <p:spPr>
          <a:xfrm>
            <a:off x="914400" y="4432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操作記録をセキュリティ監視製品に送る必要があるか。送り</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01CE5612-D35B-D14B-A5D8-A4B75C992336}"/>
              </a:ext>
            </a:extLst>
          </p:cNvPr>
          <p:cNvSpPr txBox="1"/>
          <p:nvPr/>
        </p:nvSpPr>
        <p:spPr>
          <a:xfrm>
            <a:off x="5105400" y="4432300"/>
            <a:ext cx="635000" cy="203200"/>
          </a:xfrm>
          <a:prstGeom prst="rect">
            <a:avLst/>
          </a:prstGeom>
          <a:noFill/>
        </p:spPr>
        <p:txBody>
          <a:bodyPr vertOverflow="overflow" vert="horz" wrap="square" rtlCol="0" anchor="t" anchorCtr="0">
            <a:noAutofit/>
          </a:bodyPr>
          <a:lstStyle/>
          <a:p>
            <a:pPr algn="l"/>
            <a:r>
              <a:rPr lang="ja-JP" altLang="en-US" sz="1100" b="1">
                <a:solidFill>
                  <a:srgbClr val="5A6472"/>
                </a:solidFill>
                <a:latin typeface="Yu Gothic UI"/>
                <a:ea typeface="Yu Gothic UI"/>
              </a:rPr>
              <a:t>任意</a:t>
            </a:r>
          </a:p>
        </p:txBody>
      </p:sp>
      <p:sp>
        <p:nvSpPr>
          <p:cNvPr id="46" name="角丸四角形 45">
            <a:extLst>
              <a:ext uri="{FF2B5EF4-FFF2-40B4-BE49-F238E27FC236}">
                <a16:creationId xmlns:a16="http://schemas.microsoft.com/office/drawing/2014/main" id="{0FFF65FB-3F5A-E94F-85EF-6421A7F24A17}"/>
              </a:ext>
            </a:extLst>
          </p:cNvPr>
          <p:cNvSpPr/>
          <p:nvPr/>
        </p:nvSpPr>
        <p:spPr>
          <a:xfrm>
            <a:off x="5943600" y="4406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FCF5BF83-C8BA-EB47-8E21-B44FB04B7889}"/>
              </a:ext>
            </a:extLst>
          </p:cNvPr>
          <p:cNvSpPr txBox="1"/>
          <p:nvPr/>
        </p:nvSpPr>
        <p:spPr>
          <a:xfrm>
            <a:off x="6908800" y="4432300"/>
            <a:ext cx="4368800" cy="2540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ログ転送設計要。未検証</a:t>
            </a:r>
          </a:p>
        </p:txBody>
      </p:sp>
      <p:sp>
        <p:nvSpPr>
          <p:cNvPr id="48" name="正方形/長方形 47">
            <a:extLst>
              <a:ext uri="{FF2B5EF4-FFF2-40B4-BE49-F238E27FC236}">
                <a16:creationId xmlns:a16="http://schemas.microsoft.com/office/drawing/2014/main" id="{1D759380-AD34-B54C-9D37-7EF4F937D73B}"/>
              </a:ext>
            </a:extLst>
          </p:cNvPr>
          <p:cNvSpPr/>
          <p:nvPr/>
        </p:nvSpPr>
        <p:spPr>
          <a:xfrm>
            <a:off x="812800" y="47752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BCB1A844-EA40-0D46-BCBB-91BDF5258848}"/>
              </a:ext>
            </a:extLst>
          </p:cNvPr>
          <p:cNvSpPr/>
          <p:nvPr/>
        </p:nvSpPr>
        <p:spPr>
          <a:xfrm>
            <a:off x="812800" y="5245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B8F8FC86-17B1-FA41-88D8-792F11EE2978}"/>
              </a:ext>
            </a:extLst>
          </p:cNvPr>
          <p:cNvSpPr txBox="1"/>
          <p:nvPr/>
        </p:nvSpPr>
        <p:spPr>
          <a:xfrm>
            <a:off x="914400" y="4914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利用者が作られた等の出来事を他システムに自動通知する必</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A4F283ED-F2FD-FB47-BB4D-1E7D58933B48}"/>
              </a:ext>
            </a:extLst>
          </p:cNvPr>
          <p:cNvSpPr txBox="1"/>
          <p:nvPr/>
        </p:nvSpPr>
        <p:spPr>
          <a:xfrm>
            <a:off x="5105400" y="4914900"/>
            <a:ext cx="635000" cy="203200"/>
          </a:xfrm>
          <a:prstGeom prst="rect">
            <a:avLst/>
          </a:prstGeom>
          <a:noFill/>
        </p:spPr>
        <p:txBody>
          <a:bodyPr vertOverflow="overflow" vert="horz" wrap="square" rtlCol="0" anchor="t" anchorCtr="0">
            <a:noAutofit/>
          </a:bodyPr>
          <a:lstStyle/>
          <a:p>
            <a:pPr algn="l"/>
            <a:r>
              <a:rPr lang="ja-JP" altLang="en-US" sz="1100" b="1">
                <a:solidFill>
                  <a:srgbClr val="1F3864"/>
                </a:solidFill>
                <a:latin typeface="Yu Gothic UI"/>
                <a:ea typeface="Yu Gothic UI"/>
              </a:rPr>
              <a:t>推奨</a:t>
            </a:r>
          </a:p>
        </p:txBody>
      </p:sp>
      <p:sp>
        <p:nvSpPr>
          <p:cNvPr id="52" name="角丸四角形 51">
            <a:extLst>
              <a:ext uri="{FF2B5EF4-FFF2-40B4-BE49-F238E27FC236}">
                <a16:creationId xmlns:a16="http://schemas.microsoft.com/office/drawing/2014/main" id="{FBC4B7A5-C990-ED45-B2F2-C87C415E1D2D}"/>
              </a:ext>
            </a:extLst>
          </p:cNvPr>
          <p:cNvSpPr/>
          <p:nvPr/>
        </p:nvSpPr>
        <p:spPr>
          <a:xfrm>
            <a:off x="5943600" y="48895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3" name="テキスト ボックス 52">
            <a:extLst>
              <a:ext uri="{FF2B5EF4-FFF2-40B4-BE49-F238E27FC236}">
                <a16:creationId xmlns:a16="http://schemas.microsoft.com/office/drawing/2014/main" id="{B1083617-03BC-7C4B-B151-E520D47D8C62}"/>
              </a:ext>
            </a:extLst>
          </p:cNvPr>
          <p:cNvSpPr txBox="1"/>
          <p:nvPr/>
        </p:nvSpPr>
        <p:spPr>
          <a:xfrm>
            <a:off x="6908800" y="49149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Post Conf Lambda / Event Listener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ヒアリング優先度</a:t>
            </a:r>
            <a:r>
              <a:rPr lang="en-US" altLang="ja-JP" sz="1100">
                <a:solidFill>
                  <a:srgbClr val="5A6472"/>
                </a:solidFill>
                <a:latin typeface="Yu Gothic UI"/>
                <a:ea typeface="Yu Gothic UI"/>
              </a:rPr>
              <a:t>6</a:t>
            </a:r>
            <a:r>
              <a:rPr lang="ja-JP" altLang="en-US" sz="1100">
                <a:solidFill>
                  <a:srgbClr val="5A6472"/>
                </a:solidFill>
                <a:latin typeface="Yu Gothic UI"/>
                <a:ea typeface="Yu Gothic UI"/>
              </a:rPr>
              <a:t>。基</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54" name="正方形/長方形 53">
            <a:extLst>
              <a:ext uri="{FF2B5EF4-FFF2-40B4-BE49-F238E27FC236}">
                <a16:creationId xmlns:a16="http://schemas.microsoft.com/office/drawing/2014/main" id="{23E408CC-5F79-2549-BD95-5A22BD471938}"/>
              </a:ext>
            </a:extLst>
          </p:cNvPr>
          <p:cNvSpPr/>
          <p:nvPr/>
        </p:nvSpPr>
        <p:spPr>
          <a:xfrm>
            <a:off x="812800" y="5727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22D0B68A-C64F-4449-93E7-418E0BCABB2A}"/>
              </a:ext>
            </a:extLst>
          </p:cNvPr>
          <p:cNvSpPr txBox="1"/>
          <p:nvPr/>
        </p:nvSpPr>
        <p:spPr>
          <a:xfrm>
            <a:off x="914400" y="5397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外部から設定や利用者を操作するための</a:t>
            </a:r>
            <a:r>
              <a:rPr lang="en" altLang="ja-JP" sz="1100" b="1">
                <a:solidFill>
                  <a:srgbClr val="1D2125"/>
                </a:solidFill>
                <a:latin typeface="Yu Gothic UI"/>
                <a:ea typeface="Yu Gothic UI"/>
              </a:rPr>
              <a:t>API</a:t>
            </a:r>
            <a:r>
              <a:rPr lang="ja-JP" altLang="en-US" sz="1100" b="1">
                <a:solidFill>
                  <a:srgbClr val="1D2125"/>
                </a:solidFill>
                <a:latin typeface="Yu Gothic UI"/>
                <a:ea typeface="Yu Gothic UI"/>
              </a:rPr>
              <a:t>を、どこまで公</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616C9A04-F6D7-3A43-A74F-E921D046CD79}"/>
              </a:ext>
            </a:extLst>
          </p:cNvPr>
          <p:cNvSpPr txBox="1"/>
          <p:nvPr/>
        </p:nvSpPr>
        <p:spPr>
          <a:xfrm>
            <a:off x="5105400" y="53975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57" name="角丸四角形 56">
            <a:extLst>
              <a:ext uri="{FF2B5EF4-FFF2-40B4-BE49-F238E27FC236}">
                <a16:creationId xmlns:a16="http://schemas.microsoft.com/office/drawing/2014/main" id="{85AD01E9-556C-BE4E-8620-B0F114E4C408}"/>
              </a:ext>
            </a:extLst>
          </p:cNvPr>
          <p:cNvSpPr/>
          <p:nvPr/>
        </p:nvSpPr>
        <p:spPr>
          <a:xfrm>
            <a:off x="5943600" y="53721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8" name="テキスト ボックス 57">
            <a:extLst>
              <a:ext uri="{FF2B5EF4-FFF2-40B4-BE49-F238E27FC236}">
                <a16:creationId xmlns:a16="http://schemas.microsoft.com/office/drawing/2014/main" id="{EE086104-60A4-9D43-A59E-19670DC018FE}"/>
              </a:ext>
            </a:extLst>
          </p:cNvPr>
          <p:cNvSpPr txBox="1"/>
          <p:nvPr/>
        </p:nvSpPr>
        <p:spPr>
          <a:xfrm>
            <a:off x="6908800" y="5397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Admin REST API</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3756DD0E-AE4F-2843-A869-A26E9CFFE19F}"/>
              </a:ext>
            </a:extLst>
          </p:cNvPr>
          <p:cNvSpPr/>
          <p:nvPr/>
        </p:nvSpPr>
        <p:spPr>
          <a:xfrm>
            <a:off x="812800" y="57404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A3DA40BD-8A1D-9144-834E-4063D7245A47}"/>
              </a:ext>
            </a:extLst>
          </p:cNvPr>
          <p:cNvSpPr/>
          <p:nvPr/>
        </p:nvSpPr>
        <p:spPr>
          <a:xfrm>
            <a:off x="812800" y="621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904EF8AA-2BEF-124A-976A-0D59F1E189AE}"/>
              </a:ext>
            </a:extLst>
          </p:cNvPr>
          <p:cNvSpPr txBox="1"/>
          <p:nvPr/>
        </p:nvSpPr>
        <p:spPr>
          <a:xfrm>
            <a:off x="914400" y="5880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設定を手作業ではなくコードで管理する方針でよいか。対象</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C62FB874-ED6B-6046-B810-837F75585655}"/>
              </a:ext>
            </a:extLst>
          </p:cNvPr>
          <p:cNvSpPr txBox="1"/>
          <p:nvPr/>
        </p:nvSpPr>
        <p:spPr>
          <a:xfrm>
            <a:off x="5105400" y="5880100"/>
            <a:ext cx="635000" cy="203200"/>
          </a:xfrm>
          <a:prstGeom prst="rect">
            <a:avLst/>
          </a:prstGeom>
          <a:noFill/>
        </p:spPr>
        <p:txBody>
          <a:bodyPr vertOverflow="overflow" vert="horz" wrap="square" rtlCol="0" anchor="t" anchorCtr="0">
            <a:noAutofit/>
          </a:bodyPr>
          <a:lstStyle/>
          <a:p>
            <a:pPr algn="l"/>
            <a:r>
              <a:rPr lang="ja-JP" altLang="en-US" sz="1100" b="1">
                <a:solidFill>
                  <a:srgbClr val="C00000"/>
                </a:solidFill>
                <a:latin typeface="Yu Gothic UI"/>
                <a:ea typeface="Yu Gothic UI"/>
              </a:rPr>
              <a:t>必須</a:t>
            </a:r>
          </a:p>
        </p:txBody>
      </p:sp>
      <p:sp>
        <p:nvSpPr>
          <p:cNvPr id="63" name="角丸四角形 62">
            <a:extLst>
              <a:ext uri="{FF2B5EF4-FFF2-40B4-BE49-F238E27FC236}">
                <a16:creationId xmlns:a16="http://schemas.microsoft.com/office/drawing/2014/main" id="{202D14D5-B565-244E-AB9E-CA2E161A463F}"/>
              </a:ext>
            </a:extLst>
          </p:cNvPr>
          <p:cNvSpPr/>
          <p:nvPr/>
        </p:nvSpPr>
        <p:spPr>
          <a:xfrm>
            <a:off x="5943600" y="58547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64" name="テキスト ボックス 63">
            <a:extLst>
              <a:ext uri="{FF2B5EF4-FFF2-40B4-BE49-F238E27FC236}">
                <a16:creationId xmlns:a16="http://schemas.microsoft.com/office/drawing/2014/main" id="{67D5CF18-D42A-664A-A864-0E57EA24B9A7}"/>
              </a:ext>
            </a:extLst>
          </p:cNvPr>
          <p:cNvSpPr txBox="1"/>
          <p:nvPr/>
        </p:nvSpPr>
        <p:spPr>
          <a:xfrm>
            <a:off x="6908800" y="5880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部分は別管理。検証済（基本設計で</a:t>
            </a:r>
            <a:r>
              <a:rPr lang="en" altLang="ja-JP" sz="1100">
                <a:solidFill>
                  <a:srgbClr val="5A6472"/>
                </a:solidFill>
                <a:latin typeface="Yu Gothic UI"/>
                <a:ea typeface="Yu Gothic UI"/>
              </a:rPr>
              <a:t>keycloak-config-cli…</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30625904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5A532C2-E3D2-7B44-9B15-F069EB60BEFD}"/>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ADD92D48-8C28-CE40-AA19-C414CFB845C1}"/>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性能と拡張性（</a:t>
            </a:r>
            <a:r>
              <a:rPr lang="en-US" altLang="ja-JP" sz="2300" b="1">
                <a:solidFill>
                  <a:srgbClr val="1F3864"/>
                </a:solidFill>
                <a:latin typeface="Yu Gothic UI"/>
                <a:ea typeface="Yu Gothic UI"/>
              </a:rPr>
              <a:t>1</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51E8640A-7F6A-3E45-81DD-CACE3E376EB3}"/>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8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D45FD864-32E9-A940-B146-BE110DD2C7E0}"/>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A5A1062-23E3-5147-99E0-DFD09D51AF3A}"/>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D525093C-4BD4-D246-BB17-11CC8790D426}"/>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312C6EF6-DCE5-A449-9EDE-0FFC0518E956}"/>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204ECCD7-5609-8140-93ED-FAD2AD988795}"/>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B68F2854-FC41-9349-B6EE-2B753E2C6F71}"/>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0356E47F-6966-D64B-A7BC-369AE5797073}"/>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ログインが何秒以内に返れば合格とするか</a:t>
            </a:r>
          </a:p>
        </p:txBody>
      </p:sp>
      <p:sp>
        <p:nvSpPr>
          <p:cNvPr id="12" name="テキスト ボックス 11">
            <a:extLst>
              <a:ext uri="{FF2B5EF4-FFF2-40B4-BE49-F238E27FC236}">
                <a16:creationId xmlns:a16="http://schemas.microsoft.com/office/drawing/2014/main" id="{105D4D60-C2A1-2F42-89A4-7C470C093ECC}"/>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D23DD4AF-69DF-E34C-B2CA-49CAD00D6F2D}"/>
              </a:ext>
            </a:extLst>
          </p:cNvPr>
          <p:cNvSpPr/>
          <p:nvPr/>
        </p:nvSpPr>
        <p:spPr>
          <a:xfrm>
            <a:off x="5943600" y="152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D95EA924-1307-D147-8AF7-AA3DFF11A3A3}"/>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(D)P95&lt;1s, P99&lt;2s</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ECS</a:t>
            </a:r>
            <a:r>
              <a:rPr lang="ja-JP" altLang="en-US" sz="1100">
                <a:solidFill>
                  <a:srgbClr val="5A6472"/>
                </a:solidFill>
                <a:latin typeface="Yu Gothic UI"/>
                <a:ea typeface="Yu Gothic UI"/>
              </a:rPr>
              <a:t>スペック次第（</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数百</a:t>
            </a:r>
            <a:r>
              <a:rPr lang="en" altLang="ja-JP" sz="1100">
                <a:solidFill>
                  <a:srgbClr val="5A6472"/>
                </a:solidFill>
                <a:latin typeface="Yu Gothic UI"/>
                <a:ea typeface="Yu Gothic UI"/>
              </a:rPr>
              <a:t>ms</a:t>
            </a:r>
            <a:r>
              <a:rPr lang="ja-JP" altLang="en-US" sz="1100">
                <a:solidFill>
                  <a:srgbClr val="5A6472"/>
                </a:solidFill>
                <a:latin typeface="Yu Gothic UI"/>
                <a:ea typeface="Yu Gothic UI"/>
              </a:rPr>
              <a:t>観測）</a:t>
            </a:r>
          </a:p>
        </p:txBody>
      </p:sp>
      <p:sp>
        <p:nvSpPr>
          <p:cNvPr id="15" name="正方形/長方形 14">
            <a:extLst>
              <a:ext uri="{FF2B5EF4-FFF2-40B4-BE49-F238E27FC236}">
                <a16:creationId xmlns:a16="http://schemas.microsoft.com/office/drawing/2014/main" id="{67C5ED28-DEF3-1C4E-ACFE-85C4942B078A}"/>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832F1BB3-49D2-3245-AA6D-00FAB25CD72A}"/>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18A1EE5C-88A5-034E-97A7-6EB195901F9A}"/>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権限チェック部分の応答時間の目標をどこに置くか</a:t>
            </a:r>
          </a:p>
        </p:txBody>
      </p:sp>
      <p:sp>
        <p:nvSpPr>
          <p:cNvPr id="18" name="テキスト ボックス 17">
            <a:extLst>
              <a:ext uri="{FF2B5EF4-FFF2-40B4-BE49-F238E27FC236}">
                <a16:creationId xmlns:a16="http://schemas.microsoft.com/office/drawing/2014/main" id="{6685349D-9494-CF49-AC41-8F2F97B1F3E7}"/>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D6A78E68-16E1-AD49-9B29-980AE69896BF}"/>
              </a:ext>
            </a:extLst>
          </p:cNvPr>
          <p:cNvSpPr/>
          <p:nvPr/>
        </p:nvSpPr>
        <p:spPr>
          <a:xfrm>
            <a:off x="5943600" y="2032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A51B6B34-B6EF-DA4D-AE19-AB126DB7D5C6}"/>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キャッシュ</a:t>
            </a:r>
            <a:r>
              <a:rPr lang="en" altLang="ja-JP" sz="1100">
                <a:solidFill>
                  <a:srgbClr val="5A6472"/>
                </a:solidFill>
                <a:latin typeface="Yu Gothic UI"/>
                <a:ea typeface="Yu Gothic UI"/>
              </a:rPr>
              <a:t>HIT&lt;10ms / MISS&lt;100ms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PoC Phase 3</a:t>
            </a:r>
            <a:r>
              <a:rPr lang="ja-JP" altLang="en-US" sz="1100">
                <a:solidFill>
                  <a:srgbClr val="5A6472"/>
                </a:solidFill>
                <a:latin typeface="Yu Gothic UI"/>
                <a:ea typeface="Yu Gothic UI"/>
              </a:rPr>
              <a:t>計測 </a:t>
            </a:r>
            <a:r>
              <a:rPr lang="en-US" altLang="ja-JP" sz="1100">
                <a:solidFill>
                  <a:srgbClr val="5A6472"/>
                </a:solidFill>
                <a:latin typeface="Yu Gothic UI"/>
                <a:ea typeface="Yu Gothic UI"/>
              </a:rPr>
              <a:t>15-…</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91EFFF1D-1409-8F4F-8200-63182081E523}"/>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7C0F4589-938B-114B-9AB7-10B4A879AEE9}"/>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通行証の検証を</a:t>
            </a:r>
            <a:r>
              <a:rPr lang="en-US" altLang="ja-JP" sz="1100" b="1">
                <a:solidFill>
                  <a:srgbClr val="1D2125"/>
                </a:solidFill>
                <a:latin typeface="Yu Gothic UI"/>
                <a:ea typeface="Yu Gothic UI"/>
              </a:rPr>
              <a:t>1</a:t>
            </a:r>
            <a:r>
              <a:rPr lang="ja-JP" altLang="en-US" sz="1100" b="1">
                <a:solidFill>
                  <a:srgbClr val="1D2125"/>
                </a:solidFill>
                <a:latin typeface="Yu Gothic UI"/>
                <a:ea typeface="Yu Gothic UI"/>
              </a:rPr>
              <a:t>秒あたり何件さばく必要があるか</a:t>
            </a:r>
          </a:p>
        </p:txBody>
      </p:sp>
      <p:sp>
        <p:nvSpPr>
          <p:cNvPr id="23" name="テキスト ボックス 22">
            <a:extLst>
              <a:ext uri="{FF2B5EF4-FFF2-40B4-BE49-F238E27FC236}">
                <a16:creationId xmlns:a16="http://schemas.microsoft.com/office/drawing/2014/main" id="{322963F4-6604-8946-A028-C656BB2B9B11}"/>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AED1711D-63B8-F44C-99D0-7F5A8D6EC84B}"/>
              </a:ext>
            </a:extLst>
          </p:cNvPr>
          <p:cNvSpPr/>
          <p:nvPr/>
        </p:nvSpPr>
        <p:spPr>
          <a:xfrm>
            <a:off x="5943600" y="2540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CA55B03B-03DA-F942-B5EC-46A1FD4DAFD0}"/>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(D)&gt;1,000 req/s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Lambda</a:t>
            </a:r>
            <a:r>
              <a:rPr lang="ja-JP" altLang="en-US" sz="1100">
                <a:solidFill>
                  <a:srgbClr val="5A6472"/>
                </a:solidFill>
                <a:latin typeface="Yu Gothic UI"/>
                <a:ea typeface="Yu Gothic UI"/>
              </a:rPr>
              <a:t>並列で達成</a:t>
            </a:r>
          </a:p>
        </p:txBody>
      </p:sp>
      <p:sp>
        <p:nvSpPr>
          <p:cNvPr id="26" name="正方形/長方形 25">
            <a:extLst>
              <a:ext uri="{FF2B5EF4-FFF2-40B4-BE49-F238E27FC236}">
                <a16:creationId xmlns:a16="http://schemas.microsoft.com/office/drawing/2014/main" id="{92C9B8FC-2F0C-364A-BB67-76C65DC5BA5A}"/>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8462F5C7-9861-034A-89A0-9D7813F84E8B}"/>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E9E5B34D-ABC3-954B-877B-FD5160C45CAD}"/>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検証用の鍵情報を各アプリが何分間覚えておくか</a:t>
            </a:r>
          </a:p>
        </p:txBody>
      </p:sp>
      <p:sp>
        <p:nvSpPr>
          <p:cNvPr id="29" name="テキスト ボックス 28">
            <a:extLst>
              <a:ext uri="{FF2B5EF4-FFF2-40B4-BE49-F238E27FC236}">
                <a16:creationId xmlns:a16="http://schemas.microsoft.com/office/drawing/2014/main" id="{75AC64BE-870C-5345-BA34-CB64AE7ECA25}"/>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6B36F8C6-C674-8B41-82DF-A27E0970AE69}"/>
              </a:ext>
            </a:extLst>
          </p:cNvPr>
          <p:cNvSpPr/>
          <p:nvPr/>
        </p:nvSpPr>
        <p:spPr>
          <a:xfrm>
            <a:off x="5943600" y="3048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1" name="テキスト ボックス 30">
            <a:extLst>
              <a:ext uri="{FF2B5EF4-FFF2-40B4-BE49-F238E27FC236}">
                <a16:creationId xmlns:a16="http://schemas.microsoft.com/office/drawing/2014/main" id="{FA91B14A-7B35-4548-AA81-64E500F195B9}"/>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(D)1</a:t>
            </a:r>
            <a:r>
              <a:rPr lang="ja-JP" altLang="en-US" sz="1100">
                <a:solidFill>
                  <a:srgbClr val="5A6472"/>
                </a:solidFill>
                <a:latin typeface="Yu Gothic UI"/>
                <a:ea typeface="Yu Gothic UI"/>
              </a:rPr>
              <a:t>時間（</a:t>
            </a:r>
            <a:r>
              <a:rPr lang="en" altLang="ja-JP" sz="1100">
                <a:solidFill>
                  <a:srgbClr val="5A6472"/>
                </a:solidFill>
                <a:latin typeface="Yu Gothic UI"/>
                <a:ea typeface="Yu Gothic UI"/>
              </a:rPr>
              <a:t>Lambda</a:t>
            </a:r>
            <a:r>
              <a:rPr lang="ja-JP" altLang="en-US" sz="1100">
                <a:solidFill>
                  <a:srgbClr val="5A6472"/>
                </a:solidFill>
                <a:latin typeface="Yu Gothic UI"/>
                <a:ea typeface="Yu Gothic UI"/>
              </a:rPr>
              <a:t>内）｜両者対応</a:t>
            </a:r>
          </a:p>
        </p:txBody>
      </p:sp>
      <p:sp>
        <p:nvSpPr>
          <p:cNvPr id="32" name="正方形/長方形 31">
            <a:extLst>
              <a:ext uri="{FF2B5EF4-FFF2-40B4-BE49-F238E27FC236}">
                <a16:creationId xmlns:a16="http://schemas.microsoft.com/office/drawing/2014/main" id="{21FE74CA-02B1-8149-97F5-2E4EA9836ED9}"/>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0787A5F7-E2F7-A046-B310-C7FA0BA34040}"/>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データベースの応答時間の目標をどこに置くか</a:t>
            </a:r>
          </a:p>
        </p:txBody>
      </p:sp>
      <p:sp>
        <p:nvSpPr>
          <p:cNvPr id="34" name="テキスト ボックス 33">
            <a:extLst>
              <a:ext uri="{FF2B5EF4-FFF2-40B4-BE49-F238E27FC236}">
                <a16:creationId xmlns:a16="http://schemas.microsoft.com/office/drawing/2014/main" id="{6DAD5A20-B7D2-1D4C-984E-33F7311B525B}"/>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3295392F-3A23-974A-9913-B9CDCDD50C50}"/>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11A86BCD-4352-A146-84A6-C82455CF6D56}"/>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(D)P95&lt;50ms</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RDS</a:t>
            </a:r>
            <a:r>
              <a:rPr lang="ja-JP" altLang="en-US" sz="1100">
                <a:solidFill>
                  <a:srgbClr val="5A6472"/>
                </a:solidFill>
                <a:latin typeface="Yu Gothic UI"/>
                <a:ea typeface="Yu Gothic UI"/>
              </a:rPr>
              <a:t>チューニング要。</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は対象外</a:t>
            </a:r>
          </a:p>
        </p:txBody>
      </p:sp>
      <p:sp>
        <p:nvSpPr>
          <p:cNvPr id="37" name="正方形/長方形 36">
            <a:extLst>
              <a:ext uri="{FF2B5EF4-FFF2-40B4-BE49-F238E27FC236}">
                <a16:creationId xmlns:a16="http://schemas.microsoft.com/office/drawing/2014/main" id="{B3B34898-7FEE-A644-BD2E-42FE50C596FF}"/>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CF499258-6533-6345-8012-D127681441D7}"/>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842B2289-987F-E349-BB12-0BB179022298}"/>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ログインが集中したとき、同時に何件まで耐える必要がある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EBEAFC05-E054-CB46-9955-5A13BE80A94E}"/>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0F93F08E-211B-3746-B067-7AF563A7CEEC}"/>
              </a:ext>
            </a:extLst>
          </p:cNvPr>
          <p:cNvSpPr/>
          <p:nvPr/>
        </p:nvSpPr>
        <p:spPr>
          <a:xfrm>
            <a:off x="5943600" y="406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5287027E-56F9-F14C-95EE-CC8498BF66BA}"/>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 req/s</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ECS Auto Scaling</a:t>
            </a:r>
            <a:r>
              <a:rPr lang="ja-JP" altLang="en-US" sz="1100">
                <a:solidFill>
                  <a:srgbClr val="5A6472"/>
                </a:solidFill>
                <a:latin typeface="Yu Gothic UI"/>
                <a:ea typeface="Yu Gothic UI"/>
              </a:rPr>
              <a:t>設計。★</a:t>
            </a:r>
            <a:r>
              <a:rPr lang="en" altLang="ja-JP" sz="1100">
                <a:solidFill>
                  <a:srgbClr val="5A6472"/>
                </a:solidFill>
                <a:latin typeface="Yu Gothic UI"/>
                <a:ea typeface="Yu Gothic UI"/>
              </a:rPr>
              <a:t>MAU</a:t>
            </a:r>
            <a:r>
              <a:rPr lang="ja-JP" altLang="en-US" sz="1100">
                <a:solidFill>
                  <a:srgbClr val="5A6472"/>
                </a:solidFill>
                <a:latin typeface="Yu Gothic UI"/>
                <a:ea typeface="Yu Gothic UI"/>
              </a:rPr>
              <a:t>から逆算</a:t>
            </a:r>
          </a:p>
        </p:txBody>
      </p:sp>
      <p:sp>
        <p:nvSpPr>
          <p:cNvPr id="43" name="正方形/長方形 42">
            <a:extLst>
              <a:ext uri="{FF2B5EF4-FFF2-40B4-BE49-F238E27FC236}">
                <a16:creationId xmlns:a16="http://schemas.microsoft.com/office/drawing/2014/main" id="{10E4980C-5A14-1148-86D9-51940A3781E7}"/>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13872A74-3021-E443-873D-A187FC960573}"/>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入口で</a:t>
            </a:r>
            <a:r>
              <a:rPr lang="en-US" altLang="ja-JP" sz="1100" b="1">
                <a:solidFill>
                  <a:srgbClr val="1D2125"/>
                </a:solidFill>
                <a:latin typeface="Yu Gothic UI"/>
                <a:ea typeface="Yu Gothic UI"/>
              </a:rPr>
              <a:t>1</a:t>
            </a:r>
            <a:r>
              <a:rPr lang="ja-JP" altLang="en-US" sz="1100" b="1">
                <a:solidFill>
                  <a:srgbClr val="1D2125"/>
                </a:solidFill>
                <a:latin typeface="Yu Gothic UI"/>
                <a:ea typeface="Yu Gothic UI"/>
              </a:rPr>
              <a:t>秒あたりの受付上限をいくつにするか</a:t>
            </a:r>
          </a:p>
        </p:txBody>
      </p:sp>
      <p:sp>
        <p:nvSpPr>
          <p:cNvPr id="45" name="テキスト ボックス 44">
            <a:extLst>
              <a:ext uri="{FF2B5EF4-FFF2-40B4-BE49-F238E27FC236}">
                <a16:creationId xmlns:a16="http://schemas.microsoft.com/office/drawing/2014/main" id="{279E4A18-3402-3A48-B118-D14771D856E9}"/>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149BBF36-84BC-5447-806D-CC37B64840CE}"/>
              </a:ext>
            </a:extLst>
          </p:cNvPr>
          <p:cNvSpPr/>
          <p:nvPr/>
        </p:nvSpPr>
        <p:spPr>
          <a:xfrm>
            <a:off x="5943600" y="457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BABE860E-0101-7F4E-80FB-2EA47422A258}"/>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顧客別</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全体｜</a:t>
            </a:r>
            <a:r>
              <a:rPr lang="en" altLang="ja-JP" sz="1100">
                <a:solidFill>
                  <a:srgbClr val="5A6472"/>
                </a:solidFill>
                <a:latin typeface="Yu Gothic UI"/>
                <a:ea typeface="Yu Gothic UI"/>
              </a:rPr>
              <a:t>Cognito API Rate Limit</a:t>
            </a:r>
            <a:r>
              <a:rPr lang="ja-JP" altLang="en-US" sz="1100">
                <a:solidFill>
                  <a:srgbClr val="5A6472"/>
                </a:solidFill>
                <a:latin typeface="Yu Gothic UI"/>
                <a:ea typeface="Yu Gothic UI"/>
              </a:rPr>
              <a:t>別途</a:t>
            </a:r>
          </a:p>
        </p:txBody>
      </p:sp>
      <p:sp>
        <p:nvSpPr>
          <p:cNvPr id="48" name="正方形/長方形 47">
            <a:extLst>
              <a:ext uri="{FF2B5EF4-FFF2-40B4-BE49-F238E27FC236}">
                <a16:creationId xmlns:a16="http://schemas.microsoft.com/office/drawing/2014/main" id="{B734091F-816B-E940-8D8B-1DBC9AE0DE20}"/>
              </a:ext>
            </a:extLst>
          </p:cNvPr>
          <p:cNvSpPr/>
          <p:nvPr/>
        </p:nvSpPr>
        <p:spPr>
          <a:xfrm>
            <a:off x="812800" y="4953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253322DA-B81D-FE47-A0CA-773B24709D0B}"/>
              </a:ext>
            </a:extLst>
          </p:cNvPr>
          <p:cNvSpPr/>
          <p:nvPr/>
        </p:nvSpPr>
        <p:spPr>
          <a:xfrm>
            <a:off x="812800" y="544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4387CF91-E51A-E342-858C-CC317DAAF43F}"/>
              </a:ext>
            </a:extLst>
          </p:cNvPr>
          <p:cNvSpPr txBox="1"/>
          <p:nvPr/>
        </p:nvSpPr>
        <p:spPr>
          <a:xfrm>
            <a:off x="914400" y="510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始業時など混み合う時間帯の想定と、その山をどう吸収する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1" name="テキスト ボックス 50">
            <a:extLst>
              <a:ext uri="{FF2B5EF4-FFF2-40B4-BE49-F238E27FC236}">
                <a16:creationId xmlns:a16="http://schemas.microsoft.com/office/drawing/2014/main" id="{17B4994F-9DA2-B244-AE04-A35767229454}"/>
              </a:ext>
            </a:extLst>
          </p:cNvPr>
          <p:cNvSpPr txBox="1"/>
          <p:nvPr/>
        </p:nvSpPr>
        <p:spPr>
          <a:xfrm>
            <a:off x="5105400" y="510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D0AB6C00-A4C1-8F4C-BAF0-C8FF5EF94289}"/>
              </a:ext>
            </a:extLst>
          </p:cNvPr>
          <p:cNvSpPr/>
          <p:nvPr/>
        </p:nvSpPr>
        <p:spPr>
          <a:xfrm>
            <a:off x="5943600" y="5080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1499E5E1-0ACA-344F-9DBE-0B82DAB2E09B}"/>
              </a:ext>
            </a:extLst>
          </p:cNvPr>
          <p:cNvSpPr txBox="1"/>
          <p:nvPr/>
        </p:nvSpPr>
        <p:spPr>
          <a:xfrm>
            <a:off x="6908800" y="510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始業時</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倍想定｜ </a:t>
            </a:r>
            <a:r>
              <a:rPr lang="en" altLang="ja-JP" sz="1100">
                <a:solidFill>
                  <a:srgbClr val="5A6472"/>
                </a:solidFill>
                <a:latin typeface="Yu Gothic UI"/>
                <a:ea typeface="Yu Gothic UI"/>
              </a:rPr>
              <a:t>ECS</a:t>
            </a:r>
            <a:r>
              <a:rPr lang="ja-JP" altLang="en-US" sz="1100">
                <a:solidFill>
                  <a:srgbClr val="5A6472"/>
                </a:solidFill>
                <a:latin typeface="Yu Gothic UI"/>
                <a:ea typeface="Yu Gothic UI"/>
              </a:rPr>
              <a:t>事前スケールアウト設計</a:t>
            </a:r>
          </a:p>
        </p:txBody>
      </p:sp>
    </p:spTree>
    <p:extLst>
      <p:ext uri="{BB962C8B-B14F-4D97-AF65-F5344CB8AC3E}">
        <p14:creationId xmlns:p14="http://schemas.microsoft.com/office/powerpoint/2010/main" val="2240748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A5166B0-9FFC-1A45-B057-EE472DF19D0A}"/>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8F6C64B8-02E5-F641-B1AE-5EFCF080EBC7}"/>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性能と拡張性（</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8A808739-C745-604A-B909-52ED23051477}"/>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85356BDA-F9B3-6A40-9986-85A1F52C215D}"/>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E73EA7D6-0E16-4340-9C98-F48AF95BEB07}"/>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8DB937AB-53A1-624B-9C98-ABBB28FB0268}"/>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AFCE4701-9F78-5F4F-A1C3-25EDFBEE46D4}"/>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A2557D60-CBBF-9F41-AA1C-4EE79048617D}"/>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AAA640C6-C6E8-BB4D-A0AA-95093F2E394C}"/>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9681D693-73F3-B845-8B0D-1546985D134B}"/>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利用者数の上限をいくらと想定して設計するか。最重要の確</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1D8A71BB-EB90-E34A-BD87-0757C02A6ED2}"/>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BEEA94EE-1AB1-8B41-BCB4-2E8377C43057}"/>
              </a:ext>
            </a:extLst>
          </p:cNvPr>
          <p:cNvSpPr/>
          <p:nvPr/>
        </p:nvSpPr>
        <p:spPr>
          <a:xfrm>
            <a:off x="5943600" y="152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4" name="テキスト ボックス 13">
            <a:extLst>
              <a:ext uri="{FF2B5EF4-FFF2-40B4-BE49-F238E27FC236}">
                <a16:creationId xmlns:a16="http://schemas.microsoft.com/office/drawing/2014/main" id="{390DFA8A-93C9-9844-B711-6311629071CF}"/>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1</a:t>
            </a:r>
            <a:r>
              <a:rPr lang="ja-JP" altLang="en-US" sz="1100">
                <a:solidFill>
                  <a:srgbClr val="5A6472"/>
                </a:solidFill>
                <a:latin typeface="Yu Gothic UI"/>
                <a:ea typeface="Yu Gothic UI"/>
              </a:rPr>
              <a:t>年後</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年後｜★最重要：コスト損益分岐</a:t>
            </a:r>
            <a:r>
              <a:rPr lang="en-US" altLang="ja-JP" sz="1100">
                <a:solidFill>
                  <a:srgbClr val="5A6472"/>
                </a:solidFill>
                <a:latin typeface="Yu Gothic UI"/>
                <a:ea typeface="Yu Gothic UI"/>
              </a:rPr>
              <a:t>175,000 </a:t>
            </a:r>
            <a:r>
              <a:rPr lang="en" altLang="ja-JP" sz="1100">
                <a:solidFill>
                  <a:srgbClr val="5A6472"/>
                </a:solidFill>
                <a:latin typeface="Yu Gothic UI"/>
                <a:ea typeface="Yu Gothic UI"/>
              </a:rPr>
              <a:t>MAU(AD…</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78DC405B-5E6E-B141-BE4F-8D94A13FE53E}"/>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E7BE1C3E-955A-FE40-850B-A2F98BC759F1}"/>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56355136-B0CA-7640-9A46-295F996CFC20}"/>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同時にログイン状態になる人数を、最大いくらと見込むか</a:t>
            </a:r>
          </a:p>
        </p:txBody>
      </p:sp>
      <p:sp>
        <p:nvSpPr>
          <p:cNvPr id="18" name="テキスト ボックス 17">
            <a:extLst>
              <a:ext uri="{FF2B5EF4-FFF2-40B4-BE49-F238E27FC236}">
                <a16:creationId xmlns:a16="http://schemas.microsoft.com/office/drawing/2014/main" id="{4610A863-B6D6-6644-8B08-E158F62831FB}"/>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9DA74D6A-471D-8C46-8969-4FCE4BDAE52C}"/>
              </a:ext>
            </a:extLst>
          </p:cNvPr>
          <p:cNvSpPr/>
          <p:nvPr/>
        </p:nvSpPr>
        <p:spPr>
          <a:xfrm>
            <a:off x="5943600" y="203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FDD1543D-6D59-A14E-900E-651959610A2A}"/>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Sticky Session</a:t>
            </a:r>
            <a:r>
              <a:rPr lang="ja-JP" altLang="en-US" sz="1100">
                <a:solidFill>
                  <a:srgbClr val="5A6472"/>
                </a:solidFill>
                <a:latin typeface="Yu Gothic UI"/>
                <a:ea typeface="Yu Gothic UI"/>
              </a:rPr>
              <a:t>不要だが</a:t>
            </a:r>
            <a:r>
              <a:rPr lang="en" altLang="ja-JP" sz="1100">
                <a:solidFill>
                  <a:srgbClr val="5A6472"/>
                </a:solidFill>
                <a:latin typeface="Yu Gothic UI"/>
                <a:ea typeface="Yu Gothic UI"/>
              </a:rPr>
              <a:t>ECS Task</a:t>
            </a:r>
            <a:r>
              <a:rPr lang="ja-JP" altLang="en-US" sz="1100">
                <a:solidFill>
                  <a:srgbClr val="5A6472"/>
                </a:solidFill>
                <a:latin typeface="Yu Gothic UI"/>
                <a:ea typeface="Yu Gothic UI"/>
              </a:rPr>
              <a:t>数に依存</a:t>
            </a:r>
          </a:p>
        </p:txBody>
      </p:sp>
      <p:sp>
        <p:nvSpPr>
          <p:cNvPr id="21" name="正方形/長方形 20">
            <a:extLst>
              <a:ext uri="{FF2B5EF4-FFF2-40B4-BE49-F238E27FC236}">
                <a16:creationId xmlns:a16="http://schemas.microsoft.com/office/drawing/2014/main" id="{C9E31880-1C4F-1D46-887E-79DF18F6803C}"/>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4F0F958C-A8C3-1F4A-BD2F-112651A3AC4F}"/>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顧客の数（接続する</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基盤の数）を最大いくらと見込むか</a:t>
            </a:r>
          </a:p>
        </p:txBody>
      </p:sp>
      <p:sp>
        <p:nvSpPr>
          <p:cNvPr id="23" name="テキスト ボックス 22">
            <a:extLst>
              <a:ext uri="{FF2B5EF4-FFF2-40B4-BE49-F238E27FC236}">
                <a16:creationId xmlns:a16="http://schemas.microsoft.com/office/drawing/2014/main" id="{D90C5EF5-41C1-9341-8232-834E003849DB}"/>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71F7A81D-138B-014F-B955-92AE8E07E1A2}"/>
              </a:ext>
            </a:extLst>
          </p:cNvPr>
          <p:cNvSpPr/>
          <p:nvPr/>
        </p:nvSpPr>
        <p:spPr>
          <a:xfrm>
            <a:off x="5943600" y="2540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5" name="テキスト ボックス 24">
            <a:extLst>
              <a:ext uri="{FF2B5EF4-FFF2-40B4-BE49-F238E27FC236}">
                <a16:creationId xmlns:a16="http://schemas.microsoft.com/office/drawing/2014/main" id="{FCFB5359-8235-CA4B-BF83-AF946DB82462}"/>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顧客</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年｜両者複数</a:t>
            </a:r>
            <a:r>
              <a:rPr lang="en" altLang="ja-JP" sz="1100">
                <a:solidFill>
                  <a:srgbClr val="5A6472"/>
                </a:solidFill>
                <a:latin typeface="Yu Gothic UI"/>
                <a:ea typeface="Yu Gothic UI"/>
              </a:rPr>
              <a:t>IdP</a:t>
            </a:r>
            <a:r>
              <a:rPr lang="ja-JP" altLang="en-US" sz="1100">
                <a:solidFill>
                  <a:srgbClr val="5A6472"/>
                </a:solidFill>
                <a:latin typeface="Yu Gothic UI"/>
                <a:ea typeface="Yu Gothic UI"/>
              </a:rPr>
              <a:t>対応。基本設計側は</a:t>
            </a:r>
            <a:r>
              <a:rPr lang="en-US" altLang="ja-JP" sz="1100">
                <a:solidFill>
                  <a:srgbClr val="5A6472"/>
                </a:solidFill>
                <a:latin typeface="Yu Gothic UI"/>
                <a:ea typeface="Yu Gothic UI"/>
              </a:rPr>
              <a:t>1000+ </a:t>
            </a:r>
            <a:r>
              <a:rPr lang="en" altLang="ja-JP" sz="1100">
                <a:solidFill>
                  <a:srgbClr val="5A6472"/>
                </a:solidFill>
                <a:latin typeface="Yu Gothic UI"/>
                <a:ea typeface="Yu Gothic UI"/>
              </a:rPr>
              <a:t>IdP</a:t>
            </a:r>
            <a:r>
              <a:rPr lang="ja-JP" altLang="en-US" sz="1100">
                <a:solidFill>
                  <a:srgbClr val="5A6472"/>
                </a:solidFill>
                <a:latin typeface="Yu Gothic UI"/>
                <a:ea typeface="Yu Gothic UI"/>
              </a:rPr>
              <a:t>を</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9529B9F8-3D8E-C746-9396-79D71B4992FB}"/>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21BD054F-6185-4941-9994-4AC1DD4B2696}"/>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DC07683C-F398-A04F-B7BB-40563E76B042}"/>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新しい顧客の接続を、依頼から何日で開通させるか</a:t>
            </a:r>
          </a:p>
        </p:txBody>
      </p:sp>
      <p:sp>
        <p:nvSpPr>
          <p:cNvPr id="29" name="テキスト ボックス 28">
            <a:extLst>
              <a:ext uri="{FF2B5EF4-FFF2-40B4-BE49-F238E27FC236}">
                <a16:creationId xmlns:a16="http://schemas.microsoft.com/office/drawing/2014/main" id="{1EF71F3A-2C22-914C-AE15-F9AA50329C0F}"/>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79212E67-63F3-5140-9BED-040C0C1DAB22}"/>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9AD4CEDD-CCFB-E048-85DA-DF513E25BD1C}"/>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(D)&lt;1</a:t>
            </a:r>
            <a:r>
              <a:rPr lang="ja-JP" altLang="en-US" sz="1100">
                <a:solidFill>
                  <a:srgbClr val="5A6472"/>
                </a:solidFill>
                <a:latin typeface="Yu Gothic UI"/>
                <a:ea typeface="Yu Gothic UI"/>
              </a:rPr>
              <a:t>営業日｜両者</a:t>
            </a:r>
            <a:r>
              <a:rPr lang="en" altLang="ja-JP" sz="1100">
                <a:solidFill>
                  <a:srgbClr val="5A6472"/>
                </a:solidFill>
                <a:latin typeface="Yu Gothic UI"/>
                <a:ea typeface="Yu Gothic UI"/>
              </a:rPr>
              <a:t>Console/IaC</a:t>
            </a:r>
            <a:r>
              <a:rPr lang="ja-JP" altLang="en-US" sz="1100">
                <a:solidFill>
                  <a:srgbClr val="5A6472"/>
                </a:solidFill>
                <a:latin typeface="Yu Gothic UI"/>
                <a:ea typeface="Yu Gothic UI"/>
              </a:rPr>
              <a:t>対応。基本設計に</a:t>
            </a:r>
            <a:r>
              <a:rPr lang="en" altLang="ja-JP" sz="1100">
                <a:solidFill>
                  <a:srgbClr val="5A6472"/>
                </a:solidFill>
                <a:latin typeface="Yu Gothic UI"/>
                <a:ea typeface="Yu Gothic UI"/>
              </a:rPr>
              <a:t>IdP</a:t>
            </a:r>
            <a:r>
              <a:rPr lang="ja-JP" altLang="en-US" sz="1100">
                <a:solidFill>
                  <a:srgbClr val="5A6472"/>
                </a:solidFill>
                <a:latin typeface="Yu Gothic UI"/>
                <a:ea typeface="Yu Gothic UI"/>
              </a:rPr>
              <a:t>オンボーデ</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32" name="正方形/長方形 31">
            <a:extLst>
              <a:ext uri="{FF2B5EF4-FFF2-40B4-BE49-F238E27FC236}">
                <a16:creationId xmlns:a16="http://schemas.microsoft.com/office/drawing/2014/main" id="{FAF3628C-EA73-D243-89ED-75956D92F8E8}"/>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65D448BB-886E-9E42-B345-31CDD47F4E9A}"/>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混雑に応じて設備を自動で増減させるか。増やす・減らす判</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F6796BE3-7356-5043-82C6-A61D8659FD69}"/>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288AC918-683E-5648-875F-9FD84DCDBFDD}"/>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843D5B6D-6E16-1649-AB38-F4860900F8F3}"/>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必須（負荷に応じて）｜ </a:t>
            </a:r>
            <a:r>
              <a:rPr lang="en" altLang="ja-JP" sz="1100">
                <a:solidFill>
                  <a:srgbClr val="5A6472"/>
                </a:solidFill>
                <a:latin typeface="Yu Gothic UI"/>
                <a:ea typeface="Yu Gothic UI"/>
              </a:rPr>
              <a:t>ECS Auto Scaling</a:t>
            </a:r>
            <a:r>
              <a:rPr lang="ja-JP" altLang="en-US" sz="1100">
                <a:solidFill>
                  <a:srgbClr val="5A6472"/>
                </a:solidFill>
                <a:latin typeface="Yu Gothic UI"/>
                <a:ea typeface="Yu Gothic UI"/>
              </a:rPr>
              <a:t>設計要</a:t>
            </a:r>
          </a:p>
        </p:txBody>
      </p:sp>
      <p:sp>
        <p:nvSpPr>
          <p:cNvPr id="37" name="正方形/長方形 36">
            <a:extLst>
              <a:ext uri="{FF2B5EF4-FFF2-40B4-BE49-F238E27FC236}">
                <a16:creationId xmlns:a16="http://schemas.microsoft.com/office/drawing/2014/main" id="{B07AFEC6-784F-1546-90F5-2B68FA59E0B0}"/>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A36DB1A7-F2AE-364D-BD13-D191E1526EA6}"/>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D5F6C7D8-1434-1F4D-B5F2-96968C8A6267}"/>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複数の地域で同時に稼働させる必要があるか</a:t>
            </a:r>
          </a:p>
        </p:txBody>
      </p:sp>
      <p:sp>
        <p:nvSpPr>
          <p:cNvPr id="40" name="テキスト ボックス 39">
            <a:extLst>
              <a:ext uri="{FF2B5EF4-FFF2-40B4-BE49-F238E27FC236}">
                <a16:creationId xmlns:a16="http://schemas.microsoft.com/office/drawing/2014/main" id="{452C31AD-14A7-1744-AD5D-9AB893EEB23A}"/>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FF53637E-C0A4-7F4B-AEA5-C4CFB286FD42}"/>
              </a:ext>
            </a:extLst>
          </p:cNvPr>
          <p:cNvSpPr/>
          <p:nvPr/>
        </p:nvSpPr>
        <p:spPr>
          <a:xfrm>
            <a:off x="5943600" y="406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6066FDA3-FD40-1F43-90E4-A892939E069C}"/>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必要</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不要｜ </a:t>
            </a:r>
            <a:r>
              <a:rPr lang="en" altLang="ja-JP" sz="1100">
                <a:solidFill>
                  <a:srgbClr val="5A6472"/>
                </a:solidFill>
                <a:latin typeface="Yu Gothic UI"/>
                <a:ea typeface="Yu Gothic UI"/>
              </a:rPr>
              <a:t>Aurora Global DB</a:t>
            </a:r>
            <a:r>
              <a:rPr lang="ja-JP" altLang="en-US" sz="1100">
                <a:solidFill>
                  <a:srgbClr val="5A6472"/>
                </a:solidFill>
                <a:latin typeface="Yu Gothic UI"/>
                <a:ea typeface="Yu Gothic UI"/>
              </a:rPr>
              <a:t>設計要</a:t>
            </a:r>
          </a:p>
        </p:txBody>
      </p:sp>
      <p:sp>
        <p:nvSpPr>
          <p:cNvPr id="43" name="正方形/長方形 42">
            <a:extLst>
              <a:ext uri="{FF2B5EF4-FFF2-40B4-BE49-F238E27FC236}">
                <a16:creationId xmlns:a16="http://schemas.microsoft.com/office/drawing/2014/main" id="{2946CD75-1889-8C40-9DE1-9BD729CCC448}"/>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0FCF2DEC-E673-F54C-BF7D-8B4C4E0AF7C3}"/>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データベースの拡張余地をどこまで確保するか</a:t>
            </a:r>
          </a:p>
        </p:txBody>
      </p:sp>
      <p:sp>
        <p:nvSpPr>
          <p:cNvPr id="45" name="テキスト ボックス 44">
            <a:extLst>
              <a:ext uri="{FF2B5EF4-FFF2-40B4-BE49-F238E27FC236}">
                <a16:creationId xmlns:a16="http://schemas.microsoft.com/office/drawing/2014/main" id="{A392F68F-5F9B-EC4E-9154-FD8E1D94B3F5}"/>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DE00026D-4F8F-F14B-B57F-63BC9B863198}"/>
              </a:ext>
            </a:extLst>
          </p:cNvPr>
          <p:cNvSpPr/>
          <p:nvPr/>
        </p:nvSpPr>
        <p:spPr>
          <a:xfrm>
            <a:off x="5943600" y="457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051C9DE8-98AE-1C48-975C-7EAC800CB6DA}"/>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Aurora Auto Scaling</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は対象外</a:t>
            </a:r>
          </a:p>
        </p:txBody>
      </p:sp>
    </p:spTree>
    <p:extLst>
      <p:ext uri="{BB962C8B-B14F-4D97-AF65-F5344CB8AC3E}">
        <p14:creationId xmlns:p14="http://schemas.microsoft.com/office/powerpoint/2010/main" val="2975922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4082F75-B88B-F445-876A-4244BF809CCA}"/>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6A5D6D9-F365-A94D-8732-54D26FD92C80}"/>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可用性と災害復旧（</a:t>
            </a:r>
            <a:r>
              <a:rPr lang="en-US" altLang="ja-JP" sz="2300" b="1">
                <a:solidFill>
                  <a:srgbClr val="1F3864"/>
                </a:solidFill>
                <a:latin typeface="Yu Gothic UI"/>
                <a:ea typeface="Yu Gothic UI"/>
              </a:rPr>
              <a:t>1</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D1155C32-8038-7748-8924-59CE157F3788}"/>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09452C70-8508-094C-AFBF-935626748310}"/>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52670DED-752A-4141-8A07-0505CC12F554}"/>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1EFD483A-1650-2240-A0BB-2254B03ADAF9}"/>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DE63394F-6800-A449-BE7E-CC50CD457227}"/>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C04FD46A-F370-1240-BAA2-6188CB513080}"/>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3882E9AF-8CDB-A241-A9ED-5E1B5663F279}"/>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AD69BB89-B0A6-7C4A-B2C4-1B0F2D6E43BE}"/>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何％の稼働率を顧客に約束するか。約束を下回ったときの扱</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B79EDF31-F444-C948-B4A4-B6FE1FB72D40}"/>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612650D9-7E7C-494D-ABE8-F2734D26E208}"/>
              </a:ext>
            </a:extLst>
          </p:cNvPr>
          <p:cNvSpPr/>
          <p:nvPr/>
        </p:nvSpPr>
        <p:spPr>
          <a:xfrm>
            <a:off x="5943600" y="152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4" name="テキスト ボックス 13">
            <a:extLst>
              <a:ext uri="{FF2B5EF4-FFF2-40B4-BE49-F238E27FC236}">
                <a16:creationId xmlns:a16="http://schemas.microsoft.com/office/drawing/2014/main" id="{7889AC07-84A1-0E49-9B6D-BDAFA0108680}"/>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99.9%/99.95%/99.99%</a:t>
            </a:r>
            <a:r>
              <a:rPr lang="ja-JP" altLang="en" sz="1100">
                <a:solidFill>
                  <a:srgbClr val="5A6472"/>
                </a:solidFill>
                <a:latin typeface="Yu Gothic UI"/>
                <a:ea typeface="Yu Gothic UI"/>
              </a:rPr>
              <a:t>｜ </a:t>
            </a:r>
            <a:r>
              <a:rPr lang="ja-JP" altLang="en-US" sz="1100">
                <a:solidFill>
                  <a:srgbClr val="5A6472"/>
                </a:solidFill>
                <a:latin typeface="Yu Gothic UI"/>
                <a:ea typeface="Yu Gothic UI"/>
              </a:rPr>
              <a:t>自前</a:t>
            </a:r>
            <a:r>
              <a:rPr lang="en" altLang="ja-JP" sz="1100">
                <a:solidFill>
                  <a:srgbClr val="5A6472"/>
                </a:solidFill>
                <a:latin typeface="Yu Gothic UI"/>
                <a:ea typeface="Yu Gothic UI"/>
              </a:rPr>
              <a:t>HA</a:t>
            </a:r>
            <a:r>
              <a:rPr lang="ja-JP" altLang="en-US" sz="1100">
                <a:solidFill>
                  <a:srgbClr val="5A6472"/>
                </a:solidFill>
                <a:latin typeface="Yu Gothic UI"/>
                <a:ea typeface="Yu Gothic UI"/>
              </a:rPr>
              <a:t>設計。★最重要：</a:t>
            </a:r>
            <a:r>
              <a:rPr lang="en-US" altLang="ja-JP" sz="1100">
                <a:solidFill>
                  <a:srgbClr val="5A6472"/>
                </a:solidFill>
                <a:latin typeface="Yu Gothic UI"/>
                <a:ea typeface="Yu Gothic UI"/>
              </a:rPr>
              <a:t>99.9%…</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E5F40CD7-F151-E04E-B045-E992E7A41722}"/>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6071861F-4A7C-5B4A-83CA-240412550EDF}"/>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E14AC28D-E158-4444-BA49-FB609F2EB8C1}"/>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計画的な停止作業をいつ・どのくらいの頻度で行うか。事前</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A1B19012-6804-FF42-9F9C-85706EDD7339}"/>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9BD34ACF-CFFC-BE4A-B6D2-D32F68FBA861}"/>
              </a:ext>
            </a:extLst>
          </p:cNvPr>
          <p:cNvSpPr/>
          <p:nvPr/>
        </p:nvSpPr>
        <p:spPr>
          <a:xfrm>
            <a:off x="5943600" y="203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63A0236D-8A65-BE4F-BD04-DAADCD4B2724}"/>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月</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時間｜ </a:t>
            </a:r>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設定変更時の制約あり</a:t>
            </a:r>
          </a:p>
        </p:txBody>
      </p:sp>
      <p:sp>
        <p:nvSpPr>
          <p:cNvPr id="21" name="正方形/長方形 20">
            <a:extLst>
              <a:ext uri="{FF2B5EF4-FFF2-40B4-BE49-F238E27FC236}">
                <a16:creationId xmlns:a16="http://schemas.microsoft.com/office/drawing/2014/main" id="{3597ADB3-CA2A-F448-9249-8723EC265CDF}"/>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6059E7DE-0963-DB41-9D51-5A6885515E15}"/>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障害に備えて設備を複数の場所に分けて置くか</a:t>
            </a:r>
          </a:p>
        </p:txBody>
      </p:sp>
      <p:sp>
        <p:nvSpPr>
          <p:cNvPr id="23" name="テキスト ボックス 22">
            <a:extLst>
              <a:ext uri="{FF2B5EF4-FFF2-40B4-BE49-F238E27FC236}">
                <a16:creationId xmlns:a16="http://schemas.microsoft.com/office/drawing/2014/main" id="{5ECC9A34-44ED-DB47-BA9D-26AFE57FE35D}"/>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2C27153F-BDAE-3D4C-8E76-9881E21DA930}"/>
              </a:ext>
            </a:extLst>
          </p:cNvPr>
          <p:cNvSpPr/>
          <p:nvPr/>
        </p:nvSpPr>
        <p:spPr>
          <a:xfrm>
            <a:off x="5943600" y="2540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5" name="テキスト ボックス 24">
            <a:extLst>
              <a:ext uri="{FF2B5EF4-FFF2-40B4-BE49-F238E27FC236}">
                <a16:creationId xmlns:a16="http://schemas.microsoft.com/office/drawing/2014/main" id="{702AAEF4-AC5A-5A4C-84A8-55E801CD0CE8}"/>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 </a:t>
            </a:r>
            <a:r>
              <a:rPr lang="en" altLang="ja-JP" sz="1100">
                <a:solidFill>
                  <a:srgbClr val="5A6472"/>
                </a:solidFill>
                <a:latin typeface="Yu Gothic UI"/>
                <a:ea typeface="Yu Gothic UI"/>
              </a:rPr>
              <a:t>ECS Multi-AZ+Aurora Multi-AZ</a:t>
            </a:r>
            <a:r>
              <a:rPr lang="ja-JP" altLang="en-US" sz="1100">
                <a:solidFill>
                  <a:srgbClr val="5A6472"/>
                </a:solidFill>
                <a:latin typeface="Yu Gothic UI"/>
                <a:ea typeface="Yu Gothic UI"/>
              </a:rPr>
              <a:t>設計要</a:t>
            </a:r>
          </a:p>
        </p:txBody>
      </p:sp>
      <p:sp>
        <p:nvSpPr>
          <p:cNvPr id="26" name="正方形/長方形 25">
            <a:extLst>
              <a:ext uri="{FF2B5EF4-FFF2-40B4-BE49-F238E27FC236}">
                <a16:creationId xmlns:a16="http://schemas.microsoft.com/office/drawing/2014/main" id="{2C8E4470-54E0-B44E-848C-BEF40F5FDC42}"/>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03644CDD-B1F7-F24D-BC0D-9144B7A69750}"/>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78EC09EE-C753-0A4E-B5EB-80FFFAF80174}"/>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部品が落ちたときに自動で立ち上げ直す仕組みを入れるか</a:t>
            </a:r>
          </a:p>
        </p:txBody>
      </p:sp>
      <p:sp>
        <p:nvSpPr>
          <p:cNvPr id="29" name="テキスト ボックス 28">
            <a:extLst>
              <a:ext uri="{FF2B5EF4-FFF2-40B4-BE49-F238E27FC236}">
                <a16:creationId xmlns:a16="http://schemas.microsoft.com/office/drawing/2014/main" id="{430A048D-A476-BD4E-93D4-1A7F1BDDDA5C}"/>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832AC67A-5675-E242-AB95-6A261975446A}"/>
              </a:ext>
            </a:extLst>
          </p:cNvPr>
          <p:cNvSpPr/>
          <p:nvPr/>
        </p:nvSpPr>
        <p:spPr>
          <a:xfrm>
            <a:off x="5943600" y="3048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1" name="テキスト ボックス 30">
            <a:extLst>
              <a:ext uri="{FF2B5EF4-FFF2-40B4-BE49-F238E27FC236}">
                <a16:creationId xmlns:a16="http://schemas.microsoft.com/office/drawing/2014/main" id="{3B3E331B-9821-CA42-B5F2-AFCCDB287E39}"/>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 </a:t>
            </a:r>
            <a:r>
              <a:rPr lang="en" altLang="ja-JP" sz="1100">
                <a:solidFill>
                  <a:srgbClr val="5A6472"/>
                </a:solidFill>
                <a:latin typeface="Yu Gothic UI"/>
                <a:ea typeface="Yu Gothic UI"/>
              </a:rPr>
              <a:t>ECS Service Auto Heal</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検証済</a:t>
            </a:r>
          </a:p>
        </p:txBody>
      </p:sp>
      <p:sp>
        <p:nvSpPr>
          <p:cNvPr id="32" name="正方形/長方形 31">
            <a:extLst>
              <a:ext uri="{FF2B5EF4-FFF2-40B4-BE49-F238E27FC236}">
                <a16:creationId xmlns:a16="http://schemas.microsoft.com/office/drawing/2014/main" id="{80E54607-97AF-584E-93BC-5376AE107D7A}"/>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439C575B-B102-604E-A667-58A2A3777727}"/>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en-US" altLang="ja-JP" sz="1100" b="1">
                <a:solidFill>
                  <a:srgbClr val="1D2125"/>
                </a:solidFill>
                <a:latin typeface="Yu Gothic UI"/>
                <a:ea typeface="Yu Gothic UI"/>
              </a:rPr>
              <a:t>1</a:t>
            </a:r>
            <a:r>
              <a:rPr lang="ja-JP" altLang="en-US" sz="1100" b="1">
                <a:solidFill>
                  <a:srgbClr val="1D2125"/>
                </a:solidFill>
                <a:latin typeface="Yu Gothic UI"/>
                <a:ea typeface="Yu Gothic UI"/>
              </a:rPr>
              <a:t>か所壊れると全部止まる箇所をなくす方針でよいか</a:t>
            </a:r>
          </a:p>
        </p:txBody>
      </p:sp>
      <p:sp>
        <p:nvSpPr>
          <p:cNvPr id="34" name="テキスト ボックス 33">
            <a:extLst>
              <a:ext uri="{FF2B5EF4-FFF2-40B4-BE49-F238E27FC236}">
                <a16:creationId xmlns:a16="http://schemas.microsoft.com/office/drawing/2014/main" id="{7907D994-43B1-5B42-A7A1-0E78E24CA78D}"/>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0FF366B8-B74F-6B49-A6D0-83A0E9DC1C38}"/>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6F068C59-EA41-9A46-BA49-A252DA8E68E4}"/>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 </a:t>
            </a:r>
            <a:r>
              <a:rPr lang="en" altLang="ja-JP" sz="1100">
                <a:solidFill>
                  <a:srgbClr val="5A6472"/>
                </a:solidFill>
                <a:latin typeface="Yu Gothic UI"/>
                <a:ea typeface="Yu Gothic UI"/>
              </a:rPr>
              <a:t>RDS/ALB</a:t>
            </a:r>
            <a:r>
              <a:rPr lang="ja-JP" altLang="en-US" sz="1100">
                <a:solidFill>
                  <a:srgbClr val="5A6472"/>
                </a:solidFill>
                <a:latin typeface="Yu Gothic UI"/>
                <a:ea typeface="Yu Gothic UI"/>
              </a:rPr>
              <a:t>冗長化要</a:t>
            </a:r>
          </a:p>
        </p:txBody>
      </p:sp>
      <p:sp>
        <p:nvSpPr>
          <p:cNvPr id="37" name="正方形/長方形 36">
            <a:extLst>
              <a:ext uri="{FF2B5EF4-FFF2-40B4-BE49-F238E27FC236}">
                <a16:creationId xmlns:a16="http://schemas.microsoft.com/office/drawing/2014/main" id="{DE0BB44E-E862-4A49-BB0C-E15A2894E2B0}"/>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F74F0E36-4C09-494D-821B-BD03A836508C}"/>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2393F1F4-41D2-0B4F-8EA5-956460914112}"/>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更新作業中もサービスを止めない方式にするか</a:t>
            </a:r>
          </a:p>
        </p:txBody>
      </p:sp>
      <p:sp>
        <p:nvSpPr>
          <p:cNvPr id="40" name="テキスト ボックス 39">
            <a:extLst>
              <a:ext uri="{FF2B5EF4-FFF2-40B4-BE49-F238E27FC236}">
                <a16:creationId xmlns:a16="http://schemas.microsoft.com/office/drawing/2014/main" id="{B0C1F8CE-2A86-2340-AC60-E9154C316F1F}"/>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F7DAF125-2534-9847-B2B2-0A0E80E4EC09}"/>
              </a:ext>
            </a:extLst>
          </p:cNvPr>
          <p:cNvSpPr/>
          <p:nvPr/>
        </p:nvSpPr>
        <p:spPr>
          <a:xfrm>
            <a:off x="5943600" y="4064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541FF90F-9D80-7B4C-A149-D8E7591BA17A}"/>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ゼロダウン（</a:t>
            </a:r>
            <a:r>
              <a:rPr lang="en" altLang="ja-JP" sz="1100">
                <a:solidFill>
                  <a:srgbClr val="5A6472"/>
                </a:solidFill>
                <a:latin typeface="Yu Gothic UI"/>
                <a:ea typeface="Yu Gothic UI"/>
              </a:rPr>
              <a:t>Blue/Green</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Rolling Update</a:t>
            </a:r>
            <a:r>
              <a:rPr lang="ja-JP" altLang="en-US" sz="1100">
                <a:solidFill>
                  <a:srgbClr val="5A6472"/>
                </a:solidFill>
                <a:latin typeface="Yu Gothic UI"/>
                <a:ea typeface="Yu Gothic UI"/>
              </a:rPr>
              <a:t>設計</a:t>
            </a:r>
          </a:p>
        </p:txBody>
      </p:sp>
      <p:sp>
        <p:nvSpPr>
          <p:cNvPr id="43" name="正方形/長方形 42">
            <a:extLst>
              <a:ext uri="{FF2B5EF4-FFF2-40B4-BE49-F238E27FC236}">
                <a16:creationId xmlns:a16="http://schemas.microsoft.com/office/drawing/2014/main" id="{7F1DCBAE-31AD-0943-BC58-951AB2F97206}"/>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337FC9E0-B6B1-5748-AE00-DFB0BD91525F}"/>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大きな障害からどれだけの時間で復旧させるか。最重要の確</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E1AEF861-BF43-7B43-B75A-49E83B780215}"/>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16D80A18-CB32-5549-AB86-83A53B253DEA}"/>
              </a:ext>
            </a:extLst>
          </p:cNvPr>
          <p:cNvSpPr/>
          <p:nvPr/>
        </p:nvSpPr>
        <p:spPr>
          <a:xfrm>
            <a:off x="5943600" y="457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4A031CE3-856A-634D-A015-0321898C3A73}"/>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分</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時間｜★最重要：</a:t>
            </a:r>
            <a:r>
              <a:rPr lang="en" altLang="ja-JP" sz="1100">
                <a:solidFill>
                  <a:srgbClr val="5A6472"/>
                </a:solidFill>
                <a:latin typeface="Yu Gothic UI"/>
                <a:ea typeface="Yu Gothic UI"/>
              </a:rPr>
              <a:t>DR</a:t>
            </a:r>
            <a:r>
              <a:rPr lang="ja-JP" altLang="en-US" sz="1100">
                <a:solidFill>
                  <a:srgbClr val="5A6472"/>
                </a:solidFill>
                <a:latin typeface="Yu Gothic UI"/>
                <a:ea typeface="Yu Gothic UI"/>
              </a:rPr>
              <a:t>コスト差</a:t>
            </a:r>
            <a:r>
              <a:rPr lang="en-US" altLang="ja-JP" sz="1100">
                <a:solidFill>
                  <a:srgbClr val="5A6472"/>
                </a:solidFill>
                <a:latin typeface="Yu Gothic UI"/>
                <a:ea typeface="Yu Gothic UI"/>
              </a:rPr>
              <a:t>($0.50/</a:t>
            </a:r>
            <a:r>
              <a:rPr lang="ja-JP" altLang="en-US" sz="1100">
                <a:solidFill>
                  <a:srgbClr val="5A6472"/>
                </a:solidFill>
                <a:latin typeface="Yu Gothic UI"/>
                <a:ea typeface="Yu Gothic UI"/>
              </a:rPr>
              <a:t>月 </a:t>
            </a:r>
            <a:r>
              <a:rPr lang="en" altLang="ja-JP" sz="1100">
                <a:solidFill>
                  <a:srgbClr val="5A6472"/>
                </a:solidFill>
                <a:latin typeface="Yu Gothic UI"/>
                <a:ea typeface="Yu Gothic UI"/>
              </a:rPr>
              <a:t>vs $890/</a:t>
            </a:r>
            <a:r>
              <a:rPr lang="ja-JP" altLang="en-US" sz="1100">
                <a:solidFill>
                  <a:srgbClr val="5A6472"/>
                </a:solidFill>
                <a:latin typeface="Yu Gothic UI"/>
                <a:ea typeface="Yu Gothic UI"/>
              </a:rPr>
              <a:t>月</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3782913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A73083C-FF20-CD44-8B45-9EC6B346745A}"/>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A59F241-5B7A-D14B-B6FD-19F5EC3C265F}"/>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可用性と災害復旧（</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CB965BF6-4AC4-C949-9127-C715BF90D20A}"/>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7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29661895-8E63-0F48-B761-609FD94781BA}"/>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A179BEA1-DA12-CF46-A7C4-F82E0557CBFC}"/>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9D287418-A0F2-3C48-B10F-78B803E8CE46}"/>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28F93E26-BBC5-F94F-A5DA-2289A916E267}"/>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EDA3859A-C8EA-BB43-84A8-72C2A2381357}"/>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C0D77C6B-2AED-B346-8120-0001117265E4}"/>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70D73671-6C2C-C54C-9568-1BD3EAF886AA}"/>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障害時にどこまでのデータ喪失を許容するか。最重要の確認</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4E141365-B454-374E-A34A-2F5B6F8E28DD}"/>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F22E5482-89E1-D548-8A2C-0485DE3B9FB2}"/>
              </a:ext>
            </a:extLst>
          </p:cNvPr>
          <p:cNvSpPr/>
          <p:nvPr/>
        </p:nvSpPr>
        <p:spPr>
          <a:xfrm>
            <a:off x="5943600" y="152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4" name="テキスト ボックス 13">
            <a:extLst>
              <a:ext uri="{FF2B5EF4-FFF2-40B4-BE49-F238E27FC236}">
                <a16:creationId xmlns:a16="http://schemas.microsoft.com/office/drawing/2014/main" id="{870C7E53-38A4-0C4E-B850-6C3B11D65C2F}"/>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分</a:t>
            </a:r>
            <a:r>
              <a:rPr lang="en-US" altLang="ja-JP" sz="1100">
                <a:solidFill>
                  <a:srgbClr val="5A6472"/>
                </a:solidFill>
                <a:latin typeface="Yu Gothic UI"/>
                <a:ea typeface="Yu Gothic UI"/>
              </a:rPr>
              <a:t>/0</a:t>
            </a:r>
            <a:r>
              <a:rPr lang="ja-JP" altLang="en-US" sz="1100">
                <a:solidFill>
                  <a:srgbClr val="5A6472"/>
                </a:solidFill>
                <a:latin typeface="Yu Gothic UI"/>
                <a:ea typeface="Yu Gothic UI"/>
              </a:rPr>
              <a:t>｜★最重要。 </a:t>
            </a:r>
            <a:r>
              <a:rPr lang="en" altLang="ja-JP" sz="1100">
                <a:solidFill>
                  <a:srgbClr val="5A6472"/>
                </a:solidFill>
                <a:latin typeface="Yu Gothic UI"/>
                <a:ea typeface="Yu Gothic UI"/>
              </a:rPr>
              <a:t>Aurora Global DB</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〜1</a:t>
            </a:r>
            <a:r>
              <a:rPr lang="ja-JP" altLang="en-US" sz="1100">
                <a:solidFill>
                  <a:srgbClr val="5A6472"/>
                </a:solidFill>
                <a:latin typeface="Yu Gothic UI"/>
                <a:ea typeface="Yu Gothic UI"/>
              </a:rPr>
              <a:t>秒）</a:t>
            </a:r>
          </a:p>
        </p:txBody>
      </p:sp>
      <p:sp>
        <p:nvSpPr>
          <p:cNvPr id="15" name="正方形/長方形 14">
            <a:extLst>
              <a:ext uri="{FF2B5EF4-FFF2-40B4-BE49-F238E27FC236}">
                <a16:creationId xmlns:a16="http://schemas.microsoft.com/office/drawing/2014/main" id="{BCEDBA03-880D-A14B-A6FA-81E33796D78B}"/>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A02EFA60-3F88-CD4F-B55C-47C192DE92B3}"/>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F43CE1D4-4F9B-9744-BBC7-0F03E074A67C}"/>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予備側への切替を自動で行うか、人の判断で行うか</a:t>
            </a:r>
          </a:p>
        </p:txBody>
      </p:sp>
      <p:sp>
        <p:nvSpPr>
          <p:cNvPr id="18" name="テキスト ボックス 17">
            <a:extLst>
              <a:ext uri="{FF2B5EF4-FFF2-40B4-BE49-F238E27FC236}">
                <a16:creationId xmlns:a16="http://schemas.microsoft.com/office/drawing/2014/main" id="{55FF1DF7-6C6C-C64D-BD33-8DFBFEB62DEB}"/>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9EF3E656-7732-6041-869F-516746F846AF}"/>
              </a:ext>
            </a:extLst>
          </p:cNvPr>
          <p:cNvSpPr/>
          <p:nvPr/>
        </p:nvSpPr>
        <p:spPr>
          <a:xfrm>
            <a:off x="5943600" y="203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FDB0D880-9555-2141-B31B-9E8666C9E495}"/>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自動</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手動｜ 設計要。基本設計はパイロットライト（</a:t>
            </a:r>
            <a:r>
              <a:rPr lang="en" altLang="ja-JP" sz="1100">
                <a:solidFill>
                  <a:srgbClr val="5A6472"/>
                </a:solidFill>
                <a:latin typeface="Yu Gothic UI"/>
                <a:ea typeface="Yu Gothic UI"/>
              </a:rPr>
              <a:t>KC S…</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7BECE873-C9FC-A049-9EA5-8FA8104CE918}"/>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1E502297-881F-EB49-B3F7-4BB905E5AE86}"/>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バックアップを何日分保持するか</a:t>
            </a:r>
          </a:p>
        </p:txBody>
      </p:sp>
      <p:sp>
        <p:nvSpPr>
          <p:cNvPr id="23" name="テキスト ボックス 22">
            <a:extLst>
              <a:ext uri="{FF2B5EF4-FFF2-40B4-BE49-F238E27FC236}">
                <a16:creationId xmlns:a16="http://schemas.microsoft.com/office/drawing/2014/main" id="{4EF8A943-15FC-5E4C-BD88-5B75ECC9D07D}"/>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F94DDA56-CFFC-6649-AAC4-24647578FE15}"/>
              </a:ext>
            </a:extLst>
          </p:cNvPr>
          <p:cNvSpPr/>
          <p:nvPr/>
        </p:nvSpPr>
        <p:spPr>
          <a:xfrm>
            <a:off x="5943600" y="2540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5" name="テキスト ボックス 24">
            <a:extLst>
              <a:ext uri="{FF2B5EF4-FFF2-40B4-BE49-F238E27FC236}">
                <a16:creationId xmlns:a16="http://schemas.microsoft.com/office/drawing/2014/main" id="{9CC30284-86F4-634B-A4C0-87D1FD6D78FB}"/>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(D)30</a:t>
            </a:r>
            <a:r>
              <a:rPr lang="ja-JP" altLang="en-US" sz="1100">
                <a:solidFill>
                  <a:srgbClr val="5A6472"/>
                </a:solidFill>
                <a:latin typeface="Yu Gothic UI"/>
                <a:ea typeface="Yu Gothic UI"/>
              </a:rPr>
              <a:t>日｜ </a:t>
            </a:r>
            <a:r>
              <a:rPr lang="en" altLang="ja-JP" sz="1100">
                <a:solidFill>
                  <a:srgbClr val="5A6472"/>
                </a:solidFill>
                <a:latin typeface="Yu Gothic UI"/>
                <a:ea typeface="Yu Gothic UI"/>
              </a:rPr>
              <a:t>RDS Automated Backup</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D02433E3-0074-D943-9CF2-BB0AA8372428}"/>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4B623B32-34DE-FD40-8133-12A209DD1210}"/>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F50A4474-4C3D-CF45-9DE5-2D0688BB9EBA}"/>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任意の時点まで巻き戻せる仕組みを用意するか。遡れる範囲</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B2644F5E-43D9-8C49-B636-C7821E3CCEC3}"/>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BDEC7CBE-BC6C-0D49-BA32-A9DF4CA0ECA1}"/>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15FAACE5-766B-5247-8B13-B916E288C8A9}"/>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(D)5</a:t>
            </a:r>
            <a:r>
              <a:rPr lang="ja-JP" altLang="en-US" sz="1100">
                <a:solidFill>
                  <a:srgbClr val="5A6472"/>
                </a:solidFill>
                <a:latin typeface="Yu Gothic UI"/>
                <a:ea typeface="Yu Gothic UI"/>
              </a:rPr>
              <a:t>分粒度</a:t>
            </a:r>
            <a:r>
              <a:rPr lang="en-US" altLang="ja-JP" sz="1100">
                <a:solidFill>
                  <a:srgbClr val="5A6472"/>
                </a:solidFill>
                <a:latin typeface="Yu Gothic UI"/>
                <a:ea typeface="Yu Gothic UI"/>
              </a:rPr>
              <a:t>/35</a:t>
            </a:r>
            <a:r>
              <a:rPr lang="ja-JP" altLang="en-US" sz="1100">
                <a:solidFill>
                  <a:srgbClr val="5A6472"/>
                </a:solidFill>
                <a:latin typeface="Yu Gothic UI"/>
                <a:ea typeface="Yu Gothic UI"/>
              </a:rPr>
              <a:t>日｜両者対応（</a:t>
            </a:r>
            <a:r>
              <a:rPr lang="en" altLang="ja-JP" sz="1100">
                <a:solidFill>
                  <a:srgbClr val="5A6472"/>
                </a:solidFill>
                <a:latin typeface="Yu Gothic UI"/>
                <a:ea typeface="Yu Gothic UI"/>
              </a:rPr>
              <a:t>Aurora PITR</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32" name="正方形/長方形 31">
            <a:extLst>
              <a:ext uri="{FF2B5EF4-FFF2-40B4-BE49-F238E27FC236}">
                <a16:creationId xmlns:a16="http://schemas.microsoft.com/office/drawing/2014/main" id="{59D9EDAC-8D8E-DB40-9403-601B05235A25}"/>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1783D0A4-18ED-7349-9594-541F7D877814}"/>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バックアップを別の地域にも複製するか</a:t>
            </a:r>
          </a:p>
        </p:txBody>
      </p:sp>
      <p:sp>
        <p:nvSpPr>
          <p:cNvPr id="34" name="テキスト ボックス 33">
            <a:extLst>
              <a:ext uri="{FF2B5EF4-FFF2-40B4-BE49-F238E27FC236}">
                <a16:creationId xmlns:a16="http://schemas.microsoft.com/office/drawing/2014/main" id="{954692F4-F7ED-AF47-A0E3-4505AA0C5D46}"/>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5DB0024C-FEDA-B542-BBC1-9264E88ACB19}"/>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A748A353-A93E-4440-99DE-E9785AAF8943}"/>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 </a:t>
            </a:r>
            <a:r>
              <a:rPr lang="en" altLang="ja-JP" sz="1100">
                <a:solidFill>
                  <a:srgbClr val="5A6472"/>
                </a:solidFill>
                <a:latin typeface="Yu Gothic UI"/>
                <a:ea typeface="Yu Gothic UI"/>
              </a:rPr>
              <a:t>Aurora Cross-Region Replica</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基本設計で</a:t>
            </a:r>
            <a:r>
              <a:rPr lang="en" altLang="ja-JP" sz="1100">
                <a:solidFill>
                  <a:srgbClr val="5A6472"/>
                </a:solidFill>
                <a:latin typeface="Yu Gothic UI"/>
                <a:ea typeface="Yu Gothic UI"/>
              </a:rPr>
              <a:t>Realm E…</a:t>
            </a:r>
            <a:endParaRPr lang="ja-JP" altLang="en-US" sz="1100">
              <a:solidFill>
                <a:srgbClr val="5A6472"/>
              </a:solidFill>
              <a:latin typeface="Yu Gothic UI"/>
              <a:ea typeface="Yu Gothic UI"/>
            </a:endParaRPr>
          </a:p>
        </p:txBody>
      </p:sp>
      <p:sp>
        <p:nvSpPr>
          <p:cNvPr id="37" name="正方形/長方形 36">
            <a:extLst>
              <a:ext uri="{FF2B5EF4-FFF2-40B4-BE49-F238E27FC236}">
                <a16:creationId xmlns:a16="http://schemas.microsoft.com/office/drawing/2014/main" id="{7F6A519F-A1F4-0C46-ABAA-A2B0337F5A16}"/>
              </a:ext>
            </a:extLst>
          </p:cNvPr>
          <p:cNvSpPr/>
          <p:nvPr/>
        </p:nvSpPr>
        <p:spPr>
          <a:xfrm>
            <a:off x="812800" y="3937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CF168047-42B3-CB41-91D0-A59EBF42CB0D}"/>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1EEE0976-E79C-1E43-9F5A-42B93BDA302B}"/>
              </a:ext>
            </a:extLst>
          </p:cNvPr>
          <p:cNvSpPr txBox="1"/>
          <p:nvPr/>
        </p:nvSpPr>
        <p:spPr>
          <a:xfrm>
            <a:off x="914400" y="408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復旧手順の訓練をどの頻度で行うか。誰が参加するか</a:t>
            </a:r>
          </a:p>
        </p:txBody>
      </p:sp>
      <p:sp>
        <p:nvSpPr>
          <p:cNvPr id="40" name="テキスト ボックス 39">
            <a:extLst>
              <a:ext uri="{FF2B5EF4-FFF2-40B4-BE49-F238E27FC236}">
                <a16:creationId xmlns:a16="http://schemas.microsoft.com/office/drawing/2014/main" id="{8DC8AD50-5054-4346-8159-349370A1DCD8}"/>
              </a:ext>
            </a:extLst>
          </p:cNvPr>
          <p:cNvSpPr txBox="1"/>
          <p:nvPr/>
        </p:nvSpPr>
        <p:spPr>
          <a:xfrm>
            <a:off x="5105400" y="408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EFF0C96E-D84A-E24B-BDBF-C2FBDD291483}"/>
              </a:ext>
            </a:extLst>
          </p:cNvPr>
          <p:cNvSpPr/>
          <p:nvPr/>
        </p:nvSpPr>
        <p:spPr>
          <a:xfrm>
            <a:off x="5943600" y="406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7E14FF68-D25F-8647-ACAC-58D65483F8C2}"/>
              </a:ext>
            </a:extLst>
          </p:cNvPr>
          <p:cNvSpPr txBox="1"/>
          <p:nvPr/>
        </p:nvSpPr>
        <p:spPr>
          <a:xfrm>
            <a:off x="6908800" y="408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年</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回｜製品非依存。基本設計に</a:t>
            </a:r>
            <a:r>
              <a:rPr lang="en" altLang="ja-JP" sz="1100">
                <a:solidFill>
                  <a:srgbClr val="5A6472"/>
                </a:solidFill>
                <a:latin typeface="Yu Gothic UI"/>
                <a:ea typeface="Yu Gothic UI"/>
              </a:rPr>
              <a:t>RB-DR-00〜05</a:t>
            </a:r>
            <a:r>
              <a:rPr lang="ja-JP" altLang="en-US" sz="1100">
                <a:solidFill>
                  <a:srgbClr val="5A6472"/>
                </a:solidFill>
                <a:latin typeface="Yu Gothic UI"/>
                <a:ea typeface="Yu Gothic UI"/>
              </a:rPr>
              <a:t>の</a:t>
            </a:r>
            <a:r>
              <a:rPr lang="en" altLang="ja-JP" sz="1100">
                <a:solidFill>
                  <a:srgbClr val="5A6472"/>
                </a:solidFill>
                <a:latin typeface="Yu Gothic UI"/>
                <a:ea typeface="Yu Gothic UI"/>
              </a:rPr>
              <a:t>Runbook…</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8E571CFE-36C5-514F-AE13-B7A72FBA7B6D}"/>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067ACF0C-4592-844A-A5D6-1927CA6FB40E}"/>
              </a:ext>
            </a:extLst>
          </p:cNvPr>
          <p:cNvSpPr txBox="1"/>
          <p:nvPr/>
        </p:nvSpPr>
        <p:spPr>
          <a:xfrm>
            <a:off x="914400" y="459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切替時にログイン状態を維持するか、利用者に再ログインを</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5" name="テキスト ボックス 44">
            <a:extLst>
              <a:ext uri="{FF2B5EF4-FFF2-40B4-BE49-F238E27FC236}">
                <a16:creationId xmlns:a16="http://schemas.microsoft.com/office/drawing/2014/main" id="{7B6267BC-8EDF-8747-84DD-801346A0705D}"/>
              </a:ext>
            </a:extLst>
          </p:cNvPr>
          <p:cNvSpPr txBox="1"/>
          <p:nvPr/>
        </p:nvSpPr>
        <p:spPr>
          <a:xfrm>
            <a:off x="5105400" y="459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73E06613-92A9-6E46-A1A4-EB227469B8ED}"/>
              </a:ext>
            </a:extLst>
          </p:cNvPr>
          <p:cNvSpPr/>
          <p:nvPr/>
        </p:nvSpPr>
        <p:spPr>
          <a:xfrm>
            <a:off x="5943600" y="4572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45C23097-331D-5948-B974-81FE52D7168E}"/>
              </a:ext>
            </a:extLst>
          </p:cNvPr>
          <p:cNvSpPr txBox="1"/>
          <p:nvPr/>
        </p:nvSpPr>
        <p:spPr>
          <a:xfrm>
            <a:off x="6908800" y="459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可能ならベスト｜ 別検証</a:t>
            </a:r>
          </a:p>
        </p:txBody>
      </p:sp>
    </p:spTree>
    <p:extLst>
      <p:ext uri="{BB962C8B-B14F-4D97-AF65-F5344CB8AC3E}">
        <p14:creationId xmlns:p14="http://schemas.microsoft.com/office/powerpoint/2010/main" val="499300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AA827E5-9C82-DB44-8E45-1E3874A56216}"/>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8D221F13-5C73-C944-99BC-2822BEC9B9D8}"/>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セキュリティ（</a:t>
            </a:r>
            <a:r>
              <a:rPr lang="en-US" altLang="ja-JP" sz="2300" b="1">
                <a:solidFill>
                  <a:srgbClr val="1F3864"/>
                </a:solidFill>
                <a:latin typeface="Yu Gothic UI"/>
                <a:ea typeface="Yu Gothic UI"/>
              </a:rPr>
              <a:t>1</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E5AD45E3-573E-AC44-B073-7F602CC8B9DC}"/>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11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418B9480-0C22-8B4D-A82A-25AEC1120BE1}"/>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98CD9C00-3A6A-8045-A249-16BF9D4C7558}"/>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0289FC36-4213-2C47-A33E-9BA7DBE37385}"/>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D0A422A0-13FA-B74D-85D2-869181E36680}"/>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51B3D5FB-25CF-B244-9412-315271585702}"/>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844EDDB0-BE80-C643-B65E-CD29A0ABAD3C}"/>
              </a:ext>
            </a:extLst>
          </p:cNvPr>
          <p:cNvSpPr/>
          <p:nvPr/>
        </p:nvSpPr>
        <p:spPr>
          <a:xfrm>
            <a:off x="812800" y="1828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2753DBB2-55B7-1443-BDD6-6AD7AB40B94B}"/>
              </a:ext>
            </a:extLst>
          </p:cNvPr>
          <p:cNvSpPr txBox="1"/>
          <p:nvPr/>
        </p:nvSpPr>
        <p:spPr>
          <a:xfrm>
            <a:off x="914400" y="1511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通信の暗号化をどの水準で必須にするか</a:t>
            </a:r>
          </a:p>
        </p:txBody>
      </p:sp>
      <p:sp>
        <p:nvSpPr>
          <p:cNvPr id="12" name="テキスト ボックス 11">
            <a:extLst>
              <a:ext uri="{FF2B5EF4-FFF2-40B4-BE49-F238E27FC236}">
                <a16:creationId xmlns:a16="http://schemas.microsoft.com/office/drawing/2014/main" id="{D48D9E6B-471A-0D4B-9513-28BCE4C7A418}"/>
              </a:ext>
            </a:extLst>
          </p:cNvPr>
          <p:cNvSpPr txBox="1"/>
          <p:nvPr/>
        </p:nvSpPr>
        <p:spPr>
          <a:xfrm>
            <a:off x="5105400" y="1511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7C25A0A2-4FE9-E543-B1B4-71F3172A5C31}"/>
              </a:ext>
            </a:extLst>
          </p:cNvPr>
          <p:cNvSpPr/>
          <p:nvPr/>
        </p:nvSpPr>
        <p:spPr>
          <a:xfrm>
            <a:off x="5943600" y="1485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0091ABE7-CDAD-264A-A6F9-CC698A1ED98C}"/>
              </a:ext>
            </a:extLst>
          </p:cNvPr>
          <p:cNvSpPr txBox="1"/>
          <p:nvPr/>
        </p:nvSpPr>
        <p:spPr>
          <a:xfrm>
            <a:off x="6908800" y="1511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(D)TLS 1.2+</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ACM+ALB</a:t>
            </a:r>
            <a:r>
              <a:rPr lang="ja-JP" altLang="en-US" sz="1100">
                <a:solidFill>
                  <a:srgbClr val="5A6472"/>
                </a:solidFill>
                <a:latin typeface="Yu Gothic UI"/>
                <a:ea typeface="Yu Gothic UI"/>
              </a:rPr>
              <a:t>設定要（</a:t>
            </a:r>
            <a:r>
              <a:rPr lang="en" altLang="ja-JP" sz="1100">
                <a:solidFill>
                  <a:srgbClr val="5A6472"/>
                </a:solidFill>
                <a:latin typeface="Yu Gothic UI"/>
                <a:ea typeface="Yu Gothic UI"/>
              </a:rPr>
              <a:t>PoC</a:t>
            </a:r>
            <a:r>
              <a:rPr lang="ja-JP" altLang="en-US" sz="1100">
                <a:solidFill>
                  <a:srgbClr val="5A6472"/>
                </a:solidFill>
                <a:latin typeface="Yu Gothic UI"/>
                <a:ea typeface="Yu Gothic UI"/>
              </a:rPr>
              <a:t>は</a:t>
            </a:r>
            <a:r>
              <a:rPr lang="en" altLang="ja-JP" sz="1100">
                <a:solidFill>
                  <a:srgbClr val="5A6472"/>
                </a:solidFill>
                <a:latin typeface="Yu Gothic UI"/>
                <a:ea typeface="Yu Gothic UI"/>
              </a:rPr>
              <a:t>HTTP</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907C7B73-5C6B-8E47-AECC-759BA58461F5}"/>
              </a:ext>
            </a:extLst>
          </p:cNvPr>
          <p:cNvSpPr/>
          <p:nvPr/>
        </p:nvSpPr>
        <p:spPr>
          <a:xfrm>
            <a:off x="812800" y="1841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5F7B6F46-18E2-EE49-9ADB-AA8F84CDF60A}"/>
              </a:ext>
            </a:extLst>
          </p:cNvPr>
          <p:cNvSpPr/>
          <p:nvPr/>
        </p:nvSpPr>
        <p:spPr>
          <a:xfrm>
            <a:off x="812800" y="2273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C248B1B3-E66C-9748-850D-24F78A986D1B}"/>
              </a:ext>
            </a:extLst>
          </p:cNvPr>
          <p:cNvSpPr txBox="1"/>
          <p:nvPr/>
        </p:nvSpPr>
        <p:spPr>
          <a:xfrm>
            <a:off x="914400" y="1955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保存データの暗号化をどこまで必須にするか。暗号鍵を誰が</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9EE60EA6-E464-B046-8CDE-7126A221880C}"/>
              </a:ext>
            </a:extLst>
          </p:cNvPr>
          <p:cNvSpPr txBox="1"/>
          <p:nvPr/>
        </p:nvSpPr>
        <p:spPr>
          <a:xfrm>
            <a:off x="5105400" y="1955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15091124-4888-AB4A-8691-642E9854727E}"/>
              </a:ext>
            </a:extLst>
          </p:cNvPr>
          <p:cNvSpPr/>
          <p:nvPr/>
        </p:nvSpPr>
        <p:spPr>
          <a:xfrm>
            <a:off x="5943600" y="1930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AB96D3B4-BCBE-5A43-A00C-A55B9213111E}"/>
              </a:ext>
            </a:extLst>
          </p:cNvPr>
          <p:cNvSpPr txBox="1"/>
          <p:nvPr/>
        </p:nvSpPr>
        <p:spPr>
          <a:xfrm>
            <a:off x="6908800" y="1955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(D)AES-256</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KMS</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RDS storage_encrypted=true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4691B858-B1AA-DF42-BA23-E83A6A23C165}"/>
              </a:ext>
            </a:extLst>
          </p:cNvPr>
          <p:cNvSpPr/>
          <p:nvPr/>
        </p:nvSpPr>
        <p:spPr>
          <a:xfrm>
            <a:off x="812800" y="2717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72A5DBDD-B0ED-EE4C-9D75-092B77CF4BEB}"/>
              </a:ext>
            </a:extLst>
          </p:cNvPr>
          <p:cNvSpPr txBox="1"/>
          <p:nvPr/>
        </p:nvSpPr>
        <p:spPr>
          <a:xfrm>
            <a:off x="914400" y="2400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通行証の署名方式に何を使うか</a:t>
            </a:r>
          </a:p>
        </p:txBody>
      </p:sp>
      <p:sp>
        <p:nvSpPr>
          <p:cNvPr id="23" name="テキスト ボックス 22">
            <a:extLst>
              <a:ext uri="{FF2B5EF4-FFF2-40B4-BE49-F238E27FC236}">
                <a16:creationId xmlns:a16="http://schemas.microsoft.com/office/drawing/2014/main" id="{BA9E8218-0CF6-8541-94C9-B1A1819A00C9}"/>
              </a:ext>
            </a:extLst>
          </p:cNvPr>
          <p:cNvSpPr txBox="1"/>
          <p:nvPr/>
        </p:nvSpPr>
        <p:spPr>
          <a:xfrm>
            <a:off x="5105400" y="2400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0872D5C2-E612-6C42-B6EE-8CB3664C3C7B}"/>
              </a:ext>
            </a:extLst>
          </p:cNvPr>
          <p:cNvSpPr/>
          <p:nvPr/>
        </p:nvSpPr>
        <p:spPr>
          <a:xfrm>
            <a:off x="5943600" y="2374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E2B0808B-C7C7-1746-AE4C-CA7CC6DD0796}"/>
              </a:ext>
            </a:extLst>
          </p:cNvPr>
          <p:cNvSpPr txBox="1"/>
          <p:nvPr/>
        </p:nvSpPr>
        <p:spPr>
          <a:xfrm>
            <a:off x="6908800" y="2400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(D)RS256</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両者対応（</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は</a:t>
            </a:r>
            <a:r>
              <a:rPr lang="en" altLang="ja-JP" sz="1100">
                <a:solidFill>
                  <a:srgbClr val="5A6472"/>
                </a:solidFill>
                <a:latin typeface="Yu Gothic UI"/>
                <a:ea typeface="Yu Gothic UI"/>
              </a:rPr>
              <a:t>ES256</a:t>
            </a:r>
            <a:r>
              <a:rPr lang="ja-JP" altLang="en-US" sz="1100">
                <a:solidFill>
                  <a:srgbClr val="5A6472"/>
                </a:solidFill>
                <a:latin typeface="Yu Gothic UI"/>
                <a:ea typeface="Yu Gothic UI"/>
              </a:rPr>
              <a:t>も可）。基本設計で</a:t>
            </a:r>
            <a:r>
              <a:rPr lang="en" altLang="ja-JP" sz="1100">
                <a:solidFill>
                  <a:srgbClr val="5A6472"/>
                </a:solidFill>
                <a:latin typeface="Yu Gothic UI"/>
                <a:ea typeface="Yu Gothic UI"/>
              </a:rPr>
              <a:t>JWT…</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73EFCE06-5434-F74F-ABC5-557D78D3455F}"/>
              </a:ext>
            </a:extLst>
          </p:cNvPr>
          <p:cNvSpPr/>
          <p:nvPr/>
        </p:nvSpPr>
        <p:spPr>
          <a:xfrm>
            <a:off x="812800" y="2730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094F7243-122E-7E42-8C93-772E1E5D9373}"/>
              </a:ext>
            </a:extLst>
          </p:cNvPr>
          <p:cNvSpPr/>
          <p:nvPr/>
        </p:nvSpPr>
        <p:spPr>
          <a:xfrm>
            <a:off x="812800" y="316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6DBA07CA-9190-314B-9F28-7DC57984DE81}"/>
              </a:ext>
            </a:extLst>
          </p:cNvPr>
          <p:cNvSpPr txBox="1"/>
          <p:nvPr/>
        </p:nvSpPr>
        <p:spPr>
          <a:xfrm>
            <a:off x="914400" y="2844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パスワードをどの方式で保管するか。強度の設定値をどうす</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9" name="テキスト ボックス 28">
            <a:extLst>
              <a:ext uri="{FF2B5EF4-FFF2-40B4-BE49-F238E27FC236}">
                <a16:creationId xmlns:a16="http://schemas.microsoft.com/office/drawing/2014/main" id="{DEFA149B-F076-7048-BE26-82997A8D9EE6}"/>
              </a:ext>
            </a:extLst>
          </p:cNvPr>
          <p:cNvSpPr txBox="1"/>
          <p:nvPr/>
        </p:nvSpPr>
        <p:spPr>
          <a:xfrm>
            <a:off x="5105400" y="2844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A1E34C35-A927-2947-B984-508D2548D43A}"/>
              </a:ext>
            </a:extLst>
          </p:cNvPr>
          <p:cNvSpPr/>
          <p:nvPr/>
        </p:nvSpPr>
        <p:spPr>
          <a:xfrm>
            <a:off x="5943600" y="2819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1" name="テキスト ボックス 30">
            <a:extLst>
              <a:ext uri="{FF2B5EF4-FFF2-40B4-BE49-F238E27FC236}">
                <a16:creationId xmlns:a16="http://schemas.microsoft.com/office/drawing/2014/main" id="{2956BCD2-3596-4E43-AF8E-556C327050DD}"/>
              </a:ext>
            </a:extLst>
          </p:cNvPr>
          <p:cNvSpPr txBox="1"/>
          <p:nvPr/>
        </p:nvSpPr>
        <p:spPr>
          <a:xfrm>
            <a:off x="6908800" y="2844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(D)PBKDF2/bcrypt/Argon2</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PBKDF2-SHA512</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デフォルト）</a:t>
            </a:r>
          </a:p>
        </p:txBody>
      </p:sp>
      <p:sp>
        <p:nvSpPr>
          <p:cNvPr id="32" name="正方形/長方形 31">
            <a:extLst>
              <a:ext uri="{FF2B5EF4-FFF2-40B4-BE49-F238E27FC236}">
                <a16:creationId xmlns:a16="http://schemas.microsoft.com/office/drawing/2014/main" id="{E1751E2C-C8E3-CA45-88A4-ECD9DCA4CFC5}"/>
              </a:ext>
            </a:extLst>
          </p:cNvPr>
          <p:cNvSpPr/>
          <p:nvPr/>
        </p:nvSpPr>
        <p:spPr>
          <a:xfrm>
            <a:off x="812800" y="3606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92F659F7-E7CB-D142-92A3-B1B54FA5EBEF}"/>
              </a:ext>
            </a:extLst>
          </p:cNvPr>
          <p:cNvSpPr txBox="1"/>
          <p:nvPr/>
        </p:nvSpPr>
        <p:spPr>
          <a:xfrm>
            <a:off x="914400" y="328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接続用の秘密情報をどこに保管し、誰が取り出せるようにす</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8B61E7BA-02C9-5846-923D-04FD5EAEF993}"/>
              </a:ext>
            </a:extLst>
          </p:cNvPr>
          <p:cNvSpPr txBox="1"/>
          <p:nvPr/>
        </p:nvSpPr>
        <p:spPr>
          <a:xfrm>
            <a:off x="5105400" y="3289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10BEC9A5-99F3-D440-9CED-F2B2FBDE4931}"/>
              </a:ext>
            </a:extLst>
          </p:cNvPr>
          <p:cNvSpPr/>
          <p:nvPr/>
        </p:nvSpPr>
        <p:spPr>
          <a:xfrm>
            <a:off x="5943600" y="3263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6" name="テキスト ボックス 35">
            <a:extLst>
              <a:ext uri="{FF2B5EF4-FFF2-40B4-BE49-F238E27FC236}">
                <a16:creationId xmlns:a16="http://schemas.microsoft.com/office/drawing/2014/main" id="{3FF9AABF-8F66-1C40-B9CF-47035D11B5D6}"/>
              </a:ext>
            </a:extLst>
          </p:cNvPr>
          <p:cNvSpPr txBox="1"/>
          <p:nvPr/>
        </p:nvSpPr>
        <p:spPr>
          <a:xfrm>
            <a:off x="6908800" y="328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(D)AWS Secrets Manager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両者対応</a:t>
            </a:r>
          </a:p>
        </p:txBody>
      </p:sp>
      <p:sp>
        <p:nvSpPr>
          <p:cNvPr id="37" name="正方形/長方形 36">
            <a:extLst>
              <a:ext uri="{FF2B5EF4-FFF2-40B4-BE49-F238E27FC236}">
                <a16:creationId xmlns:a16="http://schemas.microsoft.com/office/drawing/2014/main" id="{FEDC3160-1A18-744B-976F-2ED6971818C3}"/>
              </a:ext>
            </a:extLst>
          </p:cNvPr>
          <p:cNvSpPr/>
          <p:nvPr/>
        </p:nvSpPr>
        <p:spPr>
          <a:xfrm>
            <a:off x="812800" y="3619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B0142345-93DE-004C-8013-00B84829F39B}"/>
              </a:ext>
            </a:extLst>
          </p:cNvPr>
          <p:cNvSpPr/>
          <p:nvPr/>
        </p:nvSpPr>
        <p:spPr>
          <a:xfrm>
            <a:off x="812800" y="4051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09DD9873-1B81-3B45-B9F5-EA9D7CD6CFB0}"/>
              </a:ext>
            </a:extLst>
          </p:cNvPr>
          <p:cNvSpPr txBox="1"/>
          <p:nvPr/>
        </p:nvSpPr>
        <p:spPr>
          <a:xfrm>
            <a:off x="914400" y="3733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通行証の有効時間を何分にするか</a:t>
            </a:r>
          </a:p>
        </p:txBody>
      </p:sp>
      <p:sp>
        <p:nvSpPr>
          <p:cNvPr id="40" name="テキスト ボックス 39">
            <a:extLst>
              <a:ext uri="{FF2B5EF4-FFF2-40B4-BE49-F238E27FC236}">
                <a16:creationId xmlns:a16="http://schemas.microsoft.com/office/drawing/2014/main" id="{AA7524A2-9F62-7943-A179-04216EEFC0FB}"/>
              </a:ext>
            </a:extLst>
          </p:cNvPr>
          <p:cNvSpPr txBox="1"/>
          <p:nvPr/>
        </p:nvSpPr>
        <p:spPr>
          <a:xfrm>
            <a:off x="5105400" y="3733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6AED4155-4028-D74D-97D5-4FA7034CDF62}"/>
              </a:ext>
            </a:extLst>
          </p:cNvPr>
          <p:cNvSpPr/>
          <p:nvPr/>
        </p:nvSpPr>
        <p:spPr>
          <a:xfrm>
            <a:off x="5943600" y="3708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1AD0ECFE-AF3B-F943-BB82-DAD190EF3B4F}"/>
              </a:ext>
            </a:extLst>
          </p:cNvPr>
          <p:cNvSpPr txBox="1"/>
          <p:nvPr/>
        </p:nvSpPr>
        <p:spPr>
          <a:xfrm>
            <a:off x="6908800" y="3733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(D)15〜60</a:t>
            </a:r>
            <a:r>
              <a:rPr lang="ja-JP" altLang="en-US" sz="1100">
                <a:solidFill>
                  <a:srgbClr val="5A6472"/>
                </a:solidFill>
                <a:latin typeface="Yu Gothic UI"/>
                <a:ea typeface="Yu Gothic UI"/>
              </a:rPr>
              <a:t>分｜両者設定可。基本設計で</a:t>
            </a:r>
            <a:r>
              <a:rPr lang="en" altLang="ja-JP" sz="1100">
                <a:solidFill>
                  <a:srgbClr val="5A6472"/>
                </a:solidFill>
                <a:latin typeface="Yu Gothic UI"/>
                <a:ea typeface="Yu Gothic UI"/>
              </a:rPr>
              <a:t>AT 30</a:t>
            </a:r>
            <a:r>
              <a:rPr lang="ja-JP" altLang="en-US" sz="1100">
                <a:solidFill>
                  <a:srgbClr val="5A6472"/>
                </a:solidFill>
                <a:latin typeface="Yu Gothic UI"/>
                <a:ea typeface="Yu Gothic UI"/>
              </a:rPr>
              <a:t>分に最終決定（</a:t>
            </a:r>
            <a:r>
              <a:rPr lang="en" altLang="ja-JP" sz="1100">
                <a:solidFill>
                  <a:srgbClr val="5A6472"/>
                </a:solidFill>
                <a:latin typeface="Yu Gothic UI"/>
                <a:ea typeface="Yu Gothic UI"/>
              </a:rPr>
              <a:t>U5</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F173D9E1-8DF3-FA4C-BE77-972ED7C1B6FB}"/>
              </a:ext>
            </a:extLst>
          </p:cNvPr>
          <p:cNvSpPr/>
          <p:nvPr/>
        </p:nvSpPr>
        <p:spPr>
          <a:xfrm>
            <a:off x="812800" y="4495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9003A34D-790D-5349-9F6E-24CD492AFB4D}"/>
              </a:ext>
            </a:extLst>
          </p:cNvPr>
          <p:cNvSpPr txBox="1"/>
          <p:nvPr/>
        </p:nvSpPr>
        <p:spPr>
          <a:xfrm>
            <a:off x="914400" y="4178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再ログインなしで使い続けられる期間を何日にするか</a:t>
            </a:r>
          </a:p>
        </p:txBody>
      </p:sp>
      <p:sp>
        <p:nvSpPr>
          <p:cNvPr id="45" name="テキスト ボックス 44">
            <a:extLst>
              <a:ext uri="{FF2B5EF4-FFF2-40B4-BE49-F238E27FC236}">
                <a16:creationId xmlns:a16="http://schemas.microsoft.com/office/drawing/2014/main" id="{537C875A-FC63-9A4A-8217-7859FA2F36AF}"/>
              </a:ext>
            </a:extLst>
          </p:cNvPr>
          <p:cNvSpPr txBox="1"/>
          <p:nvPr/>
        </p:nvSpPr>
        <p:spPr>
          <a:xfrm>
            <a:off x="5105400" y="4178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7B69BA89-2573-454F-A9EB-6FA6827F8339}"/>
              </a:ext>
            </a:extLst>
          </p:cNvPr>
          <p:cNvSpPr/>
          <p:nvPr/>
        </p:nvSpPr>
        <p:spPr>
          <a:xfrm>
            <a:off x="5943600" y="4152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28C84FB4-91E5-214C-9407-EDBC3E60C585}"/>
              </a:ext>
            </a:extLst>
          </p:cNvPr>
          <p:cNvSpPr txBox="1"/>
          <p:nvPr/>
        </p:nvSpPr>
        <p:spPr>
          <a:xfrm>
            <a:off x="6908800" y="4178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(D)30</a:t>
            </a:r>
            <a:r>
              <a:rPr lang="ja-JP" altLang="en-US" sz="1100">
                <a:solidFill>
                  <a:srgbClr val="5A6472"/>
                </a:solidFill>
                <a:latin typeface="Yu Gothic UI"/>
                <a:ea typeface="Yu Gothic UI"/>
              </a:rPr>
              <a:t>日｜両者設定可。基本設計</a:t>
            </a:r>
            <a:r>
              <a:rPr lang="en" altLang="ja-JP" sz="1100">
                <a:solidFill>
                  <a:srgbClr val="5A6472"/>
                </a:solidFill>
                <a:latin typeface="Yu Gothic UI"/>
                <a:ea typeface="Yu Gothic UI"/>
              </a:rPr>
              <a:t>U5</a:t>
            </a:r>
            <a:r>
              <a:rPr lang="ja-JP" altLang="en-US" sz="1100">
                <a:solidFill>
                  <a:srgbClr val="5A6472"/>
                </a:solidFill>
                <a:latin typeface="Yu Gothic UI"/>
                <a:ea typeface="Yu Gothic UI"/>
              </a:rPr>
              <a:t>で</a:t>
            </a:r>
            <a:r>
              <a:rPr lang="en" altLang="ja-JP" sz="1100">
                <a:solidFill>
                  <a:srgbClr val="5A6472"/>
                </a:solidFill>
                <a:latin typeface="Yu Gothic UI"/>
                <a:ea typeface="Yu Gothic UI"/>
              </a:rPr>
              <a:t>TTL</a:t>
            </a:r>
            <a:r>
              <a:rPr lang="ja-JP" altLang="en-US" sz="1100">
                <a:solidFill>
                  <a:srgbClr val="5A6472"/>
                </a:solidFill>
                <a:latin typeface="Yu Gothic UI"/>
                <a:ea typeface="Yu Gothic UI"/>
              </a:rPr>
              <a:t>最終決定済</a:t>
            </a:r>
          </a:p>
        </p:txBody>
      </p:sp>
      <p:sp>
        <p:nvSpPr>
          <p:cNvPr id="48" name="正方形/長方形 47">
            <a:extLst>
              <a:ext uri="{FF2B5EF4-FFF2-40B4-BE49-F238E27FC236}">
                <a16:creationId xmlns:a16="http://schemas.microsoft.com/office/drawing/2014/main" id="{ED83F1ED-0A36-6D4A-9653-D7669AB41FE4}"/>
              </a:ext>
            </a:extLst>
          </p:cNvPr>
          <p:cNvSpPr/>
          <p:nvPr/>
        </p:nvSpPr>
        <p:spPr>
          <a:xfrm>
            <a:off x="812800" y="4508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5E33B49E-9E7B-2D4E-B0B9-8120148C1638}"/>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ABAAF94D-8029-C543-AFEC-D56ACF9BA32E}"/>
              </a:ext>
            </a:extLst>
          </p:cNvPr>
          <p:cNvSpPr txBox="1"/>
          <p:nvPr/>
        </p:nvSpPr>
        <p:spPr>
          <a:xfrm>
            <a:off x="914400" y="4622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本人確認情報の有効時間を何分にするか</a:t>
            </a:r>
          </a:p>
        </p:txBody>
      </p:sp>
      <p:sp>
        <p:nvSpPr>
          <p:cNvPr id="51" name="テキスト ボックス 50">
            <a:extLst>
              <a:ext uri="{FF2B5EF4-FFF2-40B4-BE49-F238E27FC236}">
                <a16:creationId xmlns:a16="http://schemas.microsoft.com/office/drawing/2014/main" id="{4D4CE94C-85D6-7C42-B500-39B846363185}"/>
              </a:ext>
            </a:extLst>
          </p:cNvPr>
          <p:cNvSpPr txBox="1"/>
          <p:nvPr/>
        </p:nvSpPr>
        <p:spPr>
          <a:xfrm>
            <a:off x="5105400" y="4622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E9AE6E50-F7C1-D747-B28E-7FEC07966723}"/>
              </a:ext>
            </a:extLst>
          </p:cNvPr>
          <p:cNvSpPr/>
          <p:nvPr/>
        </p:nvSpPr>
        <p:spPr>
          <a:xfrm>
            <a:off x="5943600" y="4597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4A1D1C8E-9413-5243-9556-F0D33E6B2937}"/>
              </a:ext>
            </a:extLst>
          </p:cNvPr>
          <p:cNvSpPr txBox="1"/>
          <p:nvPr/>
        </p:nvSpPr>
        <p:spPr>
          <a:xfrm>
            <a:off x="6908800" y="4622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(D)15</a:t>
            </a:r>
            <a:r>
              <a:rPr lang="ja-JP" altLang="en-US" sz="1100">
                <a:solidFill>
                  <a:srgbClr val="5A6472"/>
                </a:solidFill>
                <a:latin typeface="Yu Gothic UI"/>
                <a:ea typeface="Yu Gothic UI"/>
              </a:rPr>
              <a:t>分｜両者設定可。基本設計</a:t>
            </a:r>
            <a:r>
              <a:rPr lang="en" altLang="ja-JP" sz="1100">
                <a:solidFill>
                  <a:srgbClr val="5A6472"/>
                </a:solidFill>
                <a:latin typeface="Yu Gothic UI"/>
                <a:ea typeface="Yu Gothic UI"/>
              </a:rPr>
              <a:t>U5</a:t>
            </a:r>
            <a:r>
              <a:rPr lang="ja-JP" altLang="en-US" sz="1100">
                <a:solidFill>
                  <a:srgbClr val="5A6472"/>
                </a:solidFill>
                <a:latin typeface="Yu Gothic UI"/>
                <a:ea typeface="Yu Gothic UI"/>
              </a:rPr>
              <a:t>で</a:t>
            </a:r>
            <a:r>
              <a:rPr lang="en" altLang="ja-JP" sz="1100">
                <a:solidFill>
                  <a:srgbClr val="5A6472"/>
                </a:solidFill>
                <a:latin typeface="Yu Gothic UI"/>
                <a:ea typeface="Yu Gothic UI"/>
              </a:rPr>
              <a:t>TTL</a:t>
            </a:r>
            <a:r>
              <a:rPr lang="ja-JP" altLang="en-US" sz="1100">
                <a:solidFill>
                  <a:srgbClr val="5A6472"/>
                </a:solidFill>
                <a:latin typeface="Yu Gothic UI"/>
                <a:ea typeface="Yu Gothic UI"/>
              </a:rPr>
              <a:t>最終決定済</a:t>
            </a:r>
          </a:p>
        </p:txBody>
      </p:sp>
      <p:sp>
        <p:nvSpPr>
          <p:cNvPr id="54" name="正方形/長方形 53">
            <a:extLst>
              <a:ext uri="{FF2B5EF4-FFF2-40B4-BE49-F238E27FC236}">
                <a16:creationId xmlns:a16="http://schemas.microsoft.com/office/drawing/2014/main" id="{EA191A4D-8AAB-D84A-950C-E539340569B8}"/>
              </a:ext>
            </a:extLst>
          </p:cNvPr>
          <p:cNvSpPr/>
          <p:nvPr/>
        </p:nvSpPr>
        <p:spPr>
          <a:xfrm>
            <a:off x="812800" y="5384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3871191B-9E90-B14C-844A-B005CA952E94}"/>
              </a:ext>
            </a:extLst>
          </p:cNvPr>
          <p:cNvSpPr txBox="1"/>
          <p:nvPr/>
        </p:nvSpPr>
        <p:spPr>
          <a:xfrm>
            <a:off x="914400" y="5067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使い回しを防ぐため、更新のたびに引換券を作り替える方式</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5CAB2B17-09F1-2747-8F4B-09BA18B83D52}"/>
              </a:ext>
            </a:extLst>
          </p:cNvPr>
          <p:cNvSpPr txBox="1"/>
          <p:nvPr/>
        </p:nvSpPr>
        <p:spPr>
          <a:xfrm>
            <a:off x="5105400" y="5067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7" name="角丸四角形 56">
            <a:extLst>
              <a:ext uri="{FF2B5EF4-FFF2-40B4-BE49-F238E27FC236}">
                <a16:creationId xmlns:a16="http://schemas.microsoft.com/office/drawing/2014/main" id="{B6E48490-62BD-DA45-9DDC-6F2DA4E4F40A}"/>
              </a:ext>
            </a:extLst>
          </p:cNvPr>
          <p:cNvSpPr/>
          <p:nvPr/>
        </p:nvSpPr>
        <p:spPr>
          <a:xfrm>
            <a:off x="5943600" y="5041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8" name="テキスト ボックス 57">
            <a:extLst>
              <a:ext uri="{FF2B5EF4-FFF2-40B4-BE49-F238E27FC236}">
                <a16:creationId xmlns:a16="http://schemas.microsoft.com/office/drawing/2014/main" id="{73CFF001-495C-DE4E-A42D-79AAD571920F}"/>
              </a:ext>
            </a:extLst>
          </p:cNvPr>
          <p:cNvSpPr txBox="1"/>
          <p:nvPr/>
        </p:nvSpPr>
        <p:spPr>
          <a:xfrm>
            <a:off x="6908800" y="5067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有効化｜ デフォルト</a:t>
            </a:r>
            <a:r>
              <a:rPr lang="en" altLang="ja-JP" sz="1100">
                <a:solidFill>
                  <a:srgbClr val="5A6472"/>
                </a:solidFill>
                <a:latin typeface="Yu Gothic UI"/>
                <a:ea typeface="Yu Gothic UI"/>
              </a:rPr>
              <a:t>ON</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39D631EC-12C7-9641-A4B4-6C550F6F3C5A}"/>
              </a:ext>
            </a:extLst>
          </p:cNvPr>
          <p:cNvSpPr/>
          <p:nvPr/>
        </p:nvSpPr>
        <p:spPr>
          <a:xfrm>
            <a:off x="812800" y="5397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D4BE6C04-E16E-3747-B1A0-3B124DE6AC4C}"/>
              </a:ext>
            </a:extLst>
          </p:cNvPr>
          <p:cNvSpPr/>
          <p:nvPr/>
        </p:nvSpPr>
        <p:spPr>
          <a:xfrm>
            <a:off x="812800" y="5829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89AB1B56-A296-454A-AB9A-D23123F0CFCD}"/>
              </a:ext>
            </a:extLst>
          </p:cNvPr>
          <p:cNvSpPr txBox="1"/>
          <p:nvPr/>
        </p:nvSpPr>
        <p:spPr>
          <a:xfrm>
            <a:off x="914400" y="5511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発行済みの通行証を有効期限前に取り消せる仕組みを用意す</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62" name="テキスト ボックス 61">
            <a:extLst>
              <a:ext uri="{FF2B5EF4-FFF2-40B4-BE49-F238E27FC236}">
                <a16:creationId xmlns:a16="http://schemas.microsoft.com/office/drawing/2014/main" id="{43D81770-6D18-D84E-8F8A-535348FC3E00}"/>
              </a:ext>
            </a:extLst>
          </p:cNvPr>
          <p:cNvSpPr txBox="1"/>
          <p:nvPr/>
        </p:nvSpPr>
        <p:spPr>
          <a:xfrm>
            <a:off x="5105400" y="5511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AA90E7C7-A4D0-EC43-A9C1-FAD33E269413}"/>
              </a:ext>
            </a:extLst>
          </p:cNvPr>
          <p:cNvSpPr/>
          <p:nvPr/>
        </p:nvSpPr>
        <p:spPr>
          <a:xfrm>
            <a:off x="5943600" y="5486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4" name="テキスト ボックス 63">
            <a:extLst>
              <a:ext uri="{FF2B5EF4-FFF2-40B4-BE49-F238E27FC236}">
                <a16:creationId xmlns:a16="http://schemas.microsoft.com/office/drawing/2014/main" id="{C84C6699-8CA7-7C45-AAB0-BE93CE96AD40}"/>
              </a:ext>
            </a:extLst>
          </p:cNvPr>
          <p:cNvSpPr txBox="1"/>
          <p:nvPr/>
        </p:nvSpPr>
        <p:spPr>
          <a:xfrm>
            <a:off x="6908800" y="5511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対応必須｜ </a:t>
            </a:r>
            <a:r>
              <a:rPr lang="en" altLang="ja-JP" sz="1100">
                <a:solidFill>
                  <a:srgbClr val="5A6472"/>
                </a:solidFill>
                <a:latin typeface="Yu Gothic UI"/>
                <a:ea typeface="Yu Gothic UI"/>
              </a:rPr>
              <a:t>Token Revocation</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基本設計で</a:t>
            </a:r>
            <a:r>
              <a:rPr lang="en" altLang="ja-JP" sz="1100">
                <a:solidFill>
                  <a:srgbClr val="5A6472"/>
                </a:solidFill>
                <a:latin typeface="Yu Gothic UI"/>
                <a:ea typeface="Yu Gothic UI"/>
              </a:rPr>
              <a:t>Revocation/ITD…</a:t>
            </a:r>
            <a:endParaRPr lang="ja-JP" altLang="en-US" sz="1100">
              <a:solidFill>
                <a:srgbClr val="5A6472"/>
              </a:solidFill>
              <a:latin typeface="Yu Gothic UI"/>
              <a:ea typeface="Yu Gothic UI"/>
            </a:endParaRPr>
          </a:p>
        </p:txBody>
      </p:sp>
      <p:sp>
        <p:nvSpPr>
          <p:cNvPr id="65" name="正方形/長方形 64">
            <a:extLst>
              <a:ext uri="{FF2B5EF4-FFF2-40B4-BE49-F238E27FC236}">
                <a16:creationId xmlns:a16="http://schemas.microsoft.com/office/drawing/2014/main" id="{24DAEFDA-0B97-994C-BECD-3922A507BBEB}"/>
              </a:ext>
            </a:extLst>
          </p:cNvPr>
          <p:cNvSpPr/>
          <p:nvPr/>
        </p:nvSpPr>
        <p:spPr>
          <a:xfrm>
            <a:off x="812800" y="6273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91EF531B-4EC7-0949-B3A1-532C8F1374E1}"/>
              </a:ext>
            </a:extLst>
          </p:cNvPr>
          <p:cNvSpPr txBox="1"/>
          <p:nvPr/>
        </p:nvSpPr>
        <p:spPr>
          <a:xfrm>
            <a:off x="914400" y="5956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なりすましを防ぐため、ログイン時に識別子を作り替えるか</a:t>
            </a:r>
          </a:p>
        </p:txBody>
      </p:sp>
      <p:sp>
        <p:nvSpPr>
          <p:cNvPr id="67" name="テキスト ボックス 66">
            <a:extLst>
              <a:ext uri="{FF2B5EF4-FFF2-40B4-BE49-F238E27FC236}">
                <a16:creationId xmlns:a16="http://schemas.microsoft.com/office/drawing/2014/main" id="{DC123FF8-5EAF-4644-8EAD-21917D9BC2BC}"/>
              </a:ext>
            </a:extLst>
          </p:cNvPr>
          <p:cNvSpPr txBox="1"/>
          <p:nvPr/>
        </p:nvSpPr>
        <p:spPr>
          <a:xfrm>
            <a:off x="5105400" y="5956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8" name="角丸四角形 67">
            <a:extLst>
              <a:ext uri="{FF2B5EF4-FFF2-40B4-BE49-F238E27FC236}">
                <a16:creationId xmlns:a16="http://schemas.microsoft.com/office/drawing/2014/main" id="{59BC4412-157D-1748-9A79-B8DE5EFB3433}"/>
              </a:ext>
            </a:extLst>
          </p:cNvPr>
          <p:cNvSpPr/>
          <p:nvPr/>
        </p:nvSpPr>
        <p:spPr>
          <a:xfrm>
            <a:off x="5943600" y="5930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69" name="テキスト ボックス 68">
            <a:extLst>
              <a:ext uri="{FF2B5EF4-FFF2-40B4-BE49-F238E27FC236}">
                <a16:creationId xmlns:a16="http://schemas.microsoft.com/office/drawing/2014/main" id="{9E110358-1D26-6245-B40F-71601AA281DD}"/>
              </a:ext>
            </a:extLst>
          </p:cNvPr>
          <p:cNvSpPr txBox="1"/>
          <p:nvPr/>
        </p:nvSpPr>
        <p:spPr>
          <a:xfrm>
            <a:off x="6908800" y="5956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必須｜両者対応</a:t>
            </a:r>
          </a:p>
        </p:txBody>
      </p:sp>
    </p:spTree>
    <p:extLst>
      <p:ext uri="{BB962C8B-B14F-4D97-AF65-F5344CB8AC3E}">
        <p14:creationId xmlns:p14="http://schemas.microsoft.com/office/powerpoint/2010/main" val="3357536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19DBD38-2F80-CB42-93F4-86BDA837FE82}"/>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A9680220-4C17-5C48-923B-F27A5ABEBDB7}"/>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セキュリティ（</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r>
              <a:rPr lang="en-US" altLang="ja-JP" sz="2300" b="1">
                <a:solidFill>
                  <a:srgbClr val="1F3864"/>
                </a:solidFill>
                <a:latin typeface="Yu Gothic UI"/>
                <a:ea typeface="Yu Gothic UI"/>
              </a:rPr>
              <a:t>2</a:t>
            </a:r>
            <a:r>
              <a:rPr lang="ja-JP" altLang="en-US" sz="2300" b="1">
                <a:solidFill>
                  <a:srgbClr val="1F3864"/>
                </a:solidFill>
                <a:latin typeface="Yu Gothic UI"/>
                <a:ea typeface="Yu Gothic UI"/>
              </a:rPr>
              <a:t>）</a:t>
            </a:r>
          </a:p>
        </p:txBody>
      </p:sp>
      <p:sp>
        <p:nvSpPr>
          <p:cNvPr id="4" name="テキスト ボックス 3">
            <a:extLst>
              <a:ext uri="{FF2B5EF4-FFF2-40B4-BE49-F238E27FC236}">
                <a16:creationId xmlns:a16="http://schemas.microsoft.com/office/drawing/2014/main" id="{4F6D7B9A-11D3-FD41-9573-394CF34D7672}"/>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10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002597EF-9CEB-BE46-B7C9-8208F6BBE01F}"/>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B67715E4-BC36-9540-9583-58D05C8B9048}"/>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1676F1B6-44C7-854C-BBC0-972360353295}"/>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2C3F1DE5-4972-B64D-853D-0D0FF54FD049}"/>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D30F8297-2FC6-DD48-A3E1-99554341A8F1}"/>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A0AC6AFA-A37B-EE4B-9A52-A7A61DDE3FE6}"/>
              </a:ext>
            </a:extLst>
          </p:cNvPr>
          <p:cNvSpPr/>
          <p:nvPr/>
        </p:nvSpPr>
        <p:spPr>
          <a:xfrm>
            <a:off x="812800" y="1866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0A4E0BA4-0C1B-C544-8827-11CDB0A305D8}"/>
              </a:ext>
            </a:extLst>
          </p:cNvPr>
          <p:cNvSpPr txBox="1"/>
          <p:nvPr/>
        </p:nvSpPr>
        <p:spPr>
          <a:xfrm>
            <a:off x="914400" y="1536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パスワードの総当たり攻撃への対処方式をどれにするか</a:t>
            </a:r>
          </a:p>
        </p:txBody>
      </p:sp>
      <p:sp>
        <p:nvSpPr>
          <p:cNvPr id="12" name="テキスト ボックス 11">
            <a:extLst>
              <a:ext uri="{FF2B5EF4-FFF2-40B4-BE49-F238E27FC236}">
                <a16:creationId xmlns:a16="http://schemas.microsoft.com/office/drawing/2014/main" id="{194AD456-C314-AA46-B042-FBA7EA2127F7}"/>
              </a:ext>
            </a:extLst>
          </p:cNvPr>
          <p:cNvSpPr txBox="1"/>
          <p:nvPr/>
        </p:nvSpPr>
        <p:spPr>
          <a:xfrm>
            <a:off x="5105400" y="15367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51634CE5-0B7A-164D-B145-CCADDE98D10F}"/>
              </a:ext>
            </a:extLst>
          </p:cNvPr>
          <p:cNvSpPr/>
          <p:nvPr/>
        </p:nvSpPr>
        <p:spPr>
          <a:xfrm>
            <a:off x="5943600" y="15113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0CA2BEF8-B153-3C49-9FD7-8469B4483EEB}"/>
              </a:ext>
            </a:extLst>
          </p:cNvPr>
          <p:cNvSpPr txBox="1"/>
          <p:nvPr/>
        </p:nvSpPr>
        <p:spPr>
          <a:xfrm>
            <a:off x="6908800" y="15367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連続失敗で一時ロック｜</a:t>
            </a:r>
            <a:r>
              <a:rPr lang="en" altLang="ja-JP" sz="1100">
                <a:solidFill>
                  <a:srgbClr val="5A6472"/>
                </a:solidFill>
                <a:latin typeface="Yu Gothic UI"/>
                <a:ea typeface="Yu Gothic UI"/>
              </a:rPr>
              <a:t>MAU) / Realm Settings</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24F5F38C-5B66-6C4F-965B-04F92C27EE9E}"/>
              </a:ext>
            </a:extLst>
          </p:cNvPr>
          <p:cNvSpPr/>
          <p:nvPr/>
        </p:nvSpPr>
        <p:spPr>
          <a:xfrm>
            <a:off x="812800" y="18796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2D2F7596-5055-794B-BD7D-3DB55D6EBD92}"/>
              </a:ext>
            </a:extLst>
          </p:cNvPr>
          <p:cNvSpPr/>
          <p:nvPr/>
        </p:nvSpPr>
        <p:spPr>
          <a:xfrm>
            <a:off x="812800" y="2349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FB704EE3-2AC3-BE46-A0CF-821C6787257D}"/>
              </a:ext>
            </a:extLst>
          </p:cNvPr>
          <p:cNvSpPr txBox="1"/>
          <p:nvPr/>
        </p:nvSpPr>
        <p:spPr>
          <a:xfrm>
            <a:off x="914400" y="201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世の中に漏れていると分かっているパスワードの使用を拒否</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FE20BFA8-7ACA-2644-A211-4EF624116934}"/>
              </a:ext>
            </a:extLst>
          </p:cNvPr>
          <p:cNvSpPr txBox="1"/>
          <p:nvPr/>
        </p:nvSpPr>
        <p:spPr>
          <a:xfrm>
            <a:off x="5105400" y="2019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0A627E06-616F-C14C-B377-0BF4F3EA27F4}"/>
              </a:ext>
            </a:extLst>
          </p:cNvPr>
          <p:cNvSpPr/>
          <p:nvPr/>
        </p:nvSpPr>
        <p:spPr>
          <a:xfrm>
            <a:off x="5943600" y="1993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A065C000-27E7-A847-9392-31CCFD714BF3}"/>
              </a:ext>
            </a:extLst>
          </p:cNvPr>
          <p:cNvSpPr txBox="1"/>
          <p:nvPr/>
        </p:nvSpPr>
        <p:spPr>
          <a:xfrm>
            <a:off x="6908800" y="201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MAU)</a:t>
            </a:r>
            <a:r>
              <a:rPr lang="ja-JP" altLang="en-US" sz="1100">
                <a:solidFill>
                  <a:srgbClr val="5A6472"/>
                </a:solidFill>
                <a:latin typeface="Yu Gothic UI"/>
                <a:ea typeface="Yu Gothic UI"/>
              </a:rPr>
              <a:t>必要 </a:t>
            </a:r>
            <a:r>
              <a:rPr lang="en-US" altLang="ja-JP" sz="1100">
                <a:solidFill>
                  <a:srgbClr val="5A6472"/>
                </a:solidFill>
                <a:latin typeface="Yu Gothic UI"/>
                <a:ea typeface="Yu Gothic UI"/>
              </a:rPr>
              <a:t>/ </a:t>
            </a:r>
            <a:r>
              <a:rPr lang="ja-JP" altLang="en-US" sz="1100">
                <a:solidFill>
                  <a:srgbClr val="5A6472"/>
                </a:solidFill>
                <a:latin typeface="Yu Gothic UI"/>
                <a:ea typeface="Yu Gothic UI"/>
              </a:rPr>
              <a:t>プラグイン・カスタム要件。</a:t>
            </a:r>
            <a:r>
              <a:rPr lang="en" altLang="ja-JP" sz="1100">
                <a:solidFill>
                  <a:srgbClr val="5A6472"/>
                </a:solidFill>
                <a:latin typeface="Yu Gothic UI"/>
                <a:ea typeface="Yu Gothic UI"/>
              </a:rPr>
              <a:t>Cognito</a:t>
            </a:r>
            <a:r>
              <a:rPr lang="ja-JP" altLang="en-US" sz="1100">
                <a:solidFill>
                  <a:srgbClr val="5A6472"/>
                </a:solidFill>
                <a:latin typeface="Yu Gothic UI"/>
                <a:ea typeface="Yu Gothic UI"/>
              </a:rPr>
              <a:t>ティア</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19CAECC2-EA99-2543-9937-C7F9EEEA2A07}"/>
              </a:ext>
            </a:extLst>
          </p:cNvPr>
          <p:cNvSpPr/>
          <p:nvPr/>
        </p:nvSpPr>
        <p:spPr>
          <a:xfrm>
            <a:off x="812800" y="2832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DBDEFF1E-2CB3-D242-A1DF-EFDD25E7FF85}"/>
              </a:ext>
            </a:extLst>
          </p:cNvPr>
          <p:cNvSpPr txBox="1"/>
          <p:nvPr/>
        </p:nvSpPr>
        <p:spPr>
          <a:xfrm>
            <a:off x="914400" y="2501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大量アクセス攻撃への備えをどこまで行うか。誰が担うか</a:t>
            </a:r>
          </a:p>
        </p:txBody>
      </p:sp>
      <p:sp>
        <p:nvSpPr>
          <p:cNvPr id="23" name="テキスト ボックス 22">
            <a:extLst>
              <a:ext uri="{FF2B5EF4-FFF2-40B4-BE49-F238E27FC236}">
                <a16:creationId xmlns:a16="http://schemas.microsoft.com/office/drawing/2014/main" id="{4EA4486F-A400-1E4E-9B0F-0505580E0063}"/>
              </a:ext>
            </a:extLst>
          </p:cNvPr>
          <p:cNvSpPr txBox="1"/>
          <p:nvPr/>
        </p:nvSpPr>
        <p:spPr>
          <a:xfrm>
            <a:off x="5105400" y="25019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3AC08CF9-21F5-1349-B10D-A6C3AFA75141}"/>
              </a:ext>
            </a:extLst>
          </p:cNvPr>
          <p:cNvSpPr/>
          <p:nvPr/>
        </p:nvSpPr>
        <p:spPr>
          <a:xfrm>
            <a:off x="5943600" y="24765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883E8BD7-6966-5D4C-92BC-342A4996BC04}"/>
              </a:ext>
            </a:extLst>
          </p:cNvPr>
          <p:cNvSpPr txBox="1"/>
          <p:nvPr/>
        </p:nvSpPr>
        <p:spPr>
          <a:xfrm>
            <a:off x="6908800" y="25019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(D)Shield Standard</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a:t>
            </a:r>
            <a:r>
              <a:rPr lang="en" altLang="ja-JP" sz="1100">
                <a:solidFill>
                  <a:srgbClr val="5A6472"/>
                </a:solidFill>
                <a:latin typeface="Yu Gothic UI"/>
                <a:ea typeface="Yu Gothic UI"/>
              </a:rPr>
              <a:t>AWS</a:t>
            </a:r>
            <a:r>
              <a:rPr lang="ja-JP" altLang="en-US" sz="1100">
                <a:solidFill>
                  <a:srgbClr val="5A6472"/>
                </a:solidFill>
                <a:latin typeface="Yu Gothic UI"/>
                <a:ea typeface="Yu Gothic UI"/>
              </a:rPr>
              <a:t>標準で対応</a:t>
            </a:r>
          </a:p>
        </p:txBody>
      </p:sp>
      <p:sp>
        <p:nvSpPr>
          <p:cNvPr id="26" name="正方形/長方形 25">
            <a:extLst>
              <a:ext uri="{FF2B5EF4-FFF2-40B4-BE49-F238E27FC236}">
                <a16:creationId xmlns:a16="http://schemas.microsoft.com/office/drawing/2014/main" id="{DD8069A2-1F79-054A-9D73-2C37FC80EA70}"/>
              </a:ext>
            </a:extLst>
          </p:cNvPr>
          <p:cNvSpPr/>
          <p:nvPr/>
        </p:nvSpPr>
        <p:spPr>
          <a:xfrm>
            <a:off x="812800" y="28448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88402C4A-D9CF-1A4F-9304-9AB0E9756459}"/>
              </a:ext>
            </a:extLst>
          </p:cNvPr>
          <p:cNvSpPr/>
          <p:nvPr/>
        </p:nvSpPr>
        <p:spPr>
          <a:xfrm>
            <a:off x="812800" y="331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087437EC-E41D-DA47-B04B-344232EFDCC7}"/>
              </a:ext>
            </a:extLst>
          </p:cNvPr>
          <p:cNvSpPr txBox="1"/>
          <p:nvPr/>
        </p:nvSpPr>
        <p:spPr>
          <a:xfrm>
            <a:off x="914400" y="2984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疑似攻撃による検査を行うか。頻度と実施者をどうするか</a:t>
            </a:r>
          </a:p>
        </p:txBody>
      </p:sp>
      <p:sp>
        <p:nvSpPr>
          <p:cNvPr id="29" name="テキスト ボックス 28">
            <a:extLst>
              <a:ext uri="{FF2B5EF4-FFF2-40B4-BE49-F238E27FC236}">
                <a16:creationId xmlns:a16="http://schemas.microsoft.com/office/drawing/2014/main" id="{DF4AB89B-8C6D-184A-BEA4-3690135ED575}"/>
              </a:ext>
            </a:extLst>
          </p:cNvPr>
          <p:cNvSpPr txBox="1"/>
          <p:nvPr/>
        </p:nvSpPr>
        <p:spPr>
          <a:xfrm>
            <a:off x="5105400" y="29845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9F86BF75-7C58-DF4A-9883-EC722AE6A892}"/>
              </a:ext>
            </a:extLst>
          </p:cNvPr>
          <p:cNvSpPr/>
          <p:nvPr/>
        </p:nvSpPr>
        <p:spPr>
          <a:xfrm>
            <a:off x="5943600" y="29591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1" name="テキスト ボックス 30">
            <a:extLst>
              <a:ext uri="{FF2B5EF4-FFF2-40B4-BE49-F238E27FC236}">
                <a16:creationId xmlns:a16="http://schemas.microsoft.com/office/drawing/2014/main" id="{FC8E4F41-46EB-144F-B8FE-78CACA18A02B}"/>
              </a:ext>
            </a:extLst>
          </p:cNvPr>
          <p:cNvSpPr txBox="1"/>
          <p:nvPr/>
        </p:nvSpPr>
        <p:spPr>
          <a:xfrm>
            <a:off x="6908800" y="2984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年</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回｜製品非依存。実施体制・頻度を要ヒアリング</a:t>
            </a:r>
          </a:p>
        </p:txBody>
      </p:sp>
      <p:sp>
        <p:nvSpPr>
          <p:cNvPr id="32" name="正方形/長方形 31">
            <a:extLst>
              <a:ext uri="{FF2B5EF4-FFF2-40B4-BE49-F238E27FC236}">
                <a16:creationId xmlns:a16="http://schemas.microsoft.com/office/drawing/2014/main" id="{913B6677-1C47-8942-A262-60F24DE8ACA8}"/>
              </a:ext>
            </a:extLst>
          </p:cNvPr>
          <p:cNvSpPr/>
          <p:nvPr/>
        </p:nvSpPr>
        <p:spPr>
          <a:xfrm>
            <a:off x="812800" y="3797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DC1A42E6-C279-F74D-9D2C-C9DFB7A9BDD8}"/>
              </a:ext>
            </a:extLst>
          </p:cNvPr>
          <p:cNvSpPr txBox="1"/>
          <p:nvPr/>
        </p:nvSpPr>
        <p:spPr>
          <a:xfrm>
            <a:off x="914400" y="3467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弱点の自動検査をどの頻度で行うか。何を合格とするか</a:t>
            </a:r>
          </a:p>
        </p:txBody>
      </p:sp>
      <p:sp>
        <p:nvSpPr>
          <p:cNvPr id="34" name="テキスト ボックス 33">
            <a:extLst>
              <a:ext uri="{FF2B5EF4-FFF2-40B4-BE49-F238E27FC236}">
                <a16:creationId xmlns:a16="http://schemas.microsoft.com/office/drawing/2014/main" id="{BB67AFAE-B40B-8B4D-88DB-D6442FE9AC05}"/>
              </a:ext>
            </a:extLst>
          </p:cNvPr>
          <p:cNvSpPr txBox="1"/>
          <p:nvPr/>
        </p:nvSpPr>
        <p:spPr>
          <a:xfrm>
            <a:off x="5105400" y="34671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D94F5440-CB00-DC40-9EDD-16A54EF10557}"/>
              </a:ext>
            </a:extLst>
          </p:cNvPr>
          <p:cNvSpPr/>
          <p:nvPr/>
        </p:nvSpPr>
        <p:spPr>
          <a:xfrm>
            <a:off x="5943600" y="34417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A357F305-6D84-D848-ADE6-42A1F21012BF}"/>
              </a:ext>
            </a:extLst>
          </p:cNvPr>
          <p:cNvSpPr txBox="1"/>
          <p:nvPr/>
        </p:nvSpPr>
        <p:spPr>
          <a:xfrm>
            <a:off x="6908800" y="3467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(D)ECR Image Scan + Inspector</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ECR Scan</a:t>
            </a:r>
            <a:r>
              <a:rPr lang="ja-JP" altLang="en-US" sz="1100">
                <a:solidFill>
                  <a:srgbClr val="5A6472"/>
                </a:solidFill>
                <a:latin typeface="Yu Gothic UI"/>
                <a:ea typeface="Yu Gothic UI"/>
              </a:rPr>
              <a:t>対応</a:t>
            </a:r>
          </a:p>
        </p:txBody>
      </p:sp>
      <p:sp>
        <p:nvSpPr>
          <p:cNvPr id="37" name="正方形/長方形 36">
            <a:extLst>
              <a:ext uri="{FF2B5EF4-FFF2-40B4-BE49-F238E27FC236}">
                <a16:creationId xmlns:a16="http://schemas.microsoft.com/office/drawing/2014/main" id="{E4D27595-FE67-C449-9FB2-3CBE081D76E2}"/>
              </a:ext>
            </a:extLst>
          </p:cNvPr>
          <p:cNvSpPr/>
          <p:nvPr/>
        </p:nvSpPr>
        <p:spPr>
          <a:xfrm>
            <a:off x="812800" y="38100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3BF2ABEE-4C9B-5D42-BD57-5CCB67DE418C}"/>
              </a:ext>
            </a:extLst>
          </p:cNvPr>
          <p:cNvSpPr/>
          <p:nvPr/>
        </p:nvSpPr>
        <p:spPr>
          <a:xfrm>
            <a:off x="812800" y="427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F3BF83BE-6C86-324A-876C-D00BBEAC156B}"/>
              </a:ext>
            </a:extLst>
          </p:cNvPr>
          <p:cNvSpPr txBox="1"/>
          <p:nvPr/>
        </p:nvSpPr>
        <p:spPr>
          <a:xfrm>
            <a:off x="914400" y="39497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不正アクセスを入口で遮る仕組みを適用するか。その設定を</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40" name="テキスト ボックス 39">
            <a:extLst>
              <a:ext uri="{FF2B5EF4-FFF2-40B4-BE49-F238E27FC236}">
                <a16:creationId xmlns:a16="http://schemas.microsoft.com/office/drawing/2014/main" id="{60CCC60E-D31C-964A-AD9B-33E29A6B5F1E}"/>
              </a:ext>
            </a:extLst>
          </p:cNvPr>
          <p:cNvSpPr txBox="1"/>
          <p:nvPr/>
        </p:nvSpPr>
        <p:spPr>
          <a:xfrm>
            <a:off x="5105400" y="39497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4F25BB87-21DA-234B-8A35-E2BA6A08BD76}"/>
              </a:ext>
            </a:extLst>
          </p:cNvPr>
          <p:cNvSpPr/>
          <p:nvPr/>
        </p:nvSpPr>
        <p:spPr>
          <a:xfrm>
            <a:off x="5943600" y="39243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88C0D4DA-A207-A347-985F-B30A936EEFAA}"/>
              </a:ext>
            </a:extLst>
          </p:cNvPr>
          <p:cNvSpPr txBox="1"/>
          <p:nvPr/>
        </p:nvSpPr>
        <p:spPr>
          <a:xfrm>
            <a:off x="6908800" y="39497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(D)AWS WAF</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CloudFront</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ADR-013</a:t>
            </a:r>
            <a:r>
              <a:rPr lang="ja-JP" altLang="en-US" sz="1100">
                <a:solidFill>
                  <a:srgbClr val="5A6472"/>
                </a:solidFill>
                <a:latin typeface="Yu Gothic UI"/>
                <a:ea typeface="Yu Gothic UI"/>
              </a:rPr>
              <a:t>で計画</a:t>
            </a:r>
          </a:p>
        </p:txBody>
      </p:sp>
      <p:sp>
        <p:nvSpPr>
          <p:cNvPr id="43" name="正方形/長方形 42">
            <a:extLst>
              <a:ext uri="{FF2B5EF4-FFF2-40B4-BE49-F238E27FC236}">
                <a16:creationId xmlns:a16="http://schemas.microsoft.com/office/drawing/2014/main" id="{0C557A4A-73B3-B445-9780-5AEE0CD290C0}"/>
              </a:ext>
            </a:extLst>
          </p:cNvPr>
          <p:cNvSpPr/>
          <p:nvPr/>
        </p:nvSpPr>
        <p:spPr>
          <a:xfrm>
            <a:off x="812800" y="4762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5BE00C92-6369-174C-AA73-C0294D8C0C38}"/>
              </a:ext>
            </a:extLst>
          </p:cNvPr>
          <p:cNvSpPr txBox="1"/>
          <p:nvPr/>
        </p:nvSpPr>
        <p:spPr>
          <a:xfrm>
            <a:off x="914400" y="4432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サーバーを外部から直接触れない場所に置くか</a:t>
            </a:r>
          </a:p>
        </p:txBody>
      </p:sp>
      <p:sp>
        <p:nvSpPr>
          <p:cNvPr id="45" name="テキスト ボックス 44">
            <a:extLst>
              <a:ext uri="{FF2B5EF4-FFF2-40B4-BE49-F238E27FC236}">
                <a16:creationId xmlns:a16="http://schemas.microsoft.com/office/drawing/2014/main" id="{86378D31-1A90-E248-9499-FFBC043EDA2E}"/>
              </a:ext>
            </a:extLst>
          </p:cNvPr>
          <p:cNvSpPr txBox="1"/>
          <p:nvPr/>
        </p:nvSpPr>
        <p:spPr>
          <a:xfrm>
            <a:off x="5105400" y="4432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C584ADEB-7925-7E45-B4AD-9FD4FA75A912}"/>
              </a:ext>
            </a:extLst>
          </p:cNvPr>
          <p:cNvSpPr/>
          <p:nvPr/>
        </p:nvSpPr>
        <p:spPr>
          <a:xfrm>
            <a:off x="5943600" y="4406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47" name="テキスト ボックス 46">
            <a:extLst>
              <a:ext uri="{FF2B5EF4-FFF2-40B4-BE49-F238E27FC236}">
                <a16:creationId xmlns:a16="http://schemas.microsoft.com/office/drawing/2014/main" id="{2E337F20-BE3A-604C-A559-C3E0F5676B67}"/>
              </a:ext>
            </a:extLst>
          </p:cNvPr>
          <p:cNvSpPr txBox="1"/>
          <p:nvPr/>
        </p:nvSpPr>
        <p:spPr>
          <a:xfrm>
            <a:off x="6908800" y="4432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 </a:t>
            </a:r>
            <a:r>
              <a:rPr lang="en" altLang="ja-JP" sz="1100">
                <a:solidFill>
                  <a:srgbClr val="5A6472"/>
                </a:solidFill>
                <a:latin typeface="Yu Gothic UI"/>
                <a:ea typeface="Yu Gothic UI"/>
              </a:rPr>
              <a:t>Option B</a:t>
            </a:r>
            <a:r>
              <a:rPr lang="ja-JP" altLang="en-US" sz="1100">
                <a:solidFill>
                  <a:srgbClr val="5A6472"/>
                </a:solidFill>
                <a:latin typeface="Yu Gothic UI"/>
                <a:ea typeface="Yu Gothic UI"/>
              </a:rPr>
              <a:t>移行済</a:t>
            </a:r>
          </a:p>
        </p:txBody>
      </p:sp>
      <p:sp>
        <p:nvSpPr>
          <p:cNvPr id="48" name="正方形/長方形 47">
            <a:extLst>
              <a:ext uri="{FF2B5EF4-FFF2-40B4-BE49-F238E27FC236}">
                <a16:creationId xmlns:a16="http://schemas.microsoft.com/office/drawing/2014/main" id="{B5858A49-8E0A-AA44-855B-17BB0C475DDF}"/>
              </a:ext>
            </a:extLst>
          </p:cNvPr>
          <p:cNvSpPr/>
          <p:nvPr/>
        </p:nvSpPr>
        <p:spPr>
          <a:xfrm>
            <a:off x="812800" y="47752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B1E4BD41-9EB1-FB42-ABF3-928455E6D554}"/>
              </a:ext>
            </a:extLst>
          </p:cNvPr>
          <p:cNvSpPr/>
          <p:nvPr/>
        </p:nvSpPr>
        <p:spPr>
          <a:xfrm>
            <a:off x="812800" y="5245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4B5D4017-C8CD-4A48-A871-582DC8B6B79F}"/>
              </a:ext>
            </a:extLst>
          </p:cNvPr>
          <p:cNvSpPr txBox="1"/>
          <p:nvPr/>
        </p:nvSpPr>
        <p:spPr>
          <a:xfrm>
            <a:off x="914400" y="49149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管理画面に誰がどこからアクセスできるようにするか</a:t>
            </a:r>
          </a:p>
        </p:txBody>
      </p:sp>
      <p:sp>
        <p:nvSpPr>
          <p:cNvPr id="51" name="テキスト ボックス 50">
            <a:extLst>
              <a:ext uri="{FF2B5EF4-FFF2-40B4-BE49-F238E27FC236}">
                <a16:creationId xmlns:a16="http://schemas.microsoft.com/office/drawing/2014/main" id="{7C29D205-44D9-C145-B122-E8646B476C20}"/>
              </a:ext>
            </a:extLst>
          </p:cNvPr>
          <p:cNvSpPr txBox="1"/>
          <p:nvPr/>
        </p:nvSpPr>
        <p:spPr>
          <a:xfrm>
            <a:off x="5105400" y="49149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9D8AA3C6-9426-4B4C-A2C5-D35FFFF93418}"/>
              </a:ext>
            </a:extLst>
          </p:cNvPr>
          <p:cNvSpPr/>
          <p:nvPr/>
        </p:nvSpPr>
        <p:spPr>
          <a:xfrm>
            <a:off x="5943600" y="48895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01757A16-BDCC-EC4D-9977-3A4B460EFD3A}"/>
              </a:ext>
            </a:extLst>
          </p:cNvPr>
          <p:cNvSpPr txBox="1"/>
          <p:nvPr/>
        </p:nvSpPr>
        <p:spPr>
          <a:xfrm>
            <a:off x="6908800" y="49149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(D)IP</a:t>
            </a:r>
            <a:r>
              <a:rPr lang="ja-JP" altLang="en-US" sz="1100">
                <a:solidFill>
                  <a:srgbClr val="5A6472"/>
                </a:solidFill>
                <a:latin typeface="Yu Gothic UI"/>
                <a:ea typeface="Yu Gothic UI"/>
              </a:rPr>
              <a:t>制限</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VPN/Bastion</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ADR-011</a:t>
            </a:r>
            <a:r>
              <a:rPr lang="ja-JP" altLang="en-US" sz="1100">
                <a:solidFill>
                  <a:srgbClr val="5A6472"/>
                </a:solidFill>
                <a:latin typeface="Yu Gothic UI"/>
                <a:ea typeface="Yu Gothic UI"/>
              </a:rPr>
              <a:t>で計画</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N2)</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基本設計は</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ad…</a:t>
            </a:r>
            <a:endParaRPr lang="ja-JP" altLang="en-US" sz="1100">
              <a:solidFill>
                <a:srgbClr val="5A6472"/>
              </a:solidFill>
              <a:latin typeface="Yu Gothic UI"/>
              <a:ea typeface="Yu Gothic UI"/>
            </a:endParaRPr>
          </a:p>
        </p:txBody>
      </p:sp>
      <p:sp>
        <p:nvSpPr>
          <p:cNvPr id="54" name="正方形/長方形 53">
            <a:extLst>
              <a:ext uri="{FF2B5EF4-FFF2-40B4-BE49-F238E27FC236}">
                <a16:creationId xmlns:a16="http://schemas.microsoft.com/office/drawing/2014/main" id="{6FB84C7B-5705-EB49-A9FE-1686ABB923F3}"/>
              </a:ext>
            </a:extLst>
          </p:cNvPr>
          <p:cNvSpPr/>
          <p:nvPr/>
        </p:nvSpPr>
        <p:spPr>
          <a:xfrm>
            <a:off x="812800" y="5727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AAF7D3AF-C9AB-7E49-BFBF-C5CA37ADE525}"/>
              </a:ext>
            </a:extLst>
          </p:cNvPr>
          <p:cNvSpPr txBox="1"/>
          <p:nvPr/>
        </p:nvSpPr>
        <p:spPr>
          <a:xfrm>
            <a:off x="914400" y="53975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鍵情報の公開窓口をどこまで守るか</a:t>
            </a:r>
          </a:p>
        </p:txBody>
      </p:sp>
      <p:sp>
        <p:nvSpPr>
          <p:cNvPr id="56" name="テキスト ボックス 55">
            <a:extLst>
              <a:ext uri="{FF2B5EF4-FFF2-40B4-BE49-F238E27FC236}">
                <a16:creationId xmlns:a16="http://schemas.microsoft.com/office/drawing/2014/main" id="{D161527F-9538-694C-8741-BB8493E28D1A}"/>
              </a:ext>
            </a:extLst>
          </p:cNvPr>
          <p:cNvSpPr txBox="1"/>
          <p:nvPr/>
        </p:nvSpPr>
        <p:spPr>
          <a:xfrm>
            <a:off x="5105400" y="53975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7" name="角丸四角形 56">
            <a:extLst>
              <a:ext uri="{FF2B5EF4-FFF2-40B4-BE49-F238E27FC236}">
                <a16:creationId xmlns:a16="http://schemas.microsoft.com/office/drawing/2014/main" id="{554C0A4D-E26E-1F40-BA6B-FDED475EBCC4}"/>
              </a:ext>
            </a:extLst>
          </p:cNvPr>
          <p:cNvSpPr/>
          <p:nvPr/>
        </p:nvSpPr>
        <p:spPr>
          <a:xfrm>
            <a:off x="5943600" y="53721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58" name="テキスト ボックス 57">
            <a:extLst>
              <a:ext uri="{FF2B5EF4-FFF2-40B4-BE49-F238E27FC236}">
                <a16:creationId xmlns:a16="http://schemas.microsoft.com/office/drawing/2014/main" id="{931C13D2-023A-3A4F-9282-B5E9041E7ACC}"/>
              </a:ext>
            </a:extLst>
          </p:cNvPr>
          <p:cNvSpPr txBox="1"/>
          <p:nvPr/>
        </p:nvSpPr>
        <p:spPr>
          <a:xfrm>
            <a:off x="6908800" y="53975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公開</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WAF</a:t>
            </a:r>
            <a:r>
              <a:rPr lang="ja-JP" altLang="en-US" sz="1100">
                <a:solidFill>
                  <a:srgbClr val="5A6472"/>
                </a:solidFill>
                <a:latin typeface="Yu Gothic UI"/>
                <a:ea typeface="Yu Gothic UI"/>
              </a:rPr>
              <a:t>レート制限｜ </a:t>
            </a:r>
            <a:r>
              <a:rPr lang="en" altLang="ja-JP" sz="1100">
                <a:solidFill>
                  <a:srgbClr val="5A6472"/>
                </a:solidFill>
                <a:latin typeface="Yu Gothic UI"/>
                <a:ea typeface="Yu Gothic UI"/>
              </a:rPr>
              <a:t>ADR-012</a:t>
            </a:r>
            <a:r>
              <a:rPr lang="ja-JP" altLang="en-US" sz="1100">
                <a:solidFill>
                  <a:srgbClr val="5A6472"/>
                </a:solidFill>
                <a:latin typeface="Yu Gothic UI"/>
                <a:ea typeface="Yu Gothic UI"/>
              </a:rPr>
              <a:t>で対応</a:t>
            </a:r>
          </a:p>
        </p:txBody>
      </p:sp>
      <p:sp>
        <p:nvSpPr>
          <p:cNvPr id="59" name="正方形/長方形 58">
            <a:extLst>
              <a:ext uri="{FF2B5EF4-FFF2-40B4-BE49-F238E27FC236}">
                <a16:creationId xmlns:a16="http://schemas.microsoft.com/office/drawing/2014/main" id="{B48AAFFE-B3B4-3B45-91ED-0808B29BE803}"/>
              </a:ext>
            </a:extLst>
          </p:cNvPr>
          <p:cNvSpPr/>
          <p:nvPr/>
        </p:nvSpPr>
        <p:spPr>
          <a:xfrm>
            <a:off x="812800" y="5740400"/>
            <a:ext cx="10566400" cy="482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5E24A51D-9364-F94B-9BF1-C7458E1AF3D8}"/>
              </a:ext>
            </a:extLst>
          </p:cNvPr>
          <p:cNvSpPr/>
          <p:nvPr/>
        </p:nvSpPr>
        <p:spPr>
          <a:xfrm>
            <a:off x="812800" y="621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694C98F5-126D-D149-B409-BF4ED2342FC2}"/>
              </a:ext>
            </a:extLst>
          </p:cNvPr>
          <p:cNvSpPr txBox="1"/>
          <p:nvPr/>
        </p:nvSpPr>
        <p:spPr>
          <a:xfrm>
            <a:off x="914400" y="58801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内部の部品同士の通信でも身元確認を必須にするか</a:t>
            </a:r>
          </a:p>
        </p:txBody>
      </p:sp>
      <p:sp>
        <p:nvSpPr>
          <p:cNvPr id="62" name="テキスト ボックス 61">
            <a:extLst>
              <a:ext uri="{FF2B5EF4-FFF2-40B4-BE49-F238E27FC236}">
                <a16:creationId xmlns:a16="http://schemas.microsoft.com/office/drawing/2014/main" id="{40F069EE-ACC5-B84E-BA24-A9676E29FDAF}"/>
              </a:ext>
            </a:extLst>
          </p:cNvPr>
          <p:cNvSpPr txBox="1"/>
          <p:nvPr/>
        </p:nvSpPr>
        <p:spPr>
          <a:xfrm>
            <a:off x="5105400" y="58801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DF465107-75C7-7843-80B4-76A4B4E38BE2}"/>
              </a:ext>
            </a:extLst>
          </p:cNvPr>
          <p:cNvSpPr/>
          <p:nvPr/>
        </p:nvSpPr>
        <p:spPr>
          <a:xfrm>
            <a:off x="5943600" y="58547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64" name="テキスト ボックス 63">
            <a:extLst>
              <a:ext uri="{FF2B5EF4-FFF2-40B4-BE49-F238E27FC236}">
                <a16:creationId xmlns:a16="http://schemas.microsoft.com/office/drawing/2014/main" id="{2A455E36-5AFF-B540-BAAD-2A67B83159F8}"/>
              </a:ext>
            </a:extLst>
          </p:cNvPr>
          <p:cNvSpPr txBox="1"/>
          <p:nvPr/>
        </p:nvSpPr>
        <p:spPr>
          <a:xfrm>
            <a:off x="6908800" y="58801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(D)VPC</a:t>
            </a:r>
            <a:r>
              <a:rPr lang="ja-JP" altLang="en-US" sz="1100">
                <a:solidFill>
                  <a:srgbClr val="5A6472"/>
                </a:solidFill>
                <a:latin typeface="Yu Gothic UI"/>
                <a:ea typeface="Yu Gothic UI"/>
              </a:rPr>
              <a:t>内完結｜ </a:t>
            </a:r>
            <a:r>
              <a:rPr lang="en" altLang="ja-JP" sz="1100">
                <a:solidFill>
                  <a:srgbClr val="5A6472"/>
                </a:solidFill>
                <a:latin typeface="Yu Gothic UI"/>
                <a:ea typeface="Yu Gothic UI"/>
              </a:rPr>
              <a:t>Internal ALB</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ADR-012</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109270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EAC69C8-4FDC-8341-B3D7-02E56DF93746}"/>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37E88A2-9825-954B-B5EC-B07FD145E768}"/>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法令とコンプライアンス</a:t>
            </a:r>
          </a:p>
        </p:txBody>
      </p:sp>
      <p:sp>
        <p:nvSpPr>
          <p:cNvPr id="4" name="テキスト ボックス 3">
            <a:extLst>
              <a:ext uri="{FF2B5EF4-FFF2-40B4-BE49-F238E27FC236}">
                <a16:creationId xmlns:a16="http://schemas.microsoft.com/office/drawing/2014/main" id="{874C0042-E7A5-FC41-B931-B9B353932922}"/>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11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6D026709-C735-5340-AA26-0EE7B9173B8B}"/>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530082A1-21B6-C948-87DB-61A03F8E8883}"/>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47460F5C-8A2B-9B42-842D-8EEA7C430D97}"/>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5C5C3C81-3C10-7843-8EB3-8718F608DD43}"/>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ED0455CD-BBD9-0042-9B23-1700FCEE8F4E}"/>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C9322A09-269E-9348-B5A5-73E3196A3FE7}"/>
              </a:ext>
            </a:extLst>
          </p:cNvPr>
          <p:cNvSpPr/>
          <p:nvPr/>
        </p:nvSpPr>
        <p:spPr>
          <a:xfrm>
            <a:off x="812800" y="1828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751B886E-FA63-1E42-80AF-3E80119C92DB}"/>
              </a:ext>
            </a:extLst>
          </p:cNvPr>
          <p:cNvSpPr txBox="1"/>
          <p:nvPr/>
        </p:nvSpPr>
        <p:spPr>
          <a:xfrm>
            <a:off x="914400" y="1511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日本の個人情報保護法への対応範囲をどこまでにするか</a:t>
            </a:r>
          </a:p>
        </p:txBody>
      </p:sp>
      <p:sp>
        <p:nvSpPr>
          <p:cNvPr id="12" name="テキスト ボックス 11">
            <a:extLst>
              <a:ext uri="{FF2B5EF4-FFF2-40B4-BE49-F238E27FC236}">
                <a16:creationId xmlns:a16="http://schemas.microsoft.com/office/drawing/2014/main" id="{E2F8BF4B-C443-A14D-BB71-7E686C664A18}"/>
              </a:ext>
            </a:extLst>
          </p:cNvPr>
          <p:cNvSpPr txBox="1"/>
          <p:nvPr/>
        </p:nvSpPr>
        <p:spPr>
          <a:xfrm>
            <a:off x="5105400" y="1511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EBD563CE-CBF6-E142-9EC2-7C30B1F0E8A9}"/>
              </a:ext>
            </a:extLst>
          </p:cNvPr>
          <p:cNvSpPr/>
          <p:nvPr/>
        </p:nvSpPr>
        <p:spPr>
          <a:xfrm>
            <a:off x="5943600" y="1485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6434CFC5-3DAA-5543-9B10-B682C024ED3B}"/>
              </a:ext>
            </a:extLst>
          </p:cNvPr>
          <p:cNvSpPr txBox="1"/>
          <p:nvPr/>
        </p:nvSpPr>
        <p:spPr>
          <a:xfrm>
            <a:off x="6908800" y="1511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必須｜両者対応</a:t>
            </a:r>
          </a:p>
        </p:txBody>
      </p:sp>
      <p:sp>
        <p:nvSpPr>
          <p:cNvPr id="15" name="正方形/長方形 14">
            <a:extLst>
              <a:ext uri="{FF2B5EF4-FFF2-40B4-BE49-F238E27FC236}">
                <a16:creationId xmlns:a16="http://schemas.microsoft.com/office/drawing/2014/main" id="{1153F452-57C8-C246-8155-10FD3241851F}"/>
              </a:ext>
            </a:extLst>
          </p:cNvPr>
          <p:cNvSpPr/>
          <p:nvPr/>
        </p:nvSpPr>
        <p:spPr>
          <a:xfrm>
            <a:off x="812800" y="1841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A6088884-E549-FF4D-B399-30D333F5ABDC}"/>
              </a:ext>
            </a:extLst>
          </p:cNvPr>
          <p:cNvSpPr/>
          <p:nvPr/>
        </p:nvSpPr>
        <p:spPr>
          <a:xfrm>
            <a:off x="812800" y="2273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718B9F9E-7A0B-9E49-84F9-B79CD1118107}"/>
              </a:ext>
            </a:extLst>
          </p:cNvPr>
          <p:cNvSpPr txBox="1"/>
          <p:nvPr/>
        </p:nvSpPr>
        <p:spPr>
          <a:xfrm>
            <a:off x="914400" y="1955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海外展開に伴う規制対応が必要か。対象となる地域はどこか</a:t>
            </a:r>
          </a:p>
        </p:txBody>
      </p:sp>
      <p:sp>
        <p:nvSpPr>
          <p:cNvPr id="18" name="テキスト ボックス 17">
            <a:extLst>
              <a:ext uri="{FF2B5EF4-FFF2-40B4-BE49-F238E27FC236}">
                <a16:creationId xmlns:a16="http://schemas.microsoft.com/office/drawing/2014/main" id="{E06DA51B-06F0-7F46-897A-A221E83CDE4A}"/>
              </a:ext>
            </a:extLst>
          </p:cNvPr>
          <p:cNvSpPr txBox="1"/>
          <p:nvPr/>
        </p:nvSpPr>
        <p:spPr>
          <a:xfrm>
            <a:off x="5105400" y="1955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BBC2EFE4-0C0C-4F4F-B7A3-03AA3D3CB593}"/>
              </a:ext>
            </a:extLst>
          </p:cNvPr>
          <p:cNvSpPr/>
          <p:nvPr/>
        </p:nvSpPr>
        <p:spPr>
          <a:xfrm>
            <a:off x="5943600" y="19304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E5B6ABD1-6ABD-B145-BCA2-C19B742F86EF}"/>
              </a:ext>
            </a:extLst>
          </p:cNvPr>
          <p:cNvSpPr txBox="1"/>
          <p:nvPr/>
        </p:nvSpPr>
        <p:spPr>
          <a:xfrm>
            <a:off x="6908800" y="1955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両者対応。基本設計は</a:t>
            </a:r>
            <a:r>
              <a:rPr lang="en" altLang="ja-JP" sz="1100">
                <a:solidFill>
                  <a:srgbClr val="5A6472"/>
                </a:solidFill>
                <a:latin typeface="Yu Gothic UI"/>
                <a:ea typeface="Yu Gothic UI"/>
              </a:rPr>
              <a:t>DSAR Phase 1</a:t>
            </a:r>
            <a:r>
              <a:rPr lang="ja-JP" altLang="en-US" sz="1100">
                <a:solidFill>
                  <a:srgbClr val="5A6472"/>
                </a:solidFill>
                <a:latin typeface="Yu Gothic UI"/>
                <a:ea typeface="Yu Gothic UI"/>
              </a:rPr>
              <a:t>手動対応</a:t>
            </a:r>
          </a:p>
        </p:txBody>
      </p:sp>
      <p:sp>
        <p:nvSpPr>
          <p:cNvPr id="21" name="正方形/長方形 20">
            <a:extLst>
              <a:ext uri="{FF2B5EF4-FFF2-40B4-BE49-F238E27FC236}">
                <a16:creationId xmlns:a16="http://schemas.microsoft.com/office/drawing/2014/main" id="{BDC4E205-9E58-EC46-90B9-87096B74CF2C}"/>
              </a:ext>
            </a:extLst>
          </p:cNvPr>
          <p:cNvSpPr/>
          <p:nvPr/>
        </p:nvSpPr>
        <p:spPr>
          <a:xfrm>
            <a:off x="812800" y="2717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F1463DC4-80C7-9D4A-B314-90EC7FABA928}"/>
              </a:ext>
            </a:extLst>
          </p:cNvPr>
          <p:cNvSpPr txBox="1"/>
          <p:nvPr/>
        </p:nvSpPr>
        <p:spPr>
          <a:xfrm>
            <a:off x="914400" y="2400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データを日本国内に限定する必要があるか。最重要の確認事</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23" name="テキスト ボックス 22">
            <a:extLst>
              <a:ext uri="{FF2B5EF4-FFF2-40B4-BE49-F238E27FC236}">
                <a16:creationId xmlns:a16="http://schemas.microsoft.com/office/drawing/2014/main" id="{409FAE6D-2B7D-634B-AC25-94EC44E068E9}"/>
              </a:ext>
            </a:extLst>
          </p:cNvPr>
          <p:cNvSpPr txBox="1"/>
          <p:nvPr/>
        </p:nvSpPr>
        <p:spPr>
          <a:xfrm>
            <a:off x="5105400" y="2400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88351377-C8F5-6D41-81B6-132B86342D9C}"/>
              </a:ext>
            </a:extLst>
          </p:cNvPr>
          <p:cNvSpPr/>
          <p:nvPr/>
        </p:nvSpPr>
        <p:spPr>
          <a:xfrm>
            <a:off x="5943600" y="2374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5" name="テキスト ボックス 24">
            <a:extLst>
              <a:ext uri="{FF2B5EF4-FFF2-40B4-BE49-F238E27FC236}">
                <a16:creationId xmlns:a16="http://schemas.microsoft.com/office/drawing/2014/main" id="{5533BE0D-FBC7-4447-8B11-131B1FD27E26}"/>
              </a:ext>
            </a:extLst>
          </p:cNvPr>
          <p:cNvSpPr txBox="1"/>
          <p:nvPr/>
        </p:nvSpPr>
        <p:spPr>
          <a:xfrm>
            <a:off x="6908800" y="2400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国内</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特定リージョン｜★最重要：リージョン設計の決め手</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C895A2F6-4F6C-5543-A24E-D2B76F4957D8}"/>
              </a:ext>
            </a:extLst>
          </p:cNvPr>
          <p:cNvSpPr/>
          <p:nvPr/>
        </p:nvSpPr>
        <p:spPr>
          <a:xfrm>
            <a:off x="812800" y="2730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F41879E2-C8D9-5A4E-ABAB-942BD3BC7437}"/>
              </a:ext>
            </a:extLst>
          </p:cNvPr>
          <p:cNvSpPr/>
          <p:nvPr/>
        </p:nvSpPr>
        <p:spPr>
          <a:xfrm>
            <a:off x="812800" y="316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173A52E3-760A-F04D-9822-CDA5D001F176}"/>
              </a:ext>
            </a:extLst>
          </p:cNvPr>
          <p:cNvSpPr txBox="1"/>
          <p:nvPr/>
        </p:nvSpPr>
        <p:spPr>
          <a:xfrm>
            <a:off x="914400" y="2844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第三者による内部統制の証明が必要か</a:t>
            </a:r>
          </a:p>
        </p:txBody>
      </p:sp>
      <p:sp>
        <p:nvSpPr>
          <p:cNvPr id="29" name="テキスト ボックス 28">
            <a:extLst>
              <a:ext uri="{FF2B5EF4-FFF2-40B4-BE49-F238E27FC236}">
                <a16:creationId xmlns:a16="http://schemas.microsoft.com/office/drawing/2014/main" id="{91B72DA2-9611-8A43-B8C5-CA4EA55828C7}"/>
              </a:ext>
            </a:extLst>
          </p:cNvPr>
          <p:cNvSpPr txBox="1"/>
          <p:nvPr/>
        </p:nvSpPr>
        <p:spPr>
          <a:xfrm>
            <a:off x="5105400" y="2844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5BD75B87-F4B9-4642-A848-5B5571E44F28}"/>
              </a:ext>
            </a:extLst>
          </p:cNvPr>
          <p:cNvSpPr/>
          <p:nvPr/>
        </p:nvSpPr>
        <p:spPr>
          <a:xfrm>
            <a:off x="5943600" y="28194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1" name="テキスト ボックス 30">
            <a:extLst>
              <a:ext uri="{FF2B5EF4-FFF2-40B4-BE49-F238E27FC236}">
                <a16:creationId xmlns:a16="http://schemas.microsoft.com/office/drawing/2014/main" id="{444C82F1-BC0F-BA46-9B40-199E80CB3F04}"/>
              </a:ext>
            </a:extLst>
          </p:cNvPr>
          <p:cNvSpPr txBox="1"/>
          <p:nvPr/>
        </p:nvSpPr>
        <p:spPr>
          <a:xfrm>
            <a:off x="6908800" y="2844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ja-JP" altLang="en-US" sz="1100">
                <a:solidFill>
                  <a:srgbClr val="5A6472"/>
                </a:solidFill>
                <a:latin typeface="Yu Gothic UI"/>
                <a:ea typeface="Yu Gothic UI"/>
              </a:rPr>
              <a:t>自前運用責任</a:t>
            </a:r>
          </a:p>
        </p:txBody>
      </p:sp>
      <p:sp>
        <p:nvSpPr>
          <p:cNvPr id="32" name="正方形/長方形 31">
            <a:extLst>
              <a:ext uri="{FF2B5EF4-FFF2-40B4-BE49-F238E27FC236}">
                <a16:creationId xmlns:a16="http://schemas.microsoft.com/office/drawing/2014/main" id="{AF661679-1F35-0247-B464-872DAFE3CDCE}"/>
              </a:ext>
            </a:extLst>
          </p:cNvPr>
          <p:cNvSpPr/>
          <p:nvPr/>
        </p:nvSpPr>
        <p:spPr>
          <a:xfrm>
            <a:off x="812800" y="3606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FEB1802C-30C1-584D-862E-C3AE132C25E0}"/>
              </a:ext>
            </a:extLst>
          </p:cNvPr>
          <p:cNvSpPr txBox="1"/>
          <p:nvPr/>
        </p:nvSpPr>
        <p:spPr>
          <a:xfrm>
            <a:off x="914400" y="328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情報セキュリティの認証取得が必要か</a:t>
            </a:r>
          </a:p>
        </p:txBody>
      </p:sp>
      <p:sp>
        <p:nvSpPr>
          <p:cNvPr id="34" name="テキスト ボックス 33">
            <a:extLst>
              <a:ext uri="{FF2B5EF4-FFF2-40B4-BE49-F238E27FC236}">
                <a16:creationId xmlns:a16="http://schemas.microsoft.com/office/drawing/2014/main" id="{7E99D7C4-7EE9-D445-A665-CD56F70F9B08}"/>
              </a:ext>
            </a:extLst>
          </p:cNvPr>
          <p:cNvSpPr txBox="1"/>
          <p:nvPr/>
        </p:nvSpPr>
        <p:spPr>
          <a:xfrm>
            <a:off x="5105400" y="3289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6556AAAD-7775-184B-A809-F36C4B78E764}"/>
              </a:ext>
            </a:extLst>
          </p:cNvPr>
          <p:cNvSpPr/>
          <p:nvPr/>
        </p:nvSpPr>
        <p:spPr>
          <a:xfrm>
            <a:off x="5943600" y="3263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6" name="テキスト ボックス 35">
            <a:extLst>
              <a:ext uri="{FF2B5EF4-FFF2-40B4-BE49-F238E27FC236}">
                <a16:creationId xmlns:a16="http://schemas.microsoft.com/office/drawing/2014/main" id="{BFAA1905-9A07-6B41-882C-5456CB65E172}"/>
              </a:ext>
            </a:extLst>
          </p:cNvPr>
          <p:cNvSpPr txBox="1"/>
          <p:nvPr/>
        </p:nvSpPr>
        <p:spPr>
          <a:xfrm>
            <a:off x="6908800" y="328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ja-JP" altLang="en-US" sz="1100">
                <a:solidFill>
                  <a:srgbClr val="5A6472"/>
                </a:solidFill>
                <a:latin typeface="Yu Gothic UI"/>
                <a:ea typeface="Yu Gothic UI"/>
              </a:rPr>
              <a:t>自前運用責任</a:t>
            </a:r>
          </a:p>
        </p:txBody>
      </p:sp>
      <p:sp>
        <p:nvSpPr>
          <p:cNvPr id="37" name="正方形/長方形 36">
            <a:extLst>
              <a:ext uri="{FF2B5EF4-FFF2-40B4-BE49-F238E27FC236}">
                <a16:creationId xmlns:a16="http://schemas.microsoft.com/office/drawing/2014/main" id="{5FD7DF89-45E9-0E48-8031-A8968C70A120}"/>
              </a:ext>
            </a:extLst>
          </p:cNvPr>
          <p:cNvSpPr/>
          <p:nvPr/>
        </p:nvSpPr>
        <p:spPr>
          <a:xfrm>
            <a:off x="812800" y="3619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1700A959-EE67-F44B-BCD2-037A070227A4}"/>
              </a:ext>
            </a:extLst>
          </p:cNvPr>
          <p:cNvSpPr/>
          <p:nvPr/>
        </p:nvSpPr>
        <p:spPr>
          <a:xfrm>
            <a:off x="812800" y="4051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06FF80CE-8AE6-944E-94A5-E8A4318D8CA0}"/>
              </a:ext>
            </a:extLst>
          </p:cNvPr>
          <p:cNvSpPr txBox="1"/>
          <p:nvPr/>
        </p:nvSpPr>
        <p:spPr>
          <a:xfrm>
            <a:off x="914400" y="3733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クレジットカード関連の規格対応が必要か</a:t>
            </a:r>
          </a:p>
        </p:txBody>
      </p:sp>
      <p:sp>
        <p:nvSpPr>
          <p:cNvPr id="40" name="テキスト ボックス 39">
            <a:extLst>
              <a:ext uri="{FF2B5EF4-FFF2-40B4-BE49-F238E27FC236}">
                <a16:creationId xmlns:a16="http://schemas.microsoft.com/office/drawing/2014/main" id="{98726408-49FB-624C-9A51-E13A7B21D634}"/>
              </a:ext>
            </a:extLst>
          </p:cNvPr>
          <p:cNvSpPr txBox="1"/>
          <p:nvPr/>
        </p:nvSpPr>
        <p:spPr>
          <a:xfrm>
            <a:off x="5105400" y="3733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60D0B6AD-A869-A345-89CE-C8473D4D0BFA}"/>
              </a:ext>
            </a:extLst>
          </p:cNvPr>
          <p:cNvSpPr/>
          <p:nvPr/>
        </p:nvSpPr>
        <p:spPr>
          <a:xfrm>
            <a:off x="5943600" y="37084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2" name="テキスト ボックス 41">
            <a:extLst>
              <a:ext uri="{FF2B5EF4-FFF2-40B4-BE49-F238E27FC236}">
                <a16:creationId xmlns:a16="http://schemas.microsoft.com/office/drawing/2014/main" id="{33B85AC7-9BD1-EC4B-8D22-2C5EA4FC4404}"/>
              </a:ext>
            </a:extLst>
          </p:cNvPr>
          <p:cNvSpPr txBox="1"/>
          <p:nvPr/>
        </p:nvSpPr>
        <p:spPr>
          <a:xfrm>
            <a:off x="6908800" y="3733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ja-JP" altLang="en-US" sz="1100">
                <a:solidFill>
                  <a:srgbClr val="5A6472"/>
                </a:solidFill>
                <a:latin typeface="Yu Gothic UI"/>
                <a:ea typeface="Yu Gothic UI"/>
              </a:rPr>
              <a:t>自前。基本設計で</a:t>
            </a:r>
            <a:r>
              <a:rPr lang="en" altLang="ja-JP" sz="1100">
                <a:solidFill>
                  <a:srgbClr val="5A6472"/>
                </a:solidFill>
                <a:latin typeface="Yu Gothic UI"/>
                <a:ea typeface="Yu Gothic UI"/>
              </a:rPr>
              <a:t>PCI</a:t>
            </a:r>
            <a:r>
              <a:rPr lang="ja-JP" altLang="en-US" sz="1100">
                <a:solidFill>
                  <a:srgbClr val="5A6472"/>
                </a:solidFill>
                <a:latin typeface="Yu Gothic UI"/>
                <a:ea typeface="Yu Gothic UI"/>
              </a:rPr>
              <a:t>ギャップ</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点を特定済</a:t>
            </a:r>
          </a:p>
        </p:txBody>
      </p:sp>
      <p:sp>
        <p:nvSpPr>
          <p:cNvPr id="43" name="正方形/長方形 42">
            <a:extLst>
              <a:ext uri="{FF2B5EF4-FFF2-40B4-BE49-F238E27FC236}">
                <a16:creationId xmlns:a16="http://schemas.microsoft.com/office/drawing/2014/main" id="{4F38B67E-9D81-254B-83AA-7F64ADCF114B}"/>
              </a:ext>
            </a:extLst>
          </p:cNvPr>
          <p:cNvSpPr/>
          <p:nvPr/>
        </p:nvSpPr>
        <p:spPr>
          <a:xfrm>
            <a:off x="812800" y="4495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8C81D42A-1B1C-CD47-9D67-3AE2B002518B}"/>
              </a:ext>
            </a:extLst>
          </p:cNvPr>
          <p:cNvSpPr txBox="1"/>
          <p:nvPr/>
        </p:nvSpPr>
        <p:spPr>
          <a:xfrm>
            <a:off x="914400" y="4178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米国政府が認定した暗号方式が必要か。最重要の確認事項</a:t>
            </a:r>
          </a:p>
        </p:txBody>
      </p:sp>
      <p:sp>
        <p:nvSpPr>
          <p:cNvPr id="45" name="テキスト ボックス 44">
            <a:extLst>
              <a:ext uri="{FF2B5EF4-FFF2-40B4-BE49-F238E27FC236}">
                <a16:creationId xmlns:a16="http://schemas.microsoft.com/office/drawing/2014/main" id="{79A942F8-DA05-3645-A0C4-562EEABE4C3C}"/>
              </a:ext>
            </a:extLst>
          </p:cNvPr>
          <p:cNvSpPr txBox="1"/>
          <p:nvPr/>
        </p:nvSpPr>
        <p:spPr>
          <a:xfrm>
            <a:off x="5105400" y="4178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8E32A0FD-DD5C-2149-82F4-668883046E46}"/>
              </a:ext>
            </a:extLst>
          </p:cNvPr>
          <p:cNvSpPr/>
          <p:nvPr/>
        </p:nvSpPr>
        <p:spPr>
          <a:xfrm>
            <a:off x="5943600" y="4152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11B8910E-19A6-4D4D-978D-B3024B5F2452}"/>
              </a:ext>
            </a:extLst>
          </p:cNvPr>
          <p:cNvSpPr txBox="1"/>
          <p:nvPr/>
        </p:nvSpPr>
        <p:spPr>
          <a:xfrm>
            <a:off x="6908800" y="4178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最重要：</a:t>
            </a:r>
            <a:r>
              <a:rPr lang="en" altLang="ja-JP" sz="1100">
                <a:solidFill>
                  <a:srgbClr val="5A6472"/>
                </a:solidFill>
                <a:latin typeface="Yu Gothic UI"/>
                <a:ea typeface="Yu Gothic UI"/>
              </a:rPr>
              <a:t>RHBK</a:t>
            </a:r>
            <a:r>
              <a:rPr lang="ja-JP" altLang="en-US" sz="1100">
                <a:solidFill>
                  <a:srgbClr val="5A6472"/>
                </a:solidFill>
                <a:latin typeface="Yu Gothic UI"/>
                <a:ea typeface="Yu Gothic UI"/>
              </a:rPr>
              <a:t>必須要因。 </a:t>
            </a:r>
            <a:r>
              <a:rPr lang="en" altLang="ja-JP" sz="1100">
                <a:solidFill>
                  <a:srgbClr val="5A6472"/>
                </a:solidFill>
                <a:latin typeface="Yu Gothic UI"/>
                <a:ea typeface="Yu Gothic UI"/>
              </a:rPr>
              <a:t>RHBK</a:t>
            </a:r>
            <a:r>
              <a:rPr lang="ja-JP" altLang="en-US" sz="1100">
                <a:solidFill>
                  <a:srgbClr val="5A6472"/>
                </a:solidFill>
                <a:latin typeface="Yu Gothic UI"/>
                <a:ea typeface="Yu Gothic UI"/>
              </a:rPr>
              <a:t>必須。</a:t>
            </a:r>
            <a:r>
              <a:rPr lang="en" altLang="ja-JP" sz="1100">
                <a:solidFill>
                  <a:srgbClr val="5A6472"/>
                </a:solidFill>
                <a:latin typeface="Yu Gothic UI"/>
                <a:ea typeface="Yu Gothic UI"/>
              </a:rPr>
              <a:t>NFR-COST-006</a:t>
            </a:r>
            <a:r>
              <a:rPr lang="ja-JP" altLang="en-US" sz="1100">
                <a:solidFill>
                  <a:srgbClr val="5A6472"/>
                </a:solidFill>
                <a:latin typeface="Yu Gothic UI"/>
                <a:ea typeface="Yu Gothic UI"/>
              </a:rPr>
              <a:t>と</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8" name="正方形/長方形 47">
            <a:extLst>
              <a:ext uri="{FF2B5EF4-FFF2-40B4-BE49-F238E27FC236}">
                <a16:creationId xmlns:a16="http://schemas.microsoft.com/office/drawing/2014/main" id="{E51E89E4-F7FA-9F44-8450-44ED57F37302}"/>
              </a:ext>
            </a:extLst>
          </p:cNvPr>
          <p:cNvSpPr/>
          <p:nvPr/>
        </p:nvSpPr>
        <p:spPr>
          <a:xfrm>
            <a:off x="812800" y="4508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BB74F457-8E66-2D4F-910A-FD93F320D8FB}"/>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2F5ADCB8-62C6-E543-9FA9-4F88682396AC}"/>
              </a:ext>
            </a:extLst>
          </p:cNvPr>
          <p:cNvSpPr txBox="1"/>
          <p:nvPr/>
        </p:nvSpPr>
        <p:spPr>
          <a:xfrm>
            <a:off x="914400" y="4622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法令上、操作記録を何年保存する必要があるか</a:t>
            </a:r>
          </a:p>
        </p:txBody>
      </p:sp>
      <p:sp>
        <p:nvSpPr>
          <p:cNvPr id="51" name="テキスト ボックス 50">
            <a:extLst>
              <a:ext uri="{FF2B5EF4-FFF2-40B4-BE49-F238E27FC236}">
                <a16:creationId xmlns:a16="http://schemas.microsoft.com/office/drawing/2014/main" id="{DB01824F-9B93-644C-83CB-D6017144210F}"/>
              </a:ext>
            </a:extLst>
          </p:cNvPr>
          <p:cNvSpPr txBox="1"/>
          <p:nvPr/>
        </p:nvSpPr>
        <p:spPr>
          <a:xfrm>
            <a:off x="5105400" y="4622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18B19942-1FFE-614F-B8E7-5849A64181B1}"/>
              </a:ext>
            </a:extLst>
          </p:cNvPr>
          <p:cNvSpPr/>
          <p:nvPr/>
        </p:nvSpPr>
        <p:spPr>
          <a:xfrm>
            <a:off x="5943600" y="45974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3" name="テキスト ボックス 52">
            <a:extLst>
              <a:ext uri="{FF2B5EF4-FFF2-40B4-BE49-F238E27FC236}">
                <a16:creationId xmlns:a16="http://schemas.microsoft.com/office/drawing/2014/main" id="{F80715CE-B3FF-6D45-91E0-9FDEA51F6E9D}"/>
              </a:ext>
            </a:extLst>
          </p:cNvPr>
          <p:cNvSpPr txBox="1"/>
          <p:nvPr/>
        </p:nvSpPr>
        <p:spPr>
          <a:xfrm>
            <a:off x="6908800" y="4622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a:t>
            </a:r>
            <a:r>
              <a:rPr lang="ja-JP" altLang="en-US" sz="1100">
                <a:solidFill>
                  <a:srgbClr val="5A6472"/>
                </a:solidFill>
                <a:latin typeface="Yu Gothic UI"/>
                <a:ea typeface="Yu Gothic UI"/>
              </a:rPr>
              <a:t>業種次第（</a:t>
            </a:r>
            <a:r>
              <a:rPr lang="en-US" altLang="ja-JP" sz="1100">
                <a:solidFill>
                  <a:srgbClr val="5A6472"/>
                </a:solidFill>
                <a:latin typeface="Yu Gothic UI"/>
                <a:ea typeface="Yu Gothic UI"/>
              </a:rPr>
              <a:t>〜10</a:t>
            </a:r>
            <a:r>
              <a:rPr lang="ja-JP" altLang="en-US" sz="1100">
                <a:solidFill>
                  <a:srgbClr val="5A6472"/>
                </a:solidFill>
                <a:latin typeface="Yu Gothic UI"/>
                <a:ea typeface="Yu Gothic UI"/>
              </a:rPr>
              <a:t>年）｜両者</a:t>
            </a:r>
            <a:r>
              <a:rPr lang="en" altLang="ja-JP" sz="1100">
                <a:solidFill>
                  <a:srgbClr val="5A6472"/>
                </a:solidFill>
                <a:latin typeface="Yu Gothic UI"/>
                <a:ea typeface="Yu Gothic UI"/>
              </a:rPr>
              <a:t>S3</a:t>
            </a:r>
            <a:r>
              <a:rPr lang="ja-JP" altLang="en-US" sz="1100">
                <a:solidFill>
                  <a:srgbClr val="5A6472"/>
                </a:solidFill>
                <a:latin typeface="Yu Gothic UI"/>
                <a:ea typeface="Yu Gothic UI"/>
              </a:rPr>
              <a:t>ライフサイクルで対応。</a:t>
            </a:r>
            <a:r>
              <a:rPr lang="en" altLang="ja-JP" sz="1100">
                <a:solidFill>
                  <a:srgbClr val="5A6472"/>
                </a:solidFill>
                <a:latin typeface="Yu Gothic UI"/>
                <a:ea typeface="Yu Gothic UI"/>
              </a:rPr>
              <a:t>NFR-…</a:t>
            </a:r>
            <a:endParaRPr lang="ja-JP" altLang="en-US" sz="1100">
              <a:solidFill>
                <a:srgbClr val="5A6472"/>
              </a:solidFill>
              <a:latin typeface="Yu Gothic UI"/>
              <a:ea typeface="Yu Gothic UI"/>
            </a:endParaRPr>
          </a:p>
        </p:txBody>
      </p:sp>
      <p:sp>
        <p:nvSpPr>
          <p:cNvPr id="54" name="正方形/長方形 53">
            <a:extLst>
              <a:ext uri="{FF2B5EF4-FFF2-40B4-BE49-F238E27FC236}">
                <a16:creationId xmlns:a16="http://schemas.microsoft.com/office/drawing/2014/main" id="{22E44374-CB4D-0440-A6BE-3829DF489833}"/>
              </a:ext>
            </a:extLst>
          </p:cNvPr>
          <p:cNvSpPr/>
          <p:nvPr/>
        </p:nvSpPr>
        <p:spPr>
          <a:xfrm>
            <a:off x="812800" y="5384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FAF78DC2-4C98-E749-8CC6-5D5AA68D4892}"/>
              </a:ext>
            </a:extLst>
          </p:cNvPr>
          <p:cNvSpPr txBox="1"/>
          <p:nvPr/>
        </p:nvSpPr>
        <p:spPr>
          <a:xfrm>
            <a:off x="914400" y="5067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誰がいつ何を見たかを後から追える状態を、どこまで作るか</a:t>
            </a:r>
          </a:p>
        </p:txBody>
      </p:sp>
      <p:sp>
        <p:nvSpPr>
          <p:cNvPr id="56" name="テキスト ボックス 55">
            <a:extLst>
              <a:ext uri="{FF2B5EF4-FFF2-40B4-BE49-F238E27FC236}">
                <a16:creationId xmlns:a16="http://schemas.microsoft.com/office/drawing/2014/main" id="{07166836-E83A-B849-8D8D-F04326ED33A5}"/>
              </a:ext>
            </a:extLst>
          </p:cNvPr>
          <p:cNvSpPr txBox="1"/>
          <p:nvPr/>
        </p:nvSpPr>
        <p:spPr>
          <a:xfrm>
            <a:off x="5105400" y="5067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7" name="角丸四角形 56">
            <a:extLst>
              <a:ext uri="{FF2B5EF4-FFF2-40B4-BE49-F238E27FC236}">
                <a16:creationId xmlns:a16="http://schemas.microsoft.com/office/drawing/2014/main" id="{C36A5E79-47E0-FF47-8FD8-3A987608D347}"/>
              </a:ext>
            </a:extLst>
          </p:cNvPr>
          <p:cNvSpPr/>
          <p:nvPr/>
        </p:nvSpPr>
        <p:spPr>
          <a:xfrm>
            <a:off x="5943600" y="5041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8" name="テキスト ボックス 57">
            <a:extLst>
              <a:ext uri="{FF2B5EF4-FFF2-40B4-BE49-F238E27FC236}">
                <a16:creationId xmlns:a16="http://schemas.microsoft.com/office/drawing/2014/main" id="{5F3C2E05-AB7F-8542-B642-9B3C031ADB63}"/>
              </a:ext>
            </a:extLst>
          </p:cNvPr>
          <p:cNvSpPr txBox="1"/>
          <p:nvPr/>
        </p:nvSpPr>
        <p:spPr>
          <a:xfrm>
            <a:off x="6908800" y="5067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全認証イベント記録｜ </a:t>
            </a:r>
            <a:r>
              <a:rPr lang="en" altLang="ja-JP" sz="1100">
                <a:solidFill>
                  <a:srgbClr val="5A6472"/>
                </a:solidFill>
                <a:latin typeface="Yu Gothic UI"/>
                <a:ea typeface="Yu Gothic UI"/>
              </a:rPr>
              <a:t>Event Listener</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D0A08C8F-35E6-F248-BF90-FAE24FB8317B}"/>
              </a:ext>
            </a:extLst>
          </p:cNvPr>
          <p:cNvSpPr/>
          <p:nvPr/>
        </p:nvSpPr>
        <p:spPr>
          <a:xfrm>
            <a:off x="812800" y="5397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3092A93D-AAE7-904D-8C76-40F23F69258F}"/>
              </a:ext>
            </a:extLst>
          </p:cNvPr>
          <p:cNvSpPr/>
          <p:nvPr/>
        </p:nvSpPr>
        <p:spPr>
          <a:xfrm>
            <a:off x="812800" y="5829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9A04698C-0B90-4846-8692-2BBD9559B65A}"/>
              </a:ext>
            </a:extLst>
          </p:cNvPr>
          <p:cNvSpPr txBox="1"/>
          <p:nvPr/>
        </p:nvSpPr>
        <p:spPr>
          <a:xfrm>
            <a:off x="914400" y="5511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利用者からの削除要求に、どの手順・何日以内で応じるか</a:t>
            </a:r>
          </a:p>
        </p:txBody>
      </p:sp>
      <p:sp>
        <p:nvSpPr>
          <p:cNvPr id="62" name="テキスト ボックス 61">
            <a:extLst>
              <a:ext uri="{FF2B5EF4-FFF2-40B4-BE49-F238E27FC236}">
                <a16:creationId xmlns:a16="http://schemas.microsoft.com/office/drawing/2014/main" id="{795447C8-7937-7B4A-8DF1-0C7313E5D1F1}"/>
              </a:ext>
            </a:extLst>
          </p:cNvPr>
          <p:cNvSpPr txBox="1"/>
          <p:nvPr/>
        </p:nvSpPr>
        <p:spPr>
          <a:xfrm>
            <a:off x="5105400" y="5511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20FEBCD2-2BF9-FE4B-A6B0-A5150C202839}"/>
              </a:ext>
            </a:extLst>
          </p:cNvPr>
          <p:cNvSpPr/>
          <p:nvPr/>
        </p:nvSpPr>
        <p:spPr>
          <a:xfrm>
            <a:off x="5943600" y="5486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4" name="テキスト ボックス 63">
            <a:extLst>
              <a:ext uri="{FF2B5EF4-FFF2-40B4-BE49-F238E27FC236}">
                <a16:creationId xmlns:a16="http://schemas.microsoft.com/office/drawing/2014/main" id="{D186D7FC-529C-1545-AB81-0AA64DFE3D46}"/>
              </a:ext>
            </a:extLst>
          </p:cNvPr>
          <p:cNvSpPr txBox="1"/>
          <p:nvPr/>
        </p:nvSpPr>
        <p:spPr>
          <a:xfrm>
            <a:off x="6908800" y="5511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Cascade Delete</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基本設計は</a:t>
            </a:r>
            <a:r>
              <a:rPr lang="en-US" altLang="ja-JP" sz="1100">
                <a:solidFill>
                  <a:srgbClr val="5A6472"/>
                </a:solidFill>
                <a:latin typeface="Yu Gothic UI"/>
                <a:ea typeface="Yu Gothic UI"/>
              </a:rPr>
              <a:t>3</a:t>
            </a:r>
            <a:r>
              <a:rPr lang="ja-JP" altLang="en-US" sz="1100">
                <a:solidFill>
                  <a:srgbClr val="5A6472"/>
                </a:solidFill>
                <a:latin typeface="Yu Gothic UI"/>
                <a:ea typeface="Yu Gothic UI"/>
              </a:rPr>
              <a:t>段階削除</a:t>
            </a:r>
          </a:p>
        </p:txBody>
      </p:sp>
      <p:sp>
        <p:nvSpPr>
          <p:cNvPr id="65" name="正方形/長方形 64">
            <a:extLst>
              <a:ext uri="{FF2B5EF4-FFF2-40B4-BE49-F238E27FC236}">
                <a16:creationId xmlns:a16="http://schemas.microsoft.com/office/drawing/2014/main" id="{34F858C8-8AAB-4944-9985-99064ABFEB82}"/>
              </a:ext>
            </a:extLst>
          </p:cNvPr>
          <p:cNvSpPr/>
          <p:nvPr/>
        </p:nvSpPr>
        <p:spPr>
          <a:xfrm>
            <a:off x="812800" y="6273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2FCE027E-0A70-1142-B17D-AB66949D7DC0}"/>
              </a:ext>
            </a:extLst>
          </p:cNvPr>
          <p:cNvSpPr txBox="1"/>
          <p:nvPr/>
        </p:nvSpPr>
        <p:spPr>
          <a:xfrm>
            <a:off x="914400" y="5956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暗号鍵をどの頻度で入れ替えるか</a:t>
            </a:r>
          </a:p>
        </p:txBody>
      </p:sp>
      <p:sp>
        <p:nvSpPr>
          <p:cNvPr id="67" name="テキスト ボックス 66">
            <a:extLst>
              <a:ext uri="{FF2B5EF4-FFF2-40B4-BE49-F238E27FC236}">
                <a16:creationId xmlns:a16="http://schemas.microsoft.com/office/drawing/2014/main" id="{80F8A3F5-D7B7-994E-AA28-C46FEA75B8F6}"/>
              </a:ext>
            </a:extLst>
          </p:cNvPr>
          <p:cNvSpPr txBox="1"/>
          <p:nvPr/>
        </p:nvSpPr>
        <p:spPr>
          <a:xfrm>
            <a:off x="5105400" y="5956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8" name="角丸四角形 67">
            <a:extLst>
              <a:ext uri="{FF2B5EF4-FFF2-40B4-BE49-F238E27FC236}">
                <a16:creationId xmlns:a16="http://schemas.microsoft.com/office/drawing/2014/main" id="{B350BE4B-78C1-8E40-8036-5D205F51CB99}"/>
              </a:ext>
            </a:extLst>
          </p:cNvPr>
          <p:cNvSpPr/>
          <p:nvPr/>
        </p:nvSpPr>
        <p:spPr>
          <a:xfrm>
            <a:off x="5943600" y="5930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9" name="テキスト ボックス 68">
            <a:extLst>
              <a:ext uri="{FF2B5EF4-FFF2-40B4-BE49-F238E27FC236}">
                <a16:creationId xmlns:a16="http://schemas.microsoft.com/office/drawing/2014/main" id="{50DA8CE4-49C0-0148-8C2C-5B2363AEF7E2}"/>
              </a:ext>
            </a:extLst>
          </p:cNvPr>
          <p:cNvSpPr txBox="1"/>
          <p:nvPr/>
        </p:nvSpPr>
        <p:spPr>
          <a:xfrm>
            <a:off x="6908800" y="5956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年</a:t>
            </a:r>
            <a:r>
              <a:rPr lang="en-US" altLang="ja-JP" sz="1100">
                <a:solidFill>
                  <a:srgbClr val="5A6472"/>
                </a:solidFill>
                <a:latin typeface="Yu Gothic UI"/>
                <a:ea typeface="Yu Gothic UI"/>
              </a:rPr>
              <a:t>1</a:t>
            </a:r>
            <a:r>
              <a:rPr lang="ja-JP" altLang="en-US" sz="1100">
                <a:solidFill>
                  <a:srgbClr val="5A6472"/>
                </a:solidFill>
                <a:latin typeface="Yu Gothic UI"/>
                <a:ea typeface="Yu Gothic UI"/>
              </a:rPr>
              <a:t>回以上｜ </a:t>
            </a:r>
            <a:r>
              <a:rPr lang="en" altLang="ja-JP" sz="1100">
                <a:solidFill>
                  <a:srgbClr val="5A6472"/>
                </a:solidFill>
                <a:latin typeface="Yu Gothic UI"/>
                <a:ea typeface="Yu Gothic UI"/>
              </a:rPr>
              <a:t>Realm Key Rotation</a:t>
            </a:r>
            <a:r>
              <a:rPr lang="ja-JP" altLang="en-US" sz="1100">
                <a:solidFill>
                  <a:srgbClr val="5A6472"/>
                </a:solidFill>
                <a:latin typeface="Yu Gothic UI"/>
                <a:ea typeface="Yu Gothic UI"/>
              </a:rPr>
              <a:t>設定。基本設計で</a:t>
            </a:r>
            <a:r>
              <a:rPr lang="en" altLang="ja-JP" sz="1100">
                <a:solidFill>
                  <a:srgbClr val="5A6472"/>
                </a:solidFill>
                <a:latin typeface="Yu Gothic UI"/>
                <a:ea typeface="Yu Gothic UI"/>
              </a:rPr>
              <a:t>Realm K…</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1672292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408BD33-D0A3-1B41-BF1F-81C9BCA51057}"/>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AF0429CE-B042-884D-89B7-9B905094DFDA}"/>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運用と監視</a:t>
            </a:r>
          </a:p>
        </p:txBody>
      </p:sp>
      <p:sp>
        <p:nvSpPr>
          <p:cNvPr id="4" name="テキスト ボックス 3">
            <a:extLst>
              <a:ext uri="{FF2B5EF4-FFF2-40B4-BE49-F238E27FC236}">
                <a16:creationId xmlns:a16="http://schemas.microsoft.com/office/drawing/2014/main" id="{7AD6A396-139D-4E4A-B95A-059868B32EDA}"/>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11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8EEB5D1A-7686-264F-97E1-6C657CCC2E58}"/>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D1DFD1B-385B-6D49-9D08-BEFAC8F0E27A}"/>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7A5250DC-8877-A145-A3F4-56350EA28214}"/>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7DCF7BB0-9EE5-524B-BBBF-69C1E4FC6071}"/>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DE634ABF-8F50-1347-8BD1-C7315250A5EF}"/>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39EA4102-C9E8-454F-A54F-D3EBA0D47097}"/>
              </a:ext>
            </a:extLst>
          </p:cNvPr>
          <p:cNvSpPr/>
          <p:nvPr/>
        </p:nvSpPr>
        <p:spPr>
          <a:xfrm>
            <a:off x="812800" y="1828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DBAF8688-E6F4-7149-A20B-939C7B675022}"/>
              </a:ext>
            </a:extLst>
          </p:cNvPr>
          <p:cNvSpPr txBox="1"/>
          <p:nvPr/>
        </p:nvSpPr>
        <p:spPr>
          <a:xfrm>
            <a:off x="914400" y="1511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何を監視項目とし、どの値を異常とみなすか</a:t>
            </a:r>
          </a:p>
        </p:txBody>
      </p:sp>
      <p:sp>
        <p:nvSpPr>
          <p:cNvPr id="12" name="テキスト ボックス 11">
            <a:extLst>
              <a:ext uri="{FF2B5EF4-FFF2-40B4-BE49-F238E27FC236}">
                <a16:creationId xmlns:a16="http://schemas.microsoft.com/office/drawing/2014/main" id="{902D178E-7DC9-DD4B-BFE9-39E3A1A23567}"/>
              </a:ext>
            </a:extLst>
          </p:cNvPr>
          <p:cNvSpPr txBox="1"/>
          <p:nvPr/>
        </p:nvSpPr>
        <p:spPr>
          <a:xfrm>
            <a:off x="5105400" y="1511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67A73E9B-F292-354A-A5A5-A26D0C083EF3}"/>
              </a:ext>
            </a:extLst>
          </p:cNvPr>
          <p:cNvSpPr/>
          <p:nvPr/>
        </p:nvSpPr>
        <p:spPr>
          <a:xfrm>
            <a:off x="5943600" y="1485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14" name="テキスト ボックス 13">
            <a:extLst>
              <a:ext uri="{FF2B5EF4-FFF2-40B4-BE49-F238E27FC236}">
                <a16:creationId xmlns:a16="http://schemas.microsoft.com/office/drawing/2014/main" id="{3C845168-07E3-5149-B941-0586EF321F02}"/>
              </a:ext>
            </a:extLst>
          </p:cNvPr>
          <p:cNvSpPr txBox="1"/>
          <p:nvPr/>
        </p:nvSpPr>
        <p:spPr>
          <a:xfrm>
            <a:off x="6908800" y="1511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(D)CloudWatch Metrics+Dashboard</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両者対応。基本設計は</a:t>
            </a:r>
            <a:r>
              <a:rPr lang="en" altLang="ja-JP" sz="1100">
                <a:solidFill>
                  <a:srgbClr val="5A6472"/>
                </a:solidFill>
                <a:latin typeface="Yu Gothic UI"/>
                <a:ea typeface="Yu Gothic UI"/>
              </a:rPr>
              <a:t>OTe…</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32DF670F-320B-4A40-A014-2799F58B7CAD}"/>
              </a:ext>
            </a:extLst>
          </p:cNvPr>
          <p:cNvSpPr/>
          <p:nvPr/>
        </p:nvSpPr>
        <p:spPr>
          <a:xfrm>
            <a:off x="812800" y="1841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90B0A19B-145B-594E-A2A6-6D6D19A12C3A}"/>
              </a:ext>
            </a:extLst>
          </p:cNvPr>
          <p:cNvSpPr/>
          <p:nvPr/>
        </p:nvSpPr>
        <p:spPr>
          <a:xfrm>
            <a:off x="812800" y="2273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81D89857-4832-3F44-AE54-65B5E71F2F52}"/>
              </a:ext>
            </a:extLst>
          </p:cNvPr>
          <p:cNvSpPr txBox="1"/>
          <p:nvPr/>
        </p:nvSpPr>
        <p:spPr>
          <a:xfrm>
            <a:off x="914400" y="1955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誰にどの経路で通知するか。夜間・休日の対応をどうするか</a:t>
            </a:r>
          </a:p>
        </p:txBody>
      </p:sp>
      <p:sp>
        <p:nvSpPr>
          <p:cNvPr id="18" name="テキスト ボックス 17">
            <a:extLst>
              <a:ext uri="{FF2B5EF4-FFF2-40B4-BE49-F238E27FC236}">
                <a16:creationId xmlns:a16="http://schemas.microsoft.com/office/drawing/2014/main" id="{AC080C35-21E9-1344-8967-067376AEE75A}"/>
              </a:ext>
            </a:extLst>
          </p:cNvPr>
          <p:cNvSpPr txBox="1"/>
          <p:nvPr/>
        </p:nvSpPr>
        <p:spPr>
          <a:xfrm>
            <a:off x="5105400" y="1955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0287AE85-623E-7C44-8C28-7EA4A5AF5E6D}"/>
              </a:ext>
            </a:extLst>
          </p:cNvPr>
          <p:cNvSpPr/>
          <p:nvPr/>
        </p:nvSpPr>
        <p:spPr>
          <a:xfrm>
            <a:off x="5943600" y="1930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20" name="テキスト ボックス 19">
            <a:extLst>
              <a:ext uri="{FF2B5EF4-FFF2-40B4-BE49-F238E27FC236}">
                <a16:creationId xmlns:a16="http://schemas.microsoft.com/office/drawing/2014/main" id="{ADF86C14-DE53-534C-B05D-6C7847DBA2C6}"/>
              </a:ext>
            </a:extLst>
          </p:cNvPr>
          <p:cNvSpPr txBox="1"/>
          <p:nvPr/>
        </p:nvSpPr>
        <p:spPr>
          <a:xfrm>
            <a:off x="6908800" y="1955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(D)CloudWatch Alarm+SNS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両者対応</a:t>
            </a:r>
          </a:p>
        </p:txBody>
      </p:sp>
      <p:sp>
        <p:nvSpPr>
          <p:cNvPr id="21" name="正方形/長方形 20">
            <a:extLst>
              <a:ext uri="{FF2B5EF4-FFF2-40B4-BE49-F238E27FC236}">
                <a16:creationId xmlns:a16="http://schemas.microsoft.com/office/drawing/2014/main" id="{271CF555-D940-744E-A6D9-E2E5E98115AD}"/>
              </a:ext>
            </a:extLst>
          </p:cNvPr>
          <p:cNvSpPr/>
          <p:nvPr/>
        </p:nvSpPr>
        <p:spPr>
          <a:xfrm>
            <a:off x="812800" y="2717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0572C652-E632-C44A-8962-3B1905414D6B}"/>
              </a:ext>
            </a:extLst>
          </p:cNvPr>
          <p:cNvSpPr txBox="1"/>
          <p:nvPr/>
        </p:nvSpPr>
        <p:spPr>
          <a:xfrm>
            <a:off x="914400" y="2400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各種ログを何日保存するか</a:t>
            </a:r>
          </a:p>
        </p:txBody>
      </p:sp>
      <p:sp>
        <p:nvSpPr>
          <p:cNvPr id="23" name="テキスト ボックス 22">
            <a:extLst>
              <a:ext uri="{FF2B5EF4-FFF2-40B4-BE49-F238E27FC236}">
                <a16:creationId xmlns:a16="http://schemas.microsoft.com/office/drawing/2014/main" id="{EAF19305-1C7B-D74B-AD7D-D819475E808C}"/>
              </a:ext>
            </a:extLst>
          </p:cNvPr>
          <p:cNvSpPr txBox="1"/>
          <p:nvPr/>
        </p:nvSpPr>
        <p:spPr>
          <a:xfrm>
            <a:off x="5105400" y="2400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E3716C59-075C-5B4B-B650-1FCE5C6FD184}"/>
              </a:ext>
            </a:extLst>
          </p:cNvPr>
          <p:cNvSpPr/>
          <p:nvPr/>
        </p:nvSpPr>
        <p:spPr>
          <a:xfrm>
            <a:off x="5943600" y="2374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5" name="テキスト ボックス 24">
            <a:extLst>
              <a:ext uri="{FF2B5EF4-FFF2-40B4-BE49-F238E27FC236}">
                <a16:creationId xmlns:a16="http://schemas.microsoft.com/office/drawing/2014/main" id="{5944D02F-0C50-BF4D-95B5-58EA35F1CCB2}"/>
              </a:ext>
            </a:extLst>
          </p:cNvPr>
          <p:cNvSpPr txBox="1"/>
          <p:nvPr/>
        </p:nvSpPr>
        <p:spPr>
          <a:xfrm>
            <a:off x="6908800" y="2400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ヶ月</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年｜★重要：</a:t>
            </a:r>
            <a:r>
              <a:rPr lang="en" altLang="ja-JP" sz="1100">
                <a:solidFill>
                  <a:srgbClr val="5A6472"/>
                </a:solidFill>
                <a:latin typeface="Yu Gothic UI"/>
                <a:ea typeface="Yu Gothic UI"/>
              </a:rPr>
              <a:t>NFR-COMP-007</a:t>
            </a:r>
            <a:r>
              <a:rPr lang="ja-JP" altLang="en-US" sz="1100">
                <a:solidFill>
                  <a:srgbClr val="5A6472"/>
                </a:solidFill>
                <a:latin typeface="Yu Gothic UI"/>
                <a:ea typeface="Yu Gothic UI"/>
              </a:rPr>
              <a:t>と連動。基本設計はロ</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E73A3B8E-517D-D349-A36E-4A86719AB54B}"/>
              </a:ext>
            </a:extLst>
          </p:cNvPr>
          <p:cNvSpPr/>
          <p:nvPr/>
        </p:nvSpPr>
        <p:spPr>
          <a:xfrm>
            <a:off x="812800" y="2730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5BF20089-84B4-7246-9864-45D8FF48B77B}"/>
              </a:ext>
            </a:extLst>
          </p:cNvPr>
          <p:cNvSpPr/>
          <p:nvPr/>
        </p:nvSpPr>
        <p:spPr>
          <a:xfrm>
            <a:off x="812800" y="316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7C60AFBF-6779-E545-8160-6C474099097D}"/>
              </a:ext>
            </a:extLst>
          </p:cNvPr>
          <p:cNvSpPr txBox="1"/>
          <p:nvPr/>
        </p:nvSpPr>
        <p:spPr>
          <a:xfrm>
            <a:off x="914400" y="2844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障害時にログをどれだけ速く探せる状態にしておくか</a:t>
            </a:r>
          </a:p>
        </p:txBody>
      </p:sp>
      <p:sp>
        <p:nvSpPr>
          <p:cNvPr id="29" name="テキスト ボックス 28">
            <a:extLst>
              <a:ext uri="{FF2B5EF4-FFF2-40B4-BE49-F238E27FC236}">
                <a16:creationId xmlns:a16="http://schemas.microsoft.com/office/drawing/2014/main" id="{4EA2C9A1-E4EA-2B49-8AEA-0BFAF70262CB}"/>
              </a:ext>
            </a:extLst>
          </p:cNvPr>
          <p:cNvSpPr txBox="1"/>
          <p:nvPr/>
        </p:nvSpPr>
        <p:spPr>
          <a:xfrm>
            <a:off x="5105400" y="2844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3C3A9252-0767-2C49-B7F4-2F84AB3F4877}"/>
              </a:ext>
            </a:extLst>
          </p:cNvPr>
          <p:cNvSpPr/>
          <p:nvPr/>
        </p:nvSpPr>
        <p:spPr>
          <a:xfrm>
            <a:off x="5943600" y="2819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6A3C57AB-CFEE-6740-8A6A-86F8E4E2C37C}"/>
              </a:ext>
            </a:extLst>
          </p:cNvPr>
          <p:cNvSpPr txBox="1"/>
          <p:nvPr/>
        </p:nvSpPr>
        <p:spPr>
          <a:xfrm>
            <a:off x="6908800" y="2844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(D)CloudWatch Insights / S3+Athena</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Event Listener</a:t>
            </a:r>
            <a:r>
              <a:rPr lang="ja-JP" altLang="en-US" sz="1100">
                <a:solidFill>
                  <a:srgbClr val="5A6472"/>
                </a:solidFill>
                <a:latin typeface="Yu Gothic UI"/>
                <a:ea typeface="Yu Gothic UI"/>
              </a:rPr>
              <a:t>自前</a:t>
            </a:r>
          </a:p>
        </p:txBody>
      </p:sp>
      <p:sp>
        <p:nvSpPr>
          <p:cNvPr id="32" name="正方形/長方形 31">
            <a:extLst>
              <a:ext uri="{FF2B5EF4-FFF2-40B4-BE49-F238E27FC236}">
                <a16:creationId xmlns:a16="http://schemas.microsoft.com/office/drawing/2014/main" id="{14EFAC6A-42B3-EF40-9A5C-EEB6FB73CA4E}"/>
              </a:ext>
            </a:extLst>
          </p:cNvPr>
          <p:cNvSpPr/>
          <p:nvPr/>
        </p:nvSpPr>
        <p:spPr>
          <a:xfrm>
            <a:off x="812800" y="3606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E28F2C91-C1CA-FE41-9AE7-CBF99F9937AE}"/>
              </a:ext>
            </a:extLst>
          </p:cNvPr>
          <p:cNvSpPr txBox="1"/>
          <p:nvPr/>
        </p:nvSpPr>
        <p:spPr>
          <a:xfrm>
            <a:off x="914400" y="328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製品の更新をどの頻度・どの手順で当てるか</a:t>
            </a:r>
          </a:p>
        </p:txBody>
      </p:sp>
      <p:sp>
        <p:nvSpPr>
          <p:cNvPr id="34" name="テキスト ボックス 33">
            <a:extLst>
              <a:ext uri="{FF2B5EF4-FFF2-40B4-BE49-F238E27FC236}">
                <a16:creationId xmlns:a16="http://schemas.microsoft.com/office/drawing/2014/main" id="{FD76783B-400F-6742-9C1F-FF94588A326C}"/>
              </a:ext>
            </a:extLst>
          </p:cNvPr>
          <p:cNvSpPr txBox="1"/>
          <p:nvPr/>
        </p:nvSpPr>
        <p:spPr>
          <a:xfrm>
            <a:off x="5105400" y="3289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B070A5EB-F63B-344B-AEC2-EC205C1C71A9}"/>
              </a:ext>
            </a:extLst>
          </p:cNvPr>
          <p:cNvSpPr/>
          <p:nvPr/>
        </p:nvSpPr>
        <p:spPr>
          <a:xfrm>
            <a:off x="5943600" y="3263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36" name="テキスト ボックス 35">
            <a:extLst>
              <a:ext uri="{FF2B5EF4-FFF2-40B4-BE49-F238E27FC236}">
                <a16:creationId xmlns:a16="http://schemas.microsoft.com/office/drawing/2014/main" id="{B771C719-6CCB-5E45-AB41-E5B82DD6DEE2}"/>
              </a:ext>
            </a:extLst>
          </p:cNvPr>
          <p:cNvSpPr txBox="1"/>
          <p:nvPr/>
        </p:nvSpPr>
        <p:spPr>
          <a:xfrm>
            <a:off x="6908800" y="328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ヶ月毎</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LTS</a:t>
            </a:r>
            <a:r>
              <a:rPr lang="ja-JP" altLang="en-US" sz="1100">
                <a:solidFill>
                  <a:srgbClr val="5A6472"/>
                </a:solidFill>
                <a:latin typeface="Yu Gothic UI"/>
                <a:ea typeface="Yu Gothic UI"/>
              </a:rPr>
              <a:t>のみ｜★重要：</a:t>
            </a:r>
            <a:r>
              <a:rPr lang="en" altLang="ja-JP" sz="1100">
                <a:solidFill>
                  <a:srgbClr val="5A6472"/>
                </a:solidFill>
                <a:latin typeface="Yu Gothic UI"/>
                <a:ea typeface="Yu Gothic UI"/>
              </a:rPr>
              <a:t>Keycloak</a:t>
            </a:r>
            <a:r>
              <a:rPr lang="ja-JP" altLang="en-US" sz="1100">
                <a:solidFill>
                  <a:srgbClr val="5A6472"/>
                </a:solidFill>
                <a:latin typeface="Yu Gothic UI"/>
                <a:ea typeface="Yu Gothic UI"/>
              </a:rPr>
              <a:t>運用負荷に直結。 </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37" name="正方形/長方形 36">
            <a:extLst>
              <a:ext uri="{FF2B5EF4-FFF2-40B4-BE49-F238E27FC236}">
                <a16:creationId xmlns:a16="http://schemas.microsoft.com/office/drawing/2014/main" id="{C354861B-84BB-2546-AC47-B080D3041D17}"/>
              </a:ext>
            </a:extLst>
          </p:cNvPr>
          <p:cNvSpPr/>
          <p:nvPr/>
        </p:nvSpPr>
        <p:spPr>
          <a:xfrm>
            <a:off x="812800" y="3619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C7B2E224-A438-3F4B-8193-295793BDD5A1}"/>
              </a:ext>
            </a:extLst>
          </p:cNvPr>
          <p:cNvSpPr/>
          <p:nvPr/>
        </p:nvSpPr>
        <p:spPr>
          <a:xfrm>
            <a:off x="812800" y="4051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03D2D8A1-4837-434C-824F-B307026694AE}"/>
              </a:ext>
            </a:extLst>
          </p:cNvPr>
          <p:cNvSpPr txBox="1"/>
          <p:nvPr/>
        </p:nvSpPr>
        <p:spPr>
          <a:xfrm>
            <a:off x="914400" y="3733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脆弱性が公表されたとき、何日以内に対処するか</a:t>
            </a:r>
          </a:p>
        </p:txBody>
      </p:sp>
      <p:sp>
        <p:nvSpPr>
          <p:cNvPr id="40" name="テキスト ボックス 39">
            <a:extLst>
              <a:ext uri="{FF2B5EF4-FFF2-40B4-BE49-F238E27FC236}">
                <a16:creationId xmlns:a16="http://schemas.microsoft.com/office/drawing/2014/main" id="{073B6C77-2818-724E-950F-F49ED940CE7B}"/>
              </a:ext>
            </a:extLst>
          </p:cNvPr>
          <p:cNvSpPr txBox="1"/>
          <p:nvPr/>
        </p:nvSpPr>
        <p:spPr>
          <a:xfrm>
            <a:off x="5105400" y="3733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12BF7BDC-42A5-734F-ACDC-BD4C2C6835C1}"/>
              </a:ext>
            </a:extLst>
          </p:cNvPr>
          <p:cNvSpPr/>
          <p:nvPr/>
        </p:nvSpPr>
        <p:spPr>
          <a:xfrm>
            <a:off x="5943600" y="3708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A1CE57CB-3F00-DD46-9FB0-18567BE76707}"/>
              </a:ext>
            </a:extLst>
          </p:cNvPr>
          <p:cNvSpPr txBox="1"/>
          <p:nvPr/>
        </p:nvSpPr>
        <p:spPr>
          <a:xfrm>
            <a:off x="6908800" y="3733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緊急</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日以内、定例</a:t>
            </a:r>
            <a:r>
              <a:rPr lang="en" altLang="ja-JP" sz="1100">
                <a:solidFill>
                  <a:srgbClr val="5A6472"/>
                </a:solidFill>
                <a:latin typeface="Yu Gothic UI"/>
                <a:ea typeface="Yu Gothic UI"/>
              </a:rPr>
              <a:t>N</a:t>
            </a:r>
            <a:r>
              <a:rPr lang="ja-JP" altLang="en-US" sz="1100">
                <a:solidFill>
                  <a:srgbClr val="5A6472"/>
                </a:solidFill>
                <a:latin typeface="Yu Gothic UI"/>
                <a:ea typeface="Yu Gothic UI"/>
              </a:rPr>
              <a:t>週間以内｜ 手動（</a:t>
            </a:r>
            <a:r>
              <a:rPr lang="en" altLang="ja-JP" sz="1100">
                <a:solidFill>
                  <a:srgbClr val="5A6472"/>
                </a:solidFill>
                <a:latin typeface="Yu Gothic UI"/>
                <a:ea typeface="Yu Gothic UI"/>
              </a:rPr>
              <a:t>CVE</a:t>
            </a:r>
            <a:r>
              <a:rPr lang="ja-JP" altLang="en-US" sz="1100">
                <a:solidFill>
                  <a:srgbClr val="5A6472"/>
                </a:solidFill>
                <a:latin typeface="Yu Gothic UI"/>
                <a:ea typeface="Yu Gothic UI"/>
              </a:rPr>
              <a:t>監視</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Image</a:t>
            </a:r>
            <a:r>
              <a:rPr lang="ja-JP" altLang="en-US" sz="1100">
                <a:solidFill>
                  <a:srgbClr val="5A6472"/>
                </a:solidFill>
                <a:latin typeface="Yu Gothic UI"/>
                <a:ea typeface="Yu Gothic UI"/>
              </a:rPr>
              <a:t>更新）</a:t>
            </a:r>
          </a:p>
        </p:txBody>
      </p:sp>
      <p:sp>
        <p:nvSpPr>
          <p:cNvPr id="43" name="正方形/長方形 42">
            <a:extLst>
              <a:ext uri="{FF2B5EF4-FFF2-40B4-BE49-F238E27FC236}">
                <a16:creationId xmlns:a16="http://schemas.microsoft.com/office/drawing/2014/main" id="{4E7BD879-443C-314B-8FAC-F4CEA3391D76}"/>
              </a:ext>
            </a:extLst>
          </p:cNvPr>
          <p:cNvSpPr/>
          <p:nvPr/>
        </p:nvSpPr>
        <p:spPr>
          <a:xfrm>
            <a:off x="812800" y="4495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EDBABF4D-F795-204F-8D8B-7109E91085E3}"/>
              </a:ext>
            </a:extLst>
          </p:cNvPr>
          <p:cNvSpPr txBox="1"/>
          <p:nvPr/>
        </p:nvSpPr>
        <p:spPr>
          <a:xfrm>
            <a:off x="914400" y="4178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設定変更の申請・承認・適用の流れを誰がどう回すか</a:t>
            </a:r>
          </a:p>
        </p:txBody>
      </p:sp>
      <p:sp>
        <p:nvSpPr>
          <p:cNvPr id="45" name="テキスト ボックス 44">
            <a:extLst>
              <a:ext uri="{FF2B5EF4-FFF2-40B4-BE49-F238E27FC236}">
                <a16:creationId xmlns:a16="http://schemas.microsoft.com/office/drawing/2014/main" id="{D441F936-FF0A-714C-B691-4C20FC947E4C}"/>
              </a:ext>
            </a:extLst>
          </p:cNvPr>
          <p:cNvSpPr txBox="1"/>
          <p:nvPr/>
        </p:nvSpPr>
        <p:spPr>
          <a:xfrm>
            <a:off x="5105400" y="4178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906D1640-01ED-0949-B653-E5024B8FB681}"/>
              </a:ext>
            </a:extLst>
          </p:cNvPr>
          <p:cNvSpPr/>
          <p:nvPr/>
        </p:nvSpPr>
        <p:spPr>
          <a:xfrm>
            <a:off x="5943600" y="41529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7" name="テキスト ボックス 46">
            <a:extLst>
              <a:ext uri="{FF2B5EF4-FFF2-40B4-BE49-F238E27FC236}">
                <a16:creationId xmlns:a16="http://schemas.microsoft.com/office/drawing/2014/main" id="{BE4157F0-E487-374C-A21B-79127D9552E4}"/>
              </a:ext>
            </a:extLst>
          </p:cNvPr>
          <p:cNvSpPr txBox="1"/>
          <p:nvPr/>
        </p:nvSpPr>
        <p:spPr>
          <a:xfrm>
            <a:off x="6908800" y="4178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(D)IaC</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Terraform</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a:t>
            </a:r>
            <a:r>
              <a:rPr lang="ja-JP" altLang="en-US" sz="1100">
                <a:solidFill>
                  <a:srgbClr val="5A6472"/>
                </a:solidFill>
                <a:latin typeface="Yu Gothic UI"/>
                <a:ea typeface="Yu Gothic UI"/>
              </a:rPr>
              <a:t>レビュー｜</a:t>
            </a:r>
            <a:r>
              <a:rPr lang="en" altLang="ja-JP" sz="1100">
                <a:solidFill>
                  <a:srgbClr val="5A6472"/>
                </a:solidFill>
                <a:latin typeface="Yu Gothic UI"/>
                <a:ea typeface="Yu Gothic UI"/>
              </a:rPr>
              <a:t>Realm</a:t>
            </a:r>
            <a:r>
              <a:rPr lang="ja-JP" altLang="en-US" sz="1100">
                <a:solidFill>
                  <a:srgbClr val="5A6472"/>
                </a:solidFill>
                <a:latin typeface="Yu Gothic UI"/>
                <a:ea typeface="Yu Gothic UI"/>
              </a:rPr>
              <a:t>は別管理。基本設計で</a:t>
            </a:r>
            <a:r>
              <a:rPr lang="en" altLang="ja-JP" sz="1100">
                <a:solidFill>
                  <a:srgbClr val="5A6472"/>
                </a:solidFill>
                <a:latin typeface="Yu Gothic UI"/>
                <a:ea typeface="Yu Gothic UI"/>
              </a:rPr>
              <a:t>Ia…</a:t>
            </a:r>
            <a:endParaRPr lang="ja-JP" altLang="en-US" sz="1100">
              <a:solidFill>
                <a:srgbClr val="5A6472"/>
              </a:solidFill>
              <a:latin typeface="Yu Gothic UI"/>
              <a:ea typeface="Yu Gothic UI"/>
            </a:endParaRPr>
          </a:p>
        </p:txBody>
      </p:sp>
      <p:sp>
        <p:nvSpPr>
          <p:cNvPr id="48" name="正方形/長方形 47">
            <a:extLst>
              <a:ext uri="{FF2B5EF4-FFF2-40B4-BE49-F238E27FC236}">
                <a16:creationId xmlns:a16="http://schemas.microsoft.com/office/drawing/2014/main" id="{993E2FA9-D1F9-4041-85FA-0B3F534B77C9}"/>
              </a:ext>
            </a:extLst>
          </p:cNvPr>
          <p:cNvSpPr/>
          <p:nvPr/>
        </p:nvSpPr>
        <p:spPr>
          <a:xfrm>
            <a:off x="812800" y="4508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E5ECB429-0650-0548-8B2B-419124667564}"/>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D6346935-942E-EF44-89C4-526BA4BAFBDC}"/>
              </a:ext>
            </a:extLst>
          </p:cNvPr>
          <p:cNvSpPr txBox="1"/>
          <p:nvPr/>
        </p:nvSpPr>
        <p:spPr>
          <a:xfrm>
            <a:off x="914400" y="4622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更新作業の自動化をどこまで行うか</a:t>
            </a:r>
          </a:p>
        </p:txBody>
      </p:sp>
      <p:sp>
        <p:nvSpPr>
          <p:cNvPr id="51" name="テキスト ボックス 50">
            <a:extLst>
              <a:ext uri="{FF2B5EF4-FFF2-40B4-BE49-F238E27FC236}">
                <a16:creationId xmlns:a16="http://schemas.microsoft.com/office/drawing/2014/main" id="{4E2C2493-C03C-5244-A677-F461E2ECE6DB}"/>
              </a:ext>
            </a:extLst>
          </p:cNvPr>
          <p:cNvSpPr txBox="1"/>
          <p:nvPr/>
        </p:nvSpPr>
        <p:spPr>
          <a:xfrm>
            <a:off x="5105400" y="4622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D4FC6470-8BCA-EB42-AC08-D8B028BD0F59}"/>
              </a:ext>
            </a:extLst>
          </p:cNvPr>
          <p:cNvSpPr/>
          <p:nvPr/>
        </p:nvSpPr>
        <p:spPr>
          <a:xfrm>
            <a:off x="5943600" y="4597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53" name="テキスト ボックス 52">
            <a:extLst>
              <a:ext uri="{FF2B5EF4-FFF2-40B4-BE49-F238E27FC236}">
                <a16:creationId xmlns:a16="http://schemas.microsoft.com/office/drawing/2014/main" id="{607EADC3-CAA0-4E4F-852A-5C8E94D9A0E4}"/>
              </a:ext>
            </a:extLst>
          </p:cNvPr>
          <p:cNvSpPr txBox="1"/>
          <p:nvPr/>
        </p:nvSpPr>
        <p:spPr>
          <a:xfrm>
            <a:off x="6908800" y="4622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必須｜基本設計で</a:t>
            </a:r>
            <a:r>
              <a:rPr lang="en" altLang="ja-JP" sz="1100">
                <a:solidFill>
                  <a:srgbClr val="5A6472"/>
                </a:solidFill>
                <a:latin typeface="Yu Gothic UI"/>
                <a:ea typeface="Yu Gothic UI"/>
              </a:rPr>
              <a:t>GitHub Actions/GitOps/ECR</a:t>
            </a:r>
            <a:r>
              <a:rPr lang="ja-JP" altLang="en-US" sz="1100">
                <a:solidFill>
                  <a:srgbClr val="5A6472"/>
                </a:solidFill>
                <a:latin typeface="Yu Gothic UI"/>
                <a:ea typeface="Yu Gothic UI"/>
              </a:rPr>
              <a:t>構成が決定</a:t>
            </a:r>
          </a:p>
        </p:txBody>
      </p:sp>
      <p:sp>
        <p:nvSpPr>
          <p:cNvPr id="54" name="正方形/長方形 53">
            <a:extLst>
              <a:ext uri="{FF2B5EF4-FFF2-40B4-BE49-F238E27FC236}">
                <a16:creationId xmlns:a16="http://schemas.microsoft.com/office/drawing/2014/main" id="{0553856E-22D0-BA4D-AEF2-C059E95957E5}"/>
              </a:ext>
            </a:extLst>
          </p:cNvPr>
          <p:cNvSpPr/>
          <p:nvPr/>
        </p:nvSpPr>
        <p:spPr>
          <a:xfrm>
            <a:off x="812800" y="5384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28DD9D7A-05D1-D345-989B-ACF4EB52D835}"/>
              </a:ext>
            </a:extLst>
          </p:cNvPr>
          <p:cNvSpPr txBox="1"/>
          <p:nvPr/>
        </p:nvSpPr>
        <p:spPr>
          <a:xfrm>
            <a:off x="914400" y="5067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障害時の連絡体制と役割分担をどう組むか</a:t>
            </a:r>
          </a:p>
        </p:txBody>
      </p:sp>
      <p:sp>
        <p:nvSpPr>
          <p:cNvPr id="56" name="テキスト ボックス 55">
            <a:extLst>
              <a:ext uri="{FF2B5EF4-FFF2-40B4-BE49-F238E27FC236}">
                <a16:creationId xmlns:a16="http://schemas.microsoft.com/office/drawing/2014/main" id="{8C25559B-501A-8940-AF8B-A82F4468864D}"/>
              </a:ext>
            </a:extLst>
          </p:cNvPr>
          <p:cNvSpPr txBox="1"/>
          <p:nvPr/>
        </p:nvSpPr>
        <p:spPr>
          <a:xfrm>
            <a:off x="5105400" y="5067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7" name="角丸四角形 56">
            <a:extLst>
              <a:ext uri="{FF2B5EF4-FFF2-40B4-BE49-F238E27FC236}">
                <a16:creationId xmlns:a16="http://schemas.microsoft.com/office/drawing/2014/main" id="{7564B068-1D27-5E46-94DC-F6D98255B28A}"/>
              </a:ext>
            </a:extLst>
          </p:cNvPr>
          <p:cNvSpPr/>
          <p:nvPr/>
        </p:nvSpPr>
        <p:spPr>
          <a:xfrm>
            <a:off x="5943600" y="5041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58" name="テキスト ボックス 57">
            <a:extLst>
              <a:ext uri="{FF2B5EF4-FFF2-40B4-BE49-F238E27FC236}">
                <a16:creationId xmlns:a16="http://schemas.microsoft.com/office/drawing/2014/main" id="{8CD7D3F3-AFEF-0542-ABD4-7E560ABE8C98}"/>
              </a:ext>
            </a:extLst>
          </p:cNvPr>
          <p:cNvSpPr txBox="1"/>
          <p:nvPr/>
        </p:nvSpPr>
        <p:spPr>
          <a:xfrm>
            <a:off x="6908800" y="5067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24/7 or </a:t>
            </a:r>
            <a:r>
              <a:rPr lang="ja-JP" altLang="en-US" sz="1100">
                <a:solidFill>
                  <a:srgbClr val="5A6472"/>
                </a:solidFill>
                <a:latin typeface="Yu Gothic UI"/>
                <a:ea typeface="Yu Gothic UI"/>
              </a:rPr>
              <a:t>営業時間のみ｜★</a:t>
            </a:r>
            <a:r>
              <a:rPr lang="en" altLang="ja-JP" sz="1100">
                <a:solidFill>
                  <a:srgbClr val="5A6472"/>
                </a:solidFill>
                <a:latin typeface="Yu Gothic UI"/>
                <a:ea typeface="Yu Gothic UI"/>
              </a:rPr>
              <a:t>RHBK</a:t>
            </a:r>
            <a:r>
              <a:rPr lang="ja-JP" altLang="en-US" sz="1100">
                <a:solidFill>
                  <a:srgbClr val="5A6472"/>
                </a:solidFill>
                <a:latin typeface="Yu Gothic UI"/>
                <a:ea typeface="Yu Gothic UI"/>
              </a:rPr>
              <a:t>採用判断</a:t>
            </a:r>
            <a:r>
              <a:rPr lang="en-US" altLang="ja-JP" sz="1100">
                <a:solidFill>
                  <a:srgbClr val="5A6472"/>
                </a:solidFill>
                <a:latin typeface="Yu Gothic UI"/>
                <a:ea typeface="Yu Gothic UI"/>
              </a:rPr>
              <a:t>(</a:t>
            </a:r>
            <a:r>
              <a:rPr lang="en" altLang="ja-JP" sz="1100">
                <a:solidFill>
                  <a:srgbClr val="5A6472"/>
                </a:solidFill>
                <a:latin typeface="Yu Gothic UI"/>
                <a:ea typeface="Yu Gothic UI"/>
              </a:rPr>
              <a:t>ADR-015)</a:t>
            </a:r>
            <a:r>
              <a:rPr lang="ja-JP" altLang="en-US" sz="1100">
                <a:solidFill>
                  <a:srgbClr val="5A6472"/>
                </a:solidFill>
                <a:latin typeface="Yu Gothic UI"/>
                <a:ea typeface="Yu Gothic UI"/>
              </a:rPr>
              <a:t>の決め</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50E4BD8E-5051-7146-B25F-E2CA1076CF2E}"/>
              </a:ext>
            </a:extLst>
          </p:cNvPr>
          <p:cNvSpPr/>
          <p:nvPr/>
        </p:nvSpPr>
        <p:spPr>
          <a:xfrm>
            <a:off x="812800" y="5397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D3F3B64E-5F02-B147-AD88-CA9A34741B69}"/>
              </a:ext>
            </a:extLst>
          </p:cNvPr>
          <p:cNvSpPr/>
          <p:nvPr/>
        </p:nvSpPr>
        <p:spPr>
          <a:xfrm>
            <a:off x="812800" y="5829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E0AEA446-ECAE-BD4D-8995-EE9EE281BBFE}"/>
              </a:ext>
            </a:extLst>
          </p:cNvPr>
          <p:cNvSpPr txBox="1"/>
          <p:nvPr/>
        </p:nvSpPr>
        <p:spPr>
          <a:xfrm>
            <a:off x="914400" y="5511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運用に何人月かかる前提とするか。誰が担当するか</a:t>
            </a:r>
          </a:p>
        </p:txBody>
      </p:sp>
      <p:sp>
        <p:nvSpPr>
          <p:cNvPr id="62" name="テキスト ボックス 61">
            <a:extLst>
              <a:ext uri="{FF2B5EF4-FFF2-40B4-BE49-F238E27FC236}">
                <a16:creationId xmlns:a16="http://schemas.microsoft.com/office/drawing/2014/main" id="{601EDD72-577C-E74C-9CA0-DC9335C19D26}"/>
              </a:ext>
            </a:extLst>
          </p:cNvPr>
          <p:cNvSpPr txBox="1"/>
          <p:nvPr/>
        </p:nvSpPr>
        <p:spPr>
          <a:xfrm>
            <a:off x="5105400" y="5511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DFA22C49-D2A8-6549-B996-B82FF29D764E}"/>
              </a:ext>
            </a:extLst>
          </p:cNvPr>
          <p:cNvSpPr/>
          <p:nvPr/>
        </p:nvSpPr>
        <p:spPr>
          <a:xfrm>
            <a:off x="5943600" y="5486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64" name="テキスト ボックス 63">
            <a:extLst>
              <a:ext uri="{FF2B5EF4-FFF2-40B4-BE49-F238E27FC236}">
                <a16:creationId xmlns:a16="http://schemas.microsoft.com/office/drawing/2014/main" id="{58F2B016-EBDB-4B45-BB8D-5EC1726AF113}"/>
              </a:ext>
            </a:extLst>
          </p:cNvPr>
          <p:cNvSpPr txBox="1"/>
          <p:nvPr/>
        </p:nvSpPr>
        <p:spPr>
          <a:xfrm>
            <a:off x="6908800" y="5511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(D)Cognito:1</a:t>
            </a:r>
            <a:r>
              <a:rPr lang="ja-JP" altLang="en-US" sz="1100">
                <a:solidFill>
                  <a:srgbClr val="5A6472"/>
                </a:solidFill>
                <a:latin typeface="Yu Gothic UI"/>
                <a:ea typeface="Yu Gothic UI"/>
              </a:rPr>
              <a:t>人月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Keycloak:21</a:t>
            </a:r>
            <a:r>
              <a:rPr lang="ja-JP" altLang="en-US" sz="1100">
                <a:solidFill>
                  <a:srgbClr val="5A6472"/>
                </a:solidFill>
                <a:latin typeface="Yu Gothic UI"/>
                <a:ea typeface="Yu Gothic UI"/>
              </a:rPr>
              <a:t>時間</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月（</a:t>
            </a:r>
            <a:r>
              <a:rPr lang="en" altLang="ja-JP" sz="1100">
                <a:solidFill>
                  <a:srgbClr val="5A6472"/>
                </a:solidFill>
                <a:latin typeface="Yu Gothic UI"/>
                <a:ea typeface="Yu Gothic UI"/>
              </a:rPr>
              <a:t>ADR-006</a:t>
            </a:r>
            <a:r>
              <a:rPr lang="ja-JP" altLang="en"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65" name="正方形/長方形 64">
            <a:extLst>
              <a:ext uri="{FF2B5EF4-FFF2-40B4-BE49-F238E27FC236}">
                <a16:creationId xmlns:a16="http://schemas.microsoft.com/office/drawing/2014/main" id="{DFBD0B37-74B2-AD44-9EB7-AE6E78C3D051}"/>
              </a:ext>
            </a:extLst>
          </p:cNvPr>
          <p:cNvSpPr/>
          <p:nvPr/>
        </p:nvSpPr>
        <p:spPr>
          <a:xfrm>
            <a:off x="812800" y="6273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CF861F48-BCEC-DD4D-AB74-439E0515C628}"/>
              </a:ext>
            </a:extLst>
          </p:cNvPr>
          <p:cNvSpPr txBox="1"/>
          <p:nvPr/>
        </p:nvSpPr>
        <p:spPr>
          <a:xfrm>
            <a:off x="914400" y="5956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顧客追加の作業を何営業日で完了させると約束するか</a:t>
            </a:r>
          </a:p>
        </p:txBody>
      </p:sp>
      <p:sp>
        <p:nvSpPr>
          <p:cNvPr id="67" name="テキスト ボックス 66">
            <a:extLst>
              <a:ext uri="{FF2B5EF4-FFF2-40B4-BE49-F238E27FC236}">
                <a16:creationId xmlns:a16="http://schemas.microsoft.com/office/drawing/2014/main" id="{AE8651FA-34BF-D94C-B49E-CA50C1949313}"/>
              </a:ext>
            </a:extLst>
          </p:cNvPr>
          <p:cNvSpPr txBox="1"/>
          <p:nvPr/>
        </p:nvSpPr>
        <p:spPr>
          <a:xfrm>
            <a:off x="5105400" y="5956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8" name="角丸四角形 67">
            <a:extLst>
              <a:ext uri="{FF2B5EF4-FFF2-40B4-BE49-F238E27FC236}">
                <a16:creationId xmlns:a16="http://schemas.microsoft.com/office/drawing/2014/main" id="{8A50BA13-205F-334B-9DEE-F04E82E52761}"/>
              </a:ext>
            </a:extLst>
          </p:cNvPr>
          <p:cNvSpPr/>
          <p:nvPr/>
        </p:nvSpPr>
        <p:spPr>
          <a:xfrm>
            <a:off x="5943600" y="5930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69" name="テキスト ボックス 68">
            <a:extLst>
              <a:ext uri="{FF2B5EF4-FFF2-40B4-BE49-F238E27FC236}">
                <a16:creationId xmlns:a16="http://schemas.microsoft.com/office/drawing/2014/main" id="{9D14BBCE-874B-5041-AA87-E8CF2CCD0332}"/>
              </a:ext>
            </a:extLst>
          </p:cNvPr>
          <p:cNvSpPr txBox="1"/>
          <p:nvPr/>
        </p:nvSpPr>
        <p:spPr>
          <a:xfrm>
            <a:off x="6908800" y="5956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N</a:t>
            </a:r>
            <a:r>
              <a:rPr lang="ja-JP" altLang="en-US" sz="1100">
                <a:solidFill>
                  <a:srgbClr val="5A6472"/>
                </a:solidFill>
                <a:latin typeface="Yu Gothic UI"/>
                <a:ea typeface="Yu Gothic UI"/>
              </a:rPr>
              <a:t>営業日以内｜両者対応可。</a:t>
            </a:r>
            <a:r>
              <a:rPr lang="en" altLang="ja-JP" sz="1100">
                <a:solidFill>
                  <a:srgbClr val="5A6472"/>
                </a:solidFill>
                <a:latin typeface="Yu Gothic UI"/>
                <a:ea typeface="Yu Gothic UI"/>
              </a:rPr>
              <a:t>SLA</a:t>
            </a:r>
            <a:r>
              <a:rPr lang="ja-JP" altLang="en-US" sz="1100">
                <a:solidFill>
                  <a:srgbClr val="5A6472"/>
                </a:solidFill>
                <a:latin typeface="Yu Gothic UI"/>
                <a:ea typeface="Yu Gothic UI"/>
              </a:rPr>
              <a:t>値の確定が必要</a:t>
            </a:r>
          </a:p>
        </p:txBody>
      </p:sp>
    </p:spTree>
    <p:extLst>
      <p:ext uri="{BB962C8B-B14F-4D97-AF65-F5344CB8AC3E}">
        <p14:creationId xmlns:p14="http://schemas.microsoft.com/office/powerpoint/2010/main" val="751982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726852C-7990-1F43-B760-CFD5B8149E2D}"/>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BD57FB63-B468-314F-8734-8AD5C83DBF3C}"/>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コスト</a:t>
            </a:r>
          </a:p>
        </p:txBody>
      </p:sp>
      <p:sp>
        <p:nvSpPr>
          <p:cNvPr id="4" name="テキスト ボックス 3">
            <a:extLst>
              <a:ext uri="{FF2B5EF4-FFF2-40B4-BE49-F238E27FC236}">
                <a16:creationId xmlns:a16="http://schemas.microsoft.com/office/drawing/2014/main" id="{2300AEBE-BC1C-4643-BB45-16755C27CD97}"/>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11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5936859E-A56F-9E4E-B450-63E9C34EC65D}"/>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E6EEC614-3771-9A41-ABD0-1AB3D815E0D4}"/>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28A9304B-BDF0-7A42-97EB-D467984D7AF5}"/>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51291986-4790-CF49-8AC4-5D3526AC5440}"/>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564A9803-EE13-9741-B88D-787FF78EA3EC}"/>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24720629-55FA-224E-B4BE-FBF8C100CF7F}"/>
              </a:ext>
            </a:extLst>
          </p:cNvPr>
          <p:cNvSpPr/>
          <p:nvPr/>
        </p:nvSpPr>
        <p:spPr>
          <a:xfrm>
            <a:off x="812800" y="1828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870C0E85-E8EC-7742-B4DD-AB8FD3E1F4FC}"/>
              </a:ext>
            </a:extLst>
          </p:cNvPr>
          <p:cNvSpPr txBox="1"/>
          <p:nvPr/>
        </p:nvSpPr>
        <p:spPr>
          <a:xfrm>
            <a:off x="914400" y="1511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初期構築にいくらかけるか。予算枠をどこに置くか</a:t>
            </a:r>
          </a:p>
        </p:txBody>
      </p:sp>
      <p:sp>
        <p:nvSpPr>
          <p:cNvPr id="12" name="テキスト ボックス 11">
            <a:extLst>
              <a:ext uri="{FF2B5EF4-FFF2-40B4-BE49-F238E27FC236}">
                <a16:creationId xmlns:a16="http://schemas.microsoft.com/office/drawing/2014/main" id="{C1B1ED50-45A7-F349-B242-CCDF4A27B141}"/>
              </a:ext>
            </a:extLst>
          </p:cNvPr>
          <p:cNvSpPr txBox="1"/>
          <p:nvPr/>
        </p:nvSpPr>
        <p:spPr>
          <a:xfrm>
            <a:off x="5105400" y="1511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15CC5BE9-6ECC-C34C-9AC1-B7EFECD534D2}"/>
              </a:ext>
            </a:extLst>
          </p:cNvPr>
          <p:cNvSpPr/>
          <p:nvPr/>
        </p:nvSpPr>
        <p:spPr>
          <a:xfrm>
            <a:off x="5943600" y="1485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14" name="テキスト ボックス 13">
            <a:extLst>
              <a:ext uri="{FF2B5EF4-FFF2-40B4-BE49-F238E27FC236}">
                <a16:creationId xmlns:a16="http://schemas.microsoft.com/office/drawing/2014/main" id="{22B20DFB-E09A-9340-821A-083C38E98B66}"/>
              </a:ext>
            </a:extLst>
          </p:cNvPr>
          <p:cNvSpPr txBox="1"/>
          <p:nvPr/>
        </p:nvSpPr>
        <p:spPr>
          <a:xfrm>
            <a:off x="6908800" y="1511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$5,000 / Keycloak OSS $30,000 / RHBK $30,000+…</a:t>
            </a:r>
            <a:endParaRPr lang="ja-JP" altLang="en-US" sz="1100">
              <a:solidFill>
                <a:srgbClr val="5A6472"/>
              </a:solidFill>
              <a:latin typeface="Yu Gothic UI"/>
              <a:ea typeface="Yu Gothic UI"/>
            </a:endParaRPr>
          </a:p>
        </p:txBody>
      </p:sp>
      <p:sp>
        <p:nvSpPr>
          <p:cNvPr id="15" name="正方形/長方形 14">
            <a:extLst>
              <a:ext uri="{FF2B5EF4-FFF2-40B4-BE49-F238E27FC236}">
                <a16:creationId xmlns:a16="http://schemas.microsoft.com/office/drawing/2014/main" id="{3399EA47-D721-5347-8A23-6AE0C7EAFB03}"/>
              </a:ext>
            </a:extLst>
          </p:cNvPr>
          <p:cNvSpPr/>
          <p:nvPr/>
        </p:nvSpPr>
        <p:spPr>
          <a:xfrm>
            <a:off x="812800" y="1841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09F70635-F284-374C-9B55-D912854FF701}"/>
              </a:ext>
            </a:extLst>
          </p:cNvPr>
          <p:cNvSpPr/>
          <p:nvPr/>
        </p:nvSpPr>
        <p:spPr>
          <a:xfrm>
            <a:off x="812800" y="2273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C01AF4FF-9B2D-DB43-B660-DC9CC6DB0945}"/>
              </a:ext>
            </a:extLst>
          </p:cNvPr>
          <p:cNvSpPr txBox="1"/>
          <p:nvPr/>
        </p:nvSpPr>
        <p:spPr>
          <a:xfrm>
            <a:off x="914400" y="1955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毎月の設備費をいくらまでとするか</a:t>
            </a:r>
          </a:p>
        </p:txBody>
      </p:sp>
      <p:sp>
        <p:nvSpPr>
          <p:cNvPr id="18" name="テキスト ボックス 17">
            <a:extLst>
              <a:ext uri="{FF2B5EF4-FFF2-40B4-BE49-F238E27FC236}">
                <a16:creationId xmlns:a16="http://schemas.microsoft.com/office/drawing/2014/main" id="{AD25F136-596E-5B47-AFA9-42EF6E059A36}"/>
              </a:ext>
            </a:extLst>
          </p:cNvPr>
          <p:cNvSpPr txBox="1"/>
          <p:nvPr/>
        </p:nvSpPr>
        <p:spPr>
          <a:xfrm>
            <a:off x="5105400" y="1955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ABE1E511-8743-6E47-95B8-E531DDD6D33A}"/>
              </a:ext>
            </a:extLst>
          </p:cNvPr>
          <p:cNvSpPr/>
          <p:nvPr/>
        </p:nvSpPr>
        <p:spPr>
          <a:xfrm>
            <a:off x="5943600" y="1930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0" name="テキスト ボックス 19">
            <a:extLst>
              <a:ext uri="{FF2B5EF4-FFF2-40B4-BE49-F238E27FC236}">
                <a16:creationId xmlns:a16="http://schemas.microsoft.com/office/drawing/2014/main" id="{EC8AE263-183F-D644-91B7-3FED658D67AA}"/>
              </a:ext>
            </a:extLst>
          </p:cNvPr>
          <p:cNvSpPr txBox="1"/>
          <p:nvPr/>
        </p:nvSpPr>
        <p:spPr>
          <a:xfrm>
            <a:off x="6908800" y="1955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$0 / Keycloak ~$987</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Option B+ADR-012</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 RHBK …</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0698EE79-0E25-9B41-9804-B610D91FD678}"/>
              </a:ext>
            </a:extLst>
          </p:cNvPr>
          <p:cNvSpPr/>
          <p:nvPr/>
        </p:nvSpPr>
        <p:spPr>
          <a:xfrm>
            <a:off x="812800" y="2717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459826AA-1C32-8748-9392-6220EEE08062}"/>
              </a:ext>
            </a:extLst>
          </p:cNvPr>
          <p:cNvSpPr txBox="1"/>
          <p:nvPr/>
        </p:nvSpPr>
        <p:spPr>
          <a:xfrm>
            <a:off x="914400" y="2400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a:t>
            </a:r>
            <a:r>
              <a:rPr lang="en-US" altLang="ja-JP" sz="1100" b="1">
                <a:solidFill>
                  <a:srgbClr val="1D2125"/>
                </a:solidFill>
                <a:latin typeface="Yu Gothic UI"/>
                <a:ea typeface="Yu Gothic UI"/>
              </a:rPr>
              <a:t>1</a:t>
            </a:r>
            <a:r>
              <a:rPr lang="ja-JP" altLang="en-US" sz="1100" b="1">
                <a:solidFill>
                  <a:srgbClr val="1D2125"/>
                </a:solidFill>
                <a:latin typeface="Yu Gothic UI"/>
                <a:ea typeface="Yu Gothic UI"/>
              </a:rPr>
              <a:t>人あたりの単価をいくらと見るか</a:t>
            </a:r>
          </a:p>
        </p:txBody>
      </p:sp>
      <p:sp>
        <p:nvSpPr>
          <p:cNvPr id="23" name="テキスト ボックス 22">
            <a:extLst>
              <a:ext uri="{FF2B5EF4-FFF2-40B4-BE49-F238E27FC236}">
                <a16:creationId xmlns:a16="http://schemas.microsoft.com/office/drawing/2014/main" id="{D2D8F658-8422-DD4C-8D9D-425739810315}"/>
              </a:ext>
            </a:extLst>
          </p:cNvPr>
          <p:cNvSpPr txBox="1"/>
          <p:nvPr/>
        </p:nvSpPr>
        <p:spPr>
          <a:xfrm>
            <a:off x="5105400" y="2400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2957D27D-56D3-1C48-8083-F2C6D0A2B07F}"/>
              </a:ext>
            </a:extLst>
          </p:cNvPr>
          <p:cNvSpPr/>
          <p:nvPr/>
        </p:nvSpPr>
        <p:spPr>
          <a:xfrm>
            <a:off x="5943600" y="2374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7CD35BB0-AD0B-3942-BA99-D220B41F8CB5}"/>
              </a:ext>
            </a:extLst>
          </p:cNvPr>
          <p:cNvSpPr txBox="1"/>
          <p:nvPr/>
        </p:nvSpPr>
        <p:spPr>
          <a:xfrm>
            <a:off x="6908800" y="2400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$0.015/MAU / Keycloak $0 / RHBK $0</a:t>
            </a:r>
            <a:endParaRPr lang="ja-JP" altLang="en-US" sz="1100">
              <a:solidFill>
                <a:srgbClr val="5A6472"/>
              </a:solidFill>
              <a:latin typeface="Yu Gothic UI"/>
              <a:ea typeface="Yu Gothic UI"/>
            </a:endParaRPr>
          </a:p>
        </p:txBody>
      </p:sp>
      <p:sp>
        <p:nvSpPr>
          <p:cNvPr id="26" name="正方形/長方形 25">
            <a:extLst>
              <a:ext uri="{FF2B5EF4-FFF2-40B4-BE49-F238E27FC236}">
                <a16:creationId xmlns:a16="http://schemas.microsoft.com/office/drawing/2014/main" id="{AC1268A4-C623-8D41-A1AF-98956F0C6C1B}"/>
              </a:ext>
            </a:extLst>
          </p:cNvPr>
          <p:cNvSpPr/>
          <p:nvPr/>
        </p:nvSpPr>
        <p:spPr>
          <a:xfrm>
            <a:off x="812800" y="2730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1F292528-8261-5D41-B7DB-98445A30A3AE}"/>
              </a:ext>
            </a:extLst>
          </p:cNvPr>
          <p:cNvSpPr/>
          <p:nvPr/>
        </p:nvSpPr>
        <p:spPr>
          <a:xfrm>
            <a:off x="812800" y="316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20049739-89DC-8840-88A1-1D738531D61F}"/>
              </a:ext>
            </a:extLst>
          </p:cNvPr>
          <p:cNvSpPr txBox="1"/>
          <p:nvPr/>
        </p:nvSpPr>
        <p:spPr>
          <a:xfrm>
            <a:off x="914400" y="2844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上位プランを使う場合の追加費用をどう見るか</a:t>
            </a:r>
          </a:p>
        </p:txBody>
      </p:sp>
      <p:sp>
        <p:nvSpPr>
          <p:cNvPr id="29" name="テキスト ボックス 28">
            <a:extLst>
              <a:ext uri="{FF2B5EF4-FFF2-40B4-BE49-F238E27FC236}">
                <a16:creationId xmlns:a16="http://schemas.microsoft.com/office/drawing/2014/main" id="{7E8CB2D3-A66C-2C4E-8ABF-04EDC83C0EF8}"/>
              </a:ext>
            </a:extLst>
          </p:cNvPr>
          <p:cNvSpPr txBox="1"/>
          <p:nvPr/>
        </p:nvSpPr>
        <p:spPr>
          <a:xfrm>
            <a:off x="5105400" y="2844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94D9649E-9F3D-994B-894E-72FB2869F20A}"/>
              </a:ext>
            </a:extLst>
          </p:cNvPr>
          <p:cNvSpPr/>
          <p:nvPr/>
        </p:nvSpPr>
        <p:spPr>
          <a:xfrm>
            <a:off x="5943600" y="2819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898681FF-0F39-3841-A8E4-A5BA8E7A7314}"/>
              </a:ext>
            </a:extLst>
          </p:cNvPr>
          <p:cNvSpPr txBox="1"/>
          <p:nvPr/>
        </p:nvSpPr>
        <p:spPr>
          <a:xfrm>
            <a:off x="6908800" y="2844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+$0.02/MAU</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無料枠なし、</a:t>
            </a:r>
            <a:r>
              <a:rPr lang="en-US" altLang="ja-JP" sz="1100">
                <a:solidFill>
                  <a:srgbClr val="5A6472"/>
                </a:solidFill>
                <a:latin typeface="Yu Gothic UI"/>
                <a:ea typeface="Yu Gothic UI"/>
              </a:rPr>
              <a:t>2024-12〜</a:t>
            </a:r>
            <a:r>
              <a:rPr lang="ja-JP" altLang="en-US" sz="1100">
                <a:solidFill>
                  <a:srgbClr val="5A6472"/>
                </a:solidFill>
                <a:latin typeface="Yu Gothic UI"/>
                <a:ea typeface="Yu Gothic UI"/>
              </a:rPr>
              <a:t>）。</a:t>
            </a:r>
            <a:r>
              <a:rPr lang="en" altLang="ja-JP" sz="1100">
                <a:solidFill>
                  <a:srgbClr val="5A6472"/>
                </a:solidFill>
                <a:latin typeface="Yu Gothic UI"/>
                <a:ea typeface="Yu Gothic UI"/>
              </a:rPr>
              <a:t>FR-AUTH-011 / FR-MF…</a:t>
            </a:r>
            <a:endParaRPr lang="ja-JP" altLang="en-US" sz="1100">
              <a:solidFill>
                <a:srgbClr val="5A6472"/>
              </a:solidFill>
              <a:latin typeface="Yu Gothic UI"/>
              <a:ea typeface="Yu Gothic UI"/>
            </a:endParaRPr>
          </a:p>
        </p:txBody>
      </p:sp>
      <p:sp>
        <p:nvSpPr>
          <p:cNvPr id="32" name="正方形/長方形 31">
            <a:extLst>
              <a:ext uri="{FF2B5EF4-FFF2-40B4-BE49-F238E27FC236}">
                <a16:creationId xmlns:a16="http://schemas.microsoft.com/office/drawing/2014/main" id="{19462264-199F-474A-87F8-55228A44EDEF}"/>
              </a:ext>
            </a:extLst>
          </p:cNvPr>
          <p:cNvSpPr/>
          <p:nvPr/>
        </p:nvSpPr>
        <p:spPr>
          <a:xfrm>
            <a:off x="812800" y="3606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41FDF576-7CC4-DF44-A341-7D963B717E70}"/>
              </a:ext>
            </a:extLst>
          </p:cNvPr>
          <p:cNvSpPr txBox="1"/>
          <p:nvPr/>
        </p:nvSpPr>
        <p:spPr>
          <a:xfrm>
            <a:off x="914400" y="3289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災害対策のために毎月いくら追加でかけるか</a:t>
            </a:r>
          </a:p>
        </p:txBody>
      </p:sp>
      <p:sp>
        <p:nvSpPr>
          <p:cNvPr id="34" name="テキスト ボックス 33">
            <a:extLst>
              <a:ext uri="{FF2B5EF4-FFF2-40B4-BE49-F238E27FC236}">
                <a16:creationId xmlns:a16="http://schemas.microsoft.com/office/drawing/2014/main" id="{7F6721D5-C1D5-7A4D-9A02-00C341356F07}"/>
              </a:ext>
            </a:extLst>
          </p:cNvPr>
          <p:cNvSpPr txBox="1"/>
          <p:nvPr/>
        </p:nvSpPr>
        <p:spPr>
          <a:xfrm>
            <a:off x="5105400" y="3289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B862DCF3-6DCE-1444-B05E-90C74BB99671}"/>
              </a:ext>
            </a:extLst>
          </p:cNvPr>
          <p:cNvSpPr/>
          <p:nvPr/>
        </p:nvSpPr>
        <p:spPr>
          <a:xfrm>
            <a:off x="5943600" y="3263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36" name="テキスト ボックス 35">
            <a:extLst>
              <a:ext uri="{FF2B5EF4-FFF2-40B4-BE49-F238E27FC236}">
                <a16:creationId xmlns:a16="http://schemas.microsoft.com/office/drawing/2014/main" id="{EB1C51EB-6ED9-E649-94BD-909A9C27C4E0}"/>
              </a:ext>
            </a:extLst>
          </p:cNvPr>
          <p:cNvSpPr txBox="1"/>
          <p:nvPr/>
        </p:nvSpPr>
        <p:spPr>
          <a:xfrm>
            <a:off x="6908800" y="3289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$0.50+MAU / Keycloak $890 / RHBK $890+</a:t>
            </a:r>
            <a:r>
              <a:rPr lang="ja-JP" altLang="en-US" sz="1100">
                <a:solidFill>
                  <a:srgbClr val="5A6472"/>
                </a:solidFill>
                <a:latin typeface="Yu Gothic UI"/>
                <a:ea typeface="Yu Gothic UI"/>
              </a:rPr>
              <a:t>サブスク</a:t>
            </a:r>
          </a:p>
        </p:txBody>
      </p:sp>
      <p:sp>
        <p:nvSpPr>
          <p:cNvPr id="37" name="正方形/長方形 36">
            <a:extLst>
              <a:ext uri="{FF2B5EF4-FFF2-40B4-BE49-F238E27FC236}">
                <a16:creationId xmlns:a16="http://schemas.microsoft.com/office/drawing/2014/main" id="{9FBAC570-5E00-B044-BBB1-7D58648D349B}"/>
              </a:ext>
            </a:extLst>
          </p:cNvPr>
          <p:cNvSpPr/>
          <p:nvPr/>
        </p:nvSpPr>
        <p:spPr>
          <a:xfrm>
            <a:off x="812800" y="3619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8" name="正方形/長方形 37">
            <a:extLst>
              <a:ext uri="{FF2B5EF4-FFF2-40B4-BE49-F238E27FC236}">
                <a16:creationId xmlns:a16="http://schemas.microsoft.com/office/drawing/2014/main" id="{E9F9D770-E329-B04C-966B-6B3169E02828}"/>
              </a:ext>
            </a:extLst>
          </p:cNvPr>
          <p:cNvSpPr/>
          <p:nvPr/>
        </p:nvSpPr>
        <p:spPr>
          <a:xfrm>
            <a:off x="812800" y="4051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9" name="テキスト ボックス 38">
            <a:extLst>
              <a:ext uri="{FF2B5EF4-FFF2-40B4-BE49-F238E27FC236}">
                <a16:creationId xmlns:a16="http://schemas.microsoft.com/office/drawing/2014/main" id="{136CC2C5-9543-BF42-AA6F-E74EDB126DC0}"/>
              </a:ext>
            </a:extLst>
          </p:cNvPr>
          <p:cNvSpPr txBox="1"/>
          <p:nvPr/>
        </p:nvSpPr>
        <p:spPr>
          <a:xfrm>
            <a:off x="914400" y="3733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運用担当の人件費をいくらと見込むか</a:t>
            </a:r>
          </a:p>
        </p:txBody>
      </p:sp>
      <p:sp>
        <p:nvSpPr>
          <p:cNvPr id="40" name="テキスト ボックス 39">
            <a:extLst>
              <a:ext uri="{FF2B5EF4-FFF2-40B4-BE49-F238E27FC236}">
                <a16:creationId xmlns:a16="http://schemas.microsoft.com/office/drawing/2014/main" id="{F0DBAD19-DE56-D94B-B93F-43C8688BEA37}"/>
              </a:ext>
            </a:extLst>
          </p:cNvPr>
          <p:cNvSpPr txBox="1"/>
          <p:nvPr/>
        </p:nvSpPr>
        <p:spPr>
          <a:xfrm>
            <a:off x="5105400" y="3733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1" name="角丸四角形 40">
            <a:extLst>
              <a:ext uri="{FF2B5EF4-FFF2-40B4-BE49-F238E27FC236}">
                <a16:creationId xmlns:a16="http://schemas.microsoft.com/office/drawing/2014/main" id="{9F8A5B88-8F43-B448-BA22-140CB798835E}"/>
              </a:ext>
            </a:extLst>
          </p:cNvPr>
          <p:cNvSpPr/>
          <p:nvPr/>
        </p:nvSpPr>
        <p:spPr>
          <a:xfrm>
            <a:off x="5943600" y="37084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42" name="テキスト ボックス 41">
            <a:extLst>
              <a:ext uri="{FF2B5EF4-FFF2-40B4-BE49-F238E27FC236}">
                <a16:creationId xmlns:a16="http://schemas.microsoft.com/office/drawing/2014/main" id="{2B9FFF0E-3642-7D43-9F81-2E2E72555CBC}"/>
              </a:ext>
            </a:extLst>
          </p:cNvPr>
          <p:cNvSpPr txBox="1"/>
          <p:nvPr/>
        </p:nvSpPr>
        <p:spPr>
          <a:xfrm>
            <a:off x="6908800" y="3733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 Cognito ~$0 / Keycloak ~$1,680/</a:t>
            </a:r>
            <a:r>
              <a:rPr lang="ja-JP" altLang="en-US" sz="1100">
                <a:solidFill>
                  <a:srgbClr val="5A6472"/>
                </a:solidFill>
                <a:latin typeface="Yu Gothic UI"/>
                <a:ea typeface="Yu Gothic UI"/>
              </a:rPr>
              <a:t>月 </a:t>
            </a:r>
            <a:r>
              <a:rPr lang="en-US" altLang="ja-JP" sz="1100">
                <a:solidFill>
                  <a:srgbClr val="5A6472"/>
                </a:solidFill>
                <a:latin typeface="Yu Gothic UI"/>
                <a:ea typeface="Yu Gothic UI"/>
              </a:rPr>
              <a:t>/ </a:t>
            </a:r>
            <a:r>
              <a:rPr lang="en" altLang="ja-JP" sz="1100">
                <a:solidFill>
                  <a:srgbClr val="5A6472"/>
                </a:solidFill>
                <a:latin typeface="Yu Gothic UI"/>
                <a:ea typeface="Yu Gothic UI"/>
              </a:rPr>
              <a:t>RHBK ~$840/</a:t>
            </a:r>
            <a:r>
              <a:rPr lang="ja-JP" altLang="en-US" sz="1100">
                <a:solidFill>
                  <a:srgbClr val="5A6472"/>
                </a:solidFill>
                <a:latin typeface="Yu Gothic UI"/>
                <a:ea typeface="Yu Gothic UI"/>
              </a:rPr>
              <a:t>月（</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43" name="正方形/長方形 42">
            <a:extLst>
              <a:ext uri="{FF2B5EF4-FFF2-40B4-BE49-F238E27FC236}">
                <a16:creationId xmlns:a16="http://schemas.microsoft.com/office/drawing/2014/main" id="{4D09DE31-1910-6443-BD0D-C995EE02417F}"/>
              </a:ext>
            </a:extLst>
          </p:cNvPr>
          <p:cNvSpPr/>
          <p:nvPr/>
        </p:nvSpPr>
        <p:spPr>
          <a:xfrm>
            <a:off x="812800" y="4495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4" name="テキスト ボックス 43">
            <a:extLst>
              <a:ext uri="{FF2B5EF4-FFF2-40B4-BE49-F238E27FC236}">
                <a16:creationId xmlns:a16="http://schemas.microsoft.com/office/drawing/2014/main" id="{ED538C4E-314C-CE4C-BD3A-8082970B7008}"/>
              </a:ext>
            </a:extLst>
          </p:cNvPr>
          <p:cNvSpPr txBox="1"/>
          <p:nvPr/>
        </p:nvSpPr>
        <p:spPr>
          <a:xfrm>
            <a:off x="914400" y="4178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製品サポート契約の費用をどう扱うか</a:t>
            </a:r>
          </a:p>
        </p:txBody>
      </p:sp>
      <p:sp>
        <p:nvSpPr>
          <p:cNvPr id="45" name="テキスト ボックス 44">
            <a:extLst>
              <a:ext uri="{FF2B5EF4-FFF2-40B4-BE49-F238E27FC236}">
                <a16:creationId xmlns:a16="http://schemas.microsoft.com/office/drawing/2014/main" id="{BCC2A26F-4699-FE47-8EEF-AB90E008BE74}"/>
              </a:ext>
            </a:extLst>
          </p:cNvPr>
          <p:cNvSpPr txBox="1"/>
          <p:nvPr/>
        </p:nvSpPr>
        <p:spPr>
          <a:xfrm>
            <a:off x="5105400" y="4178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46" name="角丸四角形 45">
            <a:extLst>
              <a:ext uri="{FF2B5EF4-FFF2-40B4-BE49-F238E27FC236}">
                <a16:creationId xmlns:a16="http://schemas.microsoft.com/office/drawing/2014/main" id="{1866772A-EDBF-4E43-A060-5048BED68ABA}"/>
              </a:ext>
            </a:extLst>
          </p:cNvPr>
          <p:cNvSpPr/>
          <p:nvPr/>
        </p:nvSpPr>
        <p:spPr>
          <a:xfrm>
            <a:off x="5943600" y="41529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47" name="テキスト ボックス 46">
            <a:extLst>
              <a:ext uri="{FF2B5EF4-FFF2-40B4-BE49-F238E27FC236}">
                <a16:creationId xmlns:a16="http://schemas.microsoft.com/office/drawing/2014/main" id="{586436F7-FC09-7047-8C95-B7F2B341A154}"/>
              </a:ext>
            </a:extLst>
          </p:cNvPr>
          <p:cNvSpPr txBox="1"/>
          <p:nvPr/>
        </p:nvSpPr>
        <p:spPr>
          <a:xfrm>
            <a:off x="6908800" y="4178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 $5,000〜30,000/</a:t>
            </a:r>
            <a:r>
              <a:rPr lang="ja-JP" altLang="en-US" sz="1100">
                <a:solidFill>
                  <a:srgbClr val="5A6472"/>
                </a:solidFill>
                <a:latin typeface="Yu Gothic UI"/>
                <a:ea typeface="Yu Gothic UI"/>
              </a:rPr>
              <a:t>年</a:t>
            </a:r>
            <a:r>
              <a:rPr lang="en-US" altLang="ja-JP" sz="1100">
                <a:solidFill>
                  <a:srgbClr val="5A6472"/>
                </a:solidFill>
                <a:latin typeface="Yu Gothic UI"/>
                <a:ea typeface="Yu Gothic UI"/>
              </a:rPr>
              <a:t>/</a:t>
            </a:r>
            <a:r>
              <a:rPr lang="ja-JP" altLang="en-US" sz="1100">
                <a:solidFill>
                  <a:srgbClr val="5A6472"/>
                </a:solidFill>
                <a:latin typeface="Yu Gothic UI"/>
                <a:ea typeface="Yu Gothic UI"/>
              </a:rPr>
              <a:t>ノード｜★重要：</a:t>
            </a:r>
            <a:r>
              <a:rPr lang="en" altLang="ja-JP" sz="1100">
                <a:solidFill>
                  <a:srgbClr val="5A6472"/>
                </a:solidFill>
                <a:latin typeface="Yu Gothic UI"/>
                <a:ea typeface="Yu Gothic UI"/>
              </a:rPr>
              <a:t>NFR-COMP-006</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FI…</a:t>
            </a:r>
            <a:endParaRPr lang="ja-JP" altLang="en-US" sz="1100">
              <a:solidFill>
                <a:srgbClr val="5A6472"/>
              </a:solidFill>
              <a:latin typeface="Yu Gothic UI"/>
              <a:ea typeface="Yu Gothic UI"/>
            </a:endParaRPr>
          </a:p>
        </p:txBody>
      </p:sp>
      <p:sp>
        <p:nvSpPr>
          <p:cNvPr id="48" name="正方形/長方形 47">
            <a:extLst>
              <a:ext uri="{FF2B5EF4-FFF2-40B4-BE49-F238E27FC236}">
                <a16:creationId xmlns:a16="http://schemas.microsoft.com/office/drawing/2014/main" id="{7932FFE0-54E3-994A-BB3A-A918588ADBD9}"/>
              </a:ext>
            </a:extLst>
          </p:cNvPr>
          <p:cNvSpPr/>
          <p:nvPr/>
        </p:nvSpPr>
        <p:spPr>
          <a:xfrm>
            <a:off x="812800" y="4508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9" name="正方形/長方形 48">
            <a:extLst>
              <a:ext uri="{FF2B5EF4-FFF2-40B4-BE49-F238E27FC236}">
                <a16:creationId xmlns:a16="http://schemas.microsoft.com/office/drawing/2014/main" id="{5804A1C2-0EF6-1F4F-BF9D-C869B444E937}"/>
              </a:ext>
            </a:extLst>
          </p:cNvPr>
          <p:cNvSpPr/>
          <p:nvPr/>
        </p:nvSpPr>
        <p:spPr>
          <a:xfrm>
            <a:off x="812800" y="494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0" name="テキスト ボックス 49">
            <a:extLst>
              <a:ext uri="{FF2B5EF4-FFF2-40B4-BE49-F238E27FC236}">
                <a16:creationId xmlns:a16="http://schemas.microsoft.com/office/drawing/2014/main" id="{15D6EB15-E616-CA4B-A840-AEAFC4FEFE75}"/>
              </a:ext>
            </a:extLst>
          </p:cNvPr>
          <p:cNvSpPr txBox="1"/>
          <p:nvPr/>
        </p:nvSpPr>
        <p:spPr>
          <a:xfrm>
            <a:off x="914400" y="46228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何人以上の規模なら自前で構築するほうが有利になるか</a:t>
            </a:r>
          </a:p>
        </p:txBody>
      </p:sp>
      <p:sp>
        <p:nvSpPr>
          <p:cNvPr id="51" name="テキスト ボックス 50">
            <a:extLst>
              <a:ext uri="{FF2B5EF4-FFF2-40B4-BE49-F238E27FC236}">
                <a16:creationId xmlns:a16="http://schemas.microsoft.com/office/drawing/2014/main" id="{FB52282E-7497-B745-81F8-38F6E9D133F4}"/>
              </a:ext>
            </a:extLst>
          </p:cNvPr>
          <p:cNvSpPr txBox="1"/>
          <p:nvPr/>
        </p:nvSpPr>
        <p:spPr>
          <a:xfrm>
            <a:off x="5105400" y="4622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2" name="角丸四角形 51">
            <a:extLst>
              <a:ext uri="{FF2B5EF4-FFF2-40B4-BE49-F238E27FC236}">
                <a16:creationId xmlns:a16="http://schemas.microsoft.com/office/drawing/2014/main" id="{DC4A70FD-E8EC-7F4B-965A-219FE47803AD}"/>
              </a:ext>
            </a:extLst>
          </p:cNvPr>
          <p:cNvSpPr/>
          <p:nvPr/>
        </p:nvSpPr>
        <p:spPr>
          <a:xfrm>
            <a:off x="5943600" y="4597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53" name="テキスト ボックス 52">
            <a:extLst>
              <a:ext uri="{FF2B5EF4-FFF2-40B4-BE49-F238E27FC236}">
                <a16:creationId xmlns:a16="http://schemas.microsoft.com/office/drawing/2014/main" id="{2895BCF3-4C77-B845-9B04-23F2D07F9B39}"/>
              </a:ext>
            </a:extLst>
          </p:cNvPr>
          <p:cNvSpPr txBox="1"/>
          <p:nvPr/>
        </p:nvSpPr>
        <p:spPr>
          <a:xfrm>
            <a:off x="6908800" y="4622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Keycloak OSS 175,000 MAU / RHBK</a:t>
            </a:r>
            <a:r>
              <a:rPr lang="ja-JP" altLang="en-US" sz="1100">
                <a:solidFill>
                  <a:srgbClr val="5A6472"/>
                </a:solidFill>
                <a:latin typeface="Yu Gothic UI"/>
                <a:ea typeface="Yu Gothic UI"/>
              </a:rPr>
              <a:t>採用時 </a:t>
            </a:r>
            <a:r>
              <a:rPr lang="en-US" altLang="ja-JP" sz="1100">
                <a:solidFill>
                  <a:srgbClr val="5A6472"/>
                </a:solidFill>
                <a:latin typeface="Yu Gothic UI"/>
                <a:ea typeface="Yu Gothic UI"/>
              </a:rPr>
              <a:t>〜600,000 </a:t>
            </a:r>
            <a:r>
              <a:rPr lang="en" altLang="ja-JP" sz="1100">
                <a:solidFill>
                  <a:srgbClr val="5A6472"/>
                </a:solidFill>
                <a:latin typeface="Yu Gothic UI"/>
                <a:ea typeface="Yu Gothic UI"/>
              </a:rPr>
              <a:t>MAU</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AD…</a:t>
            </a:r>
            <a:endParaRPr lang="ja-JP" altLang="en-US" sz="1100">
              <a:solidFill>
                <a:srgbClr val="5A6472"/>
              </a:solidFill>
              <a:latin typeface="Yu Gothic UI"/>
              <a:ea typeface="Yu Gothic UI"/>
            </a:endParaRPr>
          </a:p>
        </p:txBody>
      </p:sp>
      <p:sp>
        <p:nvSpPr>
          <p:cNvPr id="54" name="正方形/長方形 53">
            <a:extLst>
              <a:ext uri="{FF2B5EF4-FFF2-40B4-BE49-F238E27FC236}">
                <a16:creationId xmlns:a16="http://schemas.microsoft.com/office/drawing/2014/main" id="{D45B433D-A964-C748-967F-2AEAA9AF660F}"/>
              </a:ext>
            </a:extLst>
          </p:cNvPr>
          <p:cNvSpPr/>
          <p:nvPr/>
        </p:nvSpPr>
        <p:spPr>
          <a:xfrm>
            <a:off x="812800" y="5384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5" name="テキスト ボックス 54">
            <a:extLst>
              <a:ext uri="{FF2B5EF4-FFF2-40B4-BE49-F238E27FC236}">
                <a16:creationId xmlns:a16="http://schemas.microsoft.com/office/drawing/2014/main" id="{CC53125D-91C0-2F4E-991A-99030BF259FF}"/>
              </a:ext>
            </a:extLst>
          </p:cNvPr>
          <p:cNvSpPr txBox="1"/>
          <p:nvPr/>
        </p:nvSpPr>
        <p:spPr>
          <a:xfrm>
            <a:off x="914400" y="50673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上位プランと比べた場合、有利になる規模の境目をどこに置</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56" name="テキスト ボックス 55">
            <a:extLst>
              <a:ext uri="{FF2B5EF4-FFF2-40B4-BE49-F238E27FC236}">
                <a16:creationId xmlns:a16="http://schemas.microsoft.com/office/drawing/2014/main" id="{470E52B9-8C90-DB4C-9B68-BC41F14A6CC3}"/>
              </a:ext>
            </a:extLst>
          </p:cNvPr>
          <p:cNvSpPr txBox="1"/>
          <p:nvPr/>
        </p:nvSpPr>
        <p:spPr>
          <a:xfrm>
            <a:off x="5105400" y="5067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57" name="角丸四角形 56">
            <a:extLst>
              <a:ext uri="{FF2B5EF4-FFF2-40B4-BE49-F238E27FC236}">
                <a16:creationId xmlns:a16="http://schemas.microsoft.com/office/drawing/2014/main" id="{B536F6D5-1040-DB4A-965E-070D19EF0F30}"/>
              </a:ext>
            </a:extLst>
          </p:cNvPr>
          <p:cNvSpPr/>
          <p:nvPr/>
        </p:nvSpPr>
        <p:spPr>
          <a:xfrm>
            <a:off x="5943600" y="5041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58" name="テキスト ボックス 57">
            <a:extLst>
              <a:ext uri="{FF2B5EF4-FFF2-40B4-BE49-F238E27FC236}">
                <a16:creationId xmlns:a16="http://schemas.microsoft.com/office/drawing/2014/main" id="{9F10626F-9F18-4340-8C5B-FA79F5F3F8B2}"/>
              </a:ext>
            </a:extLst>
          </p:cNvPr>
          <p:cNvSpPr txBox="1"/>
          <p:nvPr/>
        </p:nvSpPr>
        <p:spPr>
          <a:xfrm>
            <a:off x="6908800" y="5067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〜75,000 MAU</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ADR-006</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Plus</a:t>
            </a:r>
            <a:r>
              <a:rPr lang="ja-JP" altLang="en-US" sz="1100">
                <a:solidFill>
                  <a:srgbClr val="5A6472"/>
                </a:solidFill>
                <a:latin typeface="Yu Gothic UI"/>
                <a:ea typeface="Yu Gothic UI"/>
              </a:rPr>
              <a:t>ティア採用で</a:t>
            </a:r>
            <a:r>
              <a:rPr lang="en-US" altLang="ja-JP" sz="1100">
                <a:solidFill>
                  <a:srgbClr val="5A6472"/>
                </a:solidFill>
                <a:latin typeface="Yu Gothic UI"/>
                <a:ea typeface="Yu Gothic UI"/>
              </a:rPr>
              <a:t>175,000→75,000…</a:t>
            </a:r>
            <a:endParaRPr lang="ja-JP" altLang="en-US" sz="1100">
              <a:solidFill>
                <a:srgbClr val="5A6472"/>
              </a:solidFill>
              <a:latin typeface="Yu Gothic UI"/>
              <a:ea typeface="Yu Gothic UI"/>
            </a:endParaRPr>
          </a:p>
        </p:txBody>
      </p:sp>
      <p:sp>
        <p:nvSpPr>
          <p:cNvPr id="59" name="正方形/長方形 58">
            <a:extLst>
              <a:ext uri="{FF2B5EF4-FFF2-40B4-BE49-F238E27FC236}">
                <a16:creationId xmlns:a16="http://schemas.microsoft.com/office/drawing/2014/main" id="{3E71C34E-96FF-614B-8618-BF6A151BB19B}"/>
              </a:ext>
            </a:extLst>
          </p:cNvPr>
          <p:cNvSpPr/>
          <p:nvPr/>
        </p:nvSpPr>
        <p:spPr>
          <a:xfrm>
            <a:off x="812800" y="5397500"/>
            <a:ext cx="10566400" cy="4445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0" name="正方形/長方形 59">
            <a:extLst>
              <a:ext uri="{FF2B5EF4-FFF2-40B4-BE49-F238E27FC236}">
                <a16:creationId xmlns:a16="http://schemas.microsoft.com/office/drawing/2014/main" id="{D8CAA47C-D7B6-1749-B1C7-07FA1D7649FB}"/>
              </a:ext>
            </a:extLst>
          </p:cNvPr>
          <p:cNvSpPr/>
          <p:nvPr/>
        </p:nvSpPr>
        <p:spPr>
          <a:xfrm>
            <a:off x="812800" y="5829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1" name="テキスト ボックス 60">
            <a:extLst>
              <a:ext uri="{FF2B5EF4-FFF2-40B4-BE49-F238E27FC236}">
                <a16:creationId xmlns:a16="http://schemas.microsoft.com/office/drawing/2014/main" id="{1F5F9DD8-09A6-E649-9386-0BE1C7C753A5}"/>
              </a:ext>
            </a:extLst>
          </p:cNvPr>
          <p:cNvSpPr txBox="1"/>
          <p:nvPr/>
        </p:nvSpPr>
        <p:spPr>
          <a:xfrm>
            <a:off x="914400" y="5511800"/>
            <a:ext cx="3987800" cy="254000"/>
          </a:xfrm>
          <a:prstGeom prst="rect">
            <a:avLst/>
          </a:prstGeom>
          <a:noFill/>
        </p:spPr>
        <p:txBody>
          <a:bodyPr vertOverflow="overflow" vert="horz" wrap="square" rtlCol="0" anchor="t" anchorCtr="0">
            <a:noAutofit/>
          </a:bodyPr>
          <a:lstStyle/>
          <a:p>
            <a:pPr algn="l"/>
            <a:r>
              <a:rPr lang="en-US" altLang="ja-JP" sz="1100" b="1">
                <a:solidFill>
                  <a:srgbClr val="1D2125"/>
                </a:solidFill>
                <a:latin typeface="Yu Gothic UI"/>
                <a:ea typeface="Yu Gothic UI"/>
              </a:rPr>
              <a:t>10</a:t>
            </a:r>
            <a:r>
              <a:rPr lang="ja-JP" altLang="en-US" sz="1100" b="1">
                <a:solidFill>
                  <a:srgbClr val="1D2125"/>
                </a:solidFill>
                <a:latin typeface="Yu Gothic UI"/>
                <a:ea typeface="Yu Gothic UI"/>
              </a:rPr>
              <a:t>万人規模で</a:t>
            </a:r>
            <a:r>
              <a:rPr lang="en-US" altLang="ja-JP" sz="1100" b="1">
                <a:solidFill>
                  <a:srgbClr val="1D2125"/>
                </a:solidFill>
                <a:latin typeface="Yu Gothic UI"/>
                <a:ea typeface="Yu Gothic UI"/>
              </a:rPr>
              <a:t>3</a:t>
            </a:r>
            <a:r>
              <a:rPr lang="ja-JP" altLang="en-US" sz="1100" b="1">
                <a:solidFill>
                  <a:srgbClr val="1D2125"/>
                </a:solidFill>
                <a:latin typeface="Yu Gothic UI"/>
                <a:ea typeface="Yu Gothic UI"/>
              </a:rPr>
              <a:t>年間の総額をいくらと見るか</a:t>
            </a:r>
          </a:p>
        </p:txBody>
      </p:sp>
      <p:sp>
        <p:nvSpPr>
          <p:cNvPr id="62" name="テキスト ボックス 61">
            <a:extLst>
              <a:ext uri="{FF2B5EF4-FFF2-40B4-BE49-F238E27FC236}">
                <a16:creationId xmlns:a16="http://schemas.microsoft.com/office/drawing/2014/main" id="{A25EF1E3-748B-C842-AD98-3A16122FD84E}"/>
              </a:ext>
            </a:extLst>
          </p:cNvPr>
          <p:cNvSpPr txBox="1"/>
          <p:nvPr/>
        </p:nvSpPr>
        <p:spPr>
          <a:xfrm>
            <a:off x="5105400" y="55118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3" name="角丸四角形 62">
            <a:extLst>
              <a:ext uri="{FF2B5EF4-FFF2-40B4-BE49-F238E27FC236}">
                <a16:creationId xmlns:a16="http://schemas.microsoft.com/office/drawing/2014/main" id="{1C33B4DA-6458-3F46-AF59-DE87DE6930A1}"/>
              </a:ext>
            </a:extLst>
          </p:cNvPr>
          <p:cNvSpPr/>
          <p:nvPr/>
        </p:nvSpPr>
        <p:spPr>
          <a:xfrm>
            <a:off x="5943600" y="54864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64" name="テキスト ボックス 63">
            <a:extLst>
              <a:ext uri="{FF2B5EF4-FFF2-40B4-BE49-F238E27FC236}">
                <a16:creationId xmlns:a16="http://schemas.microsoft.com/office/drawing/2014/main" id="{B045206F-1638-4145-8066-2E6776038EDC}"/>
              </a:ext>
            </a:extLst>
          </p:cNvPr>
          <p:cNvSpPr txBox="1"/>
          <p:nvPr/>
        </p:nvSpPr>
        <p:spPr>
          <a:xfrm>
            <a:off x="6908800" y="55118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$54K / Keycloak $124K / RHBK $200K+</a:t>
            </a:r>
            <a:endParaRPr lang="ja-JP" altLang="en-US" sz="1100">
              <a:solidFill>
                <a:srgbClr val="5A6472"/>
              </a:solidFill>
              <a:latin typeface="Yu Gothic UI"/>
              <a:ea typeface="Yu Gothic UI"/>
            </a:endParaRPr>
          </a:p>
        </p:txBody>
      </p:sp>
      <p:sp>
        <p:nvSpPr>
          <p:cNvPr id="65" name="正方形/長方形 64">
            <a:extLst>
              <a:ext uri="{FF2B5EF4-FFF2-40B4-BE49-F238E27FC236}">
                <a16:creationId xmlns:a16="http://schemas.microsoft.com/office/drawing/2014/main" id="{B5A82D0F-4B0E-1F49-918F-A951DA1A84F7}"/>
              </a:ext>
            </a:extLst>
          </p:cNvPr>
          <p:cNvSpPr/>
          <p:nvPr/>
        </p:nvSpPr>
        <p:spPr>
          <a:xfrm>
            <a:off x="812800" y="62738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6" name="テキスト ボックス 65">
            <a:extLst>
              <a:ext uri="{FF2B5EF4-FFF2-40B4-BE49-F238E27FC236}">
                <a16:creationId xmlns:a16="http://schemas.microsoft.com/office/drawing/2014/main" id="{BA78BBD3-9DB0-C74F-BC89-F435F5714AD8}"/>
              </a:ext>
            </a:extLst>
          </p:cNvPr>
          <p:cNvSpPr txBox="1"/>
          <p:nvPr/>
        </p:nvSpPr>
        <p:spPr>
          <a:xfrm>
            <a:off x="914400" y="5956300"/>
            <a:ext cx="3987800" cy="254000"/>
          </a:xfrm>
          <a:prstGeom prst="rect">
            <a:avLst/>
          </a:prstGeom>
          <a:noFill/>
        </p:spPr>
        <p:txBody>
          <a:bodyPr vertOverflow="overflow" vert="horz" wrap="square" rtlCol="0" anchor="t" anchorCtr="0">
            <a:noAutofit/>
          </a:bodyPr>
          <a:lstStyle/>
          <a:p>
            <a:pPr algn="l"/>
            <a:r>
              <a:rPr lang="en-US" altLang="ja-JP" sz="1100" b="1">
                <a:solidFill>
                  <a:srgbClr val="1D2125"/>
                </a:solidFill>
                <a:latin typeface="Yu Gothic UI"/>
                <a:ea typeface="Yu Gothic UI"/>
              </a:rPr>
              <a:t>50</a:t>
            </a:r>
            <a:r>
              <a:rPr lang="ja-JP" altLang="en-US" sz="1100" b="1">
                <a:solidFill>
                  <a:srgbClr val="1D2125"/>
                </a:solidFill>
                <a:latin typeface="Yu Gothic UI"/>
                <a:ea typeface="Yu Gothic UI"/>
              </a:rPr>
              <a:t>万人規模で</a:t>
            </a:r>
            <a:r>
              <a:rPr lang="en-US" altLang="ja-JP" sz="1100" b="1">
                <a:solidFill>
                  <a:srgbClr val="1D2125"/>
                </a:solidFill>
                <a:latin typeface="Yu Gothic UI"/>
                <a:ea typeface="Yu Gothic UI"/>
              </a:rPr>
              <a:t>3</a:t>
            </a:r>
            <a:r>
              <a:rPr lang="ja-JP" altLang="en-US" sz="1100" b="1">
                <a:solidFill>
                  <a:srgbClr val="1D2125"/>
                </a:solidFill>
                <a:latin typeface="Yu Gothic UI"/>
                <a:ea typeface="Yu Gothic UI"/>
              </a:rPr>
              <a:t>年間の総額をいくらと見るか</a:t>
            </a:r>
          </a:p>
        </p:txBody>
      </p:sp>
      <p:sp>
        <p:nvSpPr>
          <p:cNvPr id="67" name="テキスト ボックス 66">
            <a:extLst>
              <a:ext uri="{FF2B5EF4-FFF2-40B4-BE49-F238E27FC236}">
                <a16:creationId xmlns:a16="http://schemas.microsoft.com/office/drawing/2014/main" id="{7190CACB-882C-374F-A41A-24A181590FD0}"/>
              </a:ext>
            </a:extLst>
          </p:cNvPr>
          <p:cNvSpPr txBox="1"/>
          <p:nvPr/>
        </p:nvSpPr>
        <p:spPr>
          <a:xfrm>
            <a:off x="5105400" y="59563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68" name="角丸四角形 67">
            <a:extLst>
              <a:ext uri="{FF2B5EF4-FFF2-40B4-BE49-F238E27FC236}">
                <a16:creationId xmlns:a16="http://schemas.microsoft.com/office/drawing/2014/main" id="{E8C04B9F-E3CF-2C45-A9C1-4CE8C82986F6}"/>
              </a:ext>
            </a:extLst>
          </p:cNvPr>
          <p:cNvSpPr/>
          <p:nvPr/>
        </p:nvSpPr>
        <p:spPr>
          <a:xfrm>
            <a:off x="5943600" y="59309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69" name="テキスト ボックス 68">
            <a:extLst>
              <a:ext uri="{FF2B5EF4-FFF2-40B4-BE49-F238E27FC236}">
                <a16:creationId xmlns:a16="http://schemas.microsoft.com/office/drawing/2014/main" id="{DCF55310-C44F-5D44-BA93-3F4FA3021F72}"/>
              </a:ext>
            </a:extLst>
          </p:cNvPr>
          <p:cNvSpPr txBox="1"/>
          <p:nvPr/>
        </p:nvSpPr>
        <p:spPr>
          <a:xfrm>
            <a:off x="6908800" y="59563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Cognito $270K / Keycloak $124K / RHBK $200K+</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2198285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45D845D-3D60-2C48-B067-04047A9D2D0B}"/>
              </a:ext>
            </a:extLst>
          </p:cNvPr>
          <p:cNvSpPr/>
          <p:nvPr/>
        </p:nvSpPr>
        <p:spPr>
          <a:xfrm>
            <a:off x="0" y="0"/>
            <a:ext cx="114300" cy="8382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D465F3E1-4E6E-6642-ACEA-0F2F5CF242D9}"/>
              </a:ext>
            </a:extLst>
          </p:cNvPr>
          <p:cNvSpPr txBox="1"/>
          <p:nvPr/>
        </p:nvSpPr>
        <p:spPr>
          <a:xfrm>
            <a:off x="812800" y="304800"/>
            <a:ext cx="8890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要件一覧　移行</a:t>
            </a:r>
          </a:p>
        </p:txBody>
      </p:sp>
      <p:sp>
        <p:nvSpPr>
          <p:cNvPr id="4" name="テキスト ボックス 3">
            <a:extLst>
              <a:ext uri="{FF2B5EF4-FFF2-40B4-BE49-F238E27FC236}">
                <a16:creationId xmlns:a16="http://schemas.microsoft.com/office/drawing/2014/main" id="{DDFFAE08-DFFF-084F-9BE7-EB3AB0D499A5}"/>
              </a:ext>
            </a:extLst>
          </p:cNvPr>
          <p:cNvSpPr txBox="1"/>
          <p:nvPr/>
        </p:nvSpPr>
        <p:spPr>
          <a:xfrm>
            <a:off x="9702800" y="381000"/>
            <a:ext cx="1676400" cy="279400"/>
          </a:xfrm>
          <a:prstGeom prst="rect">
            <a:avLst/>
          </a:prstGeom>
          <a:noFill/>
        </p:spPr>
        <p:txBody>
          <a:bodyPr vertOverflow="overflow" vert="horz" wrap="square" rtlCol="0" anchor="t" anchorCtr="0">
            <a:noAutofit/>
          </a:bodyPr>
          <a:lstStyle/>
          <a:p>
            <a:pPr algn="l"/>
            <a:r>
              <a:rPr lang="en-US" altLang="ja-JP" sz="1300" b="1">
                <a:solidFill>
                  <a:srgbClr val="5A6472"/>
                </a:solidFill>
                <a:latin typeface="Yu Gothic UI"/>
                <a:ea typeface="Yu Gothic UI"/>
              </a:rPr>
              <a:t>5 </a:t>
            </a:r>
            <a:r>
              <a:rPr lang="ja-JP" altLang="en-US" sz="1300" b="1">
                <a:solidFill>
                  <a:srgbClr val="5A6472"/>
                </a:solidFill>
                <a:latin typeface="Yu Gothic UI"/>
                <a:ea typeface="Yu Gothic UI"/>
              </a:rPr>
              <a:t>件</a:t>
            </a:r>
          </a:p>
        </p:txBody>
      </p:sp>
      <p:sp>
        <p:nvSpPr>
          <p:cNvPr id="5" name="正方形/長方形 4">
            <a:extLst>
              <a:ext uri="{FF2B5EF4-FFF2-40B4-BE49-F238E27FC236}">
                <a16:creationId xmlns:a16="http://schemas.microsoft.com/office/drawing/2014/main" id="{9AE04BF9-ED74-F245-B44F-F5F732F8CAA6}"/>
              </a:ext>
            </a:extLst>
          </p:cNvPr>
          <p:cNvSpPr/>
          <p:nvPr/>
        </p:nvSpPr>
        <p:spPr>
          <a:xfrm>
            <a:off x="812800" y="10922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981FC4FA-DFF5-D04F-AF9A-157ACFD20E71}"/>
              </a:ext>
            </a:extLst>
          </p:cNvPr>
          <p:cNvSpPr txBox="1"/>
          <p:nvPr/>
        </p:nvSpPr>
        <p:spPr>
          <a:xfrm>
            <a:off x="914400" y="1155700"/>
            <a:ext cx="4013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要件（何を決めるか）</a:t>
            </a:r>
          </a:p>
        </p:txBody>
      </p:sp>
      <p:sp>
        <p:nvSpPr>
          <p:cNvPr id="7" name="テキスト ボックス 6">
            <a:extLst>
              <a:ext uri="{FF2B5EF4-FFF2-40B4-BE49-F238E27FC236}">
                <a16:creationId xmlns:a16="http://schemas.microsoft.com/office/drawing/2014/main" id="{05D9EBCB-6E23-614D-8A52-A4F5C2CE21D6}"/>
              </a:ext>
            </a:extLst>
          </p:cNvPr>
          <p:cNvSpPr txBox="1"/>
          <p:nvPr/>
        </p:nvSpPr>
        <p:spPr>
          <a:xfrm>
            <a:off x="5105400" y="1155700"/>
            <a:ext cx="66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重要度</a:t>
            </a:r>
          </a:p>
        </p:txBody>
      </p:sp>
      <p:sp>
        <p:nvSpPr>
          <p:cNvPr id="8" name="テキスト ボックス 7">
            <a:extLst>
              <a:ext uri="{FF2B5EF4-FFF2-40B4-BE49-F238E27FC236}">
                <a16:creationId xmlns:a16="http://schemas.microsoft.com/office/drawing/2014/main" id="{DB998B41-3A6E-5E4E-AC7D-DBFBD32F32F1}"/>
              </a:ext>
            </a:extLst>
          </p:cNvPr>
          <p:cNvSpPr txBox="1"/>
          <p:nvPr/>
        </p:nvSpPr>
        <p:spPr>
          <a:xfrm>
            <a:off x="5943600" y="1155700"/>
            <a:ext cx="787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状態</a:t>
            </a:r>
          </a:p>
        </p:txBody>
      </p:sp>
      <p:sp>
        <p:nvSpPr>
          <p:cNvPr id="9" name="テキスト ボックス 8">
            <a:extLst>
              <a:ext uri="{FF2B5EF4-FFF2-40B4-BE49-F238E27FC236}">
                <a16:creationId xmlns:a16="http://schemas.microsoft.com/office/drawing/2014/main" id="{BA082500-7CCE-2C48-AD66-2E773A7C3B2D}"/>
              </a:ext>
            </a:extLst>
          </p:cNvPr>
          <p:cNvSpPr txBox="1"/>
          <p:nvPr/>
        </p:nvSpPr>
        <p:spPr>
          <a:xfrm>
            <a:off x="6908800" y="1155700"/>
            <a:ext cx="43942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現在の内容／未確定の理由</a:t>
            </a:r>
          </a:p>
        </p:txBody>
      </p:sp>
      <p:sp>
        <p:nvSpPr>
          <p:cNvPr id="10" name="正方形/長方形 9">
            <a:extLst>
              <a:ext uri="{FF2B5EF4-FFF2-40B4-BE49-F238E27FC236}">
                <a16:creationId xmlns:a16="http://schemas.microsoft.com/office/drawing/2014/main" id="{C40EE54F-EE54-8648-AA05-4C8FDA3FE214}"/>
              </a:ext>
            </a:extLst>
          </p:cNvPr>
          <p:cNvSpPr/>
          <p:nvPr/>
        </p:nvSpPr>
        <p:spPr>
          <a:xfrm>
            <a:off x="812800" y="189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テキスト ボックス 10">
            <a:extLst>
              <a:ext uri="{FF2B5EF4-FFF2-40B4-BE49-F238E27FC236}">
                <a16:creationId xmlns:a16="http://schemas.microsoft.com/office/drawing/2014/main" id="{1E305DB6-E279-EC4A-AFB8-E08DE331A58F}"/>
              </a:ext>
            </a:extLst>
          </p:cNvPr>
          <p:cNvSpPr txBox="1"/>
          <p:nvPr/>
        </p:nvSpPr>
        <p:spPr>
          <a:xfrm>
            <a:off x="914400" y="1549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今の認証システムから利用者情報をどう移すか。件数と期間</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2" name="テキスト ボックス 11">
            <a:extLst>
              <a:ext uri="{FF2B5EF4-FFF2-40B4-BE49-F238E27FC236}">
                <a16:creationId xmlns:a16="http://schemas.microsoft.com/office/drawing/2014/main" id="{3C6E6F86-292F-8A4A-972E-E26F79B4809D}"/>
              </a:ext>
            </a:extLst>
          </p:cNvPr>
          <p:cNvSpPr txBox="1"/>
          <p:nvPr/>
        </p:nvSpPr>
        <p:spPr>
          <a:xfrm>
            <a:off x="5105400" y="1549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3" name="角丸四角形 12">
            <a:extLst>
              <a:ext uri="{FF2B5EF4-FFF2-40B4-BE49-F238E27FC236}">
                <a16:creationId xmlns:a16="http://schemas.microsoft.com/office/drawing/2014/main" id="{D2A1EE23-3F3D-244D-910F-525693B09B85}"/>
              </a:ext>
            </a:extLst>
          </p:cNvPr>
          <p:cNvSpPr/>
          <p:nvPr/>
        </p:nvSpPr>
        <p:spPr>
          <a:xfrm>
            <a:off x="5943600" y="1524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14" name="テキスト ボックス 13">
            <a:extLst>
              <a:ext uri="{FF2B5EF4-FFF2-40B4-BE49-F238E27FC236}">
                <a16:creationId xmlns:a16="http://schemas.microsoft.com/office/drawing/2014/main" id="{F9AE5489-8E97-464B-BA3F-F2D4C1D35064}"/>
              </a:ext>
            </a:extLst>
          </p:cNvPr>
          <p:cNvSpPr txBox="1"/>
          <p:nvPr/>
        </p:nvSpPr>
        <p:spPr>
          <a:xfrm>
            <a:off x="6908800" y="1549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Realm Import/SPI</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基本設計は移行</a:t>
            </a:r>
            <a:r>
              <a:rPr lang="en-US" altLang="ja-JP" sz="1100">
                <a:solidFill>
                  <a:srgbClr val="5A6472"/>
                </a:solidFill>
                <a:latin typeface="Yu Gothic UI"/>
                <a:ea typeface="Yu Gothic UI"/>
              </a:rPr>
              <a:t>4</a:t>
            </a:r>
            <a:r>
              <a:rPr lang="ja-JP" altLang="en-US" sz="1100">
                <a:solidFill>
                  <a:srgbClr val="5A6472"/>
                </a:solidFill>
                <a:latin typeface="Yu Gothic UI"/>
                <a:ea typeface="Yu Gothic UI"/>
              </a:rPr>
              <a:t>集団を定義</a:t>
            </a:r>
          </a:p>
        </p:txBody>
      </p:sp>
      <p:sp>
        <p:nvSpPr>
          <p:cNvPr id="15" name="正方形/長方形 14">
            <a:extLst>
              <a:ext uri="{FF2B5EF4-FFF2-40B4-BE49-F238E27FC236}">
                <a16:creationId xmlns:a16="http://schemas.microsoft.com/office/drawing/2014/main" id="{064FF1F0-68BD-514D-A7F2-117A37F74F42}"/>
              </a:ext>
            </a:extLst>
          </p:cNvPr>
          <p:cNvSpPr/>
          <p:nvPr/>
        </p:nvSpPr>
        <p:spPr>
          <a:xfrm>
            <a:off x="812800" y="1905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8E400D1F-8C14-4146-993B-3D3EE3DBCB75}"/>
              </a:ext>
            </a:extLst>
          </p:cNvPr>
          <p:cNvSpPr/>
          <p:nvPr/>
        </p:nvSpPr>
        <p:spPr>
          <a:xfrm>
            <a:off x="812800" y="240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3CD9C256-52F0-E74D-A320-B7760721EEA0}"/>
              </a:ext>
            </a:extLst>
          </p:cNvPr>
          <p:cNvSpPr txBox="1"/>
          <p:nvPr/>
        </p:nvSpPr>
        <p:spPr>
          <a:xfrm>
            <a:off x="914400" y="2057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パスワードを再設定させずに引き継げるか。無理な場合、利</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18" name="テキスト ボックス 17">
            <a:extLst>
              <a:ext uri="{FF2B5EF4-FFF2-40B4-BE49-F238E27FC236}">
                <a16:creationId xmlns:a16="http://schemas.microsoft.com/office/drawing/2014/main" id="{869587F1-A2B7-D34E-B58E-48E35ED0407E}"/>
              </a:ext>
            </a:extLst>
          </p:cNvPr>
          <p:cNvSpPr txBox="1"/>
          <p:nvPr/>
        </p:nvSpPr>
        <p:spPr>
          <a:xfrm>
            <a:off x="5105400" y="2057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19" name="角丸四角形 18">
            <a:extLst>
              <a:ext uri="{FF2B5EF4-FFF2-40B4-BE49-F238E27FC236}">
                <a16:creationId xmlns:a16="http://schemas.microsoft.com/office/drawing/2014/main" id="{AD24CF8D-38D8-714A-94E8-027FF31C9757}"/>
              </a:ext>
            </a:extLst>
          </p:cNvPr>
          <p:cNvSpPr/>
          <p:nvPr/>
        </p:nvSpPr>
        <p:spPr>
          <a:xfrm>
            <a:off x="5943600" y="2032000"/>
            <a:ext cx="736600" cy="215900"/>
          </a:xfrm>
          <a:prstGeom prst="roundRect">
            <a:avLst/>
          </a:prstGeom>
          <a:solidFill>
            <a:srgbClr val="2E5FA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外部待ち</a:t>
            </a:r>
          </a:p>
        </p:txBody>
      </p:sp>
      <p:sp>
        <p:nvSpPr>
          <p:cNvPr id="20" name="テキスト ボックス 19">
            <a:extLst>
              <a:ext uri="{FF2B5EF4-FFF2-40B4-BE49-F238E27FC236}">
                <a16:creationId xmlns:a16="http://schemas.microsoft.com/office/drawing/2014/main" id="{005A0959-ACD4-7F41-AA81-161AD991BCCF}"/>
              </a:ext>
            </a:extLst>
          </p:cNvPr>
          <p:cNvSpPr txBox="1"/>
          <p:nvPr/>
        </p:nvSpPr>
        <p:spPr>
          <a:xfrm>
            <a:off x="6908800" y="2057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(TBD)</a:t>
            </a:r>
            <a:r>
              <a:rPr lang="ja-JP" altLang="en" sz="1100">
                <a:solidFill>
                  <a:srgbClr val="5A6472"/>
                </a:solidFill>
                <a:latin typeface="Yu Gothic UI"/>
                <a:ea typeface="Yu Gothic UI"/>
              </a:rPr>
              <a:t>｜ </a:t>
            </a:r>
            <a:r>
              <a:rPr lang="en" altLang="ja-JP" sz="1100">
                <a:solidFill>
                  <a:srgbClr val="5A6472"/>
                </a:solidFill>
                <a:latin typeface="Yu Gothic UI"/>
                <a:ea typeface="Yu Gothic UI"/>
              </a:rPr>
              <a:t>Custom Hash Provider</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基本設計で</a:t>
            </a:r>
            <a:r>
              <a:rPr lang="en" altLang="ja-JP" sz="1100">
                <a:solidFill>
                  <a:srgbClr val="5A6472"/>
                </a:solidFill>
                <a:latin typeface="Yu Gothic UI"/>
                <a:ea typeface="Yu Gothic UI"/>
              </a:rPr>
              <a:t>PW</a:t>
            </a:r>
            <a:r>
              <a:rPr lang="ja-JP" altLang="en-US" sz="1100">
                <a:solidFill>
                  <a:srgbClr val="5A6472"/>
                </a:solidFill>
                <a:latin typeface="Yu Gothic UI"/>
                <a:ea typeface="Yu Gothic UI"/>
              </a:rPr>
              <a:t>ハッシュ判定を</a:t>
            </a:r>
            <a:r>
              <a:rPr lang="en-US" altLang="ja-JP" sz="1100">
                <a:solidFill>
                  <a:srgbClr val="5A6472"/>
                </a:solidFill>
                <a:latin typeface="Yu Gothic UI"/>
                <a:ea typeface="Yu Gothic UI"/>
              </a:rPr>
              <a:t>…</a:t>
            </a:r>
            <a:endParaRPr lang="ja-JP" altLang="en-US" sz="1100">
              <a:solidFill>
                <a:srgbClr val="5A6472"/>
              </a:solidFill>
              <a:latin typeface="Yu Gothic UI"/>
              <a:ea typeface="Yu Gothic UI"/>
            </a:endParaRPr>
          </a:p>
        </p:txBody>
      </p:sp>
      <p:sp>
        <p:nvSpPr>
          <p:cNvPr id="21" name="正方形/長方形 20">
            <a:extLst>
              <a:ext uri="{FF2B5EF4-FFF2-40B4-BE49-F238E27FC236}">
                <a16:creationId xmlns:a16="http://schemas.microsoft.com/office/drawing/2014/main" id="{018694A6-7FA8-CF4D-8074-64930F5CF2C4}"/>
              </a:ext>
            </a:extLst>
          </p:cNvPr>
          <p:cNvSpPr/>
          <p:nvPr/>
        </p:nvSpPr>
        <p:spPr>
          <a:xfrm>
            <a:off x="812800" y="2908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テキスト ボックス 21">
            <a:extLst>
              <a:ext uri="{FF2B5EF4-FFF2-40B4-BE49-F238E27FC236}">
                <a16:creationId xmlns:a16="http://schemas.microsoft.com/office/drawing/2014/main" id="{58698E19-53C1-F948-AD32-1A168D7FC098}"/>
              </a:ext>
            </a:extLst>
          </p:cNvPr>
          <p:cNvSpPr txBox="1"/>
          <p:nvPr/>
        </p:nvSpPr>
        <p:spPr>
          <a:xfrm>
            <a:off x="914400" y="2565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将来ほかの製品に乗り換えられる状態を、どこまで保つか</a:t>
            </a:r>
          </a:p>
        </p:txBody>
      </p:sp>
      <p:sp>
        <p:nvSpPr>
          <p:cNvPr id="23" name="テキスト ボックス 22">
            <a:extLst>
              <a:ext uri="{FF2B5EF4-FFF2-40B4-BE49-F238E27FC236}">
                <a16:creationId xmlns:a16="http://schemas.microsoft.com/office/drawing/2014/main" id="{0719F67B-95AC-8940-9CDD-4390A7A05914}"/>
              </a:ext>
            </a:extLst>
          </p:cNvPr>
          <p:cNvSpPr txBox="1"/>
          <p:nvPr/>
        </p:nvSpPr>
        <p:spPr>
          <a:xfrm>
            <a:off x="5105400" y="2565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24" name="角丸四角形 23">
            <a:extLst>
              <a:ext uri="{FF2B5EF4-FFF2-40B4-BE49-F238E27FC236}">
                <a16:creationId xmlns:a16="http://schemas.microsoft.com/office/drawing/2014/main" id="{490DEA83-41BE-A24C-8B65-4D4A8609B6A8}"/>
              </a:ext>
            </a:extLst>
          </p:cNvPr>
          <p:cNvSpPr/>
          <p:nvPr/>
        </p:nvSpPr>
        <p:spPr>
          <a:xfrm>
            <a:off x="5943600" y="2540000"/>
            <a:ext cx="736600" cy="215900"/>
          </a:xfrm>
          <a:prstGeom prst="round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確定</a:t>
            </a:r>
          </a:p>
        </p:txBody>
      </p:sp>
      <p:sp>
        <p:nvSpPr>
          <p:cNvPr id="25" name="テキスト ボックス 24">
            <a:extLst>
              <a:ext uri="{FF2B5EF4-FFF2-40B4-BE49-F238E27FC236}">
                <a16:creationId xmlns:a16="http://schemas.microsoft.com/office/drawing/2014/main" id="{E47F93A9-B655-D941-B749-B73C2178943C}"/>
              </a:ext>
            </a:extLst>
          </p:cNvPr>
          <p:cNvSpPr txBox="1"/>
          <p:nvPr/>
        </p:nvSpPr>
        <p:spPr>
          <a:xfrm>
            <a:off x="6908800" y="2565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(D)OIDC</a:t>
            </a:r>
            <a:r>
              <a:rPr lang="ja-JP" altLang="en-US" sz="1100">
                <a:solidFill>
                  <a:srgbClr val="5A6472"/>
                </a:solidFill>
                <a:latin typeface="Yu Gothic UI"/>
                <a:ea typeface="Yu Gothic UI"/>
              </a:rPr>
              <a:t>標準準拠｜ </a:t>
            </a:r>
            <a:r>
              <a:rPr lang="en" altLang="ja-JP" sz="1100">
                <a:solidFill>
                  <a:srgbClr val="5A6472"/>
                </a:solidFill>
                <a:latin typeface="Yu Gothic UI"/>
                <a:ea typeface="Yu Gothic UI"/>
              </a:rPr>
              <a:t>OSS</a:t>
            </a:r>
            <a:r>
              <a:rPr lang="ja-JP" altLang="en" sz="1100">
                <a:solidFill>
                  <a:srgbClr val="5A6472"/>
                </a:solidFill>
                <a:latin typeface="Yu Gothic UI"/>
                <a:ea typeface="Yu Gothic UI"/>
              </a:rPr>
              <a:t>・</a:t>
            </a:r>
            <a:r>
              <a:rPr lang="ja-JP" altLang="en-US" sz="1100">
                <a:solidFill>
                  <a:srgbClr val="5A6472"/>
                </a:solidFill>
                <a:latin typeface="Yu Gothic UI"/>
                <a:ea typeface="Yu Gothic UI"/>
              </a:rPr>
              <a:t>移行可能</a:t>
            </a:r>
          </a:p>
        </p:txBody>
      </p:sp>
      <p:sp>
        <p:nvSpPr>
          <p:cNvPr id="26" name="正方形/長方形 25">
            <a:extLst>
              <a:ext uri="{FF2B5EF4-FFF2-40B4-BE49-F238E27FC236}">
                <a16:creationId xmlns:a16="http://schemas.microsoft.com/office/drawing/2014/main" id="{C58683E5-D104-7144-A647-3BE5EFD510C9}"/>
              </a:ext>
            </a:extLst>
          </p:cNvPr>
          <p:cNvSpPr/>
          <p:nvPr/>
        </p:nvSpPr>
        <p:spPr>
          <a:xfrm>
            <a:off x="812800" y="2921000"/>
            <a:ext cx="10566400" cy="5080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正方形/長方形 26">
            <a:extLst>
              <a:ext uri="{FF2B5EF4-FFF2-40B4-BE49-F238E27FC236}">
                <a16:creationId xmlns:a16="http://schemas.microsoft.com/office/drawing/2014/main" id="{9E308D41-5C43-5D40-9A7A-D14221268F9C}"/>
              </a:ext>
            </a:extLst>
          </p:cNvPr>
          <p:cNvSpPr/>
          <p:nvPr/>
        </p:nvSpPr>
        <p:spPr>
          <a:xfrm>
            <a:off x="812800" y="3416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8" name="テキスト ボックス 27">
            <a:extLst>
              <a:ext uri="{FF2B5EF4-FFF2-40B4-BE49-F238E27FC236}">
                <a16:creationId xmlns:a16="http://schemas.microsoft.com/office/drawing/2014/main" id="{C658E98F-05D4-B843-9B77-160DB84F06E9}"/>
              </a:ext>
            </a:extLst>
          </p:cNvPr>
          <p:cNvSpPr txBox="1"/>
          <p:nvPr/>
        </p:nvSpPr>
        <p:spPr>
          <a:xfrm>
            <a:off x="914400" y="3073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自分たちのデータをいつでも取り出せる手段を用意するか</a:t>
            </a:r>
          </a:p>
        </p:txBody>
      </p:sp>
      <p:sp>
        <p:nvSpPr>
          <p:cNvPr id="29" name="テキスト ボックス 28">
            <a:extLst>
              <a:ext uri="{FF2B5EF4-FFF2-40B4-BE49-F238E27FC236}">
                <a16:creationId xmlns:a16="http://schemas.microsoft.com/office/drawing/2014/main" id="{69C6F9AD-710B-5240-873C-A64A01D26D1A}"/>
              </a:ext>
            </a:extLst>
          </p:cNvPr>
          <p:cNvSpPr txBox="1"/>
          <p:nvPr/>
        </p:nvSpPr>
        <p:spPr>
          <a:xfrm>
            <a:off x="5105400" y="3073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0" name="角丸四角形 29">
            <a:extLst>
              <a:ext uri="{FF2B5EF4-FFF2-40B4-BE49-F238E27FC236}">
                <a16:creationId xmlns:a16="http://schemas.microsoft.com/office/drawing/2014/main" id="{2EAA4E6E-C3B1-D847-8A15-D75680B3116B}"/>
              </a:ext>
            </a:extLst>
          </p:cNvPr>
          <p:cNvSpPr/>
          <p:nvPr/>
        </p:nvSpPr>
        <p:spPr>
          <a:xfrm>
            <a:off x="5943600" y="3048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1" name="テキスト ボックス 30">
            <a:extLst>
              <a:ext uri="{FF2B5EF4-FFF2-40B4-BE49-F238E27FC236}">
                <a16:creationId xmlns:a16="http://schemas.microsoft.com/office/drawing/2014/main" id="{35100F76-EB9C-9641-8423-AF500F18B247}"/>
              </a:ext>
            </a:extLst>
          </p:cNvPr>
          <p:cNvSpPr txBox="1"/>
          <p:nvPr/>
        </p:nvSpPr>
        <p:spPr>
          <a:xfrm>
            <a:off x="6908800" y="3073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必要時に可能｜ </a:t>
            </a:r>
            <a:r>
              <a:rPr lang="en" altLang="ja-JP" sz="1100">
                <a:solidFill>
                  <a:srgbClr val="5A6472"/>
                </a:solidFill>
                <a:latin typeface="Yu Gothic UI"/>
                <a:ea typeface="Yu Gothic UI"/>
              </a:rPr>
              <a:t>Realm Export</a:t>
            </a:r>
            <a:r>
              <a:rPr lang="ja-JP" altLang="en" sz="1100">
                <a:solidFill>
                  <a:srgbClr val="5A6472"/>
                </a:solidFill>
                <a:latin typeface="Yu Gothic UI"/>
                <a:ea typeface="Yu Gothic UI"/>
              </a:rPr>
              <a:t>（</a:t>
            </a:r>
            <a:r>
              <a:rPr lang="en" altLang="ja-JP" sz="1100">
                <a:solidFill>
                  <a:srgbClr val="5A6472"/>
                </a:solidFill>
                <a:latin typeface="Yu Gothic UI"/>
                <a:ea typeface="Yu Gothic UI"/>
              </a:rPr>
              <a:t>※</a:t>
            </a:r>
            <a:r>
              <a:rPr lang="ja-JP" altLang="en-US" sz="1100">
                <a:solidFill>
                  <a:srgbClr val="5A6472"/>
                </a:solidFill>
                <a:latin typeface="Yu Gothic UI"/>
                <a:ea typeface="Yu Gothic UI"/>
              </a:rPr>
              <a:t>基本設計で</a:t>
            </a:r>
            <a:r>
              <a:rPr lang="en" altLang="ja-JP" sz="1100">
                <a:solidFill>
                  <a:srgbClr val="5A6472"/>
                </a:solidFill>
                <a:latin typeface="Yu Gothic UI"/>
                <a:ea typeface="Yu Gothic UI"/>
              </a:rPr>
              <a:t>Realm Export…</a:t>
            </a:r>
            <a:endParaRPr lang="ja-JP" altLang="en-US" sz="1100">
              <a:solidFill>
                <a:srgbClr val="5A6472"/>
              </a:solidFill>
              <a:latin typeface="Yu Gothic UI"/>
              <a:ea typeface="Yu Gothic UI"/>
            </a:endParaRPr>
          </a:p>
        </p:txBody>
      </p:sp>
      <p:sp>
        <p:nvSpPr>
          <p:cNvPr id="32" name="正方形/長方形 31">
            <a:extLst>
              <a:ext uri="{FF2B5EF4-FFF2-40B4-BE49-F238E27FC236}">
                <a16:creationId xmlns:a16="http://schemas.microsoft.com/office/drawing/2014/main" id="{0D9EEE45-A486-F24A-AA7F-3B7B8A4FCD66}"/>
              </a:ext>
            </a:extLst>
          </p:cNvPr>
          <p:cNvSpPr/>
          <p:nvPr/>
        </p:nvSpPr>
        <p:spPr>
          <a:xfrm>
            <a:off x="812800" y="392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9BCA8A99-4E61-1E45-A5DD-C0C8D572EE4D}"/>
              </a:ext>
            </a:extLst>
          </p:cNvPr>
          <p:cNvSpPr txBox="1"/>
          <p:nvPr/>
        </p:nvSpPr>
        <p:spPr>
          <a:xfrm>
            <a:off x="914400" y="3581400"/>
            <a:ext cx="3987800" cy="2540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新旧を並行稼働させて少しずつ移すか。並行期間をどれだけ</a:t>
            </a:r>
            <a:r>
              <a:rPr lang="en-US" altLang="ja-JP" sz="1100" b="1">
                <a:solidFill>
                  <a:srgbClr val="1D2125"/>
                </a:solidFill>
                <a:latin typeface="Yu Gothic UI"/>
                <a:ea typeface="Yu Gothic UI"/>
              </a:rPr>
              <a:t>…</a:t>
            </a:r>
            <a:endParaRPr lang="ja-JP" altLang="en-US" sz="1100" b="1">
              <a:solidFill>
                <a:srgbClr val="1D2125"/>
              </a:solidFill>
              <a:latin typeface="Yu Gothic UI"/>
              <a:ea typeface="Yu Gothic UI"/>
            </a:endParaRPr>
          </a:p>
        </p:txBody>
      </p:sp>
      <p:sp>
        <p:nvSpPr>
          <p:cNvPr id="34" name="テキスト ボックス 33">
            <a:extLst>
              <a:ext uri="{FF2B5EF4-FFF2-40B4-BE49-F238E27FC236}">
                <a16:creationId xmlns:a16="http://schemas.microsoft.com/office/drawing/2014/main" id="{A7E492CA-7270-0549-B526-1EC1989ABEA1}"/>
              </a:ext>
            </a:extLst>
          </p:cNvPr>
          <p:cNvSpPr txBox="1"/>
          <p:nvPr/>
        </p:nvSpPr>
        <p:spPr>
          <a:xfrm>
            <a:off x="5105400" y="3581400"/>
            <a:ext cx="635000" cy="203200"/>
          </a:xfrm>
          <a:prstGeom prst="rect">
            <a:avLst/>
          </a:prstGeom>
          <a:noFill/>
        </p:spPr>
        <p:txBody>
          <a:bodyPr vertOverflow="overflow" vert="horz" wrap="square" rtlCol="0" anchor="t" anchorCtr="0">
            <a:noAutofit/>
          </a:bodyPr>
          <a:lstStyle/>
          <a:p>
            <a:pPr algn="l"/>
            <a:r>
              <a:rPr lang="en-US" altLang="ja-JP" sz="1100" b="1">
                <a:solidFill>
                  <a:srgbClr val="9AA0A6"/>
                </a:solidFill>
                <a:latin typeface="Yu Gothic UI"/>
                <a:ea typeface="Yu Gothic UI"/>
              </a:rPr>
              <a:t>—</a:t>
            </a:r>
            <a:endParaRPr lang="ja-JP" altLang="en-US" sz="1100" b="1">
              <a:solidFill>
                <a:srgbClr val="9AA0A6"/>
              </a:solidFill>
              <a:latin typeface="Yu Gothic UI"/>
              <a:ea typeface="Yu Gothic UI"/>
            </a:endParaRPr>
          </a:p>
        </p:txBody>
      </p:sp>
      <p:sp>
        <p:nvSpPr>
          <p:cNvPr id="35" name="角丸四角形 34">
            <a:extLst>
              <a:ext uri="{FF2B5EF4-FFF2-40B4-BE49-F238E27FC236}">
                <a16:creationId xmlns:a16="http://schemas.microsoft.com/office/drawing/2014/main" id="{2739AB51-A821-0C45-979B-33A65051E576}"/>
              </a:ext>
            </a:extLst>
          </p:cNvPr>
          <p:cNvSpPr/>
          <p:nvPr/>
        </p:nvSpPr>
        <p:spPr>
          <a:xfrm>
            <a:off x="5943600" y="3556000"/>
            <a:ext cx="736600" cy="215900"/>
          </a:xfrm>
          <a:prstGeom prst="roundRect">
            <a:avLst/>
          </a:prstGeom>
          <a:solidFill>
            <a:srgbClr val="0F766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ja-JP" altLang="en-US" sz="900" b="1">
                <a:solidFill>
                  <a:srgbClr val="FFFFFF"/>
                </a:solidFill>
                <a:latin typeface="Yu Gothic UI"/>
                <a:ea typeface="Yu Gothic UI"/>
              </a:rPr>
              <a:t>方向性</a:t>
            </a:r>
          </a:p>
        </p:txBody>
      </p:sp>
      <p:sp>
        <p:nvSpPr>
          <p:cNvPr id="36" name="テキスト ボックス 35">
            <a:extLst>
              <a:ext uri="{FF2B5EF4-FFF2-40B4-BE49-F238E27FC236}">
                <a16:creationId xmlns:a16="http://schemas.microsoft.com/office/drawing/2014/main" id="{1D597446-BD37-9B40-8AE6-4D334C8D5AFF}"/>
              </a:ext>
            </a:extLst>
          </p:cNvPr>
          <p:cNvSpPr txBox="1"/>
          <p:nvPr/>
        </p:nvSpPr>
        <p:spPr>
          <a:xfrm>
            <a:off x="6908800" y="3581400"/>
            <a:ext cx="4368800" cy="254000"/>
          </a:xfrm>
          <a:prstGeom prst="rect">
            <a:avLst/>
          </a:prstGeom>
          <a:noFill/>
        </p:spPr>
        <p:txBody>
          <a:bodyPr vertOverflow="overflow" vert="horz" wrap="square" rtlCol="0" anchor="t" anchorCtr="0">
            <a:noAutofit/>
          </a:bodyPr>
          <a:lstStyle/>
          <a:p>
            <a:pPr algn="l"/>
            <a:r>
              <a:rPr lang="en" altLang="ja-JP" sz="1100">
                <a:solidFill>
                  <a:srgbClr val="5A6472"/>
                </a:solidFill>
                <a:latin typeface="Yu Gothic UI"/>
                <a:ea typeface="Yu Gothic UI"/>
              </a:rPr>
              <a:t>(D)</a:t>
            </a:r>
            <a:r>
              <a:rPr lang="ja-JP" altLang="en-US" sz="1100">
                <a:solidFill>
                  <a:srgbClr val="5A6472"/>
                </a:solidFill>
                <a:latin typeface="Yu Gothic UI"/>
                <a:ea typeface="Yu Gothic UI"/>
              </a:rPr>
              <a:t>可能｜両者対応。基本設計は</a:t>
            </a:r>
            <a:r>
              <a:rPr lang="en" altLang="ja-JP" sz="1100">
                <a:solidFill>
                  <a:srgbClr val="5A6472"/>
                </a:solidFill>
                <a:latin typeface="Yu Gothic UI"/>
                <a:ea typeface="Yu Gothic UI"/>
              </a:rPr>
              <a:t>ServiceNow</a:t>
            </a:r>
            <a:r>
              <a:rPr lang="ja-JP" altLang="en-US" sz="1100">
                <a:solidFill>
                  <a:srgbClr val="5A6472"/>
                </a:solidFill>
                <a:latin typeface="Yu Gothic UI"/>
                <a:ea typeface="Yu Gothic UI"/>
              </a:rPr>
              <a:t>並走</a:t>
            </a:r>
            <a:r>
              <a:rPr lang="en-US" altLang="ja-JP" sz="1100">
                <a:solidFill>
                  <a:srgbClr val="5A6472"/>
                </a:solidFill>
                <a:latin typeface="Yu Gothic UI"/>
                <a:ea typeface="Yu Gothic UI"/>
              </a:rPr>
              <a:t>4</a:t>
            </a:r>
            <a:r>
              <a:rPr lang="en" altLang="ja-JP" sz="1100">
                <a:solidFill>
                  <a:srgbClr val="5A6472"/>
                </a:solidFill>
                <a:latin typeface="Yu Gothic UI"/>
                <a:ea typeface="Yu Gothic UI"/>
              </a:rPr>
              <a:t>Phase</a:t>
            </a:r>
            <a:endParaRPr lang="ja-JP" altLang="en-US" sz="1100">
              <a:solidFill>
                <a:srgbClr val="5A6472"/>
              </a:solidFill>
              <a:latin typeface="Yu Gothic UI"/>
              <a:ea typeface="Yu Gothic UI"/>
            </a:endParaRPr>
          </a:p>
        </p:txBody>
      </p:sp>
    </p:spTree>
    <p:extLst>
      <p:ext uri="{BB962C8B-B14F-4D97-AF65-F5344CB8AC3E}">
        <p14:creationId xmlns:p14="http://schemas.microsoft.com/office/powerpoint/2010/main" val="3435699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正方形/長方形 124">
            <a:extLst>
              <a:ext uri="{FF2B5EF4-FFF2-40B4-BE49-F238E27FC236}">
                <a16:creationId xmlns:a16="http://schemas.microsoft.com/office/drawing/2014/main" id="{4F4AAEFB-4F3B-6F48-809B-D1BBE5A8182C}"/>
              </a:ext>
            </a:extLst>
          </p:cNvPr>
          <p:cNvSpPr/>
          <p:nvPr/>
        </p:nvSpPr>
        <p:spPr>
          <a:xfrm>
            <a:off x="0" y="0"/>
            <a:ext cx="114300" cy="7620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6" name="テキスト ボックス 125">
            <a:extLst>
              <a:ext uri="{FF2B5EF4-FFF2-40B4-BE49-F238E27FC236}">
                <a16:creationId xmlns:a16="http://schemas.microsoft.com/office/drawing/2014/main" id="{E38A6D02-91BE-F546-89F4-839EA6EF5AFB}"/>
              </a:ext>
            </a:extLst>
          </p:cNvPr>
          <p:cNvSpPr txBox="1"/>
          <p:nvPr/>
        </p:nvSpPr>
        <p:spPr>
          <a:xfrm>
            <a:off x="812800" y="228600"/>
            <a:ext cx="8128000" cy="381000"/>
          </a:xfrm>
          <a:prstGeom prst="rect">
            <a:avLst/>
          </a:prstGeom>
          <a:noFill/>
        </p:spPr>
        <p:txBody>
          <a:bodyPr vertOverflow="overflow" vert="horz" wrap="square" rtlCol="0" anchor="t" anchorCtr="0">
            <a:noAutofit/>
          </a:bodyPr>
          <a:lstStyle/>
          <a:p>
            <a:pPr algn="l"/>
            <a:r>
              <a:rPr lang="ja-JP" altLang="en-US" sz="2300" b="1">
                <a:solidFill>
                  <a:srgbClr val="1F3864"/>
                </a:solidFill>
                <a:latin typeface="Yu Gothic UI"/>
                <a:ea typeface="Yu Gothic UI"/>
              </a:rPr>
              <a:t>要件の棚卸し　全体サマリ</a:t>
            </a:r>
          </a:p>
        </p:txBody>
      </p:sp>
      <p:sp>
        <p:nvSpPr>
          <p:cNvPr id="127" name="テキスト ボックス 126">
            <a:extLst>
              <a:ext uri="{FF2B5EF4-FFF2-40B4-BE49-F238E27FC236}">
                <a16:creationId xmlns:a16="http://schemas.microsoft.com/office/drawing/2014/main" id="{848DC6B7-D391-AB44-9567-1032E80C8311}"/>
              </a:ext>
            </a:extLst>
          </p:cNvPr>
          <p:cNvSpPr txBox="1"/>
          <p:nvPr/>
        </p:nvSpPr>
        <p:spPr>
          <a:xfrm>
            <a:off x="9702800" y="304800"/>
            <a:ext cx="1676400" cy="279400"/>
          </a:xfrm>
          <a:prstGeom prst="rect">
            <a:avLst/>
          </a:prstGeom>
          <a:noFill/>
        </p:spPr>
        <p:txBody>
          <a:bodyPr vertOverflow="overflow" vert="horz" wrap="square" rtlCol="0" anchor="t" anchorCtr="0">
            <a:noAutofit/>
          </a:bodyPr>
          <a:lstStyle/>
          <a:p>
            <a:pPr algn="l"/>
            <a:r>
              <a:rPr lang="ja-JP" altLang="en-US" sz="1300" b="1">
                <a:solidFill>
                  <a:srgbClr val="5A6472"/>
                </a:solidFill>
                <a:latin typeface="Yu Gothic UI"/>
                <a:ea typeface="Yu Gothic UI"/>
              </a:rPr>
              <a:t>要件 </a:t>
            </a:r>
            <a:r>
              <a:rPr lang="en-US" altLang="ja-JP" sz="1300" b="1">
                <a:solidFill>
                  <a:srgbClr val="5A6472"/>
                </a:solidFill>
                <a:latin typeface="Yu Gothic UI"/>
                <a:ea typeface="Yu Gothic UI"/>
              </a:rPr>
              <a:t>179 </a:t>
            </a:r>
            <a:r>
              <a:rPr lang="ja-JP" altLang="en-US" sz="1300" b="1">
                <a:solidFill>
                  <a:srgbClr val="5A6472"/>
                </a:solidFill>
                <a:latin typeface="Yu Gothic UI"/>
                <a:ea typeface="Yu Gothic UI"/>
              </a:rPr>
              <a:t>件</a:t>
            </a:r>
          </a:p>
        </p:txBody>
      </p:sp>
      <p:sp>
        <p:nvSpPr>
          <p:cNvPr id="128" name="テキスト ボックス 127">
            <a:extLst>
              <a:ext uri="{FF2B5EF4-FFF2-40B4-BE49-F238E27FC236}">
                <a16:creationId xmlns:a16="http://schemas.microsoft.com/office/drawing/2014/main" id="{4A34004A-A0DB-CC44-BAD1-682A7B6DCF8D}"/>
              </a:ext>
            </a:extLst>
          </p:cNvPr>
          <p:cNvSpPr txBox="1"/>
          <p:nvPr/>
        </p:nvSpPr>
        <p:spPr>
          <a:xfrm>
            <a:off x="812800" y="635000"/>
            <a:ext cx="10566400" cy="228600"/>
          </a:xfrm>
          <a:prstGeom prst="rect">
            <a:avLst/>
          </a:prstGeom>
          <a:noFill/>
        </p:spPr>
        <p:txBody>
          <a:bodyPr vertOverflow="overflow" vert="horz" wrap="square" rtlCol="0" anchor="t" anchorCtr="0">
            <a:noAutofit/>
          </a:bodyPr>
          <a:lstStyle/>
          <a:p>
            <a:pPr algn="l"/>
            <a:r>
              <a:rPr lang="en-US" altLang="ja-JP" sz="1200">
                <a:solidFill>
                  <a:srgbClr val="5A6472"/>
                </a:solidFill>
                <a:latin typeface="Yu Gothic UI"/>
                <a:ea typeface="Yu Gothic UI"/>
              </a:rPr>
              <a:t>14</a:t>
            </a:r>
            <a:r>
              <a:rPr lang="ja-JP" altLang="en-US" sz="1200">
                <a:solidFill>
                  <a:srgbClr val="5A6472"/>
                </a:solidFill>
                <a:latin typeface="Yu Gothic UI"/>
                <a:ea typeface="Yu Gothic UI"/>
              </a:rPr>
              <a:t>の領域それぞれを</a:t>
            </a:r>
            <a:r>
              <a:rPr lang="en-US" altLang="ja-JP" sz="1200">
                <a:solidFill>
                  <a:srgbClr val="5A6472"/>
                </a:solidFill>
                <a:latin typeface="Yu Gothic UI"/>
                <a:ea typeface="Yu Gothic UI"/>
              </a:rPr>
              <a:t>1</a:t>
            </a:r>
            <a:r>
              <a:rPr lang="ja-JP" altLang="en-US" sz="1200">
                <a:solidFill>
                  <a:srgbClr val="5A6472"/>
                </a:solidFill>
                <a:latin typeface="Yu Gothic UI"/>
                <a:ea typeface="Yu Gothic UI"/>
              </a:rPr>
              <a:t>行にまとめたものです。領域ごとの内訳は本編の棚卸しページ、</a:t>
            </a:r>
            <a:r>
              <a:rPr lang="en-US" altLang="ja-JP" sz="1200">
                <a:solidFill>
                  <a:srgbClr val="5A6472"/>
                </a:solidFill>
                <a:latin typeface="Yu Gothic UI"/>
                <a:ea typeface="Yu Gothic UI"/>
              </a:rPr>
              <a:t>1</a:t>
            </a:r>
            <a:r>
              <a:rPr lang="ja-JP" altLang="en-US" sz="1200">
                <a:solidFill>
                  <a:srgbClr val="5A6472"/>
                </a:solidFill>
                <a:latin typeface="Yu Gothic UI"/>
                <a:ea typeface="Yu Gothic UI"/>
              </a:rPr>
              <a:t>件ずつの詳細は付録に記載しています。</a:t>
            </a:r>
          </a:p>
        </p:txBody>
      </p:sp>
      <p:sp>
        <p:nvSpPr>
          <p:cNvPr id="129" name="正方形/長方形 128">
            <a:extLst>
              <a:ext uri="{FF2B5EF4-FFF2-40B4-BE49-F238E27FC236}">
                <a16:creationId xmlns:a16="http://schemas.microsoft.com/office/drawing/2014/main" id="{4035C7E4-4C41-4E45-8057-D8AAE6A53FA8}"/>
              </a:ext>
            </a:extLst>
          </p:cNvPr>
          <p:cNvSpPr/>
          <p:nvPr/>
        </p:nvSpPr>
        <p:spPr>
          <a:xfrm>
            <a:off x="812800" y="939800"/>
            <a:ext cx="10566400" cy="304800"/>
          </a:xfrm>
          <a:prstGeom prst="rect">
            <a:avLst/>
          </a:prstGeom>
          <a:solidFill>
            <a:srgbClr val="1F386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0" name="テキスト ボックス 129">
            <a:extLst>
              <a:ext uri="{FF2B5EF4-FFF2-40B4-BE49-F238E27FC236}">
                <a16:creationId xmlns:a16="http://schemas.microsoft.com/office/drawing/2014/main" id="{9F7F0B12-B4AB-DD42-8BB8-AAB18CEE7C73}"/>
              </a:ext>
            </a:extLst>
          </p:cNvPr>
          <p:cNvSpPr txBox="1"/>
          <p:nvPr/>
        </p:nvSpPr>
        <p:spPr>
          <a:xfrm>
            <a:off x="914400" y="990600"/>
            <a:ext cx="15748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領域</a:t>
            </a:r>
          </a:p>
        </p:txBody>
      </p:sp>
      <p:sp>
        <p:nvSpPr>
          <p:cNvPr id="131" name="テキスト ボックス 130">
            <a:extLst>
              <a:ext uri="{FF2B5EF4-FFF2-40B4-BE49-F238E27FC236}">
                <a16:creationId xmlns:a16="http://schemas.microsoft.com/office/drawing/2014/main" id="{32CC096D-73B8-754B-8581-D7084F333D01}"/>
              </a:ext>
            </a:extLst>
          </p:cNvPr>
          <p:cNvSpPr txBox="1"/>
          <p:nvPr/>
        </p:nvSpPr>
        <p:spPr>
          <a:xfrm>
            <a:off x="2667000" y="990600"/>
            <a:ext cx="3556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件数</a:t>
            </a:r>
          </a:p>
        </p:txBody>
      </p:sp>
      <p:sp>
        <p:nvSpPr>
          <p:cNvPr id="132" name="テキスト ボックス 131">
            <a:extLst>
              <a:ext uri="{FF2B5EF4-FFF2-40B4-BE49-F238E27FC236}">
                <a16:creationId xmlns:a16="http://schemas.microsoft.com/office/drawing/2014/main" id="{90CC8208-FBC8-654D-AFFB-BDCB55852692}"/>
              </a:ext>
            </a:extLst>
          </p:cNvPr>
          <p:cNvSpPr txBox="1"/>
          <p:nvPr/>
        </p:nvSpPr>
        <p:spPr>
          <a:xfrm>
            <a:off x="3200400" y="990600"/>
            <a:ext cx="3454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この領域で決めること</a:t>
            </a:r>
          </a:p>
        </p:txBody>
      </p:sp>
      <p:sp>
        <p:nvSpPr>
          <p:cNvPr id="133" name="テキスト ボックス 132">
            <a:extLst>
              <a:ext uri="{FF2B5EF4-FFF2-40B4-BE49-F238E27FC236}">
                <a16:creationId xmlns:a16="http://schemas.microsoft.com/office/drawing/2014/main" id="{0F3CB69F-6AF7-BD43-96B4-342A0B73B464}"/>
              </a:ext>
            </a:extLst>
          </p:cNvPr>
          <p:cNvSpPr txBox="1"/>
          <p:nvPr/>
        </p:nvSpPr>
        <p:spPr>
          <a:xfrm>
            <a:off x="6832600" y="990600"/>
            <a:ext cx="4470400" cy="190500"/>
          </a:xfrm>
          <a:prstGeom prst="rect">
            <a:avLst/>
          </a:prstGeom>
          <a:noFill/>
        </p:spPr>
        <p:txBody>
          <a:bodyPr vertOverflow="overflow" vert="horz" wrap="square" rtlCol="0" anchor="t" anchorCtr="0">
            <a:noAutofit/>
          </a:bodyPr>
          <a:lstStyle/>
          <a:p>
            <a:pPr algn="l"/>
            <a:r>
              <a:rPr lang="ja-JP" altLang="en-US" sz="1100" b="1">
                <a:solidFill>
                  <a:srgbClr val="FFFFFF"/>
                </a:solidFill>
                <a:latin typeface="Yu Gothic UI"/>
                <a:ea typeface="Yu Gothic UI"/>
              </a:rPr>
              <a:t>決まっていること／残っていること</a:t>
            </a:r>
          </a:p>
        </p:txBody>
      </p:sp>
      <p:sp>
        <p:nvSpPr>
          <p:cNvPr id="134" name="正方形/長方形 133">
            <a:extLst>
              <a:ext uri="{FF2B5EF4-FFF2-40B4-BE49-F238E27FC236}">
                <a16:creationId xmlns:a16="http://schemas.microsoft.com/office/drawing/2014/main" id="{A47D3997-3063-A84E-BCAF-0170A5A5AD34}"/>
              </a:ext>
            </a:extLst>
          </p:cNvPr>
          <p:cNvSpPr/>
          <p:nvPr/>
        </p:nvSpPr>
        <p:spPr>
          <a:xfrm>
            <a:off x="812800" y="1587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5" name="テキスト ボックス 134">
            <a:extLst>
              <a:ext uri="{FF2B5EF4-FFF2-40B4-BE49-F238E27FC236}">
                <a16:creationId xmlns:a16="http://schemas.microsoft.com/office/drawing/2014/main" id="{85A3B44C-5E1E-564B-9383-91138396DC1D}"/>
              </a:ext>
            </a:extLst>
          </p:cNvPr>
          <p:cNvSpPr txBox="1"/>
          <p:nvPr/>
        </p:nvSpPr>
        <p:spPr>
          <a:xfrm>
            <a:off x="914400" y="13208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認証方式</a:t>
            </a:r>
          </a:p>
        </p:txBody>
      </p:sp>
      <p:sp>
        <p:nvSpPr>
          <p:cNvPr id="136" name="テキスト ボックス 135">
            <a:extLst>
              <a:ext uri="{FF2B5EF4-FFF2-40B4-BE49-F238E27FC236}">
                <a16:creationId xmlns:a16="http://schemas.microsoft.com/office/drawing/2014/main" id="{36D13FB3-EDEA-2A41-B152-BEE3C161DE8C}"/>
              </a:ext>
            </a:extLst>
          </p:cNvPr>
          <p:cNvSpPr txBox="1"/>
          <p:nvPr/>
        </p:nvSpPr>
        <p:spPr>
          <a:xfrm>
            <a:off x="2565400" y="13208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14</a:t>
            </a:r>
            <a:endParaRPr lang="ja-JP" altLang="en-US" sz="1100">
              <a:solidFill>
                <a:srgbClr val="5A6472"/>
              </a:solidFill>
              <a:latin typeface="Yu Gothic UI"/>
              <a:ea typeface="Yu Gothic UI"/>
            </a:endParaRPr>
          </a:p>
        </p:txBody>
      </p:sp>
      <p:sp>
        <p:nvSpPr>
          <p:cNvPr id="137" name="テキスト ボックス 136">
            <a:extLst>
              <a:ext uri="{FF2B5EF4-FFF2-40B4-BE49-F238E27FC236}">
                <a16:creationId xmlns:a16="http://schemas.microsoft.com/office/drawing/2014/main" id="{1D15CE6B-B96F-2042-B2DA-49F91EB318FE}"/>
              </a:ext>
            </a:extLst>
          </p:cNvPr>
          <p:cNvSpPr txBox="1"/>
          <p:nvPr/>
        </p:nvSpPr>
        <p:spPr>
          <a:xfrm>
            <a:off x="3200400" y="13208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本人であることの確かめ方と方式の種類</a:t>
            </a:r>
          </a:p>
        </p:txBody>
      </p:sp>
      <p:sp>
        <p:nvSpPr>
          <p:cNvPr id="138" name="テキスト ボックス 137">
            <a:extLst>
              <a:ext uri="{FF2B5EF4-FFF2-40B4-BE49-F238E27FC236}">
                <a16:creationId xmlns:a16="http://schemas.microsoft.com/office/drawing/2014/main" id="{C320269E-3826-EF46-8E13-563EE40C864E}"/>
              </a:ext>
            </a:extLst>
          </p:cNvPr>
          <p:cNvSpPr txBox="1"/>
          <p:nvPr/>
        </p:nvSpPr>
        <p:spPr>
          <a:xfrm>
            <a:off x="6832600" y="13208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標準方式は確定。追加</a:t>
            </a:r>
            <a:r>
              <a:rPr lang="en-US" altLang="ja-JP" sz="1100">
                <a:solidFill>
                  <a:srgbClr val="1D2125"/>
                </a:solidFill>
                <a:latin typeface="Yu Gothic UI"/>
                <a:ea typeface="Yu Gothic UI"/>
              </a:rPr>
              <a:t>3</a:t>
            </a:r>
            <a:r>
              <a:rPr lang="ja-JP" altLang="en-US" sz="1100">
                <a:solidFill>
                  <a:srgbClr val="1D2125"/>
                </a:solidFill>
                <a:latin typeface="Yu Gothic UI"/>
                <a:ea typeface="Yu Gothic UI"/>
              </a:rPr>
              <a:t>方式の要否が顧客判断</a:t>
            </a:r>
          </a:p>
        </p:txBody>
      </p:sp>
      <p:sp>
        <p:nvSpPr>
          <p:cNvPr id="139" name="正方形/長方形 138">
            <a:extLst>
              <a:ext uri="{FF2B5EF4-FFF2-40B4-BE49-F238E27FC236}">
                <a16:creationId xmlns:a16="http://schemas.microsoft.com/office/drawing/2014/main" id="{1FE3E397-BA62-D74D-9223-8DCB6028D84B}"/>
              </a:ext>
            </a:extLst>
          </p:cNvPr>
          <p:cNvSpPr/>
          <p:nvPr/>
        </p:nvSpPr>
        <p:spPr>
          <a:xfrm>
            <a:off x="812800" y="16002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0" name="正方形/長方形 139">
            <a:extLst>
              <a:ext uri="{FF2B5EF4-FFF2-40B4-BE49-F238E27FC236}">
                <a16:creationId xmlns:a16="http://schemas.microsoft.com/office/drawing/2014/main" id="{64B17DD9-60AB-3148-A5EA-59B36EF4FA3F}"/>
              </a:ext>
            </a:extLst>
          </p:cNvPr>
          <p:cNvSpPr/>
          <p:nvPr/>
        </p:nvSpPr>
        <p:spPr>
          <a:xfrm>
            <a:off x="812800" y="1943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1" name="テキスト ボックス 140">
            <a:extLst>
              <a:ext uri="{FF2B5EF4-FFF2-40B4-BE49-F238E27FC236}">
                <a16:creationId xmlns:a16="http://schemas.microsoft.com/office/drawing/2014/main" id="{889F57E4-9B2E-D148-9029-052B79CF69C4}"/>
              </a:ext>
            </a:extLst>
          </p:cNvPr>
          <p:cNvSpPr txBox="1"/>
          <p:nvPr/>
        </p:nvSpPr>
        <p:spPr>
          <a:xfrm>
            <a:off x="914400" y="16764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外部</a:t>
            </a:r>
            <a:r>
              <a:rPr lang="en" altLang="ja-JP" sz="1100" b="1">
                <a:solidFill>
                  <a:srgbClr val="1D2125"/>
                </a:solidFill>
                <a:latin typeface="Yu Gothic UI"/>
                <a:ea typeface="Yu Gothic UI"/>
              </a:rPr>
              <a:t>ID</a:t>
            </a:r>
            <a:r>
              <a:rPr lang="ja-JP" altLang="en-US" sz="1100" b="1">
                <a:solidFill>
                  <a:srgbClr val="1D2125"/>
                </a:solidFill>
                <a:latin typeface="Yu Gothic UI"/>
                <a:ea typeface="Yu Gothic UI"/>
              </a:rPr>
              <a:t>連携</a:t>
            </a:r>
          </a:p>
        </p:txBody>
      </p:sp>
      <p:sp>
        <p:nvSpPr>
          <p:cNvPr id="142" name="テキスト ボックス 141">
            <a:extLst>
              <a:ext uri="{FF2B5EF4-FFF2-40B4-BE49-F238E27FC236}">
                <a16:creationId xmlns:a16="http://schemas.microsoft.com/office/drawing/2014/main" id="{55A5708A-5C5A-3648-BC7D-BE5AC9F0C335}"/>
              </a:ext>
            </a:extLst>
          </p:cNvPr>
          <p:cNvSpPr txBox="1"/>
          <p:nvPr/>
        </p:nvSpPr>
        <p:spPr>
          <a:xfrm>
            <a:off x="2565400" y="16764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14</a:t>
            </a:r>
            <a:endParaRPr lang="ja-JP" altLang="en-US" sz="1100">
              <a:solidFill>
                <a:srgbClr val="5A6472"/>
              </a:solidFill>
              <a:latin typeface="Yu Gothic UI"/>
              <a:ea typeface="Yu Gothic UI"/>
            </a:endParaRPr>
          </a:p>
        </p:txBody>
      </p:sp>
      <p:sp>
        <p:nvSpPr>
          <p:cNvPr id="143" name="テキスト ボックス 142">
            <a:extLst>
              <a:ext uri="{FF2B5EF4-FFF2-40B4-BE49-F238E27FC236}">
                <a16:creationId xmlns:a16="http://schemas.microsoft.com/office/drawing/2014/main" id="{2818F2ED-DBB0-CE40-980C-2B10AF7E1A2D}"/>
              </a:ext>
            </a:extLst>
          </p:cNvPr>
          <p:cNvSpPr txBox="1"/>
          <p:nvPr/>
        </p:nvSpPr>
        <p:spPr>
          <a:xfrm>
            <a:off x="3200400" y="16764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顧客が持つ</a:t>
            </a:r>
            <a:r>
              <a:rPr lang="en" altLang="ja-JP" sz="1100">
                <a:solidFill>
                  <a:srgbClr val="5A6472"/>
                </a:solidFill>
                <a:latin typeface="Yu Gothic UI"/>
                <a:ea typeface="Yu Gothic UI"/>
              </a:rPr>
              <a:t>ID</a:t>
            </a:r>
            <a:r>
              <a:rPr lang="ja-JP" altLang="en-US" sz="1100">
                <a:solidFill>
                  <a:srgbClr val="5A6472"/>
                </a:solidFill>
                <a:latin typeface="Yu Gothic UI"/>
                <a:ea typeface="Yu Gothic UI"/>
              </a:rPr>
              <a:t>基盤との接続方法</a:t>
            </a:r>
          </a:p>
        </p:txBody>
      </p:sp>
      <p:sp>
        <p:nvSpPr>
          <p:cNvPr id="144" name="テキスト ボックス 143">
            <a:extLst>
              <a:ext uri="{FF2B5EF4-FFF2-40B4-BE49-F238E27FC236}">
                <a16:creationId xmlns:a16="http://schemas.microsoft.com/office/drawing/2014/main" id="{BD6D6E8A-CC3D-EA46-AEC5-324581C1E57F}"/>
              </a:ext>
            </a:extLst>
          </p:cNvPr>
          <p:cNvSpPr txBox="1"/>
          <p:nvPr/>
        </p:nvSpPr>
        <p:spPr>
          <a:xfrm>
            <a:off x="6832600" y="16764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受け入れ方式は確定。使用製品の確認と実機検証が残る</a:t>
            </a:r>
          </a:p>
        </p:txBody>
      </p:sp>
      <p:sp>
        <p:nvSpPr>
          <p:cNvPr id="145" name="正方形/長方形 144">
            <a:extLst>
              <a:ext uri="{FF2B5EF4-FFF2-40B4-BE49-F238E27FC236}">
                <a16:creationId xmlns:a16="http://schemas.microsoft.com/office/drawing/2014/main" id="{DC8EC15B-D969-564F-8DAE-1CB6F5BF8D79}"/>
              </a:ext>
            </a:extLst>
          </p:cNvPr>
          <p:cNvSpPr/>
          <p:nvPr/>
        </p:nvSpPr>
        <p:spPr>
          <a:xfrm>
            <a:off x="812800" y="2298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6" name="テキスト ボックス 145">
            <a:extLst>
              <a:ext uri="{FF2B5EF4-FFF2-40B4-BE49-F238E27FC236}">
                <a16:creationId xmlns:a16="http://schemas.microsoft.com/office/drawing/2014/main" id="{70C7F28F-205B-834F-94E2-9F7A58078BFF}"/>
              </a:ext>
            </a:extLst>
          </p:cNvPr>
          <p:cNvSpPr txBox="1"/>
          <p:nvPr/>
        </p:nvSpPr>
        <p:spPr>
          <a:xfrm>
            <a:off x="914400" y="20320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多要素認証</a:t>
            </a:r>
          </a:p>
        </p:txBody>
      </p:sp>
      <p:sp>
        <p:nvSpPr>
          <p:cNvPr id="147" name="テキスト ボックス 146">
            <a:extLst>
              <a:ext uri="{FF2B5EF4-FFF2-40B4-BE49-F238E27FC236}">
                <a16:creationId xmlns:a16="http://schemas.microsoft.com/office/drawing/2014/main" id="{71260316-4CF1-B243-9576-FDF645C5EFE7}"/>
              </a:ext>
            </a:extLst>
          </p:cNvPr>
          <p:cNvSpPr txBox="1"/>
          <p:nvPr/>
        </p:nvSpPr>
        <p:spPr>
          <a:xfrm>
            <a:off x="2565400" y="20320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9</a:t>
            </a:r>
            <a:endParaRPr lang="ja-JP" altLang="en-US" sz="1100">
              <a:solidFill>
                <a:srgbClr val="5A6472"/>
              </a:solidFill>
              <a:latin typeface="Yu Gothic UI"/>
              <a:ea typeface="Yu Gothic UI"/>
            </a:endParaRPr>
          </a:p>
        </p:txBody>
      </p:sp>
      <p:sp>
        <p:nvSpPr>
          <p:cNvPr id="148" name="テキスト ボックス 147">
            <a:extLst>
              <a:ext uri="{FF2B5EF4-FFF2-40B4-BE49-F238E27FC236}">
                <a16:creationId xmlns:a16="http://schemas.microsoft.com/office/drawing/2014/main" id="{F159F408-FEF0-1B45-8544-CA225A66395D}"/>
              </a:ext>
            </a:extLst>
          </p:cNvPr>
          <p:cNvSpPr txBox="1"/>
          <p:nvPr/>
        </p:nvSpPr>
        <p:spPr>
          <a:xfrm>
            <a:off x="3200400" y="20320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パスワード以外の追加確認の手段</a:t>
            </a:r>
          </a:p>
        </p:txBody>
      </p:sp>
      <p:sp>
        <p:nvSpPr>
          <p:cNvPr id="149" name="テキスト ボックス 148">
            <a:extLst>
              <a:ext uri="{FF2B5EF4-FFF2-40B4-BE49-F238E27FC236}">
                <a16:creationId xmlns:a16="http://schemas.microsoft.com/office/drawing/2014/main" id="{90E56C2A-7B43-174B-AD6A-B5B5B35D8924}"/>
              </a:ext>
            </a:extLst>
          </p:cNvPr>
          <p:cNvSpPr txBox="1"/>
          <p:nvPr/>
        </p:nvSpPr>
        <p:spPr>
          <a:xfrm>
            <a:off x="6832600" y="20320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手段と適用ルールは確定。必須範囲が顧客判断</a:t>
            </a:r>
          </a:p>
        </p:txBody>
      </p:sp>
      <p:sp>
        <p:nvSpPr>
          <p:cNvPr id="150" name="正方形/長方形 149">
            <a:extLst>
              <a:ext uri="{FF2B5EF4-FFF2-40B4-BE49-F238E27FC236}">
                <a16:creationId xmlns:a16="http://schemas.microsoft.com/office/drawing/2014/main" id="{CD50346C-C36E-9648-9170-11C51D203302}"/>
              </a:ext>
            </a:extLst>
          </p:cNvPr>
          <p:cNvSpPr/>
          <p:nvPr/>
        </p:nvSpPr>
        <p:spPr>
          <a:xfrm>
            <a:off x="812800" y="23114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1" name="正方形/長方形 150">
            <a:extLst>
              <a:ext uri="{FF2B5EF4-FFF2-40B4-BE49-F238E27FC236}">
                <a16:creationId xmlns:a16="http://schemas.microsoft.com/office/drawing/2014/main" id="{8946EE57-CA00-4D4E-AA44-05501F459432}"/>
              </a:ext>
            </a:extLst>
          </p:cNvPr>
          <p:cNvSpPr/>
          <p:nvPr/>
        </p:nvSpPr>
        <p:spPr>
          <a:xfrm>
            <a:off x="812800" y="2654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2" name="テキスト ボックス 151">
            <a:extLst>
              <a:ext uri="{FF2B5EF4-FFF2-40B4-BE49-F238E27FC236}">
                <a16:creationId xmlns:a16="http://schemas.microsoft.com/office/drawing/2014/main" id="{6EDA1C34-1870-B142-9229-9F156FD98F65}"/>
              </a:ext>
            </a:extLst>
          </p:cNvPr>
          <p:cNvSpPr txBox="1"/>
          <p:nvPr/>
        </p:nvSpPr>
        <p:spPr>
          <a:xfrm>
            <a:off x="914400" y="2387600"/>
            <a:ext cx="1574800" cy="203200"/>
          </a:xfrm>
          <a:prstGeom prst="rect">
            <a:avLst/>
          </a:prstGeom>
          <a:noFill/>
        </p:spPr>
        <p:txBody>
          <a:bodyPr vertOverflow="overflow" vert="horz" wrap="square" rtlCol="0" anchor="t" anchorCtr="0">
            <a:noAutofit/>
          </a:bodyPr>
          <a:lstStyle/>
          <a:p>
            <a:pPr algn="l"/>
            <a:r>
              <a:rPr lang="en" altLang="ja-JP" sz="1100" b="1">
                <a:solidFill>
                  <a:srgbClr val="1D2125"/>
                </a:solidFill>
                <a:latin typeface="Yu Gothic UI"/>
                <a:ea typeface="Yu Gothic UI"/>
              </a:rPr>
              <a:t>SSO</a:t>
            </a:r>
            <a:r>
              <a:rPr lang="ja-JP" altLang="en-US" sz="1100" b="1">
                <a:solidFill>
                  <a:srgbClr val="1D2125"/>
                </a:solidFill>
                <a:latin typeface="Yu Gothic UI"/>
                <a:ea typeface="Yu Gothic UI"/>
              </a:rPr>
              <a:t>とセッション</a:t>
            </a:r>
          </a:p>
        </p:txBody>
      </p:sp>
      <p:sp>
        <p:nvSpPr>
          <p:cNvPr id="153" name="テキスト ボックス 152">
            <a:extLst>
              <a:ext uri="{FF2B5EF4-FFF2-40B4-BE49-F238E27FC236}">
                <a16:creationId xmlns:a16="http://schemas.microsoft.com/office/drawing/2014/main" id="{36D64775-3893-D641-8A6D-2D97744C8BD8}"/>
              </a:ext>
            </a:extLst>
          </p:cNvPr>
          <p:cNvSpPr txBox="1"/>
          <p:nvPr/>
        </p:nvSpPr>
        <p:spPr>
          <a:xfrm>
            <a:off x="2565400" y="23876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10</a:t>
            </a:r>
            <a:endParaRPr lang="ja-JP" altLang="en-US" sz="1100">
              <a:solidFill>
                <a:srgbClr val="5A6472"/>
              </a:solidFill>
              <a:latin typeface="Yu Gothic UI"/>
              <a:ea typeface="Yu Gothic UI"/>
            </a:endParaRPr>
          </a:p>
        </p:txBody>
      </p:sp>
      <p:sp>
        <p:nvSpPr>
          <p:cNvPr id="154" name="テキスト ボックス 153">
            <a:extLst>
              <a:ext uri="{FF2B5EF4-FFF2-40B4-BE49-F238E27FC236}">
                <a16:creationId xmlns:a16="http://schemas.microsoft.com/office/drawing/2014/main" id="{F7C19B64-79A6-CB4C-9FD6-3E7164C1ECD5}"/>
              </a:ext>
            </a:extLst>
          </p:cNvPr>
          <p:cNvSpPr txBox="1"/>
          <p:nvPr/>
        </p:nvSpPr>
        <p:spPr>
          <a:xfrm>
            <a:off x="3200400" y="23876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一度のログインの有効範囲と切断</a:t>
            </a:r>
          </a:p>
        </p:txBody>
      </p:sp>
      <p:sp>
        <p:nvSpPr>
          <p:cNvPr id="155" name="テキスト ボックス 154">
            <a:extLst>
              <a:ext uri="{FF2B5EF4-FFF2-40B4-BE49-F238E27FC236}">
                <a16:creationId xmlns:a16="http://schemas.microsoft.com/office/drawing/2014/main" id="{E279EF25-65B8-BF44-9DC7-EC04B5F0E359}"/>
              </a:ext>
            </a:extLst>
          </p:cNvPr>
          <p:cNvSpPr txBox="1"/>
          <p:nvPr/>
        </p:nvSpPr>
        <p:spPr>
          <a:xfrm>
            <a:off x="6832600" y="23876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中核は確定。一括ログアウトの範囲が顧客判断</a:t>
            </a:r>
          </a:p>
        </p:txBody>
      </p:sp>
      <p:sp>
        <p:nvSpPr>
          <p:cNvPr id="156" name="正方形/長方形 155">
            <a:extLst>
              <a:ext uri="{FF2B5EF4-FFF2-40B4-BE49-F238E27FC236}">
                <a16:creationId xmlns:a16="http://schemas.microsoft.com/office/drawing/2014/main" id="{4FD10EEA-F4DD-5948-A478-5CC21717E5E9}"/>
              </a:ext>
            </a:extLst>
          </p:cNvPr>
          <p:cNvSpPr/>
          <p:nvPr/>
        </p:nvSpPr>
        <p:spPr>
          <a:xfrm>
            <a:off x="812800" y="3009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7" name="テキスト ボックス 156">
            <a:extLst>
              <a:ext uri="{FF2B5EF4-FFF2-40B4-BE49-F238E27FC236}">
                <a16:creationId xmlns:a16="http://schemas.microsoft.com/office/drawing/2014/main" id="{F99E6BA9-8FA0-2446-A8D3-17502DD9F74D}"/>
              </a:ext>
            </a:extLst>
          </p:cNvPr>
          <p:cNvSpPr txBox="1"/>
          <p:nvPr/>
        </p:nvSpPr>
        <p:spPr>
          <a:xfrm>
            <a:off x="914400" y="27432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認可</a:t>
            </a:r>
          </a:p>
        </p:txBody>
      </p:sp>
      <p:sp>
        <p:nvSpPr>
          <p:cNvPr id="158" name="テキスト ボックス 157">
            <a:extLst>
              <a:ext uri="{FF2B5EF4-FFF2-40B4-BE49-F238E27FC236}">
                <a16:creationId xmlns:a16="http://schemas.microsoft.com/office/drawing/2014/main" id="{47EA6EE8-3655-E24F-891A-1C439427A824}"/>
              </a:ext>
            </a:extLst>
          </p:cNvPr>
          <p:cNvSpPr txBox="1"/>
          <p:nvPr/>
        </p:nvSpPr>
        <p:spPr>
          <a:xfrm>
            <a:off x="2565400" y="27432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10</a:t>
            </a:r>
            <a:endParaRPr lang="ja-JP" altLang="en-US" sz="1100">
              <a:solidFill>
                <a:srgbClr val="5A6472"/>
              </a:solidFill>
              <a:latin typeface="Yu Gothic UI"/>
              <a:ea typeface="Yu Gothic UI"/>
            </a:endParaRPr>
          </a:p>
        </p:txBody>
      </p:sp>
      <p:sp>
        <p:nvSpPr>
          <p:cNvPr id="159" name="テキスト ボックス 158">
            <a:extLst>
              <a:ext uri="{FF2B5EF4-FFF2-40B4-BE49-F238E27FC236}">
                <a16:creationId xmlns:a16="http://schemas.microsoft.com/office/drawing/2014/main" id="{ABBE1E62-247B-2548-9ABE-6E4CCCE3A45E}"/>
              </a:ext>
            </a:extLst>
          </p:cNvPr>
          <p:cNvSpPr txBox="1"/>
          <p:nvPr/>
        </p:nvSpPr>
        <p:spPr>
          <a:xfrm>
            <a:off x="3200400" y="27432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誰にどの操作を許すかの判定</a:t>
            </a:r>
          </a:p>
        </p:txBody>
      </p:sp>
      <p:sp>
        <p:nvSpPr>
          <p:cNvPr id="160" name="テキスト ボックス 159">
            <a:extLst>
              <a:ext uri="{FF2B5EF4-FFF2-40B4-BE49-F238E27FC236}">
                <a16:creationId xmlns:a16="http://schemas.microsoft.com/office/drawing/2014/main" id="{CC4042DF-A17F-8F4E-81FC-BA52F7856E12}"/>
              </a:ext>
            </a:extLst>
          </p:cNvPr>
          <p:cNvSpPr txBox="1"/>
          <p:nvPr/>
        </p:nvSpPr>
        <p:spPr>
          <a:xfrm>
            <a:off x="6832600" y="27432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最も確定率が高い。細かい粒度の採用可否のみ未確定</a:t>
            </a:r>
          </a:p>
        </p:txBody>
      </p:sp>
      <p:sp>
        <p:nvSpPr>
          <p:cNvPr id="161" name="正方形/長方形 160">
            <a:extLst>
              <a:ext uri="{FF2B5EF4-FFF2-40B4-BE49-F238E27FC236}">
                <a16:creationId xmlns:a16="http://schemas.microsoft.com/office/drawing/2014/main" id="{EEDC5234-AF9A-CE4D-A75F-911BB8D30CEE}"/>
              </a:ext>
            </a:extLst>
          </p:cNvPr>
          <p:cNvSpPr/>
          <p:nvPr/>
        </p:nvSpPr>
        <p:spPr>
          <a:xfrm>
            <a:off x="812800" y="30226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2" name="正方形/長方形 161">
            <a:extLst>
              <a:ext uri="{FF2B5EF4-FFF2-40B4-BE49-F238E27FC236}">
                <a16:creationId xmlns:a16="http://schemas.microsoft.com/office/drawing/2014/main" id="{DF543485-1CC3-EC46-B8B2-344A6E89F7A9}"/>
              </a:ext>
            </a:extLst>
          </p:cNvPr>
          <p:cNvSpPr/>
          <p:nvPr/>
        </p:nvSpPr>
        <p:spPr>
          <a:xfrm>
            <a:off x="812800" y="3365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3" name="テキスト ボックス 162">
            <a:extLst>
              <a:ext uri="{FF2B5EF4-FFF2-40B4-BE49-F238E27FC236}">
                <a16:creationId xmlns:a16="http://schemas.microsoft.com/office/drawing/2014/main" id="{096EDD54-A42E-B348-911E-379855E2C063}"/>
              </a:ext>
            </a:extLst>
          </p:cNvPr>
          <p:cNvSpPr txBox="1"/>
          <p:nvPr/>
        </p:nvSpPr>
        <p:spPr>
          <a:xfrm>
            <a:off x="914400" y="30988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利用者情報の管理と同期</a:t>
            </a:r>
          </a:p>
        </p:txBody>
      </p:sp>
      <p:sp>
        <p:nvSpPr>
          <p:cNvPr id="164" name="テキスト ボックス 163">
            <a:extLst>
              <a:ext uri="{FF2B5EF4-FFF2-40B4-BE49-F238E27FC236}">
                <a16:creationId xmlns:a16="http://schemas.microsoft.com/office/drawing/2014/main" id="{625EB263-EA95-6B4F-969A-2C845A939F7C}"/>
              </a:ext>
            </a:extLst>
          </p:cNvPr>
          <p:cNvSpPr txBox="1"/>
          <p:nvPr/>
        </p:nvSpPr>
        <p:spPr>
          <a:xfrm>
            <a:off x="2565400" y="30988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12</a:t>
            </a:r>
            <a:endParaRPr lang="ja-JP" altLang="en-US" sz="1100">
              <a:solidFill>
                <a:srgbClr val="5A6472"/>
              </a:solidFill>
              <a:latin typeface="Yu Gothic UI"/>
              <a:ea typeface="Yu Gothic UI"/>
            </a:endParaRPr>
          </a:p>
        </p:txBody>
      </p:sp>
      <p:sp>
        <p:nvSpPr>
          <p:cNvPr id="165" name="テキスト ボックス 164">
            <a:extLst>
              <a:ext uri="{FF2B5EF4-FFF2-40B4-BE49-F238E27FC236}">
                <a16:creationId xmlns:a16="http://schemas.microsoft.com/office/drawing/2014/main" id="{56EB24C5-96B0-EC42-93A9-D16E627084AE}"/>
              </a:ext>
            </a:extLst>
          </p:cNvPr>
          <p:cNvSpPr txBox="1"/>
          <p:nvPr/>
        </p:nvSpPr>
        <p:spPr>
          <a:xfrm>
            <a:off x="3200400" y="30988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利用者情報の保持と異動・退職の反映</a:t>
            </a:r>
          </a:p>
        </p:txBody>
      </p:sp>
      <p:sp>
        <p:nvSpPr>
          <p:cNvPr id="166" name="テキスト ボックス 165">
            <a:extLst>
              <a:ext uri="{FF2B5EF4-FFF2-40B4-BE49-F238E27FC236}">
                <a16:creationId xmlns:a16="http://schemas.microsoft.com/office/drawing/2014/main" id="{E36F06D3-5C86-D141-9F87-89B6666D0E96}"/>
              </a:ext>
            </a:extLst>
          </p:cNvPr>
          <p:cNvSpPr txBox="1"/>
          <p:nvPr/>
        </p:nvSpPr>
        <p:spPr>
          <a:xfrm>
            <a:off x="6832600" y="30988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基本操作は確定。自動同期の要否が未確定</a:t>
            </a:r>
          </a:p>
        </p:txBody>
      </p:sp>
      <p:sp>
        <p:nvSpPr>
          <p:cNvPr id="167" name="正方形/長方形 166">
            <a:extLst>
              <a:ext uri="{FF2B5EF4-FFF2-40B4-BE49-F238E27FC236}">
                <a16:creationId xmlns:a16="http://schemas.microsoft.com/office/drawing/2014/main" id="{3F9033A6-6048-E94D-9B89-578777C6280F}"/>
              </a:ext>
            </a:extLst>
          </p:cNvPr>
          <p:cNvSpPr/>
          <p:nvPr/>
        </p:nvSpPr>
        <p:spPr>
          <a:xfrm>
            <a:off x="812800" y="3721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8" name="テキスト ボックス 167">
            <a:extLst>
              <a:ext uri="{FF2B5EF4-FFF2-40B4-BE49-F238E27FC236}">
                <a16:creationId xmlns:a16="http://schemas.microsoft.com/office/drawing/2014/main" id="{DFA71A0B-D9EB-7B4F-8524-9864CB217343}"/>
              </a:ext>
            </a:extLst>
          </p:cNvPr>
          <p:cNvSpPr txBox="1"/>
          <p:nvPr/>
        </p:nvSpPr>
        <p:spPr>
          <a:xfrm>
            <a:off x="914400" y="34544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管理機能と権限委譲</a:t>
            </a:r>
          </a:p>
        </p:txBody>
      </p:sp>
      <p:sp>
        <p:nvSpPr>
          <p:cNvPr id="169" name="テキスト ボックス 168">
            <a:extLst>
              <a:ext uri="{FF2B5EF4-FFF2-40B4-BE49-F238E27FC236}">
                <a16:creationId xmlns:a16="http://schemas.microsoft.com/office/drawing/2014/main" id="{D4A772E7-1454-4945-A252-4C425E3D9E91}"/>
              </a:ext>
            </a:extLst>
          </p:cNvPr>
          <p:cNvSpPr txBox="1"/>
          <p:nvPr/>
        </p:nvSpPr>
        <p:spPr>
          <a:xfrm>
            <a:off x="2565400" y="34544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12</a:t>
            </a:r>
            <a:endParaRPr lang="ja-JP" altLang="en-US" sz="1100">
              <a:solidFill>
                <a:srgbClr val="5A6472"/>
              </a:solidFill>
              <a:latin typeface="Yu Gothic UI"/>
              <a:ea typeface="Yu Gothic UI"/>
            </a:endParaRPr>
          </a:p>
        </p:txBody>
      </p:sp>
      <p:sp>
        <p:nvSpPr>
          <p:cNvPr id="170" name="テキスト ボックス 169">
            <a:extLst>
              <a:ext uri="{FF2B5EF4-FFF2-40B4-BE49-F238E27FC236}">
                <a16:creationId xmlns:a16="http://schemas.microsoft.com/office/drawing/2014/main" id="{84604FC5-1A36-8245-A1B8-A4F07702C80E}"/>
              </a:ext>
            </a:extLst>
          </p:cNvPr>
          <p:cNvSpPr txBox="1"/>
          <p:nvPr/>
        </p:nvSpPr>
        <p:spPr>
          <a:xfrm>
            <a:off x="3200400" y="34544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運用側の設定・監査と顧客への委譲</a:t>
            </a:r>
          </a:p>
        </p:txBody>
      </p:sp>
      <p:sp>
        <p:nvSpPr>
          <p:cNvPr id="171" name="テキスト ボックス 170">
            <a:extLst>
              <a:ext uri="{FF2B5EF4-FFF2-40B4-BE49-F238E27FC236}">
                <a16:creationId xmlns:a16="http://schemas.microsoft.com/office/drawing/2014/main" id="{64D3C1CA-8B4A-7147-810E-E7DCC6995DD5}"/>
              </a:ext>
            </a:extLst>
          </p:cNvPr>
          <p:cNvSpPr txBox="1"/>
          <p:nvPr/>
        </p:nvSpPr>
        <p:spPr>
          <a:xfrm>
            <a:off x="6832600" y="34544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設定管理と監査は確定。委譲の範囲が未確定</a:t>
            </a:r>
          </a:p>
        </p:txBody>
      </p:sp>
      <p:sp>
        <p:nvSpPr>
          <p:cNvPr id="172" name="正方形/長方形 171">
            <a:extLst>
              <a:ext uri="{FF2B5EF4-FFF2-40B4-BE49-F238E27FC236}">
                <a16:creationId xmlns:a16="http://schemas.microsoft.com/office/drawing/2014/main" id="{48871289-A377-2549-B72C-786E3AAD29DC}"/>
              </a:ext>
            </a:extLst>
          </p:cNvPr>
          <p:cNvSpPr/>
          <p:nvPr/>
        </p:nvSpPr>
        <p:spPr>
          <a:xfrm>
            <a:off x="812800" y="37338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3" name="正方形/長方形 172">
            <a:extLst>
              <a:ext uri="{FF2B5EF4-FFF2-40B4-BE49-F238E27FC236}">
                <a16:creationId xmlns:a16="http://schemas.microsoft.com/office/drawing/2014/main" id="{F6946680-82D5-6B4F-AB93-435CBF49DC5D}"/>
              </a:ext>
            </a:extLst>
          </p:cNvPr>
          <p:cNvSpPr/>
          <p:nvPr/>
        </p:nvSpPr>
        <p:spPr>
          <a:xfrm>
            <a:off x="812800" y="4076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4" name="テキスト ボックス 173">
            <a:extLst>
              <a:ext uri="{FF2B5EF4-FFF2-40B4-BE49-F238E27FC236}">
                <a16:creationId xmlns:a16="http://schemas.microsoft.com/office/drawing/2014/main" id="{4AD8BBA4-8E8B-6C4B-99FD-B2CD985ADDBF}"/>
              </a:ext>
            </a:extLst>
          </p:cNvPr>
          <p:cNvSpPr txBox="1"/>
          <p:nvPr/>
        </p:nvSpPr>
        <p:spPr>
          <a:xfrm>
            <a:off x="914400" y="38100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外部システムとの連携</a:t>
            </a:r>
          </a:p>
        </p:txBody>
      </p:sp>
      <p:sp>
        <p:nvSpPr>
          <p:cNvPr id="175" name="テキスト ボックス 174">
            <a:extLst>
              <a:ext uri="{FF2B5EF4-FFF2-40B4-BE49-F238E27FC236}">
                <a16:creationId xmlns:a16="http://schemas.microsoft.com/office/drawing/2014/main" id="{D054B2C0-CD52-2E40-92D5-E4298AE7082F}"/>
              </a:ext>
            </a:extLst>
          </p:cNvPr>
          <p:cNvSpPr txBox="1"/>
          <p:nvPr/>
        </p:nvSpPr>
        <p:spPr>
          <a:xfrm>
            <a:off x="2565400" y="38100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10</a:t>
            </a:r>
            <a:endParaRPr lang="ja-JP" altLang="en-US" sz="1100">
              <a:solidFill>
                <a:srgbClr val="5A6472"/>
              </a:solidFill>
              <a:latin typeface="Yu Gothic UI"/>
              <a:ea typeface="Yu Gothic UI"/>
            </a:endParaRPr>
          </a:p>
        </p:txBody>
      </p:sp>
      <p:sp>
        <p:nvSpPr>
          <p:cNvPr id="176" name="テキスト ボックス 175">
            <a:extLst>
              <a:ext uri="{FF2B5EF4-FFF2-40B4-BE49-F238E27FC236}">
                <a16:creationId xmlns:a16="http://schemas.microsoft.com/office/drawing/2014/main" id="{7A82FB6F-3FC4-2D4E-A92E-195480846BCB}"/>
              </a:ext>
            </a:extLst>
          </p:cNvPr>
          <p:cNvSpPr txBox="1"/>
          <p:nvPr/>
        </p:nvSpPr>
        <p:spPr>
          <a:xfrm>
            <a:off x="3200400" y="38100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標準仕様への準拠とログ・構成の連携</a:t>
            </a:r>
          </a:p>
        </p:txBody>
      </p:sp>
      <p:sp>
        <p:nvSpPr>
          <p:cNvPr id="177" name="テキスト ボックス 176">
            <a:extLst>
              <a:ext uri="{FF2B5EF4-FFF2-40B4-BE49-F238E27FC236}">
                <a16:creationId xmlns:a16="http://schemas.microsoft.com/office/drawing/2014/main" id="{2091BDF9-64A1-3848-AEAB-3F72107EED71}"/>
              </a:ext>
            </a:extLst>
          </p:cNvPr>
          <p:cNvSpPr txBox="1"/>
          <p:nvPr/>
        </p:nvSpPr>
        <p:spPr>
          <a:xfrm>
            <a:off x="6832600" y="38100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標準準拠は確定。転送先と通知の要否が未確定</a:t>
            </a:r>
          </a:p>
        </p:txBody>
      </p:sp>
      <p:sp>
        <p:nvSpPr>
          <p:cNvPr id="178" name="正方形/長方形 177">
            <a:extLst>
              <a:ext uri="{FF2B5EF4-FFF2-40B4-BE49-F238E27FC236}">
                <a16:creationId xmlns:a16="http://schemas.microsoft.com/office/drawing/2014/main" id="{714EC26C-F222-6C45-AB60-29B1237EE22E}"/>
              </a:ext>
            </a:extLst>
          </p:cNvPr>
          <p:cNvSpPr/>
          <p:nvPr/>
        </p:nvSpPr>
        <p:spPr>
          <a:xfrm>
            <a:off x="812800" y="4432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9" name="テキスト ボックス 178">
            <a:extLst>
              <a:ext uri="{FF2B5EF4-FFF2-40B4-BE49-F238E27FC236}">
                <a16:creationId xmlns:a16="http://schemas.microsoft.com/office/drawing/2014/main" id="{618FEF59-52EE-9A48-937A-E951131A250B}"/>
              </a:ext>
            </a:extLst>
          </p:cNvPr>
          <p:cNvSpPr txBox="1"/>
          <p:nvPr/>
        </p:nvSpPr>
        <p:spPr>
          <a:xfrm>
            <a:off x="914400" y="41656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性能と拡張性</a:t>
            </a:r>
          </a:p>
        </p:txBody>
      </p:sp>
      <p:sp>
        <p:nvSpPr>
          <p:cNvPr id="180" name="テキスト ボックス 179">
            <a:extLst>
              <a:ext uri="{FF2B5EF4-FFF2-40B4-BE49-F238E27FC236}">
                <a16:creationId xmlns:a16="http://schemas.microsoft.com/office/drawing/2014/main" id="{9FEFC508-48FA-9345-B404-171EBABB9412}"/>
              </a:ext>
            </a:extLst>
          </p:cNvPr>
          <p:cNvSpPr txBox="1"/>
          <p:nvPr/>
        </p:nvSpPr>
        <p:spPr>
          <a:xfrm>
            <a:off x="2565400" y="41656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15</a:t>
            </a:r>
            <a:endParaRPr lang="ja-JP" altLang="en-US" sz="1100">
              <a:solidFill>
                <a:srgbClr val="5A6472"/>
              </a:solidFill>
              <a:latin typeface="Yu Gothic UI"/>
              <a:ea typeface="Yu Gothic UI"/>
            </a:endParaRPr>
          </a:p>
        </p:txBody>
      </p:sp>
      <p:sp>
        <p:nvSpPr>
          <p:cNvPr id="181" name="テキスト ボックス 180">
            <a:extLst>
              <a:ext uri="{FF2B5EF4-FFF2-40B4-BE49-F238E27FC236}">
                <a16:creationId xmlns:a16="http://schemas.microsoft.com/office/drawing/2014/main" id="{BEF0D09B-EFCA-084B-8C0C-1B43F3D75801}"/>
              </a:ext>
            </a:extLst>
          </p:cNvPr>
          <p:cNvSpPr txBox="1"/>
          <p:nvPr/>
        </p:nvSpPr>
        <p:spPr>
          <a:xfrm>
            <a:off x="3200400" y="41656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応答の速さと規模拡大への耐性</a:t>
            </a:r>
          </a:p>
        </p:txBody>
      </p:sp>
      <p:sp>
        <p:nvSpPr>
          <p:cNvPr id="182" name="テキスト ボックス 181">
            <a:extLst>
              <a:ext uri="{FF2B5EF4-FFF2-40B4-BE49-F238E27FC236}">
                <a16:creationId xmlns:a16="http://schemas.microsoft.com/office/drawing/2014/main" id="{0CC7B305-5816-3542-820E-927BCD85DBA3}"/>
              </a:ext>
            </a:extLst>
          </p:cNvPr>
          <p:cNvSpPr txBox="1"/>
          <p:nvPr/>
        </p:nvSpPr>
        <p:spPr>
          <a:xfrm>
            <a:off x="6832600" y="41656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上限値を凍結し設計は確定。規模回答と実測が残る</a:t>
            </a:r>
          </a:p>
        </p:txBody>
      </p:sp>
      <p:sp>
        <p:nvSpPr>
          <p:cNvPr id="183" name="正方形/長方形 182">
            <a:extLst>
              <a:ext uri="{FF2B5EF4-FFF2-40B4-BE49-F238E27FC236}">
                <a16:creationId xmlns:a16="http://schemas.microsoft.com/office/drawing/2014/main" id="{11E8144B-8E6F-D947-878C-3838A15CD2FB}"/>
              </a:ext>
            </a:extLst>
          </p:cNvPr>
          <p:cNvSpPr/>
          <p:nvPr/>
        </p:nvSpPr>
        <p:spPr>
          <a:xfrm>
            <a:off x="812800" y="44450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4" name="正方形/長方形 183">
            <a:extLst>
              <a:ext uri="{FF2B5EF4-FFF2-40B4-BE49-F238E27FC236}">
                <a16:creationId xmlns:a16="http://schemas.microsoft.com/office/drawing/2014/main" id="{C90B0DC0-A8D0-074F-B406-E47C090F30D5}"/>
              </a:ext>
            </a:extLst>
          </p:cNvPr>
          <p:cNvSpPr/>
          <p:nvPr/>
        </p:nvSpPr>
        <p:spPr>
          <a:xfrm>
            <a:off x="812800" y="47879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85" name="テキスト ボックス 184">
            <a:extLst>
              <a:ext uri="{FF2B5EF4-FFF2-40B4-BE49-F238E27FC236}">
                <a16:creationId xmlns:a16="http://schemas.microsoft.com/office/drawing/2014/main" id="{EDADA63D-F06F-A649-9827-23A89141743E}"/>
              </a:ext>
            </a:extLst>
          </p:cNvPr>
          <p:cNvSpPr txBox="1"/>
          <p:nvPr/>
        </p:nvSpPr>
        <p:spPr>
          <a:xfrm>
            <a:off x="914400" y="45212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可用性と災害復旧</a:t>
            </a:r>
          </a:p>
        </p:txBody>
      </p:sp>
      <p:sp>
        <p:nvSpPr>
          <p:cNvPr id="186" name="テキスト ボックス 185">
            <a:extLst>
              <a:ext uri="{FF2B5EF4-FFF2-40B4-BE49-F238E27FC236}">
                <a16:creationId xmlns:a16="http://schemas.microsoft.com/office/drawing/2014/main" id="{65F7448C-3DE2-B94C-B508-FFBE9AA8C6D5}"/>
              </a:ext>
            </a:extLst>
          </p:cNvPr>
          <p:cNvSpPr txBox="1"/>
          <p:nvPr/>
        </p:nvSpPr>
        <p:spPr>
          <a:xfrm>
            <a:off x="2565400" y="45212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14</a:t>
            </a:r>
            <a:endParaRPr lang="ja-JP" altLang="en-US" sz="1100">
              <a:solidFill>
                <a:srgbClr val="5A6472"/>
              </a:solidFill>
              <a:latin typeface="Yu Gothic UI"/>
              <a:ea typeface="Yu Gothic UI"/>
            </a:endParaRPr>
          </a:p>
        </p:txBody>
      </p:sp>
      <p:sp>
        <p:nvSpPr>
          <p:cNvPr id="187" name="テキスト ボックス 186">
            <a:extLst>
              <a:ext uri="{FF2B5EF4-FFF2-40B4-BE49-F238E27FC236}">
                <a16:creationId xmlns:a16="http://schemas.microsoft.com/office/drawing/2014/main" id="{5489BBD0-2DD7-174B-BEC7-09277E59DC34}"/>
              </a:ext>
            </a:extLst>
          </p:cNvPr>
          <p:cNvSpPr txBox="1"/>
          <p:nvPr/>
        </p:nvSpPr>
        <p:spPr>
          <a:xfrm>
            <a:off x="3200400" y="45212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止まらない構成と復旧の目標</a:t>
            </a:r>
          </a:p>
        </p:txBody>
      </p:sp>
      <p:sp>
        <p:nvSpPr>
          <p:cNvPr id="188" name="テキスト ボックス 187">
            <a:extLst>
              <a:ext uri="{FF2B5EF4-FFF2-40B4-BE49-F238E27FC236}">
                <a16:creationId xmlns:a16="http://schemas.microsoft.com/office/drawing/2014/main" id="{0E1A59EF-19D3-0D45-8377-29A0A9A5263C}"/>
              </a:ext>
            </a:extLst>
          </p:cNvPr>
          <p:cNvSpPr txBox="1"/>
          <p:nvPr/>
        </p:nvSpPr>
        <p:spPr>
          <a:xfrm>
            <a:off x="6832600" y="45212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復旧</a:t>
            </a:r>
            <a:r>
              <a:rPr lang="en-US" altLang="ja-JP" sz="1100">
                <a:solidFill>
                  <a:srgbClr val="1D2125"/>
                </a:solidFill>
                <a:latin typeface="Yu Gothic UI"/>
                <a:ea typeface="Yu Gothic UI"/>
              </a:rPr>
              <a:t>14</a:t>
            </a:r>
            <a:r>
              <a:rPr lang="ja-JP" altLang="en-US" sz="1100">
                <a:solidFill>
                  <a:srgbClr val="1D2125"/>
                </a:solidFill>
                <a:latin typeface="Yu Gothic UI"/>
                <a:ea typeface="Yu Gothic UI"/>
              </a:rPr>
              <a:t>日・</a:t>
            </a:r>
            <a:r>
              <a:rPr lang="en-US" altLang="ja-JP" sz="1100">
                <a:solidFill>
                  <a:srgbClr val="1D2125"/>
                </a:solidFill>
                <a:latin typeface="Yu Gothic UI"/>
                <a:ea typeface="Yu Gothic UI"/>
              </a:rPr>
              <a:t>99.9%</a:t>
            </a:r>
            <a:r>
              <a:rPr lang="ja-JP" altLang="en-US" sz="1100">
                <a:solidFill>
                  <a:srgbClr val="1D2125"/>
                </a:solidFill>
                <a:latin typeface="Yu Gothic UI"/>
                <a:ea typeface="Yu Gothic UI"/>
              </a:rPr>
              <a:t>で凍結。許容水準の合意が残る</a:t>
            </a:r>
          </a:p>
        </p:txBody>
      </p:sp>
      <p:sp>
        <p:nvSpPr>
          <p:cNvPr id="189" name="正方形/長方形 188">
            <a:extLst>
              <a:ext uri="{FF2B5EF4-FFF2-40B4-BE49-F238E27FC236}">
                <a16:creationId xmlns:a16="http://schemas.microsoft.com/office/drawing/2014/main" id="{00FB4BD1-FFF3-E84D-BA6E-D9C0AFE0197B}"/>
              </a:ext>
            </a:extLst>
          </p:cNvPr>
          <p:cNvSpPr/>
          <p:nvPr/>
        </p:nvSpPr>
        <p:spPr>
          <a:xfrm>
            <a:off x="812800" y="51435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0" name="テキスト ボックス 189">
            <a:extLst>
              <a:ext uri="{FF2B5EF4-FFF2-40B4-BE49-F238E27FC236}">
                <a16:creationId xmlns:a16="http://schemas.microsoft.com/office/drawing/2014/main" id="{19CF6889-A4E2-5347-96AC-C2312DD3A7F0}"/>
              </a:ext>
            </a:extLst>
          </p:cNvPr>
          <p:cNvSpPr txBox="1"/>
          <p:nvPr/>
        </p:nvSpPr>
        <p:spPr>
          <a:xfrm>
            <a:off x="914400" y="48768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セキュリティ</a:t>
            </a:r>
          </a:p>
        </p:txBody>
      </p:sp>
      <p:sp>
        <p:nvSpPr>
          <p:cNvPr id="191" name="テキスト ボックス 190">
            <a:extLst>
              <a:ext uri="{FF2B5EF4-FFF2-40B4-BE49-F238E27FC236}">
                <a16:creationId xmlns:a16="http://schemas.microsoft.com/office/drawing/2014/main" id="{5206339B-E234-C543-9186-FAC63BFC77CD}"/>
              </a:ext>
            </a:extLst>
          </p:cNvPr>
          <p:cNvSpPr txBox="1"/>
          <p:nvPr/>
        </p:nvSpPr>
        <p:spPr>
          <a:xfrm>
            <a:off x="2565400" y="48768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21</a:t>
            </a:r>
            <a:endParaRPr lang="ja-JP" altLang="en-US" sz="1100">
              <a:solidFill>
                <a:srgbClr val="5A6472"/>
              </a:solidFill>
              <a:latin typeface="Yu Gothic UI"/>
              <a:ea typeface="Yu Gothic UI"/>
            </a:endParaRPr>
          </a:p>
        </p:txBody>
      </p:sp>
      <p:sp>
        <p:nvSpPr>
          <p:cNvPr id="192" name="テキスト ボックス 191">
            <a:extLst>
              <a:ext uri="{FF2B5EF4-FFF2-40B4-BE49-F238E27FC236}">
                <a16:creationId xmlns:a16="http://schemas.microsoft.com/office/drawing/2014/main" id="{5DBF0522-28E2-AB46-B05D-0E4D17E06D18}"/>
              </a:ext>
            </a:extLst>
          </p:cNvPr>
          <p:cNvSpPr txBox="1"/>
          <p:nvPr/>
        </p:nvSpPr>
        <p:spPr>
          <a:xfrm>
            <a:off x="3200400" y="48768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暗号化・資格情報の扱い・攻撃対策</a:t>
            </a:r>
          </a:p>
        </p:txBody>
      </p:sp>
      <p:sp>
        <p:nvSpPr>
          <p:cNvPr id="193" name="テキスト ボックス 192">
            <a:extLst>
              <a:ext uri="{FF2B5EF4-FFF2-40B4-BE49-F238E27FC236}">
                <a16:creationId xmlns:a16="http://schemas.microsoft.com/office/drawing/2014/main" id="{7C96B122-0EB1-D040-8D02-291478016628}"/>
              </a:ext>
            </a:extLst>
          </p:cNvPr>
          <p:cNvSpPr txBox="1"/>
          <p:nvPr/>
        </p:nvSpPr>
        <p:spPr>
          <a:xfrm>
            <a:off x="6832600" y="48768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暗号化と資格情報は確定。境界設定は他組織の管理範囲</a:t>
            </a:r>
          </a:p>
        </p:txBody>
      </p:sp>
      <p:sp>
        <p:nvSpPr>
          <p:cNvPr id="194" name="正方形/長方形 193">
            <a:extLst>
              <a:ext uri="{FF2B5EF4-FFF2-40B4-BE49-F238E27FC236}">
                <a16:creationId xmlns:a16="http://schemas.microsoft.com/office/drawing/2014/main" id="{1BF44DA0-CC47-4D4A-8B1A-113BDF4CFF5B}"/>
              </a:ext>
            </a:extLst>
          </p:cNvPr>
          <p:cNvSpPr/>
          <p:nvPr/>
        </p:nvSpPr>
        <p:spPr>
          <a:xfrm>
            <a:off x="812800" y="51562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5" name="正方形/長方形 194">
            <a:extLst>
              <a:ext uri="{FF2B5EF4-FFF2-40B4-BE49-F238E27FC236}">
                <a16:creationId xmlns:a16="http://schemas.microsoft.com/office/drawing/2014/main" id="{5262C8AE-76F1-4F40-94EA-2EE7C43A548C}"/>
              </a:ext>
            </a:extLst>
          </p:cNvPr>
          <p:cNvSpPr/>
          <p:nvPr/>
        </p:nvSpPr>
        <p:spPr>
          <a:xfrm>
            <a:off x="812800" y="54991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96" name="テキスト ボックス 195">
            <a:extLst>
              <a:ext uri="{FF2B5EF4-FFF2-40B4-BE49-F238E27FC236}">
                <a16:creationId xmlns:a16="http://schemas.microsoft.com/office/drawing/2014/main" id="{438F271E-E579-1146-98F1-9B4B61E354C8}"/>
              </a:ext>
            </a:extLst>
          </p:cNvPr>
          <p:cNvSpPr txBox="1"/>
          <p:nvPr/>
        </p:nvSpPr>
        <p:spPr>
          <a:xfrm>
            <a:off x="914400" y="52324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法令とコンプライアンス</a:t>
            </a:r>
          </a:p>
        </p:txBody>
      </p:sp>
      <p:sp>
        <p:nvSpPr>
          <p:cNvPr id="197" name="テキスト ボックス 196">
            <a:extLst>
              <a:ext uri="{FF2B5EF4-FFF2-40B4-BE49-F238E27FC236}">
                <a16:creationId xmlns:a16="http://schemas.microsoft.com/office/drawing/2014/main" id="{87BE6D49-17D9-5742-942C-00887DF66321}"/>
              </a:ext>
            </a:extLst>
          </p:cNvPr>
          <p:cNvSpPr txBox="1"/>
          <p:nvPr/>
        </p:nvSpPr>
        <p:spPr>
          <a:xfrm>
            <a:off x="2565400" y="52324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11</a:t>
            </a:r>
            <a:endParaRPr lang="ja-JP" altLang="en-US" sz="1100">
              <a:solidFill>
                <a:srgbClr val="5A6472"/>
              </a:solidFill>
              <a:latin typeface="Yu Gothic UI"/>
              <a:ea typeface="Yu Gothic UI"/>
            </a:endParaRPr>
          </a:p>
        </p:txBody>
      </p:sp>
      <p:sp>
        <p:nvSpPr>
          <p:cNvPr id="198" name="テキスト ボックス 197">
            <a:extLst>
              <a:ext uri="{FF2B5EF4-FFF2-40B4-BE49-F238E27FC236}">
                <a16:creationId xmlns:a16="http://schemas.microsoft.com/office/drawing/2014/main" id="{1A29D622-F907-9B43-B404-03E59AA001E1}"/>
              </a:ext>
            </a:extLst>
          </p:cNvPr>
          <p:cNvSpPr txBox="1"/>
          <p:nvPr/>
        </p:nvSpPr>
        <p:spPr>
          <a:xfrm>
            <a:off x="3200400" y="52324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準拠する法令と監査・認証への対応</a:t>
            </a:r>
          </a:p>
        </p:txBody>
      </p:sp>
      <p:sp>
        <p:nvSpPr>
          <p:cNvPr id="199" name="テキスト ボックス 198">
            <a:extLst>
              <a:ext uri="{FF2B5EF4-FFF2-40B4-BE49-F238E27FC236}">
                <a16:creationId xmlns:a16="http://schemas.microsoft.com/office/drawing/2014/main" id="{08651655-1579-E244-8271-7120DC02AA03}"/>
              </a:ext>
            </a:extLst>
          </p:cNvPr>
          <p:cNvSpPr txBox="1"/>
          <p:nvPr/>
        </p:nvSpPr>
        <p:spPr>
          <a:xfrm>
            <a:off x="6832600" y="52324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対象法令と認証取得の要否が顧客回答待ち。外部依存が最多</a:t>
            </a:r>
          </a:p>
        </p:txBody>
      </p:sp>
      <p:sp>
        <p:nvSpPr>
          <p:cNvPr id="200" name="正方形/長方形 199">
            <a:extLst>
              <a:ext uri="{FF2B5EF4-FFF2-40B4-BE49-F238E27FC236}">
                <a16:creationId xmlns:a16="http://schemas.microsoft.com/office/drawing/2014/main" id="{2248BB14-4D3A-A547-808F-4339BF08E147}"/>
              </a:ext>
            </a:extLst>
          </p:cNvPr>
          <p:cNvSpPr/>
          <p:nvPr/>
        </p:nvSpPr>
        <p:spPr>
          <a:xfrm>
            <a:off x="812800" y="58547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1" name="テキスト ボックス 200">
            <a:extLst>
              <a:ext uri="{FF2B5EF4-FFF2-40B4-BE49-F238E27FC236}">
                <a16:creationId xmlns:a16="http://schemas.microsoft.com/office/drawing/2014/main" id="{ADAD3CA0-A7C5-854C-9F08-3263F7A1AEB2}"/>
              </a:ext>
            </a:extLst>
          </p:cNvPr>
          <p:cNvSpPr txBox="1"/>
          <p:nvPr/>
        </p:nvSpPr>
        <p:spPr>
          <a:xfrm>
            <a:off x="914400" y="55880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運用と監視</a:t>
            </a:r>
          </a:p>
        </p:txBody>
      </p:sp>
      <p:sp>
        <p:nvSpPr>
          <p:cNvPr id="202" name="テキスト ボックス 201">
            <a:extLst>
              <a:ext uri="{FF2B5EF4-FFF2-40B4-BE49-F238E27FC236}">
                <a16:creationId xmlns:a16="http://schemas.microsoft.com/office/drawing/2014/main" id="{47A77983-2A9E-CC4B-AFBA-3451DE88C86F}"/>
              </a:ext>
            </a:extLst>
          </p:cNvPr>
          <p:cNvSpPr txBox="1"/>
          <p:nvPr/>
        </p:nvSpPr>
        <p:spPr>
          <a:xfrm>
            <a:off x="2565400" y="55880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11</a:t>
            </a:r>
            <a:endParaRPr lang="ja-JP" altLang="en-US" sz="1100">
              <a:solidFill>
                <a:srgbClr val="5A6472"/>
              </a:solidFill>
              <a:latin typeface="Yu Gothic UI"/>
              <a:ea typeface="Yu Gothic UI"/>
            </a:endParaRPr>
          </a:p>
        </p:txBody>
      </p:sp>
      <p:sp>
        <p:nvSpPr>
          <p:cNvPr id="203" name="テキスト ボックス 202">
            <a:extLst>
              <a:ext uri="{FF2B5EF4-FFF2-40B4-BE49-F238E27FC236}">
                <a16:creationId xmlns:a16="http://schemas.microsoft.com/office/drawing/2014/main" id="{A8335832-0EEE-7645-8F10-C823E83EC1CF}"/>
              </a:ext>
            </a:extLst>
          </p:cNvPr>
          <p:cNvSpPr txBox="1"/>
          <p:nvPr/>
        </p:nvSpPr>
        <p:spPr>
          <a:xfrm>
            <a:off x="3200400" y="55880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監視・更新・体制の取り決め</a:t>
            </a:r>
          </a:p>
        </p:txBody>
      </p:sp>
      <p:sp>
        <p:nvSpPr>
          <p:cNvPr id="204" name="テキスト ボックス 203">
            <a:extLst>
              <a:ext uri="{FF2B5EF4-FFF2-40B4-BE49-F238E27FC236}">
                <a16:creationId xmlns:a16="http://schemas.microsoft.com/office/drawing/2014/main" id="{114DE267-CD13-E04D-80BD-65AE98F3C2EC}"/>
              </a:ext>
            </a:extLst>
          </p:cNvPr>
          <p:cNvSpPr txBox="1"/>
          <p:nvPr/>
        </p:nvSpPr>
        <p:spPr>
          <a:xfrm>
            <a:off x="6832600" y="55880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方式は決定済み。体制の合意と手順書の執筆が残る</a:t>
            </a:r>
          </a:p>
        </p:txBody>
      </p:sp>
      <p:sp>
        <p:nvSpPr>
          <p:cNvPr id="205" name="正方形/長方形 204">
            <a:extLst>
              <a:ext uri="{FF2B5EF4-FFF2-40B4-BE49-F238E27FC236}">
                <a16:creationId xmlns:a16="http://schemas.microsoft.com/office/drawing/2014/main" id="{DD1FDD93-65D2-544C-AA60-414D9DDAE4A9}"/>
              </a:ext>
            </a:extLst>
          </p:cNvPr>
          <p:cNvSpPr/>
          <p:nvPr/>
        </p:nvSpPr>
        <p:spPr>
          <a:xfrm>
            <a:off x="812800" y="5867400"/>
            <a:ext cx="10566400" cy="355600"/>
          </a:xfrm>
          <a:prstGeom prst="rect">
            <a:avLst/>
          </a:prstGeom>
          <a:solidFill>
            <a:srgbClr val="F7F9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6" name="正方形/長方形 205">
            <a:extLst>
              <a:ext uri="{FF2B5EF4-FFF2-40B4-BE49-F238E27FC236}">
                <a16:creationId xmlns:a16="http://schemas.microsoft.com/office/drawing/2014/main" id="{7B0AE50E-3C00-C941-9670-7AAE477931A1}"/>
              </a:ext>
            </a:extLst>
          </p:cNvPr>
          <p:cNvSpPr/>
          <p:nvPr/>
        </p:nvSpPr>
        <p:spPr>
          <a:xfrm>
            <a:off x="812800" y="6210300"/>
            <a:ext cx="10566400" cy="12700"/>
          </a:xfrm>
          <a:prstGeom prst="rect">
            <a:avLst/>
          </a:prstGeom>
          <a:solidFill>
            <a:srgbClr val="E4E9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7" name="テキスト ボックス 206">
            <a:extLst>
              <a:ext uri="{FF2B5EF4-FFF2-40B4-BE49-F238E27FC236}">
                <a16:creationId xmlns:a16="http://schemas.microsoft.com/office/drawing/2014/main" id="{DF102A21-C87E-8640-B784-000BCAA3C03B}"/>
              </a:ext>
            </a:extLst>
          </p:cNvPr>
          <p:cNvSpPr txBox="1"/>
          <p:nvPr/>
        </p:nvSpPr>
        <p:spPr>
          <a:xfrm>
            <a:off x="914400" y="5943600"/>
            <a:ext cx="1574800" cy="203200"/>
          </a:xfrm>
          <a:prstGeom prst="rect">
            <a:avLst/>
          </a:prstGeom>
          <a:noFill/>
        </p:spPr>
        <p:txBody>
          <a:bodyPr vertOverflow="overflow" vert="horz" wrap="square" rtlCol="0" anchor="t" anchorCtr="0">
            <a:noAutofit/>
          </a:bodyPr>
          <a:lstStyle/>
          <a:p>
            <a:pPr algn="l"/>
            <a:r>
              <a:rPr lang="ja-JP" altLang="en-US" sz="1100" b="1">
                <a:solidFill>
                  <a:srgbClr val="1D2125"/>
                </a:solidFill>
                <a:latin typeface="Yu Gothic UI"/>
                <a:ea typeface="Yu Gothic UI"/>
              </a:rPr>
              <a:t>コストと移行</a:t>
            </a:r>
          </a:p>
        </p:txBody>
      </p:sp>
      <p:sp>
        <p:nvSpPr>
          <p:cNvPr id="208" name="テキスト ボックス 207">
            <a:extLst>
              <a:ext uri="{FF2B5EF4-FFF2-40B4-BE49-F238E27FC236}">
                <a16:creationId xmlns:a16="http://schemas.microsoft.com/office/drawing/2014/main" id="{4A5660EF-49F2-A54C-8A3C-B3EEF5909550}"/>
              </a:ext>
            </a:extLst>
          </p:cNvPr>
          <p:cNvSpPr txBox="1"/>
          <p:nvPr/>
        </p:nvSpPr>
        <p:spPr>
          <a:xfrm>
            <a:off x="2565400" y="5943600"/>
            <a:ext cx="431800" cy="203200"/>
          </a:xfrm>
          <a:prstGeom prst="rect">
            <a:avLst/>
          </a:prstGeom>
          <a:noFill/>
        </p:spPr>
        <p:txBody>
          <a:bodyPr vertOverflow="overflow" vert="horz" wrap="square" rtlCol="0" anchor="t" anchorCtr="0">
            <a:noAutofit/>
          </a:bodyPr>
          <a:lstStyle/>
          <a:p>
            <a:pPr algn="l"/>
            <a:r>
              <a:rPr lang="en-US" altLang="ja-JP" sz="1100">
                <a:solidFill>
                  <a:srgbClr val="5A6472"/>
                </a:solidFill>
                <a:latin typeface="Yu Gothic UI"/>
                <a:ea typeface="Yu Gothic UI"/>
              </a:rPr>
              <a:t>16</a:t>
            </a:r>
            <a:endParaRPr lang="ja-JP" altLang="en-US" sz="1100">
              <a:solidFill>
                <a:srgbClr val="5A6472"/>
              </a:solidFill>
              <a:latin typeface="Yu Gothic UI"/>
              <a:ea typeface="Yu Gothic UI"/>
            </a:endParaRPr>
          </a:p>
        </p:txBody>
      </p:sp>
      <p:sp>
        <p:nvSpPr>
          <p:cNvPr id="209" name="テキスト ボックス 208">
            <a:extLst>
              <a:ext uri="{FF2B5EF4-FFF2-40B4-BE49-F238E27FC236}">
                <a16:creationId xmlns:a16="http://schemas.microsoft.com/office/drawing/2014/main" id="{A5E0F4F5-6320-5845-BA4F-2BAEA5A34671}"/>
              </a:ext>
            </a:extLst>
          </p:cNvPr>
          <p:cNvSpPr txBox="1"/>
          <p:nvPr/>
        </p:nvSpPr>
        <p:spPr>
          <a:xfrm>
            <a:off x="3200400" y="5943600"/>
            <a:ext cx="3454400" cy="203200"/>
          </a:xfrm>
          <a:prstGeom prst="rect">
            <a:avLst/>
          </a:prstGeom>
          <a:noFill/>
        </p:spPr>
        <p:txBody>
          <a:bodyPr vertOverflow="overflow" vert="horz" wrap="square" rtlCol="0" anchor="t" anchorCtr="0">
            <a:noAutofit/>
          </a:bodyPr>
          <a:lstStyle/>
          <a:p>
            <a:pPr algn="l"/>
            <a:r>
              <a:rPr lang="ja-JP" altLang="en-US" sz="1100">
                <a:solidFill>
                  <a:srgbClr val="5A6472"/>
                </a:solidFill>
                <a:latin typeface="Yu Gothic UI"/>
                <a:ea typeface="Yu Gothic UI"/>
              </a:rPr>
              <a:t>費用の構造と既存システムからの移行</a:t>
            </a:r>
          </a:p>
        </p:txBody>
      </p:sp>
      <p:sp>
        <p:nvSpPr>
          <p:cNvPr id="210" name="テキスト ボックス 209">
            <a:extLst>
              <a:ext uri="{FF2B5EF4-FFF2-40B4-BE49-F238E27FC236}">
                <a16:creationId xmlns:a16="http://schemas.microsoft.com/office/drawing/2014/main" id="{DFFF3FBA-F880-C845-8FED-B5F1C9F2A240}"/>
              </a:ext>
            </a:extLst>
          </p:cNvPr>
          <p:cNvSpPr txBox="1"/>
          <p:nvPr/>
        </p:nvSpPr>
        <p:spPr>
          <a:xfrm>
            <a:off x="6832600" y="5943600"/>
            <a:ext cx="4470400" cy="203200"/>
          </a:xfrm>
          <a:prstGeom prst="rect">
            <a:avLst/>
          </a:prstGeom>
          <a:noFill/>
        </p:spPr>
        <p:txBody>
          <a:bodyPr vertOverflow="overflow" vert="horz" wrap="square" rtlCol="0" anchor="t" anchorCtr="0">
            <a:noAutofit/>
          </a:bodyPr>
          <a:lstStyle/>
          <a:p>
            <a:pPr algn="l"/>
            <a:r>
              <a:rPr lang="ja-JP" altLang="en-US" sz="1100">
                <a:solidFill>
                  <a:srgbClr val="1D2125"/>
                </a:solidFill>
                <a:latin typeface="Yu Gothic UI"/>
                <a:ea typeface="Yu Gothic UI"/>
              </a:rPr>
              <a:t>費用内訳は算出済み。移行は現行実態の回答待ち</a:t>
            </a:r>
          </a:p>
        </p:txBody>
      </p:sp>
      <p:sp>
        <p:nvSpPr>
          <p:cNvPr id="211" name="正方形/長方形 210">
            <a:extLst>
              <a:ext uri="{FF2B5EF4-FFF2-40B4-BE49-F238E27FC236}">
                <a16:creationId xmlns:a16="http://schemas.microsoft.com/office/drawing/2014/main" id="{5DAF2BEB-3FF2-2F43-BD0B-D6AB88009A5D}"/>
              </a:ext>
            </a:extLst>
          </p:cNvPr>
          <p:cNvSpPr/>
          <p:nvPr/>
        </p:nvSpPr>
        <p:spPr>
          <a:xfrm>
            <a:off x="812800" y="6350000"/>
            <a:ext cx="38100" cy="431800"/>
          </a:xfrm>
          <a:prstGeom prst="rect">
            <a:avLst/>
          </a:prstGeom>
          <a:solidFill>
            <a:srgbClr val="1E7B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2" name="テキスト ボックス 211">
            <a:extLst>
              <a:ext uri="{FF2B5EF4-FFF2-40B4-BE49-F238E27FC236}">
                <a16:creationId xmlns:a16="http://schemas.microsoft.com/office/drawing/2014/main" id="{B77A3EB8-CF2C-A24A-8C3F-1F50F466EEE4}"/>
              </a:ext>
            </a:extLst>
          </p:cNvPr>
          <p:cNvSpPr txBox="1"/>
          <p:nvPr/>
        </p:nvSpPr>
        <p:spPr>
          <a:xfrm>
            <a:off x="990600" y="6350000"/>
            <a:ext cx="10388600" cy="431800"/>
          </a:xfrm>
          <a:prstGeom prst="rect">
            <a:avLst/>
          </a:prstGeom>
          <a:noFill/>
        </p:spPr>
        <p:txBody>
          <a:bodyPr vertOverflow="overflow" vert="horz" wrap="square" rtlCol="0" anchor="t" anchorCtr="0">
            <a:noAutofit/>
          </a:bodyPr>
          <a:lstStyle/>
          <a:p>
            <a:pPr algn="l"/>
            <a:r>
              <a:rPr lang="en-US" altLang="ja-JP" sz="1200" b="1">
                <a:solidFill>
                  <a:srgbClr val="1D2125"/>
                </a:solidFill>
                <a:latin typeface="Yu Gothic UI"/>
                <a:ea typeface="Yu Gothic UI"/>
              </a:rPr>
              <a:t>14</a:t>
            </a:r>
            <a:r>
              <a:rPr lang="ja-JP" altLang="en-US" sz="1200" b="1">
                <a:solidFill>
                  <a:srgbClr val="1D2125"/>
                </a:solidFill>
                <a:latin typeface="Yu Gothic UI"/>
                <a:ea typeface="Yu Gothic UI"/>
              </a:rPr>
              <a:t>領域のうち</a:t>
            </a:r>
            <a:r>
              <a:rPr lang="en-US" altLang="ja-JP" sz="1200" b="1">
                <a:solidFill>
                  <a:srgbClr val="1D2125"/>
                </a:solidFill>
                <a:latin typeface="Yu Gothic UI"/>
                <a:ea typeface="Yu Gothic UI"/>
              </a:rPr>
              <a:t>11</a:t>
            </a:r>
            <a:r>
              <a:rPr lang="ja-JP" altLang="en-US" sz="1200" b="1">
                <a:solidFill>
                  <a:srgbClr val="1D2125"/>
                </a:solidFill>
                <a:latin typeface="Yu Gothic UI"/>
                <a:ea typeface="Yu Gothic UI"/>
              </a:rPr>
              <a:t>領域は「決まっている／残るのは確認だけ」の状態です。設計そのものが止まっているのは</a:t>
            </a:r>
            <a:r>
              <a:rPr lang="en-US" altLang="ja-JP" sz="1200" b="1">
                <a:solidFill>
                  <a:srgbClr val="1D2125"/>
                </a:solidFill>
                <a:latin typeface="Yu Gothic UI"/>
                <a:ea typeface="Yu Gothic UI"/>
              </a:rPr>
              <a:t>1</a:t>
            </a:r>
            <a:r>
              <a:rPr lang="ja-JP" altLang="en-US" sz="1200" b="1">
                <a:solidFill>
                  <a:srgbClr val="1D2125"/>
                </a:solidFill>
                <a:latin typeface="Yu Gothic UI"/>
                <a:ea typeface="Yu Gothic UI"/>
              </a:rPr>
              <a:t>領域もなく、残っているのは顧客・他組織への確認と、自社での実測・執筆に収束しています。</a:t>
            </a:r>
          </a:p>
        </p:txBody>
      </p:sp>
    </p:spTree>
    <p:extLst>
      <p:ext uri="{BB962C8B-B14F-4D97-AF65-F5344CB8AC3E}">
        <p14:creationId xmlns:p14="http://schemas.microsoft.com/office/powerpoint/2010/main" val="20252756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E347A31-9245-7043-97CD-30CDB0015324}">
  <we:reference id="wa200010001" version="1.0.0.1" store="en-US" storeType="OMEX"/>
  <we:alternateReferences>
    <we:reference id="wa200010001" version="1.0.0.1" store="" storeType="OMEX"/>
  </we:alternateReferences>
  <we:properties>
    <we:property name="claude.fileId" value="&quot;3a5e6f03-0453-4769-bc82-3f8b8cf791ae&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AD01E24-87D9-FD49-A71D-7DD4941CCA1D}">
  <we:reference id="wa200010725" version="1.0.0.1" store="en-US" storeType="OMEX"/>
  <we:alternateReferences>
    <we:reference id="WA200010725" version="1.0.0.1" store="" storeType="OMEX"/>
  </we:alternateReferences>
  <we:properties>
    <we:property name="claude.fileId" value="&quot;fa3fab3d-d675-47fe-9eed-913b027c89b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286</TotalTime>
  <Words>13503</Words>
  <Application>Microsoft Macintosh PowerPoint</Application>
  <PresentationFormat>ワイド画面</PresentationFormat>
  <Paragraphs>1517</Paragraphs>
  <Slides>46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46</vt:i4>
      </vt:variant>
    </vt:vector>
  </HeadingPairs>
  <TitlesOfParts>
    <vt:vector size="51" baseType="lpstr">
      <vt:lpstr>Yu Gothic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昌平 末永</dc:creator>
  <cp:lastModifiedBy>昌平 末永</cp:lastModifiedBy>
  <cp:revision>4</cp:revision>
  <dcterms:created xsi:type="dcterms:W3CDTF">2026-08-12T02:18:23Z</dcterms:created>
  <dcterms:modified xsi:type="dcterms:W3CDTF">2026-08-12T07:05:05Z</dcterms:modified>
</cp:coreProperties>
</file>