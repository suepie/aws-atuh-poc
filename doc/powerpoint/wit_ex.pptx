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6" r:id="rId18"/>
    <p:sldId id="277" r:id="rId19"/>
    <p:sldId id="272" r:id="rId20"/>
    <p:sldId id="273" r:id="rId21"/>
    <p:sldId id="274" r:id="rId22"/>
    <p:sldId id="275" r:id="rId23"/>
    <p:sldId id="278" r:id="rId24"/>
    <p:sldId id="279" r:id="rId25"/>
    <p:sldId id="280" r:id="rId2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2B4A"/>
    <a:srgbClr val="A825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16"/>
    <p:restoredTop sz="94719"/>
  </p:normalViewPr>
  <p:slideViewPr>
    <p:cSldViewPr snapToGrid="0">
      <p:cViewPr>
        <p:scale>
          <a:sx n="86" d="100"/>
          <a:sy n="86" d="100"/>
        </p:scale>
        <p:origin x="3056" y="8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3037961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29155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758581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727261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618442"/>
            <a:ext cx="2901255"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618442"/>
            <a:ext cx="2915543"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1716430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2872078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187144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1866396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3974295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3611019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36EDD24-1FCA-A44D-984E-6056B96FE4A9}" type="datetimeFigureOut">
              <a:rPr kumimoji="1" lang="ja-JP" altLang="en-US" smtClean="0"/>
              <a:t>2026/8/13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2542062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236EDD24-1FCA-A44D-984E-6056B96FE4A9}" type="datetimeFigureOut">
              <a:rPr kumimoji="1" lang="ja-JP" altLang="en-US" smtClean="0"/>
              <a:t>2026/8/13</a:t>
            </a:fld>
            <a:endParaRPr kumimoji="1" lang="ja-JP"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07803F15-C764-D843-87B5-5654473B2912}" type="slidenum">
              <a:rPr kumimoji="1" lang="ja-JP" altLang="en-US" smtClean="0"/>
              <a:t>‹#›</a:t>
            </a:fld>
            <a:endParaRPr kumimoji="1" lang="ja-JP" altLang="en-US"/>
          </a:p>
        </p:txBody>
      </p:sp>
    </p:spTree>
    <p:extLst>
      <p:ext uri="{BB962C8B-B14F-4D97-AF65-F5344CB8AC3E}">
        <p14:creationId xmlns:p14="http://schemas.microsoft.com/office/powerpoint/2010/main" val="2402585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B0FE927F-1FA9-554C-AE0A-A6972B6B9ABA}"/>
              </a:ext>
            </a:extLst>
          </p:cNvPr>
          <p:cNvSpPr/>
          <p:nvPr/>
        </p:nvSpPr>
        <p:spPr>
          <a:xfrm>
            <a:off x="0" y="0"/>
            <a:ext cx="6858000" cy="11049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7" name="正方形/長方形 6">
            <a:extLst>
              <a:ext uri="{FF2B5EF4-FFF2-40B4-BE49-F238E27FC236}">
                <a16:creationId xmlns:a16="http://schemas.microsoft.com/office/drawing/2014/main" id="{A1A647C8-1FDC-3347-B99B-32F047C62B84}"/>
              </a:ext>
            </a:extLst>
          </p:cNvPr>
          <p:cNvSpPr/>
          <p:nvPr/>
        </p:nvSpPr>
        <p:spPr>
          <a:xfrm>
            <a:off x="0" y="1104900"/>
            <a:ext cx="6858000" cy="508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9" name="テキスト ボックス 8">
            <a:extLst>
              <a:ext uri="{FF2B5EF4-FFF2-40B4-BE49-F238E27FC236}">
                <a16:creationId xmlns:a16="http://schemas.microsoft.com/office/drawing/2014/main" id="{E48B39A1-F35A-F440-9D2C-418D7EAFF9E2}"/>
              </a:ext>
            </a:extLst>
          </p:cNvPr>
          <p:cNvSpPr txBox="1"/>
          <p:nvPr/>
        </p:nvSpPr>
        <p:spPr>
          <a:xfrm>
            <a:off x="2755900" y="342900"/>
            <a:ext cx="3670300" cy="228600"/>
          </a:xfrm>
          <a:prstGeom prst="rect">
            <a:avLst/>
          </a:prstGeom>
          <a:noFill/>
        </p:spPr>
        <p:txBody>
          <a:bodyPr vertOverflow="overflow" vert="horz" wrap="square" rtlCol="0" anchor="ctr" anchorCtr="0">
            <a:noAutofit/>
          </a:bodyPr>
          <a:lstStyle/>
          <a:p>
            <a:pPr algn="l"/>
            <a:r>
              <a:rPr lang="ja-JP" altLang="en-US" sz="1040">
                <a:solidFill>
                  <a:srgbClr val="FFFFFF"/>
                </a:solidFill>
                <a:latin typeface="Meiryo"/>
                <a:ea typeface="Meiryo"/>
              </a:rPr>
              <a:t>生成</a:t>
            </a:r>
            <a:r>
              <a:rPr lang="en" altLang="ja-JP" sz="1040">
                <a:solidFill>
                  <a:srgbClr val="FFFFFF"/>
                </a:solidFill>
                <a:latin typeface="Meiryo"/>
                <a:ea typeface="Meiryo"/>
              </a:rPr>
              <a:t>AI</a:t>
            </a:r>
            <a:r>
              <a:rPr lang="ja-JP" altLang="en-US" sz="1040">
                <a:solidFill>
                  <a:srgbClr val="FFFFFF"/>
                </a:solidFill>
                <a:latin typeface="Meiryo"/>
                <a:ea typeface="Meiryo"/>
              </a:rPr>
              <a:t>セキュリティ・ガバナンスソリューション</a:t>
            </a:r>
          </a:p>
        </p:txBody>
      </p:sp>
      <p:sp>
        <p:nvSpPr>
          <p:cNvPr id="10" name="テキスト ボックス 9">
            <a:extLst>
              <a:ext uri="{FF2B5EF4-FFF2-40B4-BE49-F238E27FC236}">
                <a16:creationId xmlns:a16="http://schemas.microsoft.com/office/drawing/2014/main" id="{6416D895-9D8D-CC4C-94C5-8DD6AE11F458}"/>
              </a:ext>
            </a:extLst>
          </p:cNvPr>
          <p:cNvSpPr txBox="1"/>
          <p:nvPr/>
        </p:nvSpPr>
        <p:spPr>
          <a:xfrm>
            <a:off x="2755900" y="596900"/>
            <a:ext cx="3670300" cy="203200"/>
          </a:xfrm>
          <a:prstGeom prst="rect">
            <a:avLst/>
          </a:prstGeom>
          <a:noFill/>
        </p:spPr>
        <p:txBody>
          <a:bodyPr vertOverflow="overflow" vert="horz" wrap="square" rtlCol="0" anchor="ctr" anchorCtr="0">
            <a:noAutofit/>
          </a:bodyPr>
          <a:lstStyle/>
          <a:p>
            <a:pPr algn="l"/>
            <a:r>
              <a:rPr lang="ja-JP" altLang="en-US" sz="860">
                <a:solidFill>
                  <a:srgbClr val="FFFFFF"/>
                </a:solidFill>
                <a:latin typeface="Meiryo"/>
                <a:ea typeface="Meiryo"/>
              </a:rPr>
              <a:t>提供：</a:t>
            </a:r>
            <a:r>
              <a:rPr lang="en" altLang="ja-JP" sz="860">
                <a:solidFill>
                  <a:srgbClr val="FFFFFF"/>
                </a:solidFill>
                <a:latin typeface="Meiryo"/>
                <a:ea typeface="Meiryo"/>
              </a:rPr>
              <a:t>JSOL</a:t>
            </a:r>
            <a:endParaRPr lang="ja-JP" altLang="en-US" sz="860">
              <a:solidFill>
                <a:srgbClr val="FFFFFF"/>
              </a:solidFill>
              <a:latin typeface="Meiryo"/>
              <a:ea typeface="Meiryo"/>
            </a:endParaRPr>
          </a:p>
        </p:txBody>
      </p:sp>
      <p:sp>
        <p:nvSpPr>
          <p:cNvPr id="11" name="テキスト ボックス 10">
            <a:extLst>
              <a:ext uri="{FF2B5EF4-FFF2-40B4-BE49-F238E27FC236}">
                <a16:creationId xmlns:a16="http://schemas.microsoft.com/office/drawing/2014/main" id="{F3CE59E3-1A0B-D940-BDE2-02A10A291511}"/>
              </a:ext>
            </a:extLst>
          </p:cNvPr>
          <p:cNvSpPr txBox="1"/>
          <p:nvPr/>
        </p:nvSpPr>
        <p:spPr>
          <a:xfrm>
            <a:off x="406400" y="1333500"/>
            <a:ext cx="6019800" cy="635000"/>
          </a:xfrm>
          <a:prstGeom prst="rect">
            <a:avLst/>
          </a:prstGeom>
          <a:noFill/>
        </p:spPr>
        <p:txBody>
          <a:bodyPr vertOverflow="overflow" vert="horz" wrap="square" rtlCol="0" anchor="t" anchorCtr="0">
            <a:noAutofit/>
          </a:bodyPr>
          <a:lstStyle/>
          <a:p>
            <a:pPr algn="l"/>
            <a:r>
              <a:rPr lang="ja-JP" altLang="en-US" sz="1810" b="1">
                <a:solidFill>
                  <a:srgbClr val="0B2545"/>
                </a:solidFill>
                <a:latin typeface="Meiryo"/>
                <a:ea typeface="Meiryo"/>
              </a:rPr>
              <a:t>生成</a:t>
            </a:r>
            <a:r>
              <a:rPr lang="en" altLang="ja-JP" sz="1810" b="1">
                <a:solidFill>
                  <a:srgbClr val="0B2545"/>
                </a:solidFill>
                <a:latin typeface="Meiryo"/>
                <a:ea typeface="Meiryo"/>
              </a:rPr>
              <a:t>AI</a:t>
            </a:r>
            <a:r>
              <a:rPr lang="ja-JP" altLang="en-US" sz="1810" b="1">
                <a:solidFill>
                  <a:srgbClr val="0B2545"/>
                </a:solidFill>
                <a:latin typeface="Meiryo"/>
                <a:ea typeface="Meiryo"/>
              </a:rPr>
              <a:t>の業務利用拡大を、
可視化・統制・運用の観点から支援。</a:t>
            </a:r>
          </a:p>
        </p:txBody>
      </p:sp>
      <p:sp>
        <p:nvSpPr>
          <p:cNvPr id="12" name="テキスト ボックス 11">
            <a:extLst>
              <a:ext uri="{FF2B5EF4-FFF2-40B4-BE49-F238E27FC236}">
                <a16:creationId xmlns:a16="http://schemas.microsoft.com/office/drawing/2014/main" id="{635B4A20-2F7A-FA41-A756-F5F96CCCA914}"/>
              </a:ext>
            </a:extLst>
          </p:cNvPr>
          <p:cNvSpPr txBox="1"/>
          <p:nvPr/>
        </p:nvSpPr>
        <p:spPr>
          <a:xfrm>
            <a:off x="406400" y="2044700"/>
            <a:ext cx="6019800" cy="4953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生成</a:t>
            </a:r>
            <a:r>
              <a:rPr lang="en" altLang="ja-JP" sz="950">
                <a:solidFill>
                  <a:srgbClr val="333333"/>
                </a:solidFill>
                <a:latin typeface="Meiryo"/>
                <a:ea typeface="Meiryo"/>
              </a:rPr>
              <a:t>AI</a:t>
            </a:r>
            <a:r>
              <a:rPr lang="ja-JP" altLang="en-US" sz="950">
                <a:solidFill>
                  <a:srgbClr val="333333"/>
                </a:solidFill>
                <a:latin typeface="Meiryo"/>
                <a:ea typeface="Meiryo"/>
              </a:rPr>
              <a:t>活用が急速に拡大する一方、シャドー</a:t>
            </a:r>
            <a:r>
              <a:rPr lang="en" altLang="ja-JP" sz="950">
                <a:solidFill>
                  <a:srgbClr val="333333"/>
                </a:solidFill>
                <a:latin typeface="Meiryo"/>
                <a:ea typeface="Meiryo"/>
              </a:rPr>
              <a:t>AI</a:t>
            </a:r>
            <a:r>
              <a:rPr lang="ja-JP" altLang="en-US" sz="950">
                <a:solidFill>
                  <a:srgbClr val="333333"/>
                </a:solidFill>
                <a:latin typeface="Meiryo"/>
                <a:ea typeface="Meiryo"/>
              </a:rPr>
              <a:t>やプロンプトインジェクションを起点に機密情報が利用者の意図なく外部</a:t>
            </a:r>
            <a:r>
              <a:rPr lang="en" altLang="ja-JP" sz="950">
                <a:solidFill>
                  <a:srgbClr val="333333"/>
                </a:solidFill>
                <a:latin typeface="Meiryo"/>
                <a:ea typeface="Meiryo"/>
              </a:rPr>
              <a:t>AI</a:t>
            </a:r>
            <a:r>
              <a:rPr lang="ja-JP" altLang="en-US" sz="950">
                <a:solidFill>
                  <a:srgbClr val="333333"/>
                </a:solidFill>
                <a:latin typeface="Meiryo"/>
                <a:ea typeface="Meiryo"/>
              </a:rPr>
              <a:t>へ渡るリスクが顕在化。監視・ルール徹底・インシデント対応を含む、実効性ある</a:t>
            </a:r>
            <a:r>
              <a:rPr lang="en" altLang="ja-JP" sz="950">
                <a:solidFill>
                  <a:srgbClr val="333333"/>
                </a:solidFill>
                <a:latin typeface="Meiryo"/>
                <a:ea typeface="Meiryo"/>
              </a:rPr>
              <a:t>AI</a:t>
            </a:r>
            <a:r>
              <a:rPr lang="ja-JP" altLang="en-US" sz="950">
                <a:solidFill>
                  <a:srgbClr val="333333"/>
                </a:solidFill>
                <a:latin typeface="Meiryo"/>
                <a:ea typeface="Meiryo"/>
              </a:rPr>
              <a:t>ガバナンス体制が不可欠です。</a:t>
            </a:r>
          </a:p>
        </p:txBody>
      </p:sp>
      <p:sp>
        <p:nvSpPr>
          <p:cNvPr id="13" name="正方形/長方形 12">
            <a:extLst>
              <a:ext uri="{FF2B5EF4-FFF2-40B4-BE49-F238E27FC236}">
                <a16:creationId xmlns:a16="http://schemas.microsoft.com/office/drawing/2014/main" id="{D348F4B2-773B-014D-8065-E05912DB4445}"/>
              </a:ext>
            </a:extLst>
          </p:cNvPr>
          <p:cNvSpPr/>
          <p:nvPr/>
        </p:nvSpPr>
        <p:spPr>
          <a:xfrm>
            <a:off x="406400" y="2692400"/>
            <a:ext cx="63500" cy="2286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14" name="テキスト ボックス 13">
            <a:extLst>
              <a:ext uri="{FF2B5EF4-FFF2-40B4-BE49-F238E27FC236}">
                <a16:creationId xmlns:a16="http://schemas.microsoft.com/office/drawing/2014/main" id="{94ABFF20-8051-A043-B68B-366A87B843D8}"/>
              </a:ext>
            </a:extLst>
          </p:cNvPr>
          <p:cNvSpPr txBox="1"/>
          <p:nvPr/>
        </p:nvSpPr>
        <p:spPr>
          <a:xfrm>
            <a:off x="571500" y="2667000"/>
            <a:ext cx="4597400" cy="266700"/>
          </a:xfrm>
          <a:prstGeom prst="rect">
            <a:avLst/>
          </a:prstGeom>
          <a:noFill/>
        </p:spPr>
        <p:txBody>
          <a:bodyPr vertOverflow="overflow" vert="horz" wrap="square" rtlCol="0" anchor="t" anchorCtr="0">
            <a:noAutofit/>
          </a:bodyPr>
          <a:lstStyle/>
          <a:p>
            <a:pPr algn="l"/>
            <a:r>
              <a:rPr lang="ja-JP" altLang="en-US" sz="1360" b="1">
                <a:solidFill>
                  <a:srgbClr val="0B2545"/>
                </a:solidFill>
                <a:latin typeface="Meiryo"/>
                <a:ea typeface="Meiryo"/>
              </a:rPr>
              <a:t>なぜ今、</a:t>
            </a:r>
            <a:r>
              <a:rPr lang="en" altLang="ja-JP" sz="1360" b="1">
                <a:solidFill>
                  <a:srgbClr val="0B2545"/>
                </a:solidFill>
                <a:latin typeface="Meiryo"/>
                <a:ea typeface="Meiryo"/>
              </a:rPr>
              <a:t>AI</a:t>
            </a:r>
            <a:r>
              <a:rPr lang="ja-JP" altLang="en-US" sz="1360" b="1">
                <a:solidFill>
                  <a:srgbClr val="0B2545"/>
                </a:solidFill>
                <a:latin typeface="Meiryo"/>
                <a:ea typeface="Meiryo"/>
              </a:rPr>
              <a:t>ガバナンスが必要か</a:t>
            </a:r>
          </a:p>
        </p:txBody>
      </p:sp>
      <p:sp>
        <p:nvSpPr>
          <p:cNvPr id="15" name="テキスト ボックス 14">
            <a:extLst>
              <a:ext uri="{FF2B5EF4-FFF2-40B4-BE49-F238E27FC236}">
                <a16:creationId xmlns:a16="http://schemas.microsoft.com/office/drawing/2014/main" id="{35F26DCF-DBCA-AC4E-A1AE-636C3392F8E1}"/>
              </a:ext>
            </a:extLst>
          </p:cNvPr>
          <p:cNvSpPr txBox="1"/>
          <p:nvPr/>
        </p:nvSpPr>
        <p:spPr>
          <a:xfrm>
            <a:off x="406400" y="2971800"/>
            <a:ext cx="6019800" cy="177800"/>
          </a:xfrm>
          <a:prstGeom prst="rect">
            <a:avLst/>
          </a:prstGeom>
          <a:noFill/>
        </p:spPr>
        <p:txBody>
          <a:bodyPr vertOverflow="overflow" vert="horz" wrap="square" rtlCol="0" anchor="t" anchorCtr="0">
            <a:noAutofit/>
          </a:bodyPr>
          <a:lstStyle/>
          <a:p>
            <a:pPr algn="l"/>
            <a:r>
              <a:rPr lang="ja-JP" altLang="en-US" sz="910">
                <a:solidFill>
                  <a:srgbClr val="333333"/>
                </a:solidFill>
                <a:latin typeface="Meiryo"/>
                <a:ea typeface="Meiryo"/>
              </a:rPr>
              <a:t>シャドー</a:t>
            </a:r>
            <a:r>
              <a:rPr lang="en" altLang="ja-JP" sz="910">
                <a:solidFill>
                  <a:srgbClr val="333333"/>
                </a:solidFill>
                <a:latin typeface="Meiryo"/>
                <a:ea typeface="Meiryo"/>
              </a:rPr>
              <a:t>AI</a:t>
            </a:r>
            <a:r>
              <a:rPr lang="ja-JP" altLang="en-US" sz="910">
                <a:solidFill>
                  <a:srgbClr val="333333"/>
                </a:solidFill>
                <a:latin typeface="Meiryo"/>
                <a:ea typeface="Meiryo"/>
              </a:rPr>
              <a:t>による意図しないデータ流出、そして</a:t>
            </a:r>
            <a:r>
              <a:rPr lang="en" altLang="ja-JP" sz="910">
                <a:solidFill>
                  <a:srgbClr val="333333"/>
                </a:solidFill>
                <a:latin typeface="Meiryo"/>
                <a:ea typeface="Meiryo"/>
              </a:rPr>
              <a:t>AI</a:t>
            </a:r>
            <a:r>
              <a:rPr lang="ja-JP" altLang="en-US" sz="910">
                <a:solidFill>
                  <a:srgbClr val="333333"/>
                </a:solidFill>
                <a:latin typeface="Meiryo"/>
                <a:ea typeface="Meiryo"/>
              </a:rPr>
              <a:t>エージェントが自律的に動く時代。「個人のリテラシー」に委ねるだけでは限界があります。</a:t>
            </a:r>
          </a:p>
        </p:txBody>
      </p:sp>
      <p:sp>
        <p:nvSpPr>
          <p:cNvPr id="16" name="正方形/長方形 15">
            <a:extLst>
              <a:ext uri="{FF2B5EF4-FFF2-40B4-BE49-F238E27FC236}">
                <a16:creationId xmlns:a16="http://schemas.microsoft.com/office/drawing/2014/main" id="{A7208BA6-4848-1545-A78E-CC744F770468}"/>
              </a:ext>
            </a:extLst>
          </p:cNvPr>
          <p:cNvSpPr/>
          <p:nvPr/>
        </p:nvSpPr>
        <p:spPr>
          <a:xfrm>
            <a:off x="406400" y="3238500"/>
            <a:ext cx="1892300" cy="12827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17" name="正方形/長方形 16">
            <a:extLst>
              <a:ext uri="{FF2B5EF4-FFF2-40B4-BE49-F238E27FC236}">
                <a16:creationId xmlns:a16="http://schemas.microsoft.com/office/drawing/2014/main" id="{7FFA01C6-D3CE-B642-91F1-158BA67EF3C0}"/>
              </a:ext>
            </a:extLst>
          </p:cNvPr>
          <p:cNvSpPr/>
          <p:nvPr/>
        </p:nvSpPr>
        <p:spPr>
          <a:xfrm>
            <a:off x="406400" y="3238500"/>
            <a:ext cx="1892300" cy="381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18" name="正方形/長方形 17">
            <a:extLst>
              <a:ext uri="{FF2B5EF4-FFF2-40B4-BE49-F238E27FC236}">
                <a16:creationId xmlns:a16="http://schemas.microsoft.com/office/drawing/2014/main" id="{8919C7DD-E5B3-5040-9BEF-2B9C2FC9F0F2}"/>
              </a:ext>
            </a:extLst>
          </p:cNvPr>
          <p:cNvSpPr/>
          <p:nvPr/>
        </p:nvSpPr>
        <p:spPr>
          <a:xfrm>
            <a:off x="546100" y="3403600"/>
            <a:ext cx="292100" cy="2286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000" b="1">
                <a:solidFill>
                  <a:srgbClr val="FFFFFF"/>
                </a:solidFill>
                <a:latin typeface="Meiryo"/>
                <a:ea typeface="Meiryo"/>
              </a:rPr>
              <a:t>01</a:t>
            </a:r>
            <a:endParaRPr lang="ja-JP" altLang="en-US" sz="1000" b="1">
              <a:solidFill>
                <a:srgbClr val="FFFFFF"/>
              </a:solidFill>
              <a:latin typeface="Meiryo"/>
              <a:ea typeface="Meiryo"/>
            </a:endParaRPr>
          </a:p>
        </p:txBody>
      </p:sp>
      <p:sp>
        <p:nvSpPr>
          <p:cNvPr id="19" name="テキスト ボックス 18">
            <a:extLst>
              <a:ext uri="{FF2B5EF4-FFF2-40B4-BE49-F238E27FC236}">
                <a16:creationId xmlns:a16="http://schemas.microsoft.com/office/drawing/2014/main" id="{508AE225-88FA-E845-ADF5-8C4409697211}"/>
              </a:ext>
            </a:extLst>
          </p:cNvPr>
          <p:cNvSpPr txBox="1"/>
          <p:nvPr/>
        </p:nvSpPr>
        <p:spPr>
          <a:xfrm>
            <a:off x="546100" y="3708400"/>
            <a:ext cx="1612900" cy="228600"/>
          </a:xfrm>
          <a:prstGeom prst="rect">
            <a:avLst/>
          </a:prstGeom>
          <a:noFill/>
        </p:spPr>
        <p:txBody>
          <a:bodyPr vertOverflow="overflow" vert="horz" wrap="square" rtlCol="0" anchor="t" anchorCtr="0">
            <a:noAutofit/>
          </a:bodyPr>
          <a:lstStyle/>
          <a:p>
            <a:pPr algn="l"/>
            <a:r>
              <a:rPr lang="ja-JP" altLang="en-US" sz="1040" b="1">
                <a:solidFill>
                  <a:srgbClr val="0B2545"/>
                </a:solidFill>
                <a:latin typeface="Meiryo"/>
                <a:ea typeface="Meiryo"/>
              </a:rPr>
              <a:t>自律型エージェントの台頭</a:t>
            </a:r>
          </a:p>
        </p:txBody>
      </p:sp>
      <p:sp>
        <p:nvSpPr>
          <p:cNvPr id="20" name="テキスト ボックス 19">
            <a:extLst>
              <a:ext uri="{FF2B5EF4-FFF2-40B4-BE49-F238E27FC236}">
                <a16:creationId xmlns:a16="http://schemas.microsoft.com/office/drawing/2014/main" id="{D97BE6B4-7D18-FA4B-9802-D5201C6CE77A}"/>
              </a:ext>
            </a:extLst>
          </p:cNvPr>
          <p:cNvSpPr txBox="1"/>
          <p:nvPr/>
        </p:nvSpPr>
        <p:spPr>
          <a:xfrm>
            <a:off x="546100" y="3962400"/>
            <a:ext cx="1612900" cy="495300"/>
          </a:xfrm>
          <a:prstGeom prst="rect">
            <a:avLst/>
          </a:prstGeom>
          <a:noFill/>
        </p:spPr>
        <p:txBody>
          <a:bodyPr vertOverflow="overflow" vert="horz" wrap="square" rtlCol="0" anchor="t" anchorCtr="0">
            <a:noAutofit/>
          </a:bodyPr>
          <a:lstStyle/>
          <a:p>
            <a:pPr algn="l"/>
            <a:r>
              <a:rPr lang="ja-JP" altLang="en-US" sz="860">
                <a:solidFill>
                  <a:srgbClr val="333333"/>
                </a:solidFill>
                <a:latin typeface="Meiryo"/>
                <a:ea typeface="Meiryo"/>
              </a:rPr>
              <a:t>単一のプロンプト応答から、外部</a:t>
            </a:r>
            <a:r>
              <a:rPr lang="en" altLang="ja-JP" sz="860">
                <a:solidFill>
                  <a:srgbClr val="333333"/>
                </a:solidFill>
                <a:latin typeface="Meiryo"/>
                <a:ea typeface="Meiryo"/>
              </a:rPr>
              <a:t>API</a:t>
            </a:r>
            <a:r>
              <a:rPr lang="ja-JP" altLang="en-US" sz="860">
                <a:solidFill>
                  <a:srgbClr val="333333"/>
                </a:solidFill>
                <a:latin typeface="Meiryo"/>
                <a:ea typeface="Meiryo"/>
              </a:rPr>
              <a:t>や</a:t>
            </a:r>
            <a:r>
              <a:rPr lang="en" altLang="ja-JP" sz="860">
                <a:solidFill>
                  <a:srgbClr val="333333"/>
                </a:solidFill>
                <a:latin typeface="Meiryo"/>
                <a:ea typeface="Meiryo"/>
              </a:rPr>
              <a:t>DB</a:t>
            </a:r>
            <a:r>
              <a:rPr lang="ja-JP" altLang="en-US" sz="860">
                <a:solidFill>
                  <a:srgbClr val="333333"/>
                </a:solidFill>
                <a:latin typeface="Meiryo"/>
                <a:ea typeface="Meiryo"/>
              </a:rPr>
              <a:t>を自律操作するツールへ進化。従来の監視手法では対応が追いつきません。</a:t>
            </a:r>
          </a:p>
        </p:txBody>
      </p:sp>
      <p:sp>
        <p:nvSpPr>
          <p:cNvPr id="21" name="正方形/長方形 20">
            <a:extLst>
              <a:ext uri="{FF2B5EF4-FFF2-40B4-BE49-F238E27FC236}">
                <a16:creationId xmlns:a16="http://schemas.microsoft.com/office/drawing/2014/main" id="{5A8985B7-A0C5-EE45-9068-820FE047D1C2}"/>
              </a:ext>
            </a:extLst>
          </p:cNvPr>
          <p:cNvSpPr/>
          <p:nvPr/>
        </p:nvSpPr>
        <p:spPr>
          <a:xfrm>
            <a:off x="2463800" y="3238500"/>
            <a:ext cx="1892300" cy="12827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22" name="正方形/長方形 21">
            <a:extLst>
              <a:ext uri="{FF2B5EF4-FFF2-40B4-BE49-F238E27FC236}">
                <a16:creationId xmlns:a16="http://schemas.microsoft.com/office/drawing/2014/main" id="{D0850505-2219-A642-9684-7B509001A8DA}"/>
              </a:ext>
            </a:extLst>
          </p:cNvPr>
          <p:cNvSpPr/>
          <p:nvPr/>
        </p:nvSpPr>
        <p:spPr>
          <a:xfrm>
            <a:off x="2463800" y="3238500"/>
            <a:ext cx="1892300" cy="381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23" name="正方形/長方形 22">
            <a:extLst>
              <a:ext uri="{FF2B5EF4-FFF2-40B4-BE49-F238E27FC236}">
                <a16:creationId xmlns:a16="http://schemas.microsoft.com/office/drawing/2014/main" id="{89603397-70D8-544B-9930-97584770DFBD}"/>
              </a:ext>
            </a:extLst>
          </p:cNvPr>
          <p:cNvSpPr/>
          <p:nvPr/>
        </p:nvSpPr>
        <p:spPr>
          <a:xfrm>
            <a:off x="2603500" y="3403600"/>
            <a:ext cx="292100" cy="2286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000" b="1">
                <a:solidFill>
                  <a:srgbClr val="FFFFFF"/>
                </a:solidFill>
                <a:latin typeface="Meiryo"/>
                <a:ea typeface="Meiryo"/>
              </a:rPr>
              <a:t>02</a:t>
            </a:r>
            <a:endParaRPr lang="ja-JP" altLang="en-US" sz="1000" b="1">
              <a:solidFill>
                <a:srgbClr val="FFFFFF"/>
              </a:solidFill>
              <a:latin typeface="Meiryo"/>
              <a:ea typeface="Meiryo"/>
            </a:endParaRPr>
          </a:p>
        </p:txBody>
      </p:sp>
      <p:sp>
        <p:nvSpPr>
          <p:cNvPr id="24" name="テキスト ボックス 23">
            <a:extLst>
              <a:ext uri="{FF2B5EF4-FFF2-40B4-BE49-F238E27FC236}">
                <a16:creationId xmlns:a16="http://schemas.microsoft.com/office/drawing/2014/main" id="{15A95192-ED9C-4A42-BA51-10CC653839FC}"/>
              </a:ext>
            </a:extLst>
          </p:cNvPr>
          <p:cNvSpPr txBox="1"/>
          <p:nvPr/>
        </p:nvSpPr>
        <p:spPr>
          <a:xfrm>
            <a:off x="2603500" y="3708400"/>
            <a:ext cx="1612900" cy="228600"/>
          </a:xfrm>
          <a:prstGeom prst="rect">
            <a:avLst/>
          </a:prstGeom>
          <a:noFill/>
        </p:spPr>
        <p:txBody>
          <a:bodyPr vertOverflow="overflow" vert="horz" wrap="square" rtlCol="0" anchor="t" anchorCtr="0">
            <a:noAutofit/>
          </a:bodyPr>
          <a:lstStyle/>
          <a:p>
            <a:pPr algn="l"/>
            <a:r>
              <a:rPr lang="ja-JP" altLang="en-US" sz="1040" b="1">
                <a:solidFill>
                  <a:srgbClr val="0B2545"/>
                </a:solidFill>
                <a:latin typeface="Meiryo"/>
                <a:ea typeface="Meiryo"/>
              </a:rPr>
              <a:t>シャドー</a:t>
            </a:r>
            <a:r>
              <a:rPr lang="en" altLang="ja-JP" sz="1040" b="1">
                <a:solidFill>
                  <a:srgbClr val="0B2545"/>
                </a:solidFill>
                <a:latin typeface="Meiryo"/>
                <a:ea typeface="Meiryo"/>
              </a:rPr>
              <a:t>AI</a:t>
            </a:r>
            <a:r>
              <a:rPr lang="ja-JP" altLang="en-US" sz="1040" b="1">
                <a:solidFill>
                  <a:srgbClr val="0B2545"/>
                </a:solidFill>
                <a:latin typeface="Meiryo"/>
                <a:ea typeface="Meiryo"/>
              </a:rPr>
              <a:t>による管理不全</a:t>
            </a:r>
          </a:p>
        </p:txBody>
      </p:sp>
      <p:sp>
        <p:nvSpPr>
          <p:cNvPr id="25" name="テキスト ボックス 24">
            <a:extLst>
              <a:ext uri="{FF2B5EF4-FFF2-40B4-BE49-F238E27FC236}">
                <a16:creationId xmlns:a16="http://schemas.microsoft.com/office/drawing/2014/main" id="{9128FACB-99D3-1E4E-8DBE-CE374F247100}"/>
              </a:ext>
            </a:extLst>
          </p:cNvPr>
          <p:cNvSpPr txBox="1"/>
          <p:nvPr/>
        </p:nvSpPr>
        <p:spPr>
          <a:xfrm>
            <a:off x="2603500" y="3962400"/>
            <a:ext cx="1612900" cy="495300"/>
          </a:xfrm>
          <a:prstGeom prst="rect">
            <a:avLst/>
          </a:prstGeom>
          <a:noFill/>
        </p:spPr>
        <p:txBody>
          <a:bodyPr vertOverflow="overflow" vert="horz" wrap="square" rtlCol="0" anchor="t" anchorCtr="0">
            <a:noAutofit/>
          </a:bodyPr>
          <a:lstStyle/>
          <a:p>
            <a:pPr algn="l"/>
            <a:r>
              <a:rPr lang="ja-JP" altLang="en-US" sz="860">
                <a:solidFill>
                  <a:srgbClr val="333333"/>
                </a:solidFill>
                <a:latin typeface="Meiryo"/>
                <a:ea typeface="Meiryo"/>
              </a:rPr>
              <a:t>現場が独自判断で</a:t>
            </a:r>
            <a:r>
              <a:rPr lang="en" altLang="ja-JP" sz="860">
                <a:solidFill>
                  <a:srgbClr val="333333"/>
                </a:solidFill>
                <a:latin typeface="Meiryo"/>
                <a:ea typeface="Meiryo"/>
              </a:rPr>
              <a:t>AI</a:t>
            </a:r>
            <a:r>
              <a:rPr lang="ja-JP" altLang="en-US" sz="860">
                <a:solidFill>
                  <a:srgbClr val="333333"/>
                </a:solidFill>
                <a:latin typeface="Meiryo"/>
                <a:ea typeface="Meiryo"/>
              </a:rPr>
              <a:t>を利用し情報漏洩リスクが増大。</a:t>
            </a:r>
            <a:r>
              <a:rPr lang="en" altLang="ja-JP" sz="860">
                <a:solidFill>
                  <a:srgbClr val="333333"/>
                </a:solidFill>
                <a:latin typeface="Meiryo"/>
                <a:ea typeface="Meiryo"/>
              </a:rPr>
              <a:t>IT</a:t>
            </a:r>
            <a:r>
              <a:rPr lang="ja-JP" altLang="en-US" sz="860">
                <a:solidFill>
                  <a:srgbClr val="333333"/>
                </a:solidFill>
                <a:latin typeface="Meiryo"/>
                <a:ea typeface="Meiryo"/>
              </a:rPr>
              <a:t>部門が把握できない利用実態が組織の盲点になります。</a:t>
            </a:r>
          </a:p>
        </p:txBody>
      </p:sp>
      <p:sp>
        <p:nvSpPr>
          <p:cNvPr id="26" name="正方形/長方形 25">
            <a:extLst>
              <a:ext uri="{FF2B5EF4-FFF2-40B4-BE49-F238E27FC236}">
                <a16:creationId xmlns:a16="http://schemas.microsoft.com/office/drawing/2014/main" id="{C890E033-9F6C-5540-A7D5-7F85D18EC0B9}"/>
              </a:ext>
            </a:extLst>
          </p:cNvPr>
          <p:cNvSpPr/>
          <p:nvPr/>
        </p:nvSpPr>
        <p:spPr>
          <a:xfrm>
            <a:off x="4521200" y="3238500"/>
            <a:ext cx="1892300" cy="12827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27" name="正方形/長方形 26">
            <a:extLst>
              <a:ext uri="{FF2B5EF4-FFF2-40B4-BE49-F238E27FC236}">
                <a16:creationId xmlns:a16="http://schemas.microsoft.com/office/drawing/2014/main" id="{6543DC73-233C-B642-A935-82846A80A777}"/>
              </a:ext>
            </a:extLst>
          </p:cNvPr>
          <p:cNvSpPr/>
          <p:nvPr/>
        </p:nvSpPr>
        <p:spPr>
          <a:xfrm>
            <a:off x="4521200" y="3238500"/>
            <a:ext cx="1892300" cy="381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28" name="正方形/長方形 27">
            <a:extLst>
              <a:ext uri="{FF2B5EF4-FFF2-40B4-BE49-F238E27FC236}">
                <a16:creationId xmlns:a16="http://schemas.microsoft.com/office/drawing/2014/main" id="{3CFF788B-6DFD-004A-ACBF-F47FBA47A34B}"/>
              </a:ext>
            </a:extLst>
          </p:cNvPr>
          <p:cNvSpPr/>
          <p:nvPr/>
        </p:nvSpPr>
        <p:spPr>
          <a:xfrm>
            <a:off x="4660900" y="3403600"/>
            <a:ext cx="292100" cy="2286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000" b="1">
                <a:solidFill>
                  <a:srgbClr val="FFFFFF"/>
                </a:solidFill>
                <a:latin typeface="Meiryo"/>
                <a:ea typeface="Meiryo"/>
              </a:rPr>
              <a:t>03</a:t>
            </a:r>
            <a:endParaRPr lang="ja-JP" altLang="en-US" sz="1000" b="1">
              <a:solidFill>
                <a:srgbClr val="FFFFFF"/>
              </a:solidFill>
              <a:latin typeface="Meiryo"/>
              <a:ea typeface="Meiryo"/>
            </a:endParaRPr>
          </a:p>
        </p:txBody>
      </p:sp>
      <p:sp>
        <p:nvSpPr>
          <p:cNvPr id="29" name="テキスト ボックス 28">
            <a:extLst>
              <a:ext uri="{FF2B5EF4-FFF2-40B4-BE49-F238E27FC236}">
                <a16:creationId xmlns:a16="http://schemas.microsoft.com/office/drawing/2014/main" id="{D2C26A4A-485B-ED47-8BC2-9A6C8B197B63}"/>
              </a:ext>
            </a:extLst>
          </p:cNvPr>
          <p:cNvSpPr txBox="1"/>
          <p:nvPr/>
        </p:nvSpPr>
        <p:spPr>
          <a:xfrm>
            <a:off x="4660900" y="3708400"/>
            <a:ext cx="1612900" cy="228600"/>
          </a:xfrm>
          <a:prstGeom prst="rect">
            <a:avLst/>
          </a:prstGeom>
          <a:noFill/>
        </p:spPr>
        <p:txBody>
          <a:bodyPr vertOverflow="overflow" vert="horz" wrap="square" rtlCol="0" anchor="t" anchorCtr="0">
            <a:noAutofit/>
          </a:bodyPr>
          <a:lstStyle/>
          <a:p>
            <a:pPr algn="l"/>
            <a:r>
              <a:rPr lang="ja-JP" altLang="en-US" sz="1040" b="1">
                <a:solidFill>
                  <a:srgbClr val="0B2545"/>
                </a:solidFill>
                <a:latin typeface="Meiryo"/>
                <a:ea typeface="Meiryo"/>
              </a:rPr>
              <a:t>新たな脆弱性の出現</a:t>
            </a:r>
          </a:p>
        </p:txBody>
      </p:sp>
      <p:sp>
        <p:nvSpPr>
          <p:cNvPr id="30" name="テキスト ボックス 29">
            <a:extLst>
              <a:ext uri="{FF2B5EF4-FFF2-40B4-BE49-F238E27FC236}">
                <a16:creationId xmlns:a16="http://schemas.microsoft.com/office/drawing/2014/main" id="{15CEC338-D6BD-5941-AD12-A54A0DC55070}"/>
              </a:ext>
            </a:extLst>
          </p:cNvPr>
          <p:cNvSpPr txBox="1"/>
          <p:nvPr/>
        </p:nvSpPr>
        <p:spPr>
          <a:xfrm>
            <a:off x="4660900" y="3962400"/>
            <a:ext cx="1612900" cy="495300"/>
          </a:xfrm>
          <a:prstGeom prst="rect">
            <a:avLst/>
          </a:prstGeom>
          <a:noFill/>
        </p:spPr>
        <p:txBody>
          <a:bodyPr vertOverflow="overflow" vert="horz" wrap="square" rtlCol="0" anchor="t" anchorCtr="0">
            <a:noAutofit/>
          </a:bodyPr>
          <a:lstStyle/>
          <a:p>
            <a:pPr algn="l"/>
            <a:r>
              <a:rPr lang="ja-JP" altLang="en-US" sz="860">
                <a:solidFill>
                  <a:srgbClr val="333333"/>
                </a:solidFill>
                <a:latin typeface="Meiryo"/>
                <a:ea typeface="Meiryo"/>
              </a:rPr>
              <a:t>プロンプトインジェクション等</a:t>
            </a:r>
            <a:r>
              <a:rPr lang="en" altLang="ja-JP" sz="860">
                <a:solidFill>
                  <a:srgbClr val="333333"/>
                </a:solidFill>
                <a:latin typeface="Meiryo"/>
                <a:ea typeface="Meiryo"/>
              </a:rPr>
              <a:t>AI</a:t>
            </a:r>
            <a:r>
              <a:rPr lang="ja-JP" altLang="en-US" sz="860">
                <a:solidFill>
                  <a:srgbClr val="333333"/>
                </a:solidFill>
                <a:latin typeface="Meiryo"/>
                <a:ea typeface="Meiryo"/>
              </a:rPr>
              <a:t>特有の攻撃が増加。</a:t>
            </a:r>
            <a:r>
              <a:rPr lang="en" altLang="ja-JP" sz="860">
                <a:solidFill>
                  <a:srgbClr val="333333"/>
                </a:solidFill>
                <a:latin typeface="Meiryo"/>
                <a:ea typeface="Meiryo"/>
              </a:rPr>
              <a:t>OWASP Top 10 for LLM 2025</a:t>
            </a:r>
            <a:r>
              <a:rPr lang="ja-JP" altLang="en-US" sz="860">
                <a:solidFill>
                  <a:srgbClr val="333333"/>
                </a:solidFill>
                <a:latin typeface="Meiryo"/>
                <a:ea typeface="Meiryo"/>
              </a:rPr>
              <a:t>で最上位に位置づけられています。</a:t>
            </a:r>
          </a:p>
        </p:txBody>
      </p:sp>
      <p:sp>
        <p:nvSpPr>
          <p:cNvPr id="31" name="正方形/長方形 30">
            <a:extLst>
              <a:ext uri="{FF2B5EF4-FFF2-40B4-BE49-F238E27FC236}">
                <a16:creationId xmlns:a16="http://schemas.microsoft.com/office/drawing/2014/main" id="{36EBBE14-0613-A847-9A9B-0D7EB9F7CF1F}"/>
              </a:ext>
            </a:extLst>
          </p:cNvPr>
          <p:cNvSpPr/>
          <p:nvPr/>
        </p:nvSpPr>
        <p:spPr>
          <a:xfrm>
            <a:off x="406400" y="4762500"/>
            <a:ext cx="63500" cy="2286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32" name="テキスト ボックス 31">
            <a:extLst>
              <a:ext uri="{FF2B5EF4-FFF2-40B4-BE49-F238E27FC236}">
                <a16:creationId xmlns:a16="http://schemas.microsoft.com/office/drawing/2014/main" id="{5FE410C8-0286-CE40-90F2-A358C45AFB66}"/>
              </a:ext>
            </a:extLst>
          </p:cNvPr>
          <p:cNvSpPr txBox="1"/>
          <p:nvPr/>
        </p:nvSpPr>
        <p:spPr>
          <a:xfrm>
            <a:off x="571500" y="4737100"/>
            <a:ext cx="5295900" cy="266700"/>
          </a:xfrm>
          <a:prstGeom prst="rect">
            <a:avLst/>
          </a:prstGeom>
          <a:noFill/>
        </p:spPr>
        <p:txBody>
          <a:bodyPr vertOverflow="overflow" vert="horz" wrap="square" rtlCol="0" anchor="t" anchorCtr="0">
            <a:noAutofit/>
          </a:bodyPr>
          <a:lstStyle/>
          <a:p>
            <a:pPr algn="l"/>
            <a:r>
              <a:rPr lang="ja-JP" altLang="en-US" sz="1360" b="1">
                <a:solidFill>
                  <a:srgbClr val="0B2545"/>
                </a:solidFill>
                <a:latin typeface="Meiryo"/>
                <a:ea typeface="Meiryo"/>
              </a:rPr>
              <a:t>従来の対策だけでは、対応が難しい</a:t>
            </a:r>
          </a:p>
        </p:txBody>
      </p:sp>
      <p:sp>
        <p:nvSpPr>
          <p:cNvPr id="33" name="テキスト ボックス 32">
            <a:extLst>
              <a:ext uri="{FF2B5EF4-FFF2-40B4-BE49-F238E27FC236}">
                <a16:creationId xmlns:a16="http://schemas.microsoft.com/office/drawing/2014/main" id="{6E7330F9-6CF2-084C-9B44-26277426D908}"/>
              </a:ext>
            </a:extLst>
          </p:cNvPr>
          <p:cNvSpPr txBox="1"/>
          <p:nvPr/>
        </p:nvSpPr>
        <p:spPr>
          <a:xfrm>
            <a:off x="406400" y="5041900"/>
            <a:ext cx="6019800" cy="177800"/>
          </a:xfrm>
          <a:prstGeom prst="rect">
            <a:avLst/>
          </a:prstGeom>
          <a:noFill/>
        </p:spPr>
        <p:txBody>
          <a:bodyPr vertOverflow="overflow" vert="horz" wrap="square" rtlCol="0" anchor="t" anchorCtr="0">
            <a:noAutofit/>
          </a:bodyPr>
          <a:lstStyle/>
          <a:p>
            <a:pPr algn="l"/>
            <a:r>
              <a:rPr lang="ja-JP" altLang="en-US" sz="910">
                <a:solidFill>
                  <a:srgbClr val="333333"/>
                </a:solidFill>
                <a:latin typeface="Meiryo"/>
                <a:ea typeface="Meiryo"/>
              </a:rPr>
              <a:t>ブラウザ拡張やエンドポイント依存の対策では、人手に頼った非リアルタイム監視にとどまります。</a:t>
            </a:r>
          </a:p>
        </p:txBody>
      </p:sp>
      <p:sp>
        <p:nvSpPr>
          <p:cNvPr id="34" name="正方形/長方形 33">
            <a:extLst>
              <a:ext uri="{FF2B5EF4-FFF2-40B4-BE49-F238E27FC236}">
                <a16:creationId xmlns:a16="http://schemas.microsoft.com/office/drawing/2014/main" id="{7A06CBDC-82D6-6B45-BD79-7F8CBB076EFF}"/>
              </a:ext>
            </a:extLst>
          </p:cNvPr>
          <p:cNvSpPr/>
          <p:nvPr/>
        </p:nvSpPr>
        <p:spPr>
          <a:xfrm>
            <a:off x="406400" y="5321300"/>
            <a:ext cx="6019800" cy="457200"/>
          </a:xfrm>
          <a:prstGeom prst="rect">
            <a:avLst/>
          </a:prstGeom>
          <a:solidFill>
            <a:srgbClr val="F7F8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35" name="正方形/長方形 34">
            <a:extLst>
              <a:ext uri="{FF2B5EF4-FFF2-40B4-BE49-F238E27FC236}">
                <a16:creationId xmlns:a16="http://schemas.microsoft.com/office/drawing/2014/main" id="{58CF608E-BFA2-954A-B525-0ECA09454FDE}"/>
              </a:ext>
            </a:extLst>
          </p:cNvPr>
          <p:cNvSpPr/>
          <p:nvPr/>
        </p:nvSpPr>
        <p:spPr>
          <a:xfrm>
            <a:off x="406400" y="5321300"/>
            <a:ext cx="38100" cy="4572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36" name="正方形/長方形 35">
            <a:extLst>
              <a:ext uri="{FF2B5EF4-FFF2-40B4-BE49-F238E27FC236}">
                <a16:creationId xmlns:a16="http://schemas.microsoft.com/office/drawing/2014/main" id="{A64B4606-FCF8-9C45-B4B4-2560FD6EFBA6}"/>
              </a:ext>
            </a:extLst>
          </p:cNvPr>
          <p:cNvSpPr/>
          <p:nvPr/>
        </p:nvSpPr>
        <p:spPr>
          <a:xfrm>
            <a:off x="571500" y="5448300"/>
            <a:ext cx="203200" cy="2032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10" b="1">
                <a:solidFill>
                  <a:srgbClr val="FFFFFF"/>
                </a:solidFill>
                <a:latin typeface="Meiryo"/>
                <a:ea typeface="Meiryo"/>
              </a:rPr>
              <a:t>✕</a:t>
            </a:r>
          </a:p>
        </p:txBody>
      </p:sp>
      <p:sp>
        <p:nvSpPr>
          <p:cNvPr id="37" name="テキスト ボックス 36">
            <a:extLst>
              <a:ext uri="{FF2B5EF4-FFF2-40B4-BE49-F238E27FC236}">
                <a16:creationId xmlns:a16="http://schemas.microsoft.com/office/drawing/2014/main" id="{9691C937-2CB4-4848-947C-C4C9EC0B5393}"/>
              </a:ext>
            </a:extLst>
          </p:cNvPr>
          <p:cNvSpPr txBox="1"/>
          <p:nvPr/>
        </p:nvSpPr>
        <p:spPr>
          <a:xfrm>
            <a:off x="863600" y="5359400"/>
            <a:ext cx="1930400" cy="368300"/>
          </a:xfrm>
          <a:prstGeom prst="rect">
            <a:avLst/>
          </a:prstGeom>
          <a:noFill/>
        </p:spPr>
        <p:txBody>
          <a:bodyPr vertOverflow="overflow" vert="horz" wrap="square" rtlCol="0" anchor="ctr" anchorCtr="0">
            <a:noAutofit/>
          </a:bodyPr>
          <a:lstStyle/>
          <a:p>
            <a:pPr algn="l"/>
            <a:r>
              <a:rPr lang="ja-JP" altLang="en-US" sz="950" b="1">
                <a:solidFill>
                  <a:srgbClr val="0B2545"/>
                </a:solidFill>
                <a:latin typeface="Meiryo"/>
                <a:ea typeface="Meiryo"/>
              </a:rPr>
              <a:t>エンドポイント・ブラウザ拡張の死角</a:t>
            </a:r>
          </a:p>
        </p:txBody>
      </p:sp>
      <p:sp>
        <p:nvSpPr>
          <p:cNvPr id="38" name="テキスト ボックス 37">
            <a:extLst>
              <a:ext uri="{FF2B5EF4-FFF2-40B4-BE49-F238E27FC236}">
                <a16:creationId xmlns:a16="http://schemas.microsoft.com/office/drawing/2014/main" id="{08AD45E0-89CC-FB4B-A4CC-B6CCA2E9EF44}"/>
              </a:ext>
            </a:extLst>
          </p:cNvPr>
          <p:cNvSpPr txBox="1"/>
          <p:nvPr/>
        </p:nvSpPr>
        <p:spPr>
          <a:xfrm>
            <a:off x="2870200" y="5359400"/>
            <a:ext cx="3416300" cy="368300"/>
          </a:xfrm>
          <a:prstGeom prst="rect">
            <a:avLst/>
          </a:prstGeom>
          <a:noFill/>
        </p:spPr>
        <p:txBody>
          <a:bodyPr vertOverflow="overflow" vert="horz" wrap="square" rtlCol="0" anchor="ctr" anchorCtr="0">
            <a:noAutofit/>
          </a:bodyPr>
          <a:lstStyle/>
          <a:p>
            <a:pPr algn="l"/>
            <a:r>
              <a:rPr lang="en" altLang="ja-JP" sz="860">
                <a:solidFill>
                  <a:srgbClr val="333333"/>
                </a:solidFill>
                <a:latin typeface="Meiryo"/>
                <a:ea typeface="Meiryo"/>
              </a:rPr>
              <a:t>Windows 11 Copilot</a:t>
            </a:r>
            <a:r>
              <a:rPr lang="ja-JP" altLang="en-US" sz="860">
                <a:solidFill>
                  <a:srgbClr val="333333"/>
                </a:solidFill>
                <a:latin typeface="Meiryo"/>
                <a:ea typeface="Meiryo"/>
              </a:rPr>
              <a:t>や</a:t>
            </a:r>
            <a:r>
              <a:rPr lang="en" altLang="ja-JP" sz="860">
                <a:solidFill>
                  <a:srgbClr val="333333"/>
                </a:solidFill>
                <a:latin typeface="Meiryo"/>
                <a:ea typeface="Meiryo"/>
              </a:rPr>
              <a:t>SaaS</a:t>
            </a:r>
            <a:r>
              <a:rPr lang="ja-JP" altLang="en-US" sz="860">
                <a:solidFill>
                  <a:srgbClr val="333333"/>
                </a:solidFill>
                <a:latin typeface="Meiryo"/>
                <a:ea typeface="Meiryo"/>
              </a:rPr>
              <a:t>に埋め込まれた</a:t>
            </a:r>
            <a:r>
              <a:rPr lang="en" altLang="ja-JP" sz="860">
                <a:solidFill>
                  <a:srgbClr val="333333"/>
                </a:solidFill>
                <a:latin typeface="Meiryo"/>
                <a:ea typeface="Meiryo"/>
              </a:rPr>
              <a:t>AI</a:t>
            </a:r>
            <a:r>
              <a:rPr lang="ja-JP" altLang="en-US" sz="860">
                <a:solidFill>
                  <a:srgbClr val="333333"/>
                </a:solidFill>
                <a:latin typeface="Meiryo"/>
                <a:ea typeface="Meiryo"/>
              </a:rPr>
              <a:t>機能は、従来型の仕組み（ブラウザ拡張、</a:t>
            </a:r>
            <a:r>
              <a:rPr lang="en" altLang="ja-JP" sz="860">
                <a:solidFill>
                  <a:srgbClr val="333333"/>
                </a:solidFill>
                <a:latin typeface="Meiryo"/>
                <a:ea typeface="Meiryo"/>
              </a:rPr>
              <a:t>EDR</a:t>
            </a:r>
            <a:r>
              <a:rPr lang="ja-JP" altLang="en-US" sz="860">
                <a:solidFill>
                  <a:srgbClr val="333333"/>
                </a:solidFill>
                <a:latin typeface="Meiryo"/>
                <a:ea typeface="Meiryo"/>
              </a:rPr>
              <a:t>等）では捕捉困難。</a:t>
            </a:r>
          </a:p>
        </p:txBody>
      </p:sp>
      <p:sp>
        <p:nvSpPr>
          <p:cNvPr id="39" name="正方形/長方形 38">
            <a:extLst>
              <a:ext uri="{FF2B5EF4-FFF2-40B4-BE49-F238E27FC236}">
                <a16:creationId xmlns:a16="http://schemas.microsoft.com/office/drawing/2014/main" id="{39DE86A5-D929-444D-8997-D9D709AF8AB8}"/>
              </a:ext>
            </a:extLst>
          </p:cNvPr>
          <p:cNvSpPr/>
          <p:nvPr/>
        </p:nvSpPr>
        <p:spPr>
          <a:xfrm>
            <a:off x="406400" y="5842000"/>
            <a:ext cx="6019800" cy="457200"/>
          </a:xfrm>
          <a:prstGeom prst="rect">
            <a:avLst/>
          </a:prstGeom>
          <a:solidFill>
            <a:srgbClr val="F7F8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40" name="正方形/長方形 39">
            <a:extLst>
              <a:ext uri="{FF2B5EF4-FFF2-40B4-BE49-F238E27FC236}">
                <a16:creationId xmlns:a16="http://schemas.microsoft.com/office/drawing/2014/main" id="{F341C028-D777-6246-A5BC-721A088F4338}"/>
              </a:ext>
            </a:extLst>
          </p:cNvPr>
          <p:cNvSpPr/>
          <p:nvPr/>
        </p:nvSpPr>
        <p:spPr>
          <a:xfrm>
            <a:off x="406400" y="5842000"/>
            <a:ext cx="38100" cy="4572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41" name="正方形/長方形 40">
            <a:extLst>
              <a:ext uri="{FF2B5EF4-FFF2-40B4-BE49-F238E27FC236}">
                <a16:creationId xmlns:a16="http://schemas.microsoft.com/office/drawing/2014/main" id="{A0D47050-B89B-084A-8E51-C04F81902E18}"/>
              </a:ext>
            </a:extLst>
          </p:cNvPr>
          <p:cNvSpPr/>
          <p:nvPr/>
        </p:nvSpPr>
        <p:spPr>
          <a:xfrm>
            <a:off x="571500" y="5969000"/>
            <a:ext cx="203200" cy="2032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10" b="1">
                <a:solidFill>
                  <a:srgbClr val="FFFFFF"/>
                </a:solidFill>
                <a:latin typeface="Meiryo"/>
                <a:ea typeface="Meiryo"/>
              </a:rPr>
              <a:t>✕</a:t>
            </a:r>
          </a:p>
        </p:txBody>
      </p:sp>
      <p:sp>
        <p:nvSpPr>
          <p:cNvPr id="42" name="テキスト ボックス 41">
            <a:extLst>
              <a:ext uri="{FF2B5EF4-FFF2-40B4-BE49-F238E27FC236}">
                <a16:creationId xmlns:a16="http://schemas.microsoft.com/office/drawing/2014/main" id="{1EA20026-01CC-EC4A-9B54-D872584A62C9}"/>
              </a:ext>
            </a:extLst>
          </p:cNvPr>
          <p:cNvSpPr txBox="1"/>
          <p:nvPr/>
        </p:nvSpPr>
        <p:spPr>
          <a:xfrm>
            <a:off x="863600" y="5892800"/>
            <a:ext cx="1930400" cy="368300"/>
          </a:xfrm>
          <a:prstGeom prst="rect">
            <a:avLst/>
          </a:prstGeom>
          <a:noFill/>
        </p:spPr>
        <p:txBody>
          <a:bodyPr vertOverflow="overflow" vert="horz" wrap="square" rtlCol="0" anchor="ctr" anchorCtr="0">
            <a:noAutofit/>
          </a:bodyPr>
          <a:lstStyle/>
          <a:p>
            <a:pPr algn="l"/>
            <a:r>
              <a:rPr lang="ja-JP" altLang="en-US" sz="950" b="1">
                <a:solidFill>
                  <a:srgbClr val="0B2545"/>
                </a:solidFill>
                <a:latin typeface="Meiryo"/>
                <a:ea typeface="Meiryo"/>
              </a:rPr>
              <a:t>人によるマニュアル監視の限界</a:t>
            </a:r>
          </a:p>
        </p:txBody>
      </p:sp>
      <p:sp>
        <p:nvSpPr>
          <p:cNvPr id="43" name="テキスト ボックス 42">
            <a:extLst>
              <a:ext uri="{FF2B5EF4-FFF2-40B4-BE49-F238E27FC236}">
                <a16:creationId xmlns:a16="http://schemas.microsoft.com/office/drawing/2014/main" id="{DE2D48E7-46AA-7243-A499-9DA525FC97D0}"/>
              </a:ext>
            </a:extLst>
          </p:cNvPr>
          <p:cNvSpPr txBox="1"/>
          <p:nvPr/>
        </p:nvSpPr>
        <p:spPr>
          <a:xfrm>
            <a:off x="2870200" y="5892800"/>
            <a:ext cx="3416300" cy="368300"/>
          </a:xfrm>
          <a:prstGeom prst="rect">
            <a:avLst/>
          </a:prstGeom>
          <a:noFill/>
        </p:spPr>
        <p:txBody>
          <a:bodyPr vertOverflow="overflow" vert="horz" wrap="square" rtlCol="0" anchor="ctr" anchorCtr="0">
            <a:noAutofit/>
          </a:bodyPr>
          <a:lstStyle/>
          <a:p>
            <a:pPr algn="l"/>
            <a:r>
              <a:rPr lang="ja-JP" altLang="en-US" sz="860">
                <a:solidFill>
                  <a:srgbClr val="333333"/>
                </a:solidFill>
                <a:latin typeface="Meiryo"/>
                <a:ea typeface="Meiryo"/>
              </a:rPr>
              <a:t>日々数千</a:t>
            </a:r>
            <a:r>
              <a:rPr lang="en-US" altLang="ja-JP" sz="860">
                <a:solidFill>
                  <a:srgbClr val="333333"/>
                </a:solidFill>
                <a:latin typeface="Meiryo"/>
                <a:ea typeface="Meiryo"/>
              </a:rPr>
              <a:t>〜</a:t>
            </a:r>
            <a:r>
              <a:rPr lang="ja-JP" altLang="en-US" sz="860">
                <a:solidFill>
                  <a:srgbClr val="333333"/>
                </a:solidFill>
                <a:latin typeface="Meiryo"/>
                <a:ea typeface="Meiryo"/>
              </a:rPr>
              <a:t>数万件発生する</a:t>
            </a:r>
            <a:r>
              <a:rPr lang="en" altLang="ja-JP" sz="860">
                <a:solidFill>
                  <a:srgbClr val="333333"/>
                </a:solidFill>
                <a:latin typeface="Meiryo"/>
                <a:ea typeface="Meiryo"/>
              </a:rPr>
              <a:t>AI</a:t>
            </a:r>
            <a:r>
              <a:rPr lang="ja-JP" altLang="en-US" sz="860">
                <a:solidFill>
                  <a:srgbClr val="333333"/>
                </a:solidFill>
                <a:latin typeface="Meiryo"/>
                <a:ea typeface="Meiryo"/>
              </a:rPr>
              <a:t>との対話を、目検・手動でリアルタイム監視することは現実的に不可能。</a:t>
            </a:r>
          </a:p>
        </p:txBody>
      </p:sp>
      <p:sp>
        <p:nvSpPr>
          <p:cNvPr id="44" name="正方形/長方形 43">
            <a:extLst>
              <a:ext uri="{FF2B5EF4-FFF2-40B4-BE49-F238E27FC236}">
                <a16:creationId xmlns:a16="http://schemas.microsoft.com/office/drawing/2014/main" id="{C750F0FB-E34A-E348-BE2C-538DE1EA2C7E}"/>
              </a:ext>
            </a:extLst>
          </p:cNvPr>
          <p:cNvSpPr/>
          <p:nvPr/>
        </p:nvSpPr>
        <p:spPr>
          <a:xfrm>
            <a:off x="406400" y="6375400"/>
            <a:ext cx="6019800" cy="457200"/>
          </a:xfrm>
          <a:prstGeom prst="rect">
            <a:avLst/>
          </a:prstGeom>
          <a:solidFill>
            <a:srgbClr val="F7F8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45" name="正方形/長方形 44">
            <a:extLst>
              <a:ext uri="{FF2B5EF4-FFF2-40B4-BE49-F238E27FC236}">
                <a16:creationId xmlns:a16="http://schemas.microsoft.com/office/drawing/2014/main" id="{A766800F-5B7A-5E42-BE33-93EE37A31CCF}"/>
              </a:ext>
            </a:extLst>
          </p:cNvPr>
          <p:cNvSpPr/>
          <p:nvPr/>
        </p:nvSpPr>
        <p:spPr>
          <a:xfrm>
            <a:off x="406400" y="6375400"/>
            <a:ext cx="38100" cy="4572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46" name="正方形/長方形 45">
            <a:extLst>
              <a:ext uri="{FF2B5EF4-FFF2-40B4-BE49-F238E27FC236}">
                <a16:creationId xmlns:a16="http://schemas.microsoft.com/office/drawing/2014/main" id="{15029E93-0898-1B49-A47E-145EFE3AD4B5}"/>
              </a:ext>
            </a:extLst>
          </p:cNvPr>
          <p:cNvSpPr/>
          <p:nvPr/>
        </p:nvSpPr>
        <p:spPr>
          <a:xfrm>
            <a:off x="571500" y="6502400"/>
            <a:ext cx="203200" cy="2032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10" b="1">
                <a:solidFill>
                  <a:srgbClr val="FFFFFF"/>
                </a:solidFill>
                <a:latin typeface="Meiryo"/>
                <a:ea typeface="Meiryo"/>
              </a:rPr>
              <a:t>✕</a:t>
            </a:r>
          </a:p>
        </p:txBody>
      </p:sp>
      <p:sp>
        <p:nvSpPr>
          <p:cNvPr id="47" name="テキスト ボックス 46">
            <a:extLst>
              <a:ext uri="{FF2B5EF4-FFF2-40B4-BE49-F238E27FC236}">
                <a16:creationId xmlns:a16="http://schemas.microsoft.com/office/drawing/2014/main" id="{E15171D2-500F-C64C-BE49-56BFBD0AF1C3}"/>
              </a:ext>
            </a:extLst>
          </p:cNvPr>
          <p:cNvSpPr txBox="1"/>
          <p:nvPr/>
        </p:nvSpPr>
        <p:spPr>
          <a:xfrm>
            <a:off x="863600" y="6426200"/>
            <a:ext cx="1930400" cy="368300"/>
          </a:xfrm>
          <a:prstGeom prst="rect">
            <a:avLst/>
          </a:prstGeom>
          <a:noFill/>
        </p:spPr>
        <p:txBody>
          <a:bodyPr vertOverflow="overflow" vert="horz" wrap="square" rtlCol="0" anchor="ctr" anchorCtr="0">
            <a:noAutofit/>
          </a:bodyPr>
          <a:lstStyle/>
          <a:p>
            <a:pPr algn="l"/>
            <a:r>
              <a:rPr lang="ja-JP" altLang="en-US" sz="950" b="1">
                <a:solidFill>
                  <a:srgbClr val="0B2545"/>
                </a:solidFill>
                <a:latin typeface="Meiryo"/>
                <a:ea typeface="Meiryo"/>
              </a:rPr>
              <a:t>分散するログと分析の欠如</a:t>
            </a:r>
          </a:p>
        </p:txBody>
      </p:sp>
      <p:sp>
        <p:nvSpPr>
          <p:cNvPr id="48" name="テキスト ボックス 47">
            <a:extLst>
              <a:ext uri="{FF2B5EF4-FFF2-40B4-BE49-F238E27FC236}">
                <a16:creationId xmlns:a16="http://schemas.microsoft.com/office/drawing/2014/main" id="{30AB4F60-819C-B24A-B1B1-D1768C757C2C}"/>
              </a:ext>
            </a:extLst>
          </p:cNvPr>
          <p:cNvSpPr txBox="1"/>
          <p:nvPr/>
        </p:nvSpPr>
        <p:spPr>
          <a:xfrm>
            <a:off x="2870200" y="6426200"/>
            <a:ext cx="3416300" cy="368300"/>
          </a:xfrm>
          <a:prstGeom prst="rect">
            <a:avLst/>
          </a:prstGeom>
          <a:noFill/>
        </p:spPr>
        <p:txBody>
          <a:bodyPr vertOverflow="overflow" vert="horz" wrap="square" rtlCol="0" anchor="ctr" anchorCtr="0">
            <a:noAutofit/>
          </a:bodyPr>
          <a:lstStyle/>
          <a:p>
            <a:pPr algn="l"/>
            <a:r>
              <a:rPr lang="ja-JP" altLang="en-US" sz="860">
                <a:solidFill>
                  <a:srgbClr val="333333"/>
                </a:solidFill>
                <a:latin typeface="Meiryo"/>
                <a:ea typeface="Meiryo"/>
              </a:rPr>
              <a:t>プラットフォームごとにログが分断され、システム統合的な監視・分析・検知が困難な状況です。</a:t>
            </a:r>
          </a:p>
        </p:txBody>
      </p:sp>
      <p:sp>
        <p:nvSpPr>
          <p:cNvPr id="49" name="正方形/長方形 48">
            <a:extLst>
              <a:ext uri="{FF2B5EF4-FFF2-40B4-BE49-F238E27FC236}">
                <a16:creationId xmlns:a16="http://schemas.microsoft.com/office/drawing/2014/main" id="{52342C23-4677-634C-9105-92CB225FD643}"/>
              </a:ext>
            </a:extLst>
          </p:cNvPr>
          <p:cNvSpPr/>
          <p:nvPr/>
        </p:nvSpPr>
        <p:spPr>
          <a:xfrm>
            <a:off x="406400" y="6997700"/>
            <a:ext cx="63500" cy="2286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50" name="テキスト ボックス 49">
            <a:extLst>
              <a:ext uri="{FF2B5EF4-FFF2-40B4-BE49-F238E27FC236}">
                <a16:creationId xmlns:a16="http://schemas.microsoft.com/office/drawing/2014/main" id="{B0520EF1-247A-C041-81D5-AE4B3552C4B9}"/>
              </a:ext>
            </a:extLst>
          </p:cNvPr>
          <p:cNvSpPr txBox="1"/>
          <p:nvPr/>
        </p:nvSpPr>
        <p:spPr>
          <a:xfrm>
            <a:off x="571500" y="6972300"/>
            <a:ext cx="5295900" cy="266700"/>
          </a:xfrm>
          <a:prstGeom prst="rect">
            <a:avLst/>
          </a:prstGeom>
          <a:noFill/>
        </p:spPr>
        <p:txBody>
          <a:bodyPr vertOverflow="overflow" vert="horz" wrap="square" rtlCol="0" anchor="t" anchorCtr="0">
            <a:noAutofit/>
          </a:bodyPr>
          <a:lstStyle/>
          <a:p>
            <a:pPr algn="l"/>
            <a:r>
              <a:rPr lang="ja-JP" altLang="en-US" sz="1360" b="1">
                <a:solidFill>
                  <a:srgbClr val="0B2545"/>
                </a:solidFill>
                <a:latin typeface="Meiryo"/>
                <a:ea typeface="Meiryo"/>
              </a:rPr>
              <a:t>だから、</a:t>
            </a:r>
            <a:r>
              <a:rPr lang="en" altLang="ja-JP" sz="1360" b="1">
                <a:solidFill>
                  <a:srgbClr val="0B2545"/>
                </a:solidFill>
                <a:latin typeface="Meiryo"/>
                <a:ea typeface="Meiryo"/>
              </a:rPr>
              <a:t>WitnessAI</a:t>
            </a:r>
            <a:endParaRPr lang="ja-JP" altLang="en-US" sz="1360" b="1">
              <a:solidFill>
                <a:srgbClr val="0B2545"/>
              </a:solidFill>
              <a:latin typeface="Meiryo"/>
              <a:ea typeface="Meiryo"/>
            </a:endParaRPr>
          </a:p>
        </p:txBody>
      </p:sp>
      <p:sp>
        <p:nvSpPr>
          <p:cNvPr id="51" name="テキスト ボックス 50">
            <a:extLst>
              <a:ext uri="{FF2B5EF4-FFF2-40B4-BE49-F238E27FC236}">
                <a16:creationId xmlns:a16="http://schemas.microsoft.com/office/drawing/2014/main" id="{E0F5FAD4-943E-FF4F-A771-139B145F60AF}"/>
              </a:ext>
            </a:extLst>
          </p:cNvPr>
          <p:cNvSpPr txBox="1"/>
          <p:nvPr/>
        </p:nvSpPr>
        <p:spPr>
          <a:xfrm>
            <a:off x="406400" y="7277100"/>
            <a:ext cx="6019800" cy="177800"/>
          </a:xfrm>
          <a:prstGeom prst="rect">
            <a:avLst/>
          </a:prstGeom>
          <a:noFill/>
        </p:spPr>
        <p:txBody>
          <a:bodyPr vertOverflow="overflow" vert="horz" wrap="square" rtlCol="0" anchor="t" anchorCtr="0">
            <a:noAutofit/>
          </a:bodyPr>
          <a:lstStyle/>
          <a:p>
            <a:pPr algn="l"/>
            <a:r>
              <a:rPr lang="ja-JP" altLang="en-US" sz="910">
                <a:solidFill>
                  <a:srgbClr val="333333"/>
                </a:solidFill>
                <a:latin typeface="Meiryo"/>
                <a:ea typeface="Meiryo"/>
              </a:rPr>
              <a:t>ユーザと</a:t>
            </a:r>
            <a:r>
              <a:rPr lang="en" altLang="ja-JP" sz="910">
                <a:solidFill>
                  <a:srgbClr val="333333"/>
                </a:solidFill>
                <a:latin typeface="Meiryo"/>
                <a:ea typeface="Meiryo"/>
              </a:rPr>
              <a:t>AI</a:t>
            </a:r>
            <a:r>
              <a:rPr lang="ja-JP" altLang="en-US" sz="910">
                <a:solidFill>
                  <a:srgbClr val="333333"/>
                </a:solidFill>
                <a:latin typeface="Meiryo"/>
                <a:ea typeface="Meiryo"/>
              </a:rPr>
              <a:t>の間に立ち、セキュリティとコンプライアンスを自動適用するエージェントレス型ゲートウェイ。</a:t>
            </a:r>
          </a:p>
        </p:txBody>
      </p:sp>
      <p:sp>
        <p:nvSpPr>
          <p:cNvPr id="52" name="正方形/長方形 51">
            <a:extLst>
              <a:ext uri="{FF2B5EF4-FFF2-40B4-BE49-F238E27FC236}">
                <a16:creationId xmlns:a16="http://schemas.microsoft.com/office/drawing/2014/main" id="{E2DBAB19-583E-0743-9BF9-529D32D2107E}"/>
              </a:ext>
            </a:extLst>
          </p:cNvPr>
          <p:cNvSpPr/>
          <p:nvPr/>
        </p:nvSpPr>
        <p:spPr>
          <a:xfrm>
            <a:off x="406400" y="7556500"/>
            <a:ext cx="1727200" cy="8509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53" name="テキスト ボックス 52">
            <a:extLst>
              <a:ext uri="{FF2B5EF4-FFF2-40B4-BE49-F238E27FC236}">
                <a16:creationId xmlns:a16="http://schemas.microsoft.com/office/drawing/2014/main" id="{DEFDA5E3-8F17-BA4B-BF19-A18B6E9994E1}"/>
              </a:ext>
            </a:extLst>
          </p:cNvPr>
          <p:cNvSpPr txBox="1"/>
          <p:nvPr/>
        </p:nvSpPr>
        <p:spPr>
          <a:xfrm>
            <a:off x="495300" y="7620000"/>
            <a:ext cx="1536700" cy="152400"/>
          </a:xfrm>
          <a:prstGeom prst="rect">
            <a:avLst/>
          </a:prstGeom>
          <a:noFill/>
        </p:spPr>
        <p:txBody>
          <a:bodyPr vertOverflow="overflow" vert="horz" wrap="square" rtlCol="0" anchor="t" anchorCtr="0">
            <a:noAutofit/>
          </a:bodyPr>
          <a:lstStyle/>
          <a:p>
            <a:pPr algn="l"/>
            <a:r>
              <a:rPr lang="ja-JP" altLang="en-US" sz="860" b="1">
                <a:solidFill>
                  <a:srgbClr val="0B2545"/>
                </a:solidFill>
                <a:latin typeface="Meiryo"/>
                <a:ea typeface="Meiryo"/>
              </a:rPr>
              <a:t>従業員・利用者</a:t>
            </a:r>
          </a:p>
        </p:txBody>
      </p:sp>
      <p:sp>
        <p:nvSpPr>
          <p:cNvPr id="54" name="テキスト ボックス 53">
            <a:extLst>
              <a:ext uri="{FF2B5EF4-FFF2-40B4-BE49-F238E27FC236}">
                <a16:creationId xmlns:a16="http://schemas.microsoft.com/office/drawing/2014/main" id="{5793253B-8ACC-D74D-B4F0-8A681740F1F0}"/>
              </a:ext>
            </a:extLst>
          </p:cNvPr>
          <p:cNvSpPr txBox="1"/>
          <p:nvPr/>
        </p:nvSpPr>
        <p:spPr>
          <a:xfrm>
            <a:off x="495300" y="7823200"/>
            <a:ext cx="1536700" cy="495300"/>
          </a:xfrm>
          <a:prstGeom prst="rect">
            <a:avLst/>
          </a:prstGeom>
          <a:noFill/>
        </p:spPr>
        <p:txBody>
          <a:bodyPr vertOverflow="overflow" vert="horz" wrap="square" rtlCol="0" anchor="t" anchorCtr="0">
            <a:noAutofit/>
          </a:bodyPr>
          <a:lstStyle/>
          <a:p>
            <a:pPr algn="l"/>
            <a:r>
              <a:rPr lang="en" altLang="ja-JP" sz="820">
                <a:solidFill>
                  <a:srgbClr val="333333"/>
                </a:solidFill>
                <a:latin typeface="Meiryo"/>
                <a:ea typeface="Meiryo"/>
              </a:rPr>
              <a:t>Microsoft 365 Copilot</a:t>
            </a:r>
            <a:r>
              <a:rPr lang="ja-JP" altLang="en" sz="820">
                <a:solidFill>
                  <a:srgbClr val="333333"/>
                </a:solidFill>
                <a:latin typeface="Meiryo"/>
                <a:ea typeface="Meiryo"/>
              </a:rPr>
              <a:t>／</a:t>
            </a:r>
            <a:r>
              <a:rPr lang="ja-JP" altLang="en-US" sz="820">
                <a:solidFill>
                  <a:srgbClr val="333333"/>
                </a:solidFill>
                <a:latin typeface="Meiryo"/>
                <a:ea typeface="Meiryo"/>
              </a:rPr>
              <a:t>外部生成</a:t>
            </a:r>
            <a:r>
              <a:rPr lang="en" altLang="ja-JP" sz="820">
                <a:solidFill>
                  <a:srgbClr val="333333"/>
                </a:solidFill>
                <a:latin typeface="Meiryo"/>
                <a:ea typeface="Meiryo"/>
              </a:rPr>
              <a:t>AI</a:t>
            </a:r>
            <a:r>
              <a:rPr lang="ja-JP" altLang="en" sz="820">
                <a:solidFill>
                  <a:srgbClr val="333333"/>
                </a:solidFill>
                <a:latin typeface="Meiryo"/>
                <a:ea typeface="Meiryo"/>
              </a:rPr>
              <a:t>（</a:t>
            </a:r>
            <a:r>
              <a:rPr lang="en" altLang="ja-JP" sz="820">
                <a:solidFill>
                  <a:srgbClr val="333333"/>
                </a:solidFill>
                <a:latin typeface="Meiryo"/>
                <a:ea typeface="Meiryo"/>
              </a:rPr>
              <a:t>ChatGPT</a:t>
            </a:r>
            <a:r>
              <a:rPr lang="ja-JP" altLang="en-US" sz="820">
                <a:solidFill>
                  <a:srgbClr val="333333"/>
                </a:solidFill>
                <a:latin typeface="Meiryo"/>
                <a:ea typeface="Meiryo"/>
              </a:rPr>
              <a:t>等）／開発者向け</a:t>
            </a:r>
            <a:r>
              <a:rPr lang="en" altLang="ja-JP" sz="820">
                <a:solidFill>
                  <a:srgbClr val="333333"/>
                </a:solidFill>
                <a:latin typeface="Meiryo"/>
                <a:ea typeface="Meiryo"/>
              </a:rPr>
              <a:t>AI</a:t>
            </a:r>
            <a:r>
              <a:rPr lang="ja-JP" altLang="en-US" sz="820">
                <a:solidFill>
                  <a:srgbClr val="333333"/>
                </a:solidFill>
                <a:latin typeface="Meiryo"/>
                <a:ea typeface="Meiryo"/>
              </a:rPr>
              <a:t>ツール／シャドー</a:t>
            </a:r>
            <a:r>
              <a:rPr lang="en" altLang="ja-JP" sz="820">
                <a:solidFill>
                  <a:srgbClr val="333333"/>
                </a:solidFill>
                <a:latin typeface="Meiryo"/>
                <a:ea typeface="Meiryo"/>
              </a:rPr>
              <a:t>AI</a:t>
            </a:r>
            <a:endParaRPr lang="ja-JP" altLang="en-US" sz="820">
              <a:solidFill>
                <a:srgbClr val="333333"/>
              </a:solidFill>
              <a:latin typeface="Meiryo"/>
              <a:ea typeface="Meiryo"/>
            </a:endParaRPr>
          </a:p>
        </p:txBody>
      </p:sp>
      <p:sp>
        <p:nvSpPr>
          <p:cNvPr id="55" name="正方形/長方形 54">
            <a:extLst>
              <a:ext uri="{FF2B5EF4-FFF2-40B4-BE49-F238E27FC236}">
                <a16:creationId xmlns:a16="http://schemas.microsoft.com/office/drawing/2014/main" id="{8C40FA7F-E702-CB41-9231-1490F373DA57}"/>
              </a:ext>
            </a:extLst>
          </p:cNvPr>
          <p:cNvSpPr/>
          <p:nvPr/>
        </p:nvSpPr>
        <p:spPr>
          <a:xfrm>
            <a:off x="2362200" y="7556500"/>
            <a:ext cx="2108200" cy="8509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56" name="テキスト ボックス 55">
            <a:extLst>
              <a:ext uri="{FF2B5EF4-FFF2-40B4-BE49-F238E27FC236}">
                <a16:creationId xmlns:a16="http://schemas.microsoft.com/office/drawing/2014/main" id="{3CECED03-A884-7140-8EC4-30F5ED081A05}"/>
              </a:ext>
            </a:extLst>
          </p:cNvPr>
          <p:cNvSpPr txBox="1"/>
          <p:nvPr/>
        </p:nvSpPr>
        <p:spPr>
          <a:xfrm>
            <a:off x="2438400" y="7620000"/>
            <a:ext cx="1981200" cy="177800"/>
          </a:xfrm>
          <a:prstGeom prst="rect">
            <a:avLst/>
          </a:prstGeom>
          <a:noFill/>
        </p:spPr>
        <p:txBody>
          <a:bodyPr vertOverflow="overflow" vert="horz" wrap="square" rtlCol="0" anchor="t" anchorCtr="0">
            <a:noAutofit/>
          </a:bodyPr>
          <a:lstStyle/>
          <a:p>
            <a:pPr algn="l"/>
            <a:r>
              <a:rPr lang="en" altLang="ja-JP" sz="1090" b="1">
                <a:solidFill>
                  <a:srgbClr val="FFFFFF"/>
                </a:solidFill>
                <a:latin typeface="Meiryo"/>
                <a:ea typeface="Meiryo"/>
              </a:rPr>
              <a:t>WITNESS AI</a:t>
            </a:r>
            <a:endParaRPr lang="ja-JP" altLang="en-US" sz="1090" b="1">
              <a:solidFill>
                <a:srgbClr val="FFFFFF"/>
              </a:solidFill>
              <a:latin typeface="Meiryo"/>
              <a:ea typeface="Meiryo"/>
            </a:endParaRPr>
          </a:p>
        </p:txBody>
      </p:sp>
      <p:sp>
        <p:nvSpPr>
          <p:cNvPr id="57" name="テキスト ボックス 56">
            <a:extLst>
              <a:ext uri="{FF2B5EF4-FFF2-40B4-BE49-F238E27FC236}">
                <a16:creationId xmlns:a16="http://schemas.microsoft.com/office/drawing/2014/main" id="{71A54EC5-9F90-6544-98AF-652039F09B5B}"/>
              </a:ext>
            </a:extLst>
          </p:cNvPr>
          <p:cNvSpPr txBox="1"/>
          <p:nvPr/>
        </p:nvSpPr>
        <p:spPr>
          <a:xfrm>
            <a:off x="2438400" y="7823200"/>
            <a:ext cx="1981200" cy="152400"/>
          </a:xfrm>
          <a:prstGeom prst="rect">
            <a:avLst/>
          </a:prstGeom>
          <a:noFill/>
        </p:spPr>
        <p:txBody>
          <a:bodyPr vertOverflow="overflow" vert="horz" wrap="square" rtlCol="0" anchor="t" anchorCtr="0">
            <a:noAutofit/>
          </a:bodyPr>
          <a:lstStyle/>
          <a:p>
            <a:pPr algn="l"/>
            <a:r>
              <a:rPr lang="en" altLang="ja-JP" sz="860" b="1">
                <a:solidFill>
                  <a:srgbClr val="00B3A4"/>
                </a:solidFill>
                <a:latin typeface="Meiryo"/>
                <a:ea typeface="Meiryo"/>
              </a:rPr>
              <a:t>AI Security Gateway</a:t>
            </a:r>
            <a:endParaRPr lang="ja-JP" altLang="en-US" sz="860" b="1">
              <a:solidFill>
                <a:srgbClr val="00B3A4"/>
              </a:solidFill>
              <a:latin typeface="Meiryo"/>
              <a:ea typeface="Meiryo"/>
            </a:endParaRPr>
          </a:p>
        </p:txBody>
      </p:sp>
      <p:sp>
        <p:nvSpPr>
          <p:cNvPr id="58" name="テキスト ボックス 57">
            <a:extLst>
              <a:ext uri="{FF2B5EF4-FFF2-40B4-BE49-F238E27FC236}">
                <a16:creationId xmlns:a16="http://schemas.microsoft.com/office/drawing/2014/main" id="{86334365-5EC2-6944-8CF0-45FBE5D18E9F}"/>
              </a:ext>
            </a:extLst>
          </p:cNvPr>
          <p:cNvSpPr txBox="1"/>
          <p:nvPr/>
        </p:nvSpPr>
        <p:spPr>
          <a:xfrm>
            <a:off x="2438400" y="8039100"/>
            <a:ext cx="1981200" cy="292100"/>
          </a:xfrm>
          <a:prstGeom prst="rect">
            <a:avLst/>
          </a:prstGeom>
          <a:noFill/>
        </p:spPr>
        <p:txBody>
          <a:bodyPr vertOverflow="overflow" vert="horz" wrap="square" rtlCol="0" anchor="t" anchorCtr="0">
            <a:noAutofit/>
          </a:bodyPr>
          <a:lstStyle/>
          <a:p>
            <a:pPr algn="l"/>
            <a:r>
              <a:rPr lang="ja-JP" altLang="en-US" sz="820">
                <a:solidFill>
                  <a:srgbClr val="FFFFFF"/>
                </a:solidFill>
                <a:latin typeface="Meiryo"/>
                <a:ea typeface="Meiryo"/>
              </a:rPr>
              <a:t>可視化・カタログ化／入力情報の制御／</a:t>
            </a:r>
            <a:r>
              <a:rPr lang="en" altLang="ja-JP" sz="820">
                <a:solidFill>
                  <a:srgbClr val="FFFFFF"/>
                </a:solidFill>
                <a:latin typeface="Meiryo"/>
                <a:ea typeface="Meiryo"/>
              </a:rPr>
              <a:t>AI</a:t>
            </a:r>
            <a:r>
              <a:rPr lang="ja-JP" altLang="en-US" sz="820">
                <a:solidFill>
                  <a:srgbClr val="FFFFFF"/>
                </a:solidFill>
                <a:latin typeface="Meiryo"/>
                <a:ea typeface="Meiryo"/>
              </a:rPr>
              <a:t>アプリ保護／ポリシー適用</a:t>
            </a:r>
          </a:p>
        </p:txBody>
      </p:sp>
      <p:sp>
        <p:nvSpPr>
          <p:cNvPr id="59" name="正方形/長方形 58">
            <a:extLst>
              <a:ext uri="{FF2B5EF4-FFF2-40B4-BE49-F238E27FC236}">
                <a16:creationId xmlns:a16="http://schemas.microsoft.com/office/drawing/2014/main" id="{C1884A82-E566-2547-9663-0871BBC714BA}"/>
              </a:ext>
            </a:extLst>
          </p:cNvPr>
          <p:cNvSpPr/>
          <p:nvPr/>
        </p:nvSpPr>
        <p:spPr>
          <a:xfrm>
            <a:off x="4711700" y="7556500"/>
            <a:ext cx="1714500" cy="8509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60" name="テキスト ボックス 59">
            <a:extLst>
              <a:ext uri="{FF2B5EF4-FFF2-40B4-BE49-F238E27FC236}">
                <a16:creationId xmlns:a16="http://schemas.microsoft.com/office/drawing/2014/main" id="{5D453D3E-FA7A-0F48-8079-0243622C3D64}"/>
              </a:ext>
            </a:extLst>
          </p:cNvPr>
          <p:cNvSpPr txBox="1"/>
          <p:nvPr/>
        </p:nvSpPr>
        <p:spPr>
          <a:xfrm>
            <a:off x="4787900" y="7620000"/>
            <a:ext cx="1574800" cy="152400"/>
          </a:xfrm>
          <a:prstGeom prst="rect">
            <a:avLst/>
          </a:prstGeom>
          <a:noFill/>
        </p:spPr>
        <p:txBody>
          <a:bodyPr vertOverflow="overflow" vert="horz" wrap="square" rtlCol="0" anchor="t" anchorCtr="0">
            <a:noAutofit/>
          </a:bodyPr>
          <a:lstStyle/>
          <a:p>
            <a:pPr algn="l"/>
            <a:r>
              <a:rPr lang="en" altLang="ja-JP" sz="860" b="1">
                <a:solidFill>
                  <a:srgbClr val="0B2545"/>
                </a:solidFill>
                <a:latin typeface="Meiryo"/>
                <a:ea typeface="Meiryo"/>
              </a:rPr>
              <a:t>AI</a:t>
            </a:r>
            <a:r>
              <a:rPr lang="ja-JP" altLang="en" sz="860" b="1">
                <a:solidFill>
                  <a:srgbClr val="0B2545"/>
                </a:solidFill>
                <a:latin typeface="Meiryo"/>
                <a:ea typeface="Meiryo"/>
              </a:rPr>
              <a:t>・</a:t>
            </a:r>
            <a:r>
              <a:rPr lang="ja-JP" altLang="en-US" sz="860" b="1">
                <a:solidFill>
                  <a:srgbClr val="0B2545"/>
                </a:solidFill>
                <a:latin typeface="Meiryo"/>
                <a:ea typeface="Meiryo"/>
              </a:rPr>
              <a:t>サービス側</a:t>
            </a:r>
          </a:p>
        </p:txBody>
      </p:sp>
      <p:sp>
        <p:nvSpPr>
          <p:cNvPr id="61" name="テキスト ボックス 60">
            <a:extLst>
              <a:ext uri="{FF2B5EF4-FFF2-40B4-BE49-F238E27FC236}">
                <a16:creationId xmlns:a16="http://schemas.microsoft.com/office/drawing/2014/main" id="{D792CE30-03B3-1948-9CD2-216B93FFED75}"/>
              </a:ext>
            </a:extLst>
          </p:cNvPr>
          <p:cNvSpPr txBox="1"/>
          <p:nvPr/>
        </p:nvSpPr>
        <p:spPr>
          <a:xfrm>
            <a:off x="4787900" y="7823200"/>
            <a:ext cx="1574800" cy="495300"/>
          </a:xfrm>
          <a:prstGeom prst="rect">
            <a:avLst/>
          </a:prstGeom>
          <a:noFill/>
        </p:spPr>
        <p:txBody>
          <a:bodyPr vertOverflow="overflow" vert="horz" wrap="square" rtlCol="0" anchor="t" anchorCtr="0">
            <a:noAutofit/>
          </a:bodyPr>
          <a:lstStyle/>
          <a:p>
            <a:pPr algn="l"/>
            <a:r>
              <a:rPr lang="ja-JP" altLang="en-US" sz="820">
                <a:solidFill>
                  <a:srgbClr val="333333"/>
                </a:solidFill>
                <a:latin typeface="Meiryo"/>
                <a:ea typeface="Meiryo"/>
              </a:rPr>
              <a:t>外部</a:t>
            </a:r>
            <a:r>
              <a:rPr lang="en" altLang="ja-JP" sz="820">
                <a:solidFill>
                  <a:srgbClr val="333333"/>
                </a:solidFill>
                <a:latin typeface="Meiryo"/>
                <a:ea typeface="Meiryo"/>
              </a:rPr>
              <a:t>AI</a:t>
            </a:r>
            <a:r>
              <a:rPr lang="ja-JP" altLang="en-US" sz="820">
                <a:solidFill>
                  <a:srgbClr val="333333"/>
                </a:solidFill>
                <a:latin typeface="Meiryo"/>
                <a:ea typeface="Meiryo"/>
              </a:rPr>
              <a:t>サービス／社内</a:t>
            </a:r>
            <a:r>
              <a:rPr lang="en" altLang="ja-JP" sz="820">
                <a:solidFill>
                  <a:srgbClr val="333333"/>
                </a:solidFill>
                <a:latin typeface="Meiryo"/>
                <a:ea typeface="Meiryo"/>
              </a:rPr>
              <a:t>AI</a:t>
            </a:r>
            <a:r>
              <a:rPr lang="ja-JP" altLang="en-US" sz="820">
                <a:solidFill>
                  <a:srgbClr val="333333"/>
                </a:solidFill>
                <a:latin typeface="Meiryo"/>
                <a:ea typeface="Meiryo"/>
              </a:rPr>
              <a:t>チャットボット／</a:t>
            </a:r>
            <a:r>
              <a:rPr lang="en" altLang="ja-JP" sz="820">
                <a:solidFill>
                  <a:srgbClr val="333333"/>
                </a:solidFill>
                <a:latin typeface="Meiryo"/>
                <a:ea typeface="Meiryo"/>
              </a:rPr>
              <a:t>AI</a:t>
            </a:r>
            <a:r>
              <a:rPr lang="ja-JP" altLang="en-US" sz="820">
                <a:solidFill>
                  <a:srgbClr val="333333"/>
                </a:solidFill>
                <a:latin typeface="Meiryo"/>
                <a:ea typeface="Meiryo"/>
              </a:rPr>
              <a:t>エージェント／クラウドサービス</a:t>
            </a:r>
          </a:p>
        </p:txBody>
      </p:sp>
      <p:sp>
        <p:nvSpPr>
          <p:cNvPr id="62" name="左右矢印 61">
            <a:extLst>
              <a:ext uri="{FF2B5EF4-FFF2-40B4-BE49-F238E27FC236}">
                <a16:creationId xmlns:a16="http://schemas.microsoft.com/office/drawing/2014/main" id="{15CBE5E5-60B8-6D49-BCE5-E929C25095F3}"/>
              </a:ext>
            </a:extLst>
          </p:cNvPr>
          <p:cNvSpPr/>
          <p:nvPr/>
        </p:nvSpPr>
        <p:spPr>
          <a:xfrm>
            <a:off x="2159000" y="7874000"/>
            <a:ext cx="177800" cy="203200"/>
          </a:xfrm>
          <a:prstGeom prst="leftRightArrow">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63" name="左右矢印 62">
            <a:extLst>
              <a:ext uri="{FF2B5EF4-FFF2-40B4-BE49-F238E27FC236}">
                <a16:creationId xmlns:a16="http://schemas.microsoft.com/office/drawing/2014/main" id="{C04959E1-4A5D-C441-B2A2-9BBD9742E152}"/>
              </a:ext>
            </a:extLst>
          </p:cNvPr>
          <p:cNvSpPr/>
          <p:nvPr/>
        </p:nvSpPr>
        <p:spPr>
          <a:xfrm>
            <a:off x="4508500" y="7874000"/>
            <a:ext cx="177800" cy="203200"/>
          </a:xfrm>
          <a:prstGeom prst="leftRightArrow">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64" name="正方形/長方形 63">
            <a:extLst>
              <a:ext uri="{FF2B5EF4-FFF2-40B4-BE49-F238E27FC236}">
                <a16:creationId xmlns:a16="http://schemas.microsoft.com/office/drawing/2014/main" id="{0C206FEA-28EE-A64C-8C50-8B73F2E6C5F6}"/>
              </a:ext>
            </a:extLst>
          </p:cNvPr>
          <p:cNvSpPr/>
          <p:nvPr/>
        </p:nvSpPr>
        <p:spPr>
          <a:xfrm>
            <a:off x="406400" y="8547100"/>
            <a:ext cx="1905000" cy="685800"/>
          </a:xfrm>
          <a:prstGeom prst="rect">
            <a:avLst/>
          </a:prstGeom>
          <a:solidFill>
            <a:srgbClr val="FFFFFF"/>
          </a:solidFill>
          <a:ln w="12700" cap="flat" cmpd="sng" algn="ctr">
            <a:solidFill>
              <a:srgbClr val="00B3A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65" name="正方形/長方形 64">
            <a:extLst>
              <a:ext uri="{FF2B5EF4-FFF2-40B4-BE49-F238E27FC236}">
                <a16:creationId xmlns:a16="http://schemas.microsoft.com/office/drawing/2014/main" id="{EF82EC0F-392A-3149-8FB0-D9D650A9E535}"/>
              </a:ext>
            </a:extLst>
          </p:cNvPr>
          <p:cNvSpPr/>
          <p:nvPr/>
        </p:nvSpPr>
        <p:spPr>
          <a:xfrm>
            <a:off x="406400" y="8547100"/>
            <a:ext cx="1905000" cy="1778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860" b="1">
                <a:solidFill>
                  <a:srgbClr val="FFFFFF"/>
                </a:solidFill>
                <a:latin typeface="Meiryo"/>
                <a:ea typeface="Meiryo"/>
              </a:rPr>
              <a:t>Discover</a:t>
            </a:r>
            <a:endParaRPr lang="ja-JP" altLang="en-US" sz="860" b="1">
              <a:solidFill>
                <a:srgbClr val="FFFFFF"/>
              </a:solidFill>
              <a:latin typeface="Meiryo"/>
              <a:ea typeface="Meiryo"/>
            </a:endParaRPr>
          </a:p>
        </p:txBody>
      </p:sp>
      <p:sp>
        <p:nvSpPr>
          <p:cNvPr id="66" name="テキスト ボックス 65">
            <a:extLst>
              <a:ext uri="{FF2B5EF4-FFF2-40B4-BE49-F238E27FC236}">
                <a16:creationId xmlns:a16="http://schemas.microsoft.com/office/drawing/2014/main" id="{3C7D33B4-B48B-B44F-B2E1-75607AEE7F49}"/>
              </a:ext>
            </a:extLst>
          </p:cNvPr>
          <p:cNvSpPr txBox="1"/>
          <p:nvPr/>
        </p:nvSpPr>
        <p:spPr>
          <a:xfrm>
            <a:off x="495300" y="8775700"/>
            <a:ext cx="1727200" cy="152400"/>
          </a:xfrm>
          <a:prstGeom prst="rect">
            <a:avLst/>
          </a:prstGeom>
          <a:noFill/>
        </p:spPr>
        <p:txBody>
          <a:bodyPr vertOverflow="overflow" vert="horz" wrap="square" rtlCol="0" anchor="t" anchorCtr="0">
            <a:noAutofit/>
          </a:bodyPr>
          <a:lstStyle/>
          <a:p>
            <a:pPr algn="l"/>
            <a:r>
              <a:rPr lang="ja-JP" altLang="en-US" sz="910" b="1">
                <a:solidFill>
                  <a:srgbClr val="0B2545"/>
                </a:solidFill>
                <a:latin typeface="Meiryo"/>
                <a:ea typeface="Meiryo"/>
              </a:rPr>
              <a:t>生成</a:t>
            </a:r>
            <a:r>
              <a:rPr lang="en" altLang="ja-JP" sz="910" b="1">
                <a:solidFill>
                  <a:srgbClr val="0B2545"/>
                </a:solidFill>
                <a:latin typeface="Meiryo"/>
                <a:ea typeface="Meiryo"/>
              </a:rPr>
              <a:t>AI</a:t>
            </a:r>
            <a:r>
              <a:rPr lang="ja-JP" altLang="en-US" sz="910" b="1">
                <a:solidFill>
                  <a:srgbClr val="0B2545"/>
                </a:solidFill>
                <a:latin typeface="Meiryo"/>
                <a:ea typeface="Meiryo"/>
              </a:rPr>
              <a:t>利用の可視化</a:t>
            </a:r>
          </a:p>
        </p:txBody>
      </p:sp>
      <p:sp>
        <p:nvSpPr>
          <p:cNvPr id="67" name="テキスト ボックス 66">
            <a:extLst>
              <a:ext uri="{FF2B5EF4-FFF2-40B4-BE49-F238E27FC236}">
                <a16:creationId xmlns:a16="http://schemas.microsoft.com/office/drawing/2014/main" id="{4C288445-8559-F045-9880-CDC94BAE6EEC}"/>
              </a:ext>
            </a:extLst>
          </p:cNvPr>
          <p:cNvSpPr txBox="1"/>
          <p:nvPr/>
        </p:nvSpPr>
        <p:spPr>
          <a:xfrm>
            <a:off x="495300" y="8953500"/>
            <a:ext cx="1727200" cy="228600"/>
          </a:xfrm>
          <a:prstGeom prst="rect">
            <a:avLst/>
          </a:prstGeom>
          <a:noFill/>
        </p:spPr>
        <p:txBody>
          <a:bodyPr vertOverflow="overflow" vert="horz" wrap="square" rtlCol="0" anchor="t" anchorCtr="0">
            <a:noAutofit/>
          </a:bodyPr>
          <a:lstStyle/>
          <a:p>
            <a:pPr algn="l"/>
            <a:r>
              <a:rPr lang="ja-JP" altLang="en-US" sz="820">
                <a:solidFill>
                  <a:srgbClr val="333333"/>
                </a:solidFill>
                <a:latin typeface="Meiryo"/>
                <a:ea typeface="Meiryo"/>
              </a:rPr>
              <a:t>シャドー</a:t>
            </a:r>
            <a:r>
              <a:rPr lang="en" altLang="ja-JP" sz="820">
                <a:solidFill>
                  <a:srgbClr val="333333"/>
                </a:solidFill>
                <a:latin typeface="Meiryo"/>
                <a:ea typeface="Meiryo"/>
              </a:rPr>
              <a:t>AI</a:t>
            </a:r>
            <a:r>
              <a:rPr lang="ja-JP" altLang="en-US" sz="820">
                <a:solidFill>
                  <a:srgbClr val="333333"/>
                </a:solidFill>
                <a:latin typeface="Meiryo"/>
                <a:ea typeface="Meiryo"/>
              </a:rPr>
              <a:t>を含むすべての</a:t>
            </a:r>
            <a:r>
              <a:rPr lang="en" altLang="ja-JP" sz="820">
                <a:solidFill>
                  <a:srgbClr val="333333"/>
                </a:solidFill>
                <a:latin typeface="Meiryo"/>
                <a:ea typeface="Meiryo"/>
              </a:rPr>
              <a:t>AI</a:t>
            </a:r>
            <a:r>
              <a:rPr lang="ja-JP" altLang="en-US" sz="820">
                <a:solidFill>
                  <a:srgbClr val="333333"/>
                </a:solidFill>
                <a:latin typeface="Meiryo"/>
                <a:ea typeface="Meiryo"/>
              </a:rPr>
              <a:t>利用をリアルタイムで可視化・カタログ化。</a:t>
            </a:r>
          </a:p>
        </p:txBody>
      </p:sp>
      <p:sp>
        <p:nvSpPr>
          <p:cNvPr id="68" name="正方形/長方形 67">
            <a:extLst>
              <a:ext uri="{FF2B5EF4-FFF2-40B4-BE49-F238E27FC236}">
                <a16:creationId xmlns:a16="http://schemas.microsoft.com/office/drawing/2014/main" id="{A013D7BB-D94D-904C-BED2-35B3DEC13BAE}"/>
              </a:ext>
            </a:extLst>
          </p:cNvPr>
          <p:cNvSpPr/>
          <p:nvPr/>
        </p:nvSpPr>
        <p:spPr>
          <a:xfrm>
            <a:off x="2463800" y="8547100"/>
            <a:ext cx="1905000" cy="685800"/>
          </a:xfrm>
          <a:prstGeom prst="rect">
            <a:avLst/>
          </a:prstGeom>
          <a:solidFill>
            <a:srgbClr val="FFFFFF"/>
          </a:solidFill>
          <a:ln w="12700" cap="flat" cmpd="sng" algn="ctr">
            <a:solidFill>
              <a:srgbClr val="00B3A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69" name="正方形/長方形 68">
            <a:extLst>
              <a:ext uri="{FF2B5EF4-FFF2-40B4-BE49-F238E27FC236}">
                <a16:creationId xmlns:a16="http://schemas.microsoft.com/office/drawing/2014/main" id="{189E669E-C62D-EC4B-9943-02277ED13F98}"/>
              </a:ext>
            </a:extLst>
          </p:cNvPr>
          <p:cNvSpPr/>
          <p:nvPr/>
        </p:nvSpPr>
        <p:spPr>
          <a:xfrm>
            <a:off x="2463800" y="8547100"/>
            <a:ext cx="1905000" cy="1778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860" b="1">
                <a:solidFill>
                  <a:srgbClr val="FFFFFF"/>
                </a:solidFill>
                <a:latin typeface="Meiryo"/>
                <a:ea typeface="Meiryo"/>
              </a:rPr>
              <a:t>Protect</a:t>
            </a:r>
            <a:endParaRPr lang="ja-JP" altLang="en-US" sz="860" b="1">
              <a:solidFill>
                <a:srgbClr val="FFFFFF"/>
              </a:solidFill>
              <a:latin typeface="Meiryo"/>
              <a:ea typeface="Meiryo"/>
            </a:endParaRPr>
          </a:p>
        </p:txBody>
      </p:sp>
      <p:sp>
        <p:nvSpPr>
          <p:cNvPr id="70" name="テキスト ボックス 69">
            <a:extLst>
              <a:ext uri="{FF2B5EF4-FFF2-40B4-BE49-F238E27FC236}">
                <a16:creationId xmlns:a16="http://schemas.microsoft.com/office/drawing/2014/main" id="{C50BC4DB-A592-DA4E-ABA7-8AEDB6FA8DDB}"/>
              </a:ext>
            </a:extLst>
          </p:cNvPr>
          <p:cNvSpPr txBox="1"/>
          <p:nvPr/>
        </p:nvSpPr>
        <p:spPr>
          <a:xfrm>
            <a:off x="2552700" y="8775700"/>
            <a:ext cx="1727200" cy="152400"/>
          </a:xfrm>
          <a:prstGeom prst="rect">
            <a:avLst/>
          </a:prstGeom>
          <a:noFill/>
        </p:spPr>
        <p:txBody>
          <a:bodyPr vertOverflow="overflow" vert="horz" wrap="square" rtlCol="0" anchor="t" anchorCtr="0">
            <a:noAutofit/>
          </a:bodyPr>
          <a:lstStyle/>
          <a:p>
            <a:pPr algn="l"/>
            <a:r>
              <a:rPr lang="ja-JP" altLang="en-US" sz="910" b="1">
                <a:solidFill>
                  <a:srgbClr val="0B2545"/>
                </a:solidFill>
                <a:latin typeface="Meiryo"/>
                <a:ea typeface="Meiryo"/>
              </a:rPr>
              <a:t>入力情報の制御と</a:t>
            </a:r>
            <a:r>
              <a:rPr lang="en" altLang="ja-JP" sz="910" b="1">
                <a:solidFill>
                  <a:srgbClr val="0B2545"/>
                </a:solidFill>
                <a:latin typeface="Meiryo"/>
                <a:ea typeface="Meiryo"/>
              </a:rPr>
              <a:t>AI</a:t>
            </a:r>
            <a:r>
              <a:rPr lang="ja-JP" altLang="en-US" sz="910" b="1">
                <a:solidFill>
                  <a:srgbClr val="0B2545"/>
                </a:solidFill>
                <a:latin typeface="Meiryo"/>
                <a:ea typeface="Meiryo"/>
              </a:rPr>
              <a:t>アプリ保護</a:t>
            </a:r>
          </a:p>
        </p:txBody>
      </p:sp>
      <p:sp>
        <p:nvSpPr>
          <p:cNvPr id="71" name="テキスト ボックス 70">
            <a:extLst>
              <a:ext uri="{FF2B5EF4-FFF2-40B4-BE49-F238E27FC236}">
                <a16:creationId xmlns:a16="http://schemas.microsoft.com/office/drawing/2014/main" id="{9666D0E2-BA17-2049-823F-0A9736DCEEC0}"/>
              </a:ext>
            </a:extLst>
          </p:cNvPr>
          <p:cNvSpPr txBox="1"/>
          <p:nvPr/>
        </p:nvSpPr>
        <p:spPr>
          <a:xfrm>
            <a:off x="2552700" y="8953500"/>
            <a:ext cx="1727200" cy="228600"/>
          </a:xfrm>
          <a:prstGeom prst="rect">
            <a:avLst/>
          </a:prstGeom>
          <a:noFill/>
        </p:spPr>
        <p:txBody>
          <a:bodyPr vertOverflow="overflow" vert="horz" wrap="square" rtlCol="0" anchor="t" anchorCtr="0">
            <a:noAutofit/>
          </a:bodyPr>
          <a:lstStyle/>
          <a:p>
            <a:pPr algn="l"/>
            <a:r>
              <a:rPr lang="ja-JP" altLang="en-US" sz="820">
                <a:solidFill>
                  <a:srgbClr val="333333"/>
                </a:solidFill>
                <a:latin typeface="Meiryo"/>
                <a:ea typeface="Meiryo"/>
              </a:rPr>
              <a:t>機密情報を外部</a:t>
            </a:r>
            <a:r>
              <a:rPr lang="en" altLang="ja-JP" sz="820">
                <a:solidFill>
                  <a:srgbClr val="333333"/>
                </a:solidFill>
                <a:latin typeface="Meiryo"/>
                <a:ea typeface="Meiryo"/>
              </a:rPr>
              <a:t>AI</a:t>
            </a:r>
            <a:r>
              <a:rPr lang="ja-JP" altLang="en-US" sz="820">
                <a:solidFill>
                  <a:srgbClr val="333333"/>
                </a:solidFill>
                <a:latin typeface="Meiryo"/>
                <a:ea typeface="Meiryo"/>
              </a:rPr>
              <a:t>到達前に自動マスキング・ブロック。</a:t>
            </a:r>
            <a:r>
              <a:rPr lang="en" altLang="ja-JP" sz="820">
                <a:solidFill>
                  <a:srgbClr val="333333"/>
                </a:solidFill>
                <a:latin typeface="Meiryo"/>
                <a:ea typeface="Meiryo"/>
              </a:rPr>
              <a:t>AI</a:t>
            </a:r>
            <a:r>
              <a:rPr lang="ja-JP" altLang="en-US" sz="820">
                <a:solidFill>
                  <a:srgbClr val="333333"/>
                </a:solidFill>
                <a:latin typeface="Meiryo"/>
                <a:ea typeface="Meiryo"/>
              </a:rPr>
              <a:t>特有の攻撃も防御。</a:t>
            </a:r>
          </a:p>
        </p:txBody>
      </p:sp>
      <p:sp>
        <p:nvSpPr>
          <p:cNvPr id="72" name="正方形/長方形 71">
            <a:extLst>
              <a:ext uri="{FF2B5EF4-FFF2-40B4-BE49-F238E27FC236}">
                <a16:creationId xmlns:a16="http://schemas.microsoft.com/office/drawing/2014/main" id="{31837093-528B-7D44-81B0-BA37304166EF}"/>
              </a:ext>
            </a:extLst>
          </p:cNvPr>
          <p:cNvSpPr/>
          <p:nvPr/>
        </p:nvSpPr>
        <p:spPr>
          <a:xfrm>
            <a:off x="4508500" y="8547100"/>
            <a:ext cx="1905000" cy="685800"/>
          </a:xfrm>
          <a:prstGeom prst="rect">
            <a:avLst/>
          </a:prstGeom>
          <a:solidFill>
            <a:srgbClr val="FFFFFF"/>
          </a:solidFill>
          <a:ln w="12700" cap="flat" cmpd="sng" algn="ctr">
            <a:solidFill>
              <a:srgbClr val="00B3A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73" name="正方形/長方形 72">
            <a:extLst>
              <a:ext uri="{FF2B5EF4-FFF2-40B4-BE49-F238E27FC236}">
                <a16:creationId xmlns:a16="http://schemas.microsoft.com/office/drawing/2014/main" id="{4B115432-ECE7-B648-85E2-0AE19B55FF97}"/>
              </a:ext>
            </a:extLst>
          </p:cNvPr>
          <p:cNvSpPr/>
          <p:nvPr/>
        </p:nvSpPr>
        <p:spPr>
          <a:xfrm>
            <a:off x="4508500" y="8547100"/>
            <a:ext cx="1905000" cy="1778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860" b="1">
                <a:solidFill>
                  <a:srgbClr val="FFFFFF"/>
                </a:solidFill>
                <a:latin typeface="Meiryo"/>
                <a:ea typeface="Meiryo"/>
              </a:rPr>
              <a:t>Control</a:t>
            </a:r>
            <a:endParaRPr lang="ja-JP" altLang="en-US" sz="860" b="1">
              <a:solidFill>
                <a:srgbClr val="FFFFFF"/>
              </a:solidFill>
              <a:latin typeface="Meiryo"/>
              <a:ea typeface="Meiryo"/>
            </a:endParaRPr>
          </a:p>
        </p:txBody>
      </p:sp>
      <p:sp>
        <p:nvSpPr>
          <p:cNvPr id="74" name="テキスト ボックス 73">
            <a:extLst>
              <a:ext uri="{FF2B5EF4-FFF2-40B4-BE49-F238E27FC236}">
                <a16:creationId xmlns:a16="http://schemas.microsoft.com/office/drawing/2014/main" id="{54F76F46-FE6D-0F4D-A3B5-0901F87D74BC}"/>
              </a:ext>
            </a:extLst>
          </p:cNvPr>
          <p:cNvSpPr txBox="1"/>
          <p:nvPr/>
        </p:nvSpPr>
        <p:spPr>
          <a:xfrm>
            <a:off x="4597400" y="8775700"/>
            <a:ext cx="1727200" cy="152400"/>
          </a:xfrm>
          <a:prstGeom prst="rect">
            <a:avLst/>
          </a:prstGeom>
          <a:noFill/>
        </p:spPr>
        <p:txBody>
          <a:bodyPr vertOverflow="overflow" vert="horz" wrap="square" rtlCol="0" anchor="t" anchorCtr="0">
            <a:noAutofit/>
          </a:bodyPr>
          <a:lstStyle/>
          <a:p>
            <a:pPr algn="l"/>
            <a:r>
              <a:rPr lang="ja-JP" altLang="en-US" sz="910" b="1">
                <a:solidFill>
                  <a:srgbClr val="0B2545"/>
                </a:solidFill>
                <a:latin typeface="Meiryo"/>
                <a:ea typeface="Meiryo"/>
              </a:rPr>
              <a:t>ポリシーベースの</a:t>
            </a:r>
            <a:r>
              <a:rPr lang="en" altLang="ja-JP" sz="910" b="1">
                <a:solidFill>
                  <a:srgbClr val="0B2545"/>
                </a:solidFill>
                <a:latin typeface="Meiryo"/>
                <a:ea typeface="Meiryo"/>
              </a:rPr>
              <a:t>AI</a:t>
            </a:r>
            <a:r>
              <a:rPr lang="ja-JP" altLang="en-US" sz="910" b="1">
                <a:solidFill>
                  <a:srgbClr val="0B2545"/>
                </a:solidFill>
                <a:latin typeface="Meiryo"/>
                <a:ea typeface="Meiryo"/>
              </a:rPr>
              <a:t>利用統制</a:t>
            </a:r>
          </a:p>
        </p:txBody>
      </p:sp>
      <p:sp>
        <p:nvSpPr>
          <p:cNvPr id="75" name="テキスト ボックス 74">
            <a:extLst>
              <a:ext uri="{FF2B5EF4-FFF2-40B4-BE49-F238E27FC236}">
                <a16:creationId xmlns:a16="http://schemas.microsoft.com/office/drawing/2014/main" id="{B1533DB0-E7D7-D049-BA12-52481E405052}"/>
              </a:ext>
            </a:extLst>
          </p:cNvPr>
          <p:cNvSpPr txBox="1"/>
          <p:nvPr/>
        </p:nvSpPr>
        <p:spPr>
          <a:xfrm>
            <a:off x="4597400" y="8953500"/>
            <a:ext cx="1727200" cy="228600"/>
          </a:xfrm>
          <a:prstGeom prst="rect">
            <a:avLst/>
          </a:prstGeom>
          <a:noFill/>
        </p:spPr>
        <p:txBody>
          <a:bodyPr vertOverflow="overflow" vert="horz" wrap="square" rtlCol="0" anchor="t" anchorCtr="0">
            <a:noAutofit/>
          </a:bodyPr>
          <a:lstStyle/>
          <a:p>
            <a:pPr algn="l"/>
            <a:r>
              <a:rPr lang="ja-JP" altLang="en-US" sz="820">
                <a:solidFill>
                  <a:srgbClr val="333333"/>
                </a:solidFill>
                <a:latin typeface="Meiryo"/>
                <a:ea typeface="Meiryo"/>
              </a:rPr>
              <a:t>部門・役割・意図に応じた単一ポリシーで統制し、監査用の記録も保存。</a:t>
            </a:r>
          </a:p>
        </p:txBody>
      </p:sp>
      <p:sp>
        <p:nvSpPr>
          <p:cNvPr id="76" name="正方形/長方形 75">
            <a:extLst>
              <a:ext uri="{FF2B5EF4-FFF2-40B4-BE49-F238E27FC236}">
                <a16:creationId xmlns:a16="http://schemas.microsoft.com/office/drawing/2014/main" id="{30E7872B-8DFB-0F40-88BA-E1DF9227D433}"/>
              </a:ext>
            </a:extLst>
          </p:cNvPr>
          <p:cNvSpPr/>
          <p:nvPr/>
        </p:nvSpPr>
        <p:spPr>
          <a:xfrm>
            <a:off x="0" y="9499600"/>
            <a:ext cx="6858000" cy="4064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630"/>
          </a:p>
        </p:txBody>
      </p:sp>
      <p:sp>
        <p:nvSpPr>
          <p:cNvPr id="77" name="テキスト ボックス 76">
            <a:extLst>
              <a:ext uri="{FF2B5EF4-FFF2-40B4-BE49-F238E27FC236}">
                <a16:creationId xmlns:a16="http://schemas.microsoft.com/office/drawing/2014/main" id="{81BE99D8-33B1-1042-BDC6-522E66B487B1}"/>
              </a:ext>
            </a:extLst>
          </p:cNvPr>
          <p:cNvSpPr txBox="1"/>
          <p:nvPr/>
        </p:nvSpPr>
        <p:spPr>
          <a:xfrm>
            <a:off x="406400" y="9601200"/>
            <a:ext cx="3810000" cy="203200"/>
          </a:xfrm>
          <a:prstGeom prst="rect">
            <a:avLst/>
          </a:prstGeom>
          <a:noFill/>
        </p:spPr>
        <p:txBody>
          <a:bodyPr vertOverflow="overflow" vert="horz" wrap="square" rtlCol="0" anchor="ctr" anchorCtr="0">
            <a:noAutofit/>
          </a:bodyPr>
          <a:lstStyle/>
          <a:p>
            <a:pPr algn="l"/>
            <a:r>
              <a:rPr lang="en" altLang="ja-JP" sz="860" b="1">
                <a:solidFill>
                  <a:srgbClr val="FFFFFF"/>
                </a:solidFill>
                <a:latin typeface="Meiryo"/>
                <a:ea typeface="Meiryo"/>
              </a:rPr>
              <a:t>AI</a:t>
            </a:r>
            <a:r>
              <a:rPr lang="ja-JP" altLang="en-US" sz="860" b="1">
                <a:solidFill>
                  <a:srgbClr val="FFFFFF"/>
                </a:solidFill>
                <a:latin typeface="Meiryo"/>
                <a:ea typeface="Meiryo"/>
              </a:rPr>
              <a:t>ガバナンスの整備から導入・運用まで</a:t>
            </a:r>
            <a:r>
              <a:rPr lang="en" altLang="ja-JP" sz="860" b="1">
                <a:solidFill>
                  <a:srgbClr val="FFFFFF"/>
                </a:solidFill>
                <a:latin typeface="Meiryo"/>
                <a:ea typeface="Meiryo"/>
              </a:rPr>
              <a:t>JSOL</a:t>
            </a:r>
            <a:r>
              <a:rPr lang="ja-JP" altLang="en-US" sz="860" b="1">
                <a:solidFill>
                  <a:srgbClr val="FFFFFF"/>
                </a:solidFill>
                <a:latin typeface="Meiryo"/>
                <a:ea typeface="Meiryo"/>
              </a:rPr>
              <a:t>が支援します。</a:t>
            </a:r>
          </a:p>
        </p:txBody>
      </p:sp>
      <p:sp>
        <p:nvSpPr>
          <p:cNvPr id="78" name="テキスト ボックス 77">
            <a:extLst>
              <a:ext uri="{FF2B5EF4-FFF2-40B4-BE49-F238E27FC236}">
                <a16:creationId xmlns:a16="http://schemas.microsoft.com/office/drawing/2014/main" id="{7EEA4F5B-31F1-0D4B-9180-4BB18852BA88}"/>
              </a:ext>
            </a:extLst>
          </p:cNvPr>
          <p:cNvSpPr txBox="1"/>
          <p:nvPr/>
        </p:nvSpPr>
        <p:spPr>
          <a:xfrm>
            <a:off x="4318000" y="9601200"/>
            <a:ext cx="2120900" cy="203200"/>
          </a:xfrm>
          <a:prstGeom prst="rect">
            <a:avLst/>
          </a:prstGeom>
          <a:noFill/>
        </p:spPr>
        <p:txBody>
          <a:bodyPr vertOverflow="overflow" vert="horz" wrap="square" rtlCol="0" anchor="ctr" anchorCtr="0">
            <a:noAutofit/>
          </a:bodyPr>
          <a:lstStyle/>
          <a:p>
            <a:pPr algn="l"/>
            <a:r>
              <a:rPr lang="ja-JP" altLang="en-US" sz="820">
                <a:solidFill>
                  <a:srgbClr val="FFFFFF"/>
                </a:solidFill>
                <a:latin typeface="Meiryo"/>
                <a:ea typeface="Meiryo"/>
              </a:rPr>
              <a:t>お問い合わせ：</a:t>
            </a:r>
            <a:r>
              <a:rPr lang="en" altLang="ja-JP" sz="820">
                <a:solidFill>
                  <a:srgbClr val="FFFFFF"/>
                </a:solidFill>
                <a:latin typeface="Meiryo"/>
                <a:ea typeface="Meiryo"/>
              </a:rPr>
              <a:t>go.jsol.co.jp/lp/inquiry/00009</a:t>
            </a:r>
            <a:endParaRPr lang="ja-JP" altLang="en-US" sz="820">
              <a:solidFill>
                <a:srgbClr val="FFFFFF"/>
              </a:solidFill>
              <a:latin typeface="Meiryo"/>
              <a:ea typeface="Meiryo"/>
            </a:endParaRPr>
          </a:p>
        </p:txBody>
      </p:sp>
      <p:pic>
        <p:nvPicPr>
          <p:cNvPr id="79" name="図 78">
            <a:extLst>
              <a:ext uri="{FF2B5EF4-FFF2-40B4-BE49-F238E27FC236}">
                <a16:creationId xmlns:a16="http://schemas.microsoft.com/office/drawing/2014/main" id="{EC16D757-20A3-147E-564A-9153B56A0F65}"/>
              </a:ext>
            </a:extLst>
          </p:cNvPr>
          <p:cNvPicPr>
            <a:picLocks noChangeAspect="1"/>
          </p:cNvPicPr>
          <p:nvPr/>
        </p:nvPicPr>
        <p:blipFill>
          <a:blip r:embed="rId2"/>
          <a:stretch>
            <a:fillRect/>
          </a:stretch>
        </p:blipFill>
        <p:spPr>
          <a:xfrm>
            <a:off x="406400" y="292100"/>
            <a:ext cx="1866900" cy="520700"/>
          </a:xfrm>
          <a:prstGeom prst="rect">
            <a:avLst/>
          </a:prstGeom>
        </p:spPr>
      </p:pic>
      <p:pic>
        <p:nvPicPr>
          <p:cNvPr id="82" name="図 81">
            <a:extLst>
              <a:ext uri="{FF2B5EF4-FFF2-40B4-BE49-F238E27FC236}">
                <a16:creationId xmlns:a16="http://schemas.microsoft.com/office/drawing/2014/main" id="{306B6B51-7473-48FD-7B5D-611B4A52C0CA}"/>
              </a:ext>
            </a:extLst>
          </p:cNvPr>
          <p:cNvPicPr>
            <a:picLocks noChangeAspect="1"/>
          </p:cNvPicPr>
          <p:nvPr/>
        </p:nvPicPr>
        <p:blipFill>
          <a:blip r:embed="rId3"/>
          <a:stretch>
            <a:fillRect/>
          </a:stretch>
        </p:blipFill>
        <p:spPr>
          <a:xfrm>
            <a:off x="7213600" y="1261823"/>
            <a:ext cx="5080000" cy="2057400"/>
          </a:xfrm>
          <a:prstGeom prst="rect">
            <a:avLst/>
          </a:prstGeom>
        </p:spPr>
      </p:pic>
    </p:spTree>
    <p:extLst>
      <p:ext uri="{BB962C8B-B14F-4D97-AF65-F5344CB8AC3E}">
        <p14:creationId xmlns:p14="http://schemas.microsoft.com/office/powerpoint/2010/main" val="3253146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ABAAE36-B683-7EE4-C334-39DE654F0724}"/>
              </a:ext>
            </a:extLst>
          </p:cNvPr>
          <p:cNvPicPr>
            <a:picLocks noChangeAspect="1"/>
          </p:cNvPicPr>
          <p:nvPr/>
        </p:nvPicPr>
        <p:blipFill>
          <a:blip r:embed="rId2"/>
          <a:stretch>
            <a:fillRect/>
          </a:stretch>
        </p:blipFill>
        <p:spPr>
          <a:xfrm>
            <a:off x="0" y="0"/>
            <a:ext cx="4508500" cy="1270000"/>
          </a:xfrm>
          <a:prstGeom prst="rect">
            <a:avLst/>
          </a:prstGeom>
        </p:spPr>
      </p:pic>
      <p:pic>
        <p:nvPicPr>
          <p:cNvPr id="5" name="図 4">
            <a:extLst>
              <a:ext uri="{FF2B5EF4-FFF2-40B4-BE49-F238E27FC236}">
                <a16:creationId xmlns:a16="http://schemas.microsoft.com/office/drawing/2014/main" id="{48D87D83-D817-3C09-61D2-C8BF94BE738B}"/>
              </a:ext>
            </a:extLst>
          </p:cNvPr>
          <p:cNvPicPr>
            <a:picLocks noChangeAspect="1"/>
          </p:cNvPicPr>
          <p:nvPr/>
        </p:nvPicPr>
        <p:blipFill>
          <a:blip r:embed="rId3"/>
          <a:stretch>
            <a:fillRect/>
          </a:stretch>
        </p:blipFill>
        <p:spPr>
          <a:xfrm>
            <a:off x="0" y="1270000"/>
            <a:ext cx="6858000" cy="2767342"/>
          </a:xfrm>
          <a:prstGeom prst="rect">
            <a:avLst/>
          </a:prstGeom>
        </p:spPr>
      </p:pic>
      <p:pic>
        <p:nvPicPr>
          <p:cNvPr id="6" name="図 5">
            <a:extLst>
              <a:ext uri="{FF2B5EF4-FFF2-40B4-BE49-F238E27FC236}">
                <a16:creationId xmlns:a16="http://schemas.microsoft.com/office/drawing/2014/main" id="{CFE1A79B-8D55-60A5-3C21-190192FF05AD}"/>
              </a:ext>
            </a:extLst>
          </p:cNvPr>
          <p:cNvPicPr>
            <a:picLocks noChangeAspect="1"/>
          </p:cNvPicPr>
          <p:nvPr/>
        </p:nvPicPr>
        <p:blipFill>
          <a:blip r:embed="rId4"/>
          <a:stretch>
            <a:fillRect/>
          </a:stretch>
        </p:blipFill>
        <p:spPr>
          <a:xfrm>
            <a:off x="0" y="4356608"/>
            <a:ext cx="6858000" cy="4110473"/>
          </a:xfrm>
          <a:prstGeom prst="rect">
            <a:avLst/>
          </a:prstGeom>
        </p:spPr>
      </p:pic>
    </p:spTree>
    <p:extLst>
      <p:ext uri="{BB962C8B-B14F-4D97-AF65-F5344CB8AC3E}">
        <p14:creationId xmlns:p14="http://schemas.microsoft.com/office/powerpoint/2010/main" val="373307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437D7F5F-6834-6E7C-4D86-643AFBD01D8E}"/>
              </a:ext>
            </a:extLst>
          </p:cNvPr>
          <p:cNvPicPr>
            <a:picLocks noChangeAspect="1"/>
          </p:cNvPicPr>
          <p:nvPr/>
        </p:nvPicPr>
        <p:blipFill>
          <a:blip r:embed="rId2"/>
          <a:stretch>
            <a:fillRect/>
          </a:stretch>
        </p:blipFill>
        <p:spPr>
          <a:xfrm>
            <a:off x="0" y="885447"/>
            <a:ext cx="6858000" cy="4184897"/>
          </a:xfrm>
          <a:prstGeom prst="rect">
            <a:avLst/>
          </a:prstGeom>
        </p:spPr>
      </p:pic>
      <p:pic>
        <p:nvPicPr>
          <p:cNvPr id="6" name="図 5">
            <a:extLst>
              <a:ext uri="{FF2B5EF4-FFF2-40B4-BE49-F238E27FC236}">
                <a16:creationId xmlns:a16="http://schemas.microsoft.com/office/drawing/2014/main" id="{3401416F-A9D9-52A5-601B-26A5361A14A8}"/>
              </a:ext>
            </a:extLst>
          </p:cNvPr>
          <p:cNvPicPr>
            <a:picLocks noChangeAspect="1"/>
          </p:cNvPicPr>
          <p:nvPr/>
        </p:nvPicPr>
        <p:blipFill>
          <a:blip r:embed="rId3"/>
          <a:stretch>
            <a:fillRect/>
          </a:stretch>
        </p:blipFill>
        <p:spPr>
          <a:xfrm>
            <a:off x="0" y="5244087"/>
            <a:ext cx="6858000" cy="4184897"/>
          </a:xfrm>
          <a:prstGeom prst="rect">
            <a:avLst/>
          </a:prstGeom>
        </p:spPr>
      </p:pic>
    </p:spTree>
    <p:extLst>
      <p:ext uri="{BB962C8B-B14F-4D97-AF65-F5344CB8AC3E}">
        <p14:creationId xmlns:p14="http://schemas.microsoft.com/office/powerpoint/2010/main" val="891584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09711DED-3F50-D717-C695-A68D0CFF2794}"/>
              </a:ext>
            </a:extLst>
          </p:cNvPr>
          <p:cNvPicPr>
            <a:picLocks noChangeAspect="1"/>
          </p:cNvPicPr>
          <p:nvPr/>
        </p:nvPicPr>
        <p:blipFill>
          <a:blip r:embed="rId2"/>
          <a:stretch>
            <a:fillRect/>
          </a:stretch>
        </p:blipFill>
        <p:spPr>
          <a:xfrm>
            <a:off x="508000" y="5664200"/>
            <a:ext cx="5842000" cy="3505200"/>
          </a:xfrm>
          <a:prstGeom prst="rect">
            <a:avLst/>
          </a:prstGeom>
        </p:spPr>
      </p:pic>
      <p:pic>
        <p:nvPicPr>
          <p:cNvPr id="3" name="図 2">
            <a:extLst>
              <a:ext uri="{FF2B5EF4-FFF2-40B4-BE49-F238E27FC236}">
                <a16:creationId xmlns:a16="http://schemas.microsoft.com/office/drawing/2014/main" id="{63540C10-19DF-CAE0-46FC-B86CA0A1C823}"/>
              </a:ext>
            </a:extLst>
          </p:cNvPr>
          <p:cNvPicPr>
            <a:picLocks noChangeAspect="1"/>
          </p:cNvPicPr>
          <p:nvPr/>
        </p:nvPicPr>
        <p:blipFill>
          <a:blip r:embed="rId3"/>
          <a:stretch>
            <a:fillRect/>
          </a:stretch>
        </p:blipFill>
        <p:spPr>
          <a:xfrm>
            <a:off x="0" y="0"/>
            <a:ext cx="6858000" cy="2768600"/>
          </a:xfrm>
          <a:prstGeom prst="rect">
            <a:avLst/>
          </a:prstGeom>
        </p:spPr>
      </p:pic>
      <p:sp>
        <p:nvSpPr>
          <p:cNvPr id="4" name="正方形/長方形 3">
            <a:extLst>
              <a:ext uri="{FF2B5EF4-FFF2-40B4-BE49-F238E27FC236}">
                <a16:creationId xmlns:a16="http://schemas.microsoft.com/office/drawing/2014/main" id="{DF9AB88D-6440-214C-BD80-8AB6BAD65BF1}"/>
              </a:ext>
            </a:extLst>
          </p:cNvPr>
          <p:cNvSpPr/>
          <p:nvPr/>
        </p:nvSpPr>
        <p:spPr>
          <a:xfrm>
            <a:off x="0" y="2768600"/>
            <a:ext cx="6858000" cy="508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A7EEF09B-12B0-0F40-B4CE-4719A198E970}"/>
              </a:ext>
            </a:extLst>
          </p:cNvPr>
          <p:cNvSpPr/>
          <p:nvPr/>
        </p:nvSpPr>
        <p:spPr>
          <a:xfrm>
            <a:off x="406400" y="3022600"/>
            <a:ext cx="63500" cy="228600"/>
          </a:xfrm>
          <a:prstGeom prst="rect">
            <a:avLst/>
          </a:prstGeom>
          <a:solidFill>
            <a:srgbClr val="D945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81CD0D05-4BC3-CB44-82DD-58DF4D32E84E}"/>
              </a:ext>
            </a:extLst>
          </p:cNvPr>
          <p:cNvSpPr txBox="1"/>
          <p:nvPr/>
        </p:nvSpPr>
        <p:spPr>
          <a:xfrm>
            <a:off x="558800" y="2997200"/>
            <a:ext cx="3810000" cy="254000"/>
          </a:xfrm>
          <a:prstGeom prst="rect">
            <a:avLst/>
          </a:prstGeom>
          <a:noFill/>
        </p:spPr>
        <p:txBody>
          <a:bodyPr vertOverflow="overflow" vert="horz" wrap="square" rtlCol="0" anchor="t" anchorCtr="0">
            <a:noAutofit/>
          </a:bodyPr>
          <a:lstStyle/>
          <a:p>
            <a:pPr algn="l"/>
            <a:r>
              <a:rPr lang="ja-JP" altLang="en-US" sz="1400" b="1">
                <a:solidFill>
                  <a:srgbClr val="0B2545"/>
                </a:solidFill>
                <a:latin typeface="Meiryo"/>
                <a:ea typeface="Meiryo"/>
              </a:rPr>
              <a:t>なぜ今、</a:t>
            </a:r>
            <a:r>
              <a:rPr lang="en" altLang="ja-JP" sz="1400" b="1">
                <a:solidFill>
                  <a:srgbClr val="0B2545"/>
                </a:solidFill>
                <a:latin typeface="Meiryo"/>
                <a:ea typeface="Meiryo"/>
              </a:rPr>
              <a:t>AI</a:t>
            </a:r>
            <a:r>
              <a:rPr lang="ja-JP" altLang="en-US" sz="1400" b="1">
                <a:solidFill>
                  <a:srgbClr val="0B2545"/>
                </a:solidFill>
                <a:latin typeface="Meiryo"/>
                <a:ea typeface="Meiryo"/>
              </a:rPr>
              <a:t>ガバナンスが必要か</a:t>
            </a:r>
          </a:p>
        </p:txBody>
      </p:sp>
      <p:sp>
        <p:nvSpPr>
          <p:cNvPr id="7" name="テキスト ボックス 6">
            <a:extLst>
              <a:ext uri="{FF2B5EF4-FFF2-40B4-BE49-F238E27FC236}">
                <a16:creationId xmlns:a16="http://schemas.microsoft.com/office/drawing/2014/main" id="{40803778-442D-6E46-8D8F-BDE90D05F92F}"/>
              </a:ext>
            </a:extLst>
          </p:cNvPr>
          <p:cNvSpPr txBox="1"/>
          <p:nvPr/>
        </p:nvSpPr>
        <p:spPr>
          <a:xfrm>
            <a:off x="406400" y="3302000"/>
            <a:ext cx="6045200" cy="1778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シャドー</a:t>
            </a:r>
            <a:r>
              <a:rPr lang="en" altLang="ja-JP" sz="900">
                <a:solidFill>
                  <a:srgbClr val="333333"/>
                </a:solidFill>
                <a:latin typeface="Meiryo"/>
                <a:ea typeface="Meiryo"/>
              </a:rPr>
              <a:t>AI</a:t>
            </a:r>
            <a:r>
              <a:rPr lang="ja-JP" altLang="en-US" sz="900">
                <a:solidFill>
                  <a:srgbClr val="333333"/>
                </a:solidFill>
                <a:latin typeface="Meiryo"/>
                <a:ea typeface="Meiryo"/>
              </a:rPr>
              <a:t>による意図しないデータ流出、</a:t>
            </a:r>
            <a:r>
              <a:rPr lang="en" altLang="ja-JP" sz="900">
                <a:solidFill>
                  <a:srgbClr val="333333"/>
                </a:solidFill>
                <a:latin typeface="Meiryo"/>
                <a:ea typeface="Meiryo"/>
              </a:rPr>
              <a:t>AI</a:t>
            </a:r>
            <a:r>
              <a:rPr lang="ja-JP" altLang="en-US" sz="900">
                <a:solidFill>
                  <a:srgbClr val="333333"/>
                </a:solidFill>
                <a:latin typeface="Meiryo"/>
                <a:ea typeface="Meiryo"/>
              </a:rPr>
              <a:t>エージェントの自律化。「個人のリテラシー」だけでは限界があります。</a:t>
            </a:r>
          </a:p>
        </p:txBody>
      </p:sp>
      <p:sp>
        <p:nvSpPr>
          <p:cNvPr id="8" name="正方形/長方形 7">
            <a:extLst>
              <a:ext uri="{FF2B5EF4-FFF2-40B4-BE49-F238E27FC236}">
                <a16:creationId xmlns:a16="http://schemas.microsoft.com/office/drawing/2014/main" id="{3C77BB39-47B4-834B-88D5-2767B86F5A51}"/>
              </a:ext>
            </a:extLst>
          </p:cNvPr>
          <p:cNvSpPr/>
          <p:nvPr/>
        </p:nvSpPr>
        <p:spPr>
          <a:xfrm>
            <a:off x="406400" y="3581400"/>
            <a:ext cx="6045200" cy="431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正方形/長方形 8">
            <a:extLst>
              <a:ext uri="{FF2B5EF4-FFF2-40B4-BE49-F238E27FC236}">
                <a16:creationId xmlns:a16="http://schemas.microsoft.com/office/drawing/2014/main" id="{646F07A7-928A-AC47-A856-758B27662B28}"/>
              </a:ext>
            </a:extLst>
          </p:cNvPr>
          <p:cNvSpPr/>
          <p:nvPr/>
        </p:nvSpPr>
        <p:spPr>
          <a:xfrm>
            <a:off x="406400" y="3581400"/>
            <a:ext cx="330200" cy="4318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000" b="1">
                <a:solidFill>
                  <a:srgbClr val="FFFFFF"/>
                </a:solidFill>
                <a:latin typeface="Meiryo"/>
                <a:ea typeface="Meiryo"/>
              </a:rPr>
              <a:t>01</a:t>
            </a:r>
            <a:endParaRPr lang="ja-JP" altLang="en-US" sz="1000" b="1">
              <a:solidFill>
                <a:srgbClr val="FFFFFF"/>
              </a:solidFill>
              <a:latin typeface="Meiryo"/>
              <a:ea typeface="Meiryo"/>
            </a:endParaRPr>
          </a:p>
        </p:txBody>
      </p:sp>
      <p:sp>
        <p:nvSpPr>
          <p:cNvPr id="10" name="テキスト ボックス 9">
            <a:extLst>
              <a:ext uri="{FF2B5EF4-FFF2-40B4-BE49-F238E27FC236}">
                <a16:creationId xmlns:a16="http://schemas.microsoft.com/office/drawing/2014/main" id="{AAEB48A3-E12A-5D46-B7E6-746FB0CA6732}"/>
              </a:ext>
            </a:extLst>
          </p:cNvPr>
          <p:cNvSpPr txBox="1"/>
          <p:nvPr/>
        </p:nvSpPr>
        <p:spPr>
          <a:xfrm>
            <a:off x="838200" y="3581400"/>
            <a:ext cx="1905000" cy="431800"/>
          </a:xfrm>
          <a:prstGeom prst="rect">
            <a:avLst/>
          </a:prstGeom>
          <a:noFill/>
        </p:spPr>
        <p:txBody>
          <a:bodyPr vertOverflow="overflow" vert="horz" wrap="square" rtlCol="0" anchor="ctr" anchorCtr="0">
            <a:noAutofit/>
          </a:bodyPr>
          <a:lstStyle/>
          <a:p>
            <a:pPr algn="l"/>
            <a:r>
              <a:rPr lang="ja-JP" altLang="en-US" sz="1000" b="1">
                <a:solidFill>
                  <a:srgbClr val="0B2545"/>
                </a:solidFill>
                <a:latin typeface="Meiryo"/>
                <a:ea typeface="Meiryo"/>
              </a:rPr>
              <a:t>自律型エージェントの台頭</a:t>
            </a:r>
          </a:p>
        </p:txBody>
      </p:sp>
      <p:sp>
        <p:nvSpPr>
          <p:cNvPr id="11" name="テキスト ボックス 10">
            <a:extLst>
              <a:ext uri="{FF2B5EF4-FFF2-40B4-BE49-F238E27FC236}">
                <a16:creationId xmlns:a16="http://schemas.microsoft.com/office/drawing/2014/main" id="{DE9A054E-2883-DE47-BE6F-A814316728FD}"/>
              </a:ext>
            </a:extLst>
          </p:cNvPr>
          <p:cNvSpPr txBox="1"/>
          <p:nvPr/>
        </p:nvSpPr>
        <p:spPr>
          <a:xfrm>
            <a:off x="2819400" y="3581400"/>
            <a:ext cx="3530600" cy="431800"/>
          </a:xfrm>
          <a:prstGeom prst="rect">
            <a:avLst/>
          </a:prstGeom>
          <a:noFill/>
        </p:spPr>
        <p:txBody>
          <a:bodyPr vertOverflow="overflow" vert="horz" wrap="square" rtlCol="0" anchor="ctr" anchorCtr="0">
            <a:noAutofit/>
          </a:bodyPr>
          <a:lstStyle/>
          <a:p>
            <a:pPr algn="l"/>
            <a:r>
              <a:rPr lang="ja-JP" altLang="en-US" sz="900">
                <a:solidFill>
                  <a:srgbClr val="333333"/>
                </a:solidFill>
                <a:latin typeface="Meiryo"/>
                <a:ea typeface="Meiryo"/>
              </a:rPr>
              <a:t>外部</a:t>
            </a:r>
            <a:r>
              <a:rPr lang="en" altLang="ja-JP" sz="900">
                <a:solidFill>
                  <a:srgbClr val="333333"/>
                </a:solidFill>
                <a:latin typeface="Meiryo"/>
                <a:ea typeface="Meiryo"/>
              </a:rPr>
              <a:t>API</a:t>
            </a:r>
            <a:r>
              <a:rPr lang="ja-JP" altLang="en-US" sz="900">
                <a:solidFill>
                  <a:srgbClr val="333333"/>
                </a:solidFill>
                <a:latin typeface="Meiryo"/>
                <a:ea typeface="Meiryo"/>
              </a:rPr>
              <a:t>や</a:t>
            </a:r>
            <a:r>
              <a:rPr lang="en" altLang="ja-JP" sz="900">
                <a:solidFill>
                  <a:srgbClr val="333333"/>
                </a:solidFill>
                <a:latin typeface="Meiryo"/>
                <a:ea typeface="Meiryo"/>
              </a:rPr>
              <a:t>DB</a:t>
            </a:r>
            <a:r>
              <a:rPr lang="ja-JP" altLang="en-US" sz="900">
                <a:solidFill>
                  <a:srgbClr val="333333"/>
                </a:solidFill>
                <a:latin typeface="Meiryo"/>
                <a:ea typeface="Meiryo"/>
              </a:rPr>
              <a:t>を自律操作するツールへ進化し、従来の監視手法では追いつきません。</a:t>
            </a:r>
          </a:p>
        </p:txBody>
      </p:sp>
      <p:sp>
        <p:nvSpPr>
          <p:cNvPr id="12" name="正方形/長方形 11">
            <a:extLst>
              <a:ext uri="{FF2B5EF4-FFF2-40B4-BE49-F238E27FC236}">
                <a16:creationId xmlns:a16="http://schemas.microsoft.com/office/drawing/2014/main" id="{58A7A230-D2E8-CC47-BA29-2CA9CB1B3266}"/>
              </a:ext>
            </a:extLst>
          </p:cNvPr>
          <p:cNvSpPr/>
          <p:nvPr/>
        </p:nvSpPr>
        <p:spPr>
          <a:xfrm>
            <a:off x="406400" y="4089400"/>
            <a:ext cx="6045200" cy="431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正方形/長方形 12">
            <a:extLst>
              <a:ext uri="{FF2B5EF4-FFF2-40B4-BE49-F238E27FC236}">
                <a16:creationId xmlns:a16="http://schemas.microsoft.com/office/drawing/2014/main" id="{A3F614F8-ADC0-7247-BB28-8909C0A5725E}"/>
              </a:ext>
            </a:extLst>
          </p:cNvPr>
          <p:cNvSpPr/>
          <p:nvPr/>
        </p:nvSpPr>
        <p:spPr>
          <a:xfrm>
            <a:off x="406400" y="4089400"/>
            <a:ext cx="330200" cy="4318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000" b="1">
                <a:solidFill>
                  <a:srgbClr val="FFFFFF"/>
                </a:solidFill>
                <a:latin typeface="Meiryo"/>
                <a:ea typeface="Meiryo"/>
              </a:rPr>
              <a:t>02</a:t>
            </a:r>
            <a:endParaRPr lang="ja-JP" altLang="en-US" sz="1000" b="1">
              <a:solidFill>
                <a:srgbClr val="FFFFFF"/>
              </a:solidFill>
              <a:latin typeface="Meiryo"/>
              <a:ea typeface="Meiryo"/>
            </a:endParaRPr>
          </a:p>
        </p:txBody>
      </p:sp>
      <p:sp>
        <p:nvSpPr>
          <p:cNvPr id="14" name="テキスト ボックス 13">
            <a:extLst>
              <a:ext uri="{FF2B5EF4-FFF2-40B4-BE49-F238E27FC236}">
                <a16:creationId xmlns:a16="http://schemas.microsoft.com/office/drawing/2014/main" id="{0FB2D815-9C61-3B48-91BE-97B8B98419EB}"/>
              </a:ext>
            </a:extLst>
          </p:cNvPr>
          <p:cNvSpPr txBox="1"/>
          <p:nvPr/>
        </p:nvSpPr>
        <p:spPr>
          <a:xfrm>
            <a:off x="838200" y="4089400"/>
            <a:ext cx="1905000" cy="431800"/>
          </a:xfrm>
          <a:prstGeom prst="rect">
            <a:avLst/>
          </a:prstGeom>
          <a:noFill/>
        </p:spPr>
        <p:txBody>
          <a:bodyPr vertOverflow="overflow" vert="horz" wrap="square" rtlCol="0" anchor="ctr" anchorCtr="0">
            <a:noAutofit/>
          </a:bodyPr>
          <a:lstStyle/>
          <a:p>
            <a:pPr algn="l"/>
            <a:r>
              <a:rPr lang="ja-JP" altLang="en-US" sz="1000" b="1">
                <a:solidFill>
                  <a:srgbClr val="0B2545"/>
                </a:solidFill>
                <a:latin typeface="Meiryo"/>
                <a:ea typeface="Meiryo"/>
              </a:rPr>
              <a:t>シャドー</a:t>
            </a:r>
            <a:r>
              <a:rPr lang="en" altLang="ja-JP" sz="1000" b="1">
                <a:solidFill>
                  <a:srgbClr val="0B2545"/>
                </a:solidFill>
                <a:latin typeface="Meiryo"/>
                <a:ea typeface="Meiryo"/>
              </a:rPr>
              <a:t>AI</a:t>
            </a:r>
            <a:r>
              <a:rPr lang="ja-JP" altLang="en-US" sz="1000" b="1">
                <a:solidFill>
                  <a:srgbClr val="0B2545"/>
                </a:solidFill>
                <a:latin typeface="Meiryo"/>
                <a:ea typeface="Meiryo"/>
              </a:rPr>
              <a:t>による管理不全</a:t>
            </a:r>
          </a:p>
        </p:txBody>
      </p:sp>
      <p:sp>
        <p:nvSpPr>
          <p:cNvPr id="15" name="テキスト ボックス 14">
            <a:extLst>
              <a:ext uri="{FF2B5EF4-FFF2-40B4-BE49-F238E27FC236}">
                <a16:creationId xmlns:a16="http://schemas.microsoft.com/office/drawing/2014/main" id="{ACEB3268-956D-0246-9F64-FD4AF2060392}"/>
              </a:ext>
            </a:extLst>
          </p:cNvPr>
          <p:cNvSpPr txBox="1"/>
          <p:nvPr/>
        </p:nvSpPr>
        <p:spPr>
          <a:xfrm>
            <a:off x="2819400" y="4089400"/>
            <a:ext cx="3530600" cy="431800"/>
          </a:xfrm>
          <a:prstGeom prst="rect">
            <a:avLst/>
          </a:prstGeom>
          <a:noFill/>
        </p:spPr>
        <p:txBody>
          <a:bodyPr vertOverflow="overflow" vert="horz" wrap="square" rtlCol="0" anchor="ctr" anchorCtr="0">
            <a:noAutofit/>
          </a:bodyPr>
          <a:lstStyle/>
          <a:p>
            <a:pPr algn="l"/>
            <a:r>
              <a:rPr lang="ja-JP" altLang="en-US" sz="900">
                <a:solidFill>
                  <a:srgbClr val="333333"/>
                </a:solidFill>
                <a:latin typeface="Meiryo"/>
                <a:ea typeface="Meiryo"/>
              </a:rPr>
              <a:t>現場の独自判断による</a:t>
            </a:r>
            <a:r>
              <a:rPr lang="en" altLang="ja-JP" sz="900">
                <a:solidFill>
                  <a:srgbClr val="333333"/>
                </a:solidFill>
                <a:latin typeface="Meiryo"/>
                <a:ea typeface="Meiryo"/>
              </a:rPr>
              <a:t>AI</a:t>
            </a:r>
            <a:r>
              <a:rPr lang="ja-JP" altLang="en-US" sz="900">
                <a:solidFill>
                  <a:srgbClr val="333333"/>
                </a:solidFill>
                <a:latin typeface="Meiryo"/>
                <a:ea typeface="Meiryo"/>
              </a:rPr>
              <a:t>利用が、</a:t>
            </a:r>
            <a:r>
              <a:rPr lang="en" altLang="ja-JP" sz="900">
                <a:solidFill>
                  <a:srgbClr val="333333"/>
                </a:solidFill>
                <a:latin typeface="Meiryo"/>
                <a:ea typeface="Meiryo"/>
              </a:rPr>
              <a:t>IT</a:t>
            </a:r>
            <a:r>
              <a:rPr lang="ja-JP" altLang="en-US" sz="900">
                <a:solidFill>
                  <a:srgbClr val="333333"/>
                </a:solidFill>
                <a:latin typeface="Meiryo"/>
                <a:ea typeface="Meiryo"/>
              </a:rPr>
              <a:t>部門から見えない組織の盲点になります。</a:t>
            </a:r>
          </a:p>
        </p:txBody>
      </p:sp>
      <p:sp>
        <p:nvSpPr>
          <p:cNvPr id="16" name="正方形/長方形 15">
            <a:extLst>
              <a:ext uri="{FF2B5EF4-FFF2-40B4-BE49-F238E27FC236}">
                <a16:creationId xmlns:a16="http://schemas.microsoft.com/office/drawing/2014/main" id="{799E0F00-2679-3444-9729-122A5697D148}"/>
              </a:ext>
            </a:extLst>
          </p:cNvPr>
          <p:cNvSpPr/>
          <p:nvPr/>
        </p:nvSpPr>
        <p:spPr>
          <a:xfrm>
            <a:off x="406400" y="4597400"/>
            <a:ext cx="6045200" cy="431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正方形/長方形 16">
            <a:extLst>
              <a:ext uri="{FF2B5EF4-FFF2-40B4-BE49-F238E27FC236}">
                <a16:creationId xmlns:a16="http://schemas.microsoft.com/office/drawing/2014/main" id="{A6B508AD-CF64-1246-8D66-FB2BDF810B50}"/>
              </a:ext>
            </a:extLst>
          </p:cNvPr>
          <p:cNvSpPr/>
          <p:nvPr/>
        </p:nvSpPr>
        <p:spPr>
          <a:xfrm>
            <a:off x="406400" y="4597400"/>
            <a:ext cx="330200" cy="4318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000" b="1">
                <a:solidFill>
                  <a:srgbClr val="FFFFFF"/>
                </a:solidFill>
                <a:latin typeface="Meiryo"/>
                <a:ea typeface="Meiryo"/>
              </a:rPr>
              <a:t>03</a:t>
            </a:r>
            <a:endParaRPr lang="ja-JP" altLang="en-US" sz="1000" b="1">
              <a:solidFill>
                <a:srgbClr val="FFFFFF"/>
              </a:solidFill>
              <a:latin typeface="Meiryo"/>
              <a:ea typeface="Meiryo"/>
            </a:endParaRPr>
          </a:p>
        </p:txBody>
      </p:sp>
      <p:sp>
        <p:nvSpPr>
          <p:cNvPr id="18" name="テキスト ボックス 17">
            <a:extLst>
              <a:ext uri="{FF2B5EF4-FFF2-40B4-BE49-F238E27FC236}">
                <a16:creationId xmlns:a16="http://schemas.microsoft.com/office/drawing/2014/main" id="{831560CA-258D-7C4F-AF61-255C69358E2E}"/>
              </a:ext>
            </a:extLst>
          </p:cNvPr>
          <p:cNvSpPr txBox="1"/>
          <p:nvPr/>
        </p:nvSpPr>
        <p:spPr>
          <a:xfrm>
            <a:off x="838200" y="4597400"/>
            <a:ext cx="1905000" cy="431800"/>
          </a:xfrm>
          <a:prstGeom prst="rect">
            <a:avLst/>
          </a:prstGeom>
          <a:noFill/>
        </p:spPr>
        <p:txBody>
          <a:bodyPr vertOverflow="overflow" vert="horz" wrap="square" rtlCol="0" anchor="ctr" anchorCtr="0">
            <a:noAutofit/>
          </a:bodyPr>
          <a:lstStyle/>
          <a:p>
            <a:pPr algn="l"/>
            <a:r>
              <a:rPr lang="ja-JP" altLang="en-US" sz="1000" b="1">
                <a:solidFill>
                  <a:srgbClr val="0B2545"/>
                </a:solidFill>
                <a:latin typeface="Meiryo"/>
                <a:ea typeface="Meiryo"/>
              </a:rPr>
              <a:t>新たな脆弱性の出現</a:t>
            </a:r>
          </a:p>
        </p:txBody>
      </p:sp>
      <p:sp>
        <p:nvSpPr>
          <p:cNvPr id="19" name="テキスト ボックス 18">
            <a:extLst>
              <a:ext uri="{FF2B5EF4-FFF2-40B4-BE49-F238E27FC236}">
                <a16:creationId xmlns:a16="http://schemas.microsoft.com/office/drawing/2014/main" id="{C3DA8F4E-16AF-9443-A337-7F7127DA62E9}"/>
              </a:ext>
            </a:extLst>
          </p:cNvPr>
          <p:cNvSpPr txBox="1"/>
          <p:nvPr/>
        </p:nvSpPr>
        <p:spPr>
          <a:xfrm>
            <a:off x="2819400" y="4597400"/>
            <a:ext cx="3530600" cy="431800"/>
          </a:xfrm>
          <a:prstGeom prst="rect">
            <a:avLst/>
          </a:prstGeom>
          <a:noFill/>
        </p:spPr>
        <p:txBody>
          <a:bodyPr vertOverflow="overflow" vert="horz" wrap="square" rtlCol="0" anchor="ctr" anchorCtr="0">
            <a:noAutofit/>
          </a:bodyPr>
          <a:lstStyle/>
          <a:p>
            <a:pPr algn="l"/>
            <a:r>
              <a:rPr lang="ja-JP" altLang="en-US" sz="900">
                <a:solidFill>
                  <a:srgbClr val="333333"/>
                </a:solidFill>
                <a:latin typeface="Meiryo"/>
                <a:ea typeface="Meiryo"/>
              </a:rPr>
              <a:t>プロンプトインジェクション等は </a:t>
            </a:r>
            <a:r>
              <a:rPr lang="en" altLang="ja-JP" sz="900">
                <a:solidFill>
                  <a:srgbClr val="333333"/>
                </a:solidFill>
                <a:latin typeface="Meiryo"/>
                <a:ea typeface="Meiryo"/>
              </a:rPr>
              <a:t>OWASP Top 10 for LLM 2025 </a:t>
            </a:r>
            <a:r>
              <a:rPr lang="ja-JP" altLang="en-US" sz="900">
                <a:solidFill>
                  <a:srgbClr val="333333"/>
                </a:solidFill>
                <a:latin typeface="Meiryo"/>
                <a:ea typeface="Meiryo"/>
              </a:rPr>
              <a:t>で最上位のリスクです。</a:t>
            </a:r>
          </a:p>
        </p:txBody>
      </p:sp>
      <p:sp>
        <p:nvSpPr>
          <p:cNvPr id="20" name="正方形/長方形 19">
            <a:extLst>
              <a:ext uri="{FF2B5EF4-FFF2-40B4-BE49-F238E27FC236}">
                <a16:creationId xmlns:a16="http://schemas.microsoft.com/office/drawing/2014/main" id="{DFED0D33-9F86-A345-9990-50D2F8142E14}"/>
              </a:ext>
            </a:extLst>
          </p:cNvPr>
          <p:cNvSpPr/>
          <p:nvPr/>
        </p:nvSpPr>
        <p:spPr>
          <a:xfrm>
            <a:off x="406400" y="5232400"/>
            <a:ext cx="63500" cy="2286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79B78ADE-82E7-CB47-9BDF-AEF712491D51}"/>
              </a:ext>
            </a:extLst>
          </p:cNvPr>
          <p:cNvSpPr txBox="1"/>
          <p:nvPr/>
        </p:nvSpPr>
        <p:spPr>
          <a:xfrm>
            <a:off x="558800" y="5207000"/>
            <a:ext cx="5334000" cy="254000"/>
          </a:xfrm>
          <a:prstGeom prst="rect">
            <a:avLst/>
          </a:prstGeom>
          <a:noFill/>
        </p:spPr>
        <p:txBody>
          <a:bodyPr vertOverflow="overflow" vert="horz" wrap="square" rtlCol="0" anchor="t" anchorCtr="0">
            <a:noAutofit/>
          </a:bodyPr>
          <a:lstStyle/>
          <a:p>
            <a:pPr algn="l"/>
            <a:r>
              <a:rPr lang="ja-JP" altLang="en-US" sz="1400" b="1">
                <a:solidFill>
                  <a:srgbClr val="0B2545"/>
                </a:solidFill>
                <a:latin typeface="Meiryo"/>
                <a:ea typeface="Meiryo"/>
              </a:rPr>
              <a:t>だから、</a:t>
            </a:r>
            <a:r>
              <a:rPr lang="en" altLang="ja-JP" sz="1400" b="1">
                <a:solidFill>
                  <a:srgbClr val="0B2545"/>
                </a:solidFill>
                <a:latin typeface="Meiryo"/>
                <a:ea typeface="Meiryo"/>
              </a:rPr>
              <a:t>WitnessAI</a:t>
            </a:r>
            <a:endParaRPr lang="ja-JP" altLang="en-US" sz="1400" b="1">
              <a:solidFill>
                <a:srgbClr val="0B2545"/>
              </a:solidFill>
              <a:latin typeface="Meiryo"/>
              <a:ea typeface="Meiryo"/>
            </a:endParaRPr>
          </a:p>
        </p:txBody>
      </p:sp>
      <p:sp>
        <p:nvSpPr>
          <p:cNvPr id="22" name="テキスト ボックス 21">
            <a:extLst>
              <a:ext uri="{FF2B5EF4-FFF2-40B4-BE49-F238E27FC236}">
                <a16:creationId xmlns:a16="http://schemas.microsoft.com/office/drawing/2014/main" id="{0727A48C-5C64-EF40-9839-6B19947FEB6D}"/>
              </a:ext>
            </a:extLst>
          </p:cNvPr>
          <p:cNvSpPr txBox="1"/>
          <p:nvPr/>
        </p:nvSpPr>
        <p:spPr>
          <a:xfrm>
            <a:off x="406400" y="5486400"/>
            <a:ext cx="6045200" cy="1778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ユーザと</a:t>
            </a:r>
            <a:r>
              <a:rPr lang="en" altLang="ja-JP" sz="900">
                <a:solidFill>
                  <a:srgbClr val="333333"/>
                </a:solidFill>
                <a:latin typeface="Meiryo"/>
                <a:ea typeface="Meiryo"/>
              </a:rPr>
              <a:t>AI</a:t>
            </a:r>
            <a:r>
              <a:rPr lang="ja-JP" altLang="en-US" sz="900">
                <a:solidFill>
                  <a:srgbClr val="333333"/>
                </a:solidFill>
                <a:latin typeface="Meiryo"/>
                <a:ea typeface="Meiryo"/>
              </a:rPr>
              <a:t>の間に立ち、可視化・入力制御・</a:t>
            </a:r>
            <a:r>
              <a:rPr lang="en" altLang="ja-JP" sz="900">
                <a:solidFill>
                  <a:srgbClr val="333333"/>
                </a:solidFill>
                <a:latin typeface="Meiryo"/>
                <a:ea typeface="Meiryo"/>
              </a:rPr>
              <a:t>AI</a:t>
            </a:r>
            <a:r>
              <a:rPr lang="ja-JP" altLang="en-US" sz="900">
                <a:solidFill>
                  <a:srgbClr val="333333"/>
                </a:solidFill>
                <a:latin typeface="Meiryo"/>
                <a:ea typeface="Meiryo"/>
              </a:rPr>
              <a:t>アプリ保護・ポリシー適用を自動で行う</a:t>
            </a:r>
            <a:r>
              <a:rPr lang="en" altLang="ja-JP" sz="900">
                <a:solidFill>
                  <a:srgbClr val="333333"/>
                </a:solidFill>
                <a:latin typeface="Meiryo"/>
                <a:ea typeface="Meiryo"/>
              </a:rPr>
              <a:t>AI Security Gateway</a:t>
            </a:r>
            <a:r>
              <a:rPr lang="ja-JP" altLang="en" sz="900">
                <a:solidFill>
                  <a:srgbClr val="333333"/>
                </a:solidFill>
                <a:latin typeface="Meiryo"/>
                <a:ea typeface="Meiryo"/>
              </a:rPr>
              <a:t>。</a:t>
            </a:r>
            <a:endParaRPr lang="ja-JP" altLang="en-US" sz="900">
              <a:solidFill>
                <a:srgbClr val="333333"/>
              </a:solidFill>
              <a:latin typeface="Meiryo"/>
              <a:ea typeface="Meiryo"/>
            </a:endParaRPr>
          </a:p>
        </p:txBody>
      </p:sp>
      <p:sp>
        <p:nvSpPr>
          <p:cNvPr id="23" name="正方形/長方形 22">
            <a:extLst>
              <a:ext uri="{FF2B5EF4-FFF2-40B4-BE49-F238E27FC236}">
                <a16:creationId xmlns:a16="http://schemas.microsoft.com/office/drawing/2014/main" id="{8D11672C-9BD2-D145-AB4A-55B35C939DA8}"/>
              </a:ext>
            </a:extLst>
          </p:cNvPr>
          <p:cNvSpPr/>
          <p:nvPr/>
        </p:nvSpPr>
        <p:spPr>
          <a:xfrm>
            <a:off x="0" y="9499600"/>
            <a:ext cx="6858000" cy="4064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テキスト ボックス 23">
            <a:extLst>
              <a:ext uri="{FF2B5EF4-FFF2-40B4-BE49-F238E27FC236}">
                <a16:creationId xmlns:a16="http://schemas.microsoft.com/office/drawing/2014/main" id="{E03EB78A-656D-1441-AA79-3B8726710903}"/>
              </a:ext>
            </a:extLst>
          </p:cNvPr>
          <p:cNvSpPr txBox="1"/>
          <p:nvPr/>
        </p:nvSpPr>
        <p:spPr>
          <a:xfrm>
            <a:off x="406400" y="9601200"/>
            <a:ext cx="3810000" cy="203200"/>
          </a:xfrm>
          <a:prstGeom prst="rect">
            <a:avLst/>
          </a:prstGeom>
          <a:noFill/>
        </p:spPr>
        <p:txBody>
          <a:bodyPr vertOverflow="overflow" vert="horz" wrap="square" rtlCol="0" anchor="ctr" anchorCtr="0">
            <a:noAutofit/>
          </a:bodyPr>
          <a:lstStyle/>
          <a:p>
            <a:pPr algn="l"/>
            <a:r>
              <a:rPr lang="en" altLang="ja-JP" sz="900" b="1">
                <a:solidFill>
                  <a:srgbClr val="FFFFFF"/>
                </a:solidFill>
                <a:latin typeface="Meiryo"/>
                <a:ea typeface="Meiryo"/>
              </a:rPr>
              <a:t>AI</a:t>
            </a:r>
            <a:r>
              <a:rPr lang="ja-JP" altLang="en-US" sz="900" b="1">
                <a:solidFill>
                  <a:srgbClr val="FFFFFF"/>
                </a:solidFill>
                <a:latin typeface="Meiryo"/>
                <a:ea typeface="Meiryo"/>
              </a:rPr>
              <a:t>ガバナンスの整備から導入・運用まで</a:t>
            </a:r>
            <a:r>
              <a:rPr lang="en" altLang="ja-JP" sz="900" b="1">
                <a:solidFill>
                  <a:srgbClr val="FFFFFF"/>
                </a:solidFill>
                <a:latin typeface="Meiryo"/>
                <a:ea typeface="Meiryo"/>
              </a:rPr>
              <a:t>JSOL</a:t>
            </a:r>
            <a:r>
              <a:rPr lang="ja-JP" altLang="en-US" sz="900" b="1">
                <a:solidFill>
                  <a:srgbClr val="FFFFFF"/>
                </a:solidFill>
                <a:latin typeface="Meiryo"/>
                <a:ea typeface="Meiryo"/>
              </a:rPr>
              <a:t>が支援します。</a:t>
            </a:r>
          </a:p>
        </p:txBody>
      </p:sp>
      <p:sp>
        <p:nvSpPr>
          <p:cNvPr id="25" name="テキスト ボックス 24">
            <a:extLst>
              <a:ext uri="{FF2B5EF4-FFF2-40B4-BE49-F238E27FC236}">
                <a16:creationId xmlns:a16="http://schemas.microsoft.com/office/drawing/2014/main" id="{4C859C05-A1E3-E840-8289-4453AE70C173}"/>
              </a:ext>
            </a:extLst>
          </p:cNvPr>
          <p:cNvSpPr txBox="1"/>
          <p:nvPr/>
        </p:nvSpPr>
        <p:spPr>
          <a:xfrm>
            <a:off x="4318000" y="9601200"/>
            <a:ext cx="2120900" cy="203200"/>
          </a:xfrm>
          <a:prstGeom prst="rect">
            <a:avLst/>
          </a:prstGeom>
          <a:noFill/>
        </p:spPr>
        <p:txBody>
          <a:bodyPr vertOverflow="overflow" vert="horz" wrap="square" rtlCol="0" anchor="ctr" anchorCtr="0">
            <a:noAutofit/>
          </a:bodyPr>
          <a:lstStyle/>
          <a:p>
            <a:pPr algn="l"/>
            <a:r>
              <a:rPr lang="en" altLang="ja-JP" sz="850">
                <a:solidFill>
                  <a:srgbClr val="FFFFFF"/>
                </a:solidFill>
                <a:latin typeface="Meiryo"/>
                <a:ea typeface="Meiryo"/>
              </a:rPr>
              <a:t>go.jsol.co.jp/lp/inquiry/00009</a:t>
            </a:r>
            <a:endParaRPr lang="ja-JP" altLang="en-US" sz="850">
              <a:solidFill>
                <a:srgbClr val="FFFFFF"/>
              </a:solidFill>
              <a:latin typeface="Meiryo"/>
              <a:ea typeface="Meiryo"/>
            </a:endParaRPr>
          </a:p>
        </p:txBody>
      </p:sp>
    </p:spTree>
    <p:extLst>
      <p:ext uri="{BB962C8B-B14F-4D97-AF65-F5344CB8AC3E}">
        <p14:creationId xmlns:p14="http://schemas.microsoft.com/office/powerpoint/2010/main" val="282719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20EF84C8-467F-9C83-347B-FEB7D3A95D39}"/>
              </a:ext>
            </a:extLst>
          </p:cNvPr>
          <p:cNvPicPr>
            <a:picLocks noChangeAspect="1"/>
          </p:cNvPicPr>
          <p:nvPr/>
        </p:nvPicPr>
        <p:blipFill>
          <a:blip r:embed="rId2"/>
          <a:stretch>
            <a:fillRect/>
          </a:stretch>
        </p:blipFill>
        <p:spPr>
          <a:xfrm>
            <a:off x="1371600" y="6705600"/>
            <a:ext cx="4660900" cy="2794000"/>
          </a:xfrm>
          <a:prstGeom prst="rect">
            <a:avLst/>
          </a:prstGeom>
        </p:spPr>
      </p:pic>
      <p:sp>
        <p:nvSpPr>
          <p:cNvPr id="3" name="正方形/長方形 2">
            <a:extLst>
              <a:ext uri="{FF2B5EF4-FFF2-40B4-BE49-F238E27FC236}">
                <a16:creationId xmlns:a16="http://schemas.microsoft.com/office/drawing/2014/main" id="{9FEB42A2-B34C-974F-9C6D-FD7677FD5354}"/>
              </a:ext>
            </a:extLst>
          </p:cNvPr>
          <p:cNvSpPr/>
          <p:nvPr/>
        </p:nvSpPr>
        <p:spPr>
          <a:xfrm>
            <a:off x="0" y="0"/>
            <a:ext cx="558800" cy="99060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正方形/長方形 3">
            <a:extLst>
              <a:ext uri="{FF2B5EF4-FFF2-40B4-BE49-F238E27FC236}">
                <a16:creationId xmlns:a16="http://schemas.microsoft.com/office/drawing/2014/main" id="{159F2C8A-65F7-7241-82D6-8F1D182D36FC}"/>
              </a:ext>
            </a:extLst>
          </p:cNvPr>
          <p:cNvSpPr/>
          <p:nvPr/>
        </p:nvSpPr>
        <p:spPr>
          <a:xfrm>
            <a:off x="0" y="0"/>
            <a:ext cx="558800" cy="15240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2BD9373C-9EA5-8A4F-B309-DA4B7B8AE78C}"/>
              </a:ext>
            </a:extLst>
          </p:cNvPr>
          <p:cNvSpPr txBox="1"/>
          <p:nvPr/>
        </p:nvSpPr>
        <p:spPr>
          <a:xfrm>
            <a:off x="965200" y="660400"/>
            <a:ext cx="3810000" cy="177800"/>
          </a:xfrm>
          <a:prstGeom prst="rect">
            <a:avLst/>
          </a:prstGeom>
          <a:noFill/>
        </p:spPr>
        <p:txBody>
          <a:bodyPr vertOverflow="overflow" vert="horz" wrap="square" rtlCol="0" anchor="t" anchorCtr="0">
            <a:noAutofit/>
          </a:bodyPr>
          <a:lstStyle/>
          <a:p>
            <a:pPr algn="l"/>
            <a:r>
              <a:rPr lang="en" altLang="ja-JP" sz="900" b="1">
                <a:solidFill>
                  <a:srgbClr val="00B3A4"/>
                </a:solidFill>
                <a:latin typeface="Meiryo"/>
                <a:ea typeface="Meiryo"/>
              </a:rPr>
              <a:t>WHY AI GOVERNANCE / WHY WITNESSAI</a:t>
            </a:r>
            <a:endParaRPr lang="ja-JP" altLang="en-US" sz="900" b="1">
              <a:solidFill>
                <a:srgbClr val="00B3A4"/>
              </a:solidFill>
              <a:latin typeface="Meiryo"/>
              <a:ea typeface="Meiryo"/>
            </a:endParaRPr>
          </a:p>
        </p:txBody>
      </p:sp>
      <p:sp>
        <p:nvSpPr>
          <p:cNvPr id="7" name="テキスト ボックス 6">
            <a:extLst>
              <a:ext uri="{FF2B5EF4-FFF2-40B4-BE49-F238E27FC236}">
                <a16:creationId xmlns:a16="http://schemas.microsoft.com/office/drawing/2014/main" id="{DB5EF87F-32E3-F646-995C-13655712D5A5}"/>
              </a:ext>
            </a:extLst>
          </p:cNvPr>
          <p:cNvSpPr txBox="1"/>
          <p:nvPr/>
        </p:nvSpPr>
        <p:spPr>
          <a:xfrm>
            <a:off x="965200" y="914400"/>
            <a:ext cx="5486400" cy="736600"/>
          </a:xfrm>
          <a:prstGeom prst="rect">
            <a:avLst/>
          </a:prstGeom>
          <a:noFill/>
        </p:spPr>
        <p:txBody>
          <a:bodyPr vertOverflow="overflow" vert="horz" wrap="square" rtlCol="0" anchor="t" anchorCtr="0">
            <a:noAutofit/>
          </a:bodyPr>
          <a:lstStyle/>
          <a:p>
            <a:pPr algn="l"/>
            <a:r>
              <a:rPr lang="en" altLang="ja-JP" sz="2100" b="1">
                <a:solidFill>
                  <a:srgbClr val="0B2545"/>
                </a:solidFill>
                <a:latin typeface="Meiryo"/>
                <a:ea typeface="Meiryo"/>
              </a:rPr>
              <a:t>AI</a:t>
            </a:r>
            <a:r>
              <a:rPr lang="ja-JP" altLang="en-US" sz="2100" b="1">
                <a:solidFill>
                  <a:srgbClr val="0B2545"/>
                </a:solidFill>
                <a:latin typeface="Meiryo"/>
                <a:ea typeface="Meiryo"/>
              </a:rPr>
              <a:t>活用は止めない。
リスクだけを、統制する。</a:t>
            </a:r>
          </a:p>
        </p:txBody>
      </p:sp>
      <p:sp>
        <p:nvSpPr>
          <p:cNvPr id="8" name="テキスト ボックス 7">
            <a:extLst>
              <a:ext uri="{FF2B5EF4-FFF2-40B4-BE49-F238E27FC236}">
                <a16:creationId xmlns:a16="http://schemas.microsoft.com/office/drawing/2014/main" id="{D88EB9E4-F5DD-0C4B-9293-92B44DCEEDE9}"/>
              </a:ext>
            </a:extLst>
          </p:cNvPr>
          <p:cNvSpPr txBox="1"/>
          <p:nvPr/>
        </p:nvSpPr>
        <p:spPr>
          <a:xfrm>
            <a:off x="965200" y="1828800"/>
            <a:ext cx="5486400" cy="5842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生成</a:t>
            </a:r>
            <a:r>
              <a:rPr lang="en" altLang="ja-JP" sz="950">
                <a:solidFill>
                  <a:srgbClr val="333333"/>
                </a:solidFill>
                <a:latin typeface="Meiryo"/>
                <a:ea typeface="Meiryo"/>
              </a:rPr>
              <a:t>AI</a:t>
            </a:r>
            <a:r>
              <a:rPr lang="ja-JP" altLang="en-US" sz="950">
                <a:solidFill>
                  <a:srgbClr val="333333"/>
                </a:solidFill>
                <a:latin typeface="Meiryo"/>
                <a:ea typeface="Meiryo"/>
              </a:rPr>
              <a:t>活用が急拡大する一方で、シャドー</a:t>
            </a:r>
            <a:r>
              <a:rPr lang="en" altLang="ja-JP" sz="950">
                <a:solidFill>
                  <a:srgbClr val="333333"/>
                </a:solidFill>
                <a:latin typeface="Meiryo"/>
                <a:ea typeface="Meiryo"/>
              </a:rPr>
              <a:t>AI</a:t>
            </a:r>
            <a:r>
              <a:rPr lang="ja-JP" altLang="en-US" sz="950">
                <a:solidFill>
                  <a:srgbClr val="333333"/>
                </a:solidFill>
                <a:latin typeface="Meiryo"/>
                <a:ea typeface="Meiryo"/>
              </a:rPr>
              <a:t>やプロンプトインジェクションによる情報流出リスクが顕在化。規制対応と事業スピードを両立するには、人に依存しない自動統制が不可欠です。</a:t>
            </a:r>
          </a:p>
        </p:txBody>
      </p:sp>
      <p:sp>
        <p:nvSpPr>
          <p:cNvPr id="9" name="正方形/長方形 8">
            <a:extLst>
              <a:ext uri="{FF2B5EF4-FFF2-40B4-BE49-F238E27FC236}">
                <a16:creationId xmlns:a16="http://schemas.microsoft.com/office/drawing/2014/main" id="{47888A7A-BE0F-FC42-A781-CCD63EBBC4C3}"/>
              </a:ext>
            </a:extLst>
          </p:cNvPr>
          <p:cNvSpPr/>
          <p:nvPr/>
        </p:nvSpPr>
        <p:spPr>
          <a:xfrm>
            <a:off x="965200" y="2616200"/>
            <a:ext cx="5486400" cy="12700"/>
          </a:xfrm>
          <a:prstGeom prst="rect">
            <a:avLst/>
          </a:prstGeom>
          <a:solidFill>
            <a:srgbClr val="C9D2D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テキスト ボックス 9">
            <a:extLst>
              <a:ext uri="{FF2B5EF4-FFF2-40B4-BE49-F238E27FC236}">
                <a16:creationId xmlns:a16="http://schemas.microsoft.com/office/drawing/2014/main" id="{D669891E-D78D-4541-96F6-1CA8777859EC}"/>
              </a:ext>
            </a:extLst>
          </p:cNvPr>
          <p:cNvSpPr txBox="1"/>
          <p:nvPr/>
        </p:nvSpPr>
        <p:spPr>
          <a:xfrm>
            <a:off x="965200" y="2743200"/>
            <a:ext cx="5486400" cy="228600"/>
          </a:xfrm>
          <a:prstGeom prst="rect">
            <a:avLst/>
          </a:prstGeom>
          <a:noFill/>
        </p:spPr>
        <p:txBody>
          <a:bodyPr vertOverflow="overflow" vert="horz" wrap="square" rtlCol="0" anchor="t" anchorCtr="0">
            <a:noAutofit/>
          </a:bodyPr>
          <a:lstStyle/>
          <a:p>
            <a:pPr algn="l"/>
            <a:r>
              <a:rPr lang="ja-JP" altLang="en-US" sz="1400" b="1">
                <a:solidFill>
                  <a:srgbClr val="0B2545"/>
                </a:solidFill>
                <a:latin typeface="Meiryo"/>
                <a:ea typeface="Meiryo"/>
              </a:rPr>
              <a:t>なぜ今、</a:t>
            </a:r>
            <a:r>
              <a:rPr lang="en" altLang="ja-JP" sz="1400" b="1">
                <a:solidFill>
                  <a:srgbClr val="0B2545"/>
                </a:solidFill>
                <a:latin typeface="Meiryo"/>
                <a:ea typeface="Meiryo"/>
              </a:rPr>
              <a:t>AI</a:t>
            </a:r>
            <a:r>
              <a:rPr lang="ja-JP" altLang="en-US" sz="1400" b="1">
                <a:solidFill>
                  <a:srgbClr val="0B2545"/>
                </a:solidFill>
                <a:latin typeface="Meiryo"/>
                <a:ea typeface="Meiryo"/>
              </a:rPr>
              <a:t>ガバナンスが必要か</a:t>
            </a:r>
          </a:p>
        </p:txBody>
      </p:sp>
      <p:sp>
        <p:nvSpPr>
          <p:cNvPr id="11" name="正方形/長方形 10">
            <a:extLst>
              <a:ext uri="{FF2B5EF4-FFF2-40B4-BE49-F238E27FC236}">
                <a16:creationId xmlns:a16="http://schemas.microsoft.com/office/drawing/2014/main" id="{CB8FDCB5-9CC6-874F-B06C-FFAFFFF40B99}"/>
              </a:ext>
            </a:extLst>
          </p:cNvPr>
          <p:cNvSpPr/>
          <p:nvPr/>
        </p:nvSpPr>
        <p:spPr>
          <a:xfrm>
            <a:off x="965200" y="3136900"/>
            <a:ext cx="101600" cy="1016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テキスト ボックス 11">
            <a:extLst>
              <a:ext uri="{FF2B5EF4-FFF2-40B4-BE49-F238E27FC236}">
                <a16:creationId xmlns:a16="http://schemas.microsoft.com/office/drawing/2014/main" id="{2810136B-F005-A44E-9E7D-AF2C4B5D9489}"/>
              </a:ext>
            </a:extLst>
          </p:cNvPr>
          <p:cNvSpPr txBox="1"/>
          <p:nvPr/>
        </p:nvSpPr>
        <p:spPr>
          <a:xfrm>
            <a:off x="1193800" y="3073400"/>
            <a:ext cx="5257800" cy="203200"/>
          </a:xfrm>
          <a:prstGeom prst="rect">
            <a:avLst/>
          </a:prstGeom>
          <a:noFill/>
        </p:spPr>
        <p:txBody>
          <a:bodyPr vertOverflow="overflow" vert="horz" wrap="square" rtlCol="0" anchor="t" anchorCtr="0">
            <a:noAutofit/>
          </a:bodyPr>
          <a:lstStyle/>
          <a:p>
            <a:pPr algn="l"/>
            <a:r>
              <a:rPr lang="ja-JP" altLang="en-US" sz="1050" b="1">
                <a:solidFill>
                  <a:srgbClr val="0B2545"/>
                </a:solidFill>
                <a:latin typeface="Meiryo"/>
                <a:ea typeface="Meiryo"/>
              </a:rPr>
              <a:t>自律型エージェントの台頭</a:t>
            </a:r>
          </a:p>
        </p:txBody>
      </p:sp>
      <p:sp>
        <p:nvSpPr>
          <p:cNvPr id="13" name="テキスト ボックス 12">
            <a:extLst>
              <a:ext uri="{FF2B5EF4-FFF2-40B4-BE49-F238E27FC236}">
                <a16:creationId xmlns:a16="http://schemas.microsoft.com/office/drawing/2014/main" id="{6A00120B-F4E5-CD4D-BED5-7FF68254A707}"/>
              </a:ext>
            </a:extLst>
          </p:cNvPr>
          <p:cNvSpPr txBox="1"/>
          <p:nvPr/>
        </p:nvSpPr>
        <p:spPr>
          <a:xfrm>
            <a:off x="1193800" y="3302000"/>
            <a:ext cx="5257800" cy="2540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外部</a:t>
            </a:r>
            <a:r>
              <a:rPr lang="en" altLang="ja-JP" sz="900">
                <a:solidFill>
                  <a:srgbClr val="333333"/>
                </a:solidFill>
                <a:latin typeface="Meiryo"/>
                <a:ea typeface="Meiryo"/>
              </a:rPr>
              <a:t>API</a:t>
            </a:r>
            <a:r>
              <a:rPr lang="ja-JP" altLang="en-US" sz="900">
                <a:solidFill>
                  <a:srgbClr val="333333"/>
                </a:solidFill>
                <a:latin typeface="Meiryo"/>
                <a:ea typeface="Meiryo"/>
              </a:rPr>
              <a:t>や</a:t>
            </a:r>
            <a:r>
              <a:rPr lang="en" altLang="ja-JP" sz="900">
                <a:solidFill>
                  <a:srgbClr val="333333"/>
                </a:solidFill>
                <a:latin typeface="Meiryo"/>
                <a:ea typeface="Meiryo"/>
              </a:rPr>
              <a:t>DB</a:t>
            </a:r>
            <a:r>
              <a:rPr lang="ja-JP" altLang="en-US" sz="900">
                <a:solidFill>
                  <a:srgbClr val="333333"/>
                </a:solidFill>
                <a:latin typeface="Meiryo"/>
                <a:ea typeface="Meiryo"/>
              </a:rPr>
              <a:t>を自律操作する</a:t>
            </a:r>
            <a:r>
              <a:rPr lang="en" altLang="ja-JP" sz="900">
                <a:solidFill>
                  <a:srgbClr val="333333"/>
                </a:solidFill>
                <a:latin typeface="Meiryo"/>
                <a:ea typeface="Meiryo"/>
              </a:rPr>
              <a:t>AI</a:t>
            </a:r>
            <a:r>
              <a:rPr lang="ja-JP" altLang="en-US" sz="900">
                <a:solidFill>
                  <a:srgbClr val="333333"/>
                </a:solidFill>
                <a:latin typeface="Meiryo"/>
                <a:ea typeface="Meiryo"/>
              </a:rPr>
              <a:t>へ進化し、従来の監視手法では追随できません。</a:t>
            </a:r>
          </a:p>
        </p:txBody>
      </p:sp>
      <p:sp>
        <p:nvSpPr>
          <p:cNvPr id="14" name="正方形/長方形 13">
            <a:extLst>
              <a:ext uri="{FF2B5EF4-FFF2-40B4-BE49-F238E27FC236}">
                <a16:creationId xmlns:a16="http://schemas.microsoft.com/office/drawing/2014/main" id="{9FA89217-66E8-454D-A3D3-A0629AD1201C}"/>
              </a:ext>
            </a:extLst>
          </p:cNvPr>
          <p:cNvSpPr/>
          <p:nvPr/>
        </p:nvSpPr>
        <p:spPr>
          <a:xfrm>
            <a:off x="965200" y="3670300"/>
            <a:ext cx="101600" cy="1016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BC0AC31B-D219-E345-985E-D141FBEAF11D}"/>
              </a:ext>
            </a:extLst>
          </p:cNvPr>
          <p:cNvSpPr txBox="1"/>
          <p:nvPr/>
        </p:nvSpPr>
        <p:spPr>
          <a:xfrm>
            <a:off x="1193800" y="3606800"/>
            <a:ext cx="5257800" cy="203200"/>
          </a:xfrm>
          <a:prstGeom prst="rect">
            <a:avLst/>
          </a:prstGeom>
          <a:noFill/>
        </p:spPr>
        <p:txBody>
          <a:bodyPr vertOverflow="overflow" vert="horz" wrap="square" rtlCol="0" anchor="t" anchorCtr="0">
            <a:noAutofit/>
          </a:bodyPr>
          <a:lstStyle/>
          <a:p>
            <a:pPr algn="l"/>
            <a:r>
              <a:rPr lang="ja-JP" altLang="en-US" sz="1050" b="1">
                <a:solidFill>
                  <a:srgbClr val="0B2545"/>
                </a:solidFill>
                <a:latin typeface="Meiryo"/>
                <a:ea typeface="Meiryo"/>
              </a:rPr>
              <a:t>シャドー</a:t>
            </a:r>
            <a:r>
              <a:rPr lang="en" altLang="ja-JP" sz="1050" b="1">
                <a:solidFill>
                  <a:srgbClr val="0B2545"/>
                </a:solidFill>
                <a:latin typeface="Meiryo"/>
                <a:ea typeface="Meiryo"/>
              </a:rPr>
              <a:t>AI</a:t>
            </a:r>
            <a:r>
              <a:rPr lang="ja-JP" altLang="en-US" sz="1050" b="1">
                <a:solidFill>
                  <a:srgbClr val="0B2545"/>
                </a:solidFill>
                <a:latin typeface="Meiryo"/>
                <a:ea typeface="Meiryo"/>
              </a:rPr>
              <a:t>による管理不全</a:t>
            </a:r>
          </a:p>
        </p:txBody>
      </p:sp>
      <p:sp>
        <p:nvSpPr>
          <p:cNvPr id="16" name="テキスト ボックス 15">
            <a:extLst>
              <a:ext uri="{FF2B5EF4-FFF2-40B4-BE49-F238E27FC236}">
                <a16:creationId xmlns:a16="http://schemas.microsoft.com/office/drawing/2014/main" id="{D830E89F-0842-E446-BA88-181631DA7370}"/>
              </a:ext>
            </a:extLst>
          </p:cNvPr>
          <p:cNvSpPr txBox="1"/>
          <p:nvPr/>
        </p:nvSpPr>
        <p:spPr>
          <a:xfrm>
            <a:off x="1193800" y="3835400"/>
            <a:ext cx="5257800" cy="2540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IT</a:t>
            </a:r>
            <a:r>
              <a:rPr lang="ja-JP" altLang="en-US" sz="900">
                <a:solidFill>
                  <a:srgbClr val="333333"/>
                </a:solidFill>
                <a:latin typeface="Meiryo"/>
                <a:ea typeface="Meiryo"/>
              </a:rPr>
              <a:t>部門が把握できない現場の</a:t>
            </a:r>
            <a:r>
              <a:rPr lang="en" altLang="ja-JP" sz="900">
                <a:solidFill>
                  <a:srgbClr val="333333"/>
                </a:solidFill>
                <a:latin typeface="Meiryo"/>
                <a:ea typeface="Meiryo"/>
              </a:rPr>
              <a:t>AI</a:t>
            </a:r>
            <a:r>
              <a:rPr lang="ja-JP" altLang="en-US" sz="900">
                <a:solidFill>
                  <a:srgbClr val="333333"/>
                </a:solidFill>
                <a:latin typeface="Meiryo"/>
                <a:ea typeface="Meiryo"/>
              </a:rPr>
              <a:t>利用が、組織全体のセキュリティの盲点に。</a:t>
            </a:r>
          </a:p>
        </p:txBody>
      </p:sp>
      <p:sp>
        <p:nvSpPr>
          <p:cNvPr id="17" name="正方形/長方形 16">
            <a:extLst>
              <a:ext uri="{FF2B5EF4-FFF2-40B4-BE49-F238E27FC236}">
                <a16:creationId xmlns:a16="http://schemas.microsoft.com/office/drawing/2014/main" id="{FF344D07-DB63-1B4D-8D1E-133D69FDF667}"/>
              </a:ext>
            </a:extLst>
          </p:cNvPr>
          <p:cNvSpPr/>
          <p:nvPr/>
        </p:nvSpPr>
        <p:spPr>
          <a:xfrm>
            <a:off x="965200" y="4203700"/>
            <a:ext cx="101600" cy="1016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65A4718C-43CA-8044-8924-CB75F345F28B}"/>
              </a:ext>
            </a:extLst>
          </p:cNvPr>
          <p:cNvSpPr txBox="1"/>
          <p:nvPr/>
        </p:nvSpPr>
        <p:spPr>
          <a:xfrm>
            <a:off x="1193800" y="4140200"/>
            <a:ext cx="5257800" cy="203200"/>
          </a:xfrm>
          <a:prstGeom prst="rect">
            <a:avLst/>
          </a:prstGeom>
          <a:noFill/>
        </p:spPr>
        <p:txBody>
          <a:bodyPr vertOverflow="overflow" vert="horz" wrap="square" rtlCol="0" anchor="t" anchorCtr="0">
            <a:noAutofit/>
          </a:bodyPr>
          <a:lstStyle/>
          <a:p>
            <a:pPr algn="l"/>
            <a:r>
              <a:rPr lang="ja-JP" altLang="en-US" sz="1050" b="1">
                <a:solidFill>
                  <a:srgbClr val="0B2545"/>
                </a:solidFill>
                <a:latin typeface="Meiryo"/>
                <a:ea typeface="Meiryo"/>
              </a:rPr>
              <a:t>新たな脆弱性の出現</a:t>
            </a:r>
          </a:p>
        </p:txBody>
      </p:sp>
      <p:sp>
        <p:nvSpPr>
          <p:cNvPr id="19" name="テキスト ボックス 18">
            <a:extLst>
              <a:ext uri="{FF2B5EF4-FFF2-40B4-BE49-F238E27FC236}">
                <a16:creationId xmlns:a16="http://schemas.microsoft.com/office/drawing/2014/main" id="{B24A8FE7-36D1-7D41-80CB-628707AEB339}"/>
              </a:ext>
            </a:extLst>
          </p:cNvPr>
          <p:cNvSpPr txBox="1"/>
          <p:nvPr/>
        </p:nvSpPr>
        <p:spPr>
          <a:xfrm>
            <a:off x="1193800" y="4368800"/>
            <a:ext cx="5257800" cy="2540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プロンプトインジェクションは </a:t>
            </a:r>
            <a:r>
              <a:rPr lang="en" altLang="ja-JP" sz="900">
                <a:solidFill>
                  <a:srgbClr val="333333"/>
                </a:solidFill>
                <a:latin typeface="Meiryo"/>
                <a:ea typeface="Meiryo"/>
              </a:rPr>
              <a:t>OWASP Top 10 for LLM 2025 </a:t>
            </a:r>
            <a:r>
              <a:rPr lang="ja-JP" altLang="en-US" sz="900">
                <a:solidFill>
                  <a:srgbClr val="333333"/>
                </a:solidFill>
                <a:latin typeface="Meiryo"/>
                <a:ea typeface="Meiryo"/>
              </a:rPr>
              <a:t>で最上位のリスク。</a:t>
            </a:r>
          </a:p>
        </p:txBody>
      </p:sp>
      <p:sp>
        <p:nvSpPr>
          <p:cNvPr id="20" name="正方形/長方形 19">
            <a:extLst>
              <a:ext uri="{FF2B5EF4-FFF2-40B4-BE49-F238E27FC236}">
                <a16:creationId xmlns:a16="http://schemas.microsoft.com/office/drawing/2014/main" id="{58CD3354-99EC-E848-969C-7BB2810A8AD8}"/>
              </a:ext>
            </a:extLst>
          </p:cNvPr>
          <p:cNvSpPr/>
          <p:nvPr/>
        </p:nvSpPr>
        <p:spPr>
          <a:xfrm>
            <a:off x="965200" y="4800600"/>
            <a:ext cx="5486400" cy="12700"/>
          </a:xfrm>
          <a:prstGeom prst="rect">
            <a:avLst/>
          </a:prstGeom>
          <a:solidFill>
            <a:srgbClr val="C9D2D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BB105611-75D5-9A43-8526-6E85F9DBF6E7}"/>
              </a:ext>
            </a:extLst>
          </p:cNvPr>
          <p:cNvSpPr txBox="1"/>
          <p:nvPr/>
        </p:nvSpPr>
        <p:spPr>
          <a:xfrm>
            <a:off x="965200" y="4927600"/>
            <a:ext cx="5486400" cy="228600"/>
          </a:xfrm>
          <a:prstGeom prst="rect">
            <a:avLst/>
          </a:prstGeom>
          <a:noFill/>
        </p:spPr>
        <p:txBody>
          <a:bodyPr vertOverflow="overflow" vert="horz" wrap="square" rtlCol="0" anchor="t" anchorCtr="0">
            <a:noAutofit/>
          </a:bodyPr>
          <a:lstStyle/>
          <a:p>
            <a:pPr algn="l"/>
            <a:r>
              <a:rPr lang="ja-JP" altLang="en-US" sz="1400" b="1">
                <a:solidFill>
                  <a:srgbClr val="0B2545"/>
                </a:solidFill>
                <a:latin typeface="Meiryo"/>
                <a:ea typeface="Meiryo"/>
              </a:rPr>
              <a:t>なぜ、</a:t>
            </a:r>
            <a:r>
              <a:rPr lang="en" altLang="ja-JP" sz="1400" b="1">
                <a:solidFill>
                  <a:srgbClr val="0B2545"/>
                </a:solidFill>
                <a:latin typeface="Meiryo"/>
                <a:ea typeface="Meiryo"/>
              </a:rPr>
              <a:t>WitnessAI</a:t>
            </a:r>
            <a:r>
              <a:rPr lang="ja-JP" altLang="en-US" sz="1400" b="1">
                <a:solidFill>
                  <a:srgbClr val="0B2545"/>
                </a:solidFill>
                <a:latin typeface="Meiryo"/>
                <a:ea typeface="Meiryo"/>
              </a:rPr>
              <a:t>なのか</a:t>
            </a:r>
          </a:p>
        </p:txBody>
      </p:sp>
      <p:sp>
        <p:nvSpPr>
          <p:cNvPr id="22" name="正方形/長方形 21">
            <a:extLst>
              <a:ext uri="{FF2B5EF4-FFF2-40B4-BE49-F238E27FC236}">
                <a16:creationId xmlns:a16="http://schemas.microsoft.com/office/drawing/2014/main" id="{B1B0209B-C024-0445-BFDD-D59CC94F6ED1}"/>
              </a:ext>
            </a:extLst>
          </p:cNvPr>
          <p:cNvSpPr/>
          <p:nvPr/>
        </p:nvSpPr>
        <p:spPr>
          <a:xfrm>
            <a:off x="965200" y="5257800"/>
            <a:ext cx="736600" cy="1905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850" b="1">
                <a:solidFill>
                  <a:srgbClr val="FFFFFF"/>
                </a:solidFill>
                <a:latin typeface="Meiryo"/>
                <a:ea typeface="Meiryo"/>
              </a:rPr>
              <a:t>Discover</a:t>
            </a:r>
            <a:endParaRPr lang="ja-JP" altLang="en-US" sz="850" b="1">
              <a:solidFill>
                <a:srgbClr val="FFFFFF"/>
              </a:solidFill>
              <a:latin typeface="Meiryo"/>
              <a:ea typeface="Meiryo"/>
            </a:endParaRPr>
          </a:p>
        </p:txBody>
      </p:sp>
      <p:sp>
        <p:nvSpPr>
          <p:cNvPr id="23" name="テキスト ボックス 22">
            <a:extLst>
              <a:ext uri="{FF2B5EF4-FFF2-40B4-BE49-F238E27FC236}">
                <a16:creationId xmlns:a16="http://schemas.microsoft.com/office/drawing/2014/main" id="{0AFC93C9-04B4-D74E-A8B9-BCDDD64AC0C4}"/>
              </a:ext>
            </a:extLst>
          </p:cNvPr>
          <p:cNvSpPr txBox="1"/>
          <p:nvPr/>
        </p:nvSpPr>
        <p:spPr>
          <a:xfrm>
            <a:off x="1803400" y="5257800"/>
            <a:ext cx="4648200" cy="190500"/>
          </a:xfrm>
          <a:prstGeom prst="rect">
            <a:avLst/>
          </a:prstGeom>
          <a:noFill/>
        </p:spPr>
        <p:txBody>
          <a:bodyPr vertOverflow="overflow" vert="horz" wrap="square" rtlCol="0" anchor="ctr" anchorCtr="0">
            <a:noAutofit/>
          </a:bodyPr>
          <a:lstStyle/>
          <a:p>
            <a:pPr algn="l"/>
            <a:r>
              <a:rPr lang="ja-JP" altLang="en-US" sz="1000" b="1">
                <a:solidFill>
                  <a:srgbClr val="0B2545"/>
                </a:solidFill>
                <a:latin typeface="Meiryo"/>
                <a:ea typeface="Meiryo"/>
              </a:rPr>
              <a:t>生成</a:t>
            </a:r>
            <a:r>
              <a:rPr lang="en" altLang="ja-JP" sz="1000" b="1">
                <a:solidFill>
                  <a:srgbClr val="0B2545"/>
                </a:solidFill>
                <a:latin typeface="Meiryo"/>
                <a:ea typeface="Meiryo"/>
              </a:rPr>
              <a:t>AI</a:t>
            </a:r>
            <a:r>
              <a:rPr lang="ja-JP" altLang="en-US" sz="1000" b="1">
                <a:solidFill>
                  <a:srgbClr val="0B2545"/>
                </a:solidFill>
                <a:latin typeface="Meiryo"/>
                <a:ea typeface="Meiryo"/>
              </a:rPr>
              <a:t>利用の可視化</a:t>
            </a:r>
          </a:p>
        </p:txBody>
      </p:sp>
      <p:sp>
        <p:nvSpPr>
          <p:cNvPr id="24" name="テキスト ボックス 23">
            <a:extLst>
              <a:ext uri="{FF2B5EF4-FFF2-40B4-BE49-F238E27FC236}">
                <a16:creationId xmlns:a16="http://schemas.microsoft.com/office/drawing/2014/main" id="{E025F3C3-E55D-0046-B35E-E4E8F50556EF}"/>
              </a:ext>
            </a:extLst>
          </p:cNvPr>
          <p:cNvSpPr txBox="1"/>
          <p:nvPr/>
        </p:nvSpPr>
        <p:spPr>
          <a:xfrm>
            <a:off x="1803400" y="5461000"/>
            <a:ext cx="4648200" cy="1651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シャドー</a:t>
            </a:r>
            <a:r>
              <a:rPr lang="en" altLang="ja-JP" sz="900">
                <a:solidFill>
                  <a:srgbClr val="333333"/>
                </a:solidFill>
                <a:latin typeface="Meiryo"/>
                <a:ea typeface="Meiryo"/>
              </a:rPr>
              <a:t>AI</a:t>
            </a:r>
            <a:r>
              <a:rPr lang="ja-JP" altLang="en-US" sz="900">
                <a:solidFill>
                  <a:srgbClr val="333333"/>
                </a:solidFill>
                <a:latin typeface="Meiryo"/>
                <a:ea typeface="Meiryo"/>
              </a:rPr>
              <a:t>を含むすべての</a:t>
            </a:r>
            <a:r>
              <a:rPr lang="en" altLang="ja-JP" sz="900">
                <a:solidFill>
                  <a:srgbClr val="333333"/>
                </a:solidFill>
                <a:latin typeface="Meiryo"/>
                <a:ea typeface="Meiryo"/>
              </a:rPr>
              <a:t>AI</a:t>
            </a:r>
            <a:r>
              <a:rPr lang="ja-JP" altLang="en-US" sz="900">
                <a:solidFill>
                  <a:srgbClr val="333333"/>
                </a:solidFill>
                <a:latin typeface="Meiryo"/>
                <a:ea typeface="Meiryo"/>
              </a:rPr>
              <a:t>利用をネットワークレベルでリアルタイムに把握。</a:t>
            </a:r>
          </a:p>
        </p:txBody>
      </p:sp>
      <p:sp>
        <p:nvSpPr>
          <p:cNvPr id="25" name="正方形/長方形 24">
            <a:extLst>
              <a:ext uri="{FF2B5EF4-FFF2-40B4-BE49-F238E27FC236}">
                <a16:creationId xmlns:a16="http://schemas.microsoft.com/office/drawing/2014/main" id="{8E55E949-0409-6040-B7C8-B9C4463332BA}"/>
              </a:ext>
            </a:extLst>
          </p:cNvPr>
          <p:cNvSpPr/>
          <p:nvPr/>
        </p:nvSpPr>
        <p:spPr>
          <a:xfrm>
            <a:off x="965200" y="5664200"/>
            <a:ext cx="736600" cy="1905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850" b="1">
                <a:solidFill>
                  <a:srgbClr val="FFFFFF"/>
                </a:solidFill>
                <a:latin typeface="Meiryo"/>
                <a:ea typeface="Meiryo"/>
              </a:rPr>
              <a:t>Protect</a:t>
            </a:r>
            <a:endParaRPr lang="ja-JP" altLang="en-US" sz="850" b="1">
              <a:solidFill>
                <a:srgbClr val="FFFFFF"/>
              </a:solidFill>
              <a:latin typeface="Meiryo"/>
              <a:ea typeface="Meiryo"/>
            </a:endParaRPr>
          </a:p>
        </p:txBody>
      </p:sp>
      <p:sp>
        <p:nvSpPr>
          <p:cNvPr id="26" name="テキスト ボックス 25">
            <a:extLst>
              <a:ext uri="{FF2B5EF4-FFF2-40B4-BE49-F238E27FC236}">
                <a16:creationId xmlns:a16="http://schemas.microsoft.com/office/drawing/2014/main" id="{5F5629D2-5CAE-D24B-AB93-3D251A57D444}"/>
              </a:ext>
            </a:extLst>
          </p:cNvPr>
          <p:cNvSpPr txBox="1"/>
          <p:nvPr/>
        </p:nvSpPr>
        <p:spPr>
          <a:xfrm>
            <a:off x="1803400" y="5664200"/>
            <a:ext cx="4648200" cy="190500"/>
          </a:xfrm>
          <a:prstGeom prst="rect">
            <a:avLst/>
          </a:prstGeom>
          <a:noFill/>
        </p:spPr>
        <p:txBody>
          <a:bodyPr vertOverflow="overflow" vert="horz" wrap="square" rtlCol="0" anchor="ctr" anchorCtr="0">
            <a:noAutofit/>
          </a:bodyPr>
          <a:lstStyle/>
          <a:p>
            <a:pPr algn="l"/>
            <a:r>
              <a:rPr lang="ja-JP" altLang="en-US" sz="1000" b="1">
                <a:solidFill>
                  <a:srgbClr val="0B2545"/>
                </a:solidFill>
                <a:latin typeface="Meiryo"/>
                <a:ea typeface="Meiryo"/>
              </a:rPr>
              <a:t>入力情報の制御と</a:t>
            </a:r>
            <a:r>
              <a:rPr lang="en" altLang="ja-JP" sz="1000" b="1">
                <a:solidFill>
                  <a:srgbClr val="0B2545"/>
                </a:solidFill>
                <a:latin typeface="Meiryo"/>
                <a:ea typeface="Meiryo"/>
              </a:rPr>
              <a:t>AI</a:t>
            </a:r>
            <a:r>
              <a:rPr lang="ja-JP" altLang="en-US" sz="1000" b="1">
                <a:solidFill>
                  <a:srgbClr val="0B2545"/>
                </a:solidFill>
                <a:latin typeface="Meiryo"/>
                <a:ea typeface="Meiryo"/>
              </a:rPr>
              <a:t>アプリ保護</a:t>
            </a:r>
          </a:p>
        </p:txBody>
      </p:sp>
      <p:sp>
        <p:nvSpPr>
          <p:cNvPr id="27" name="テキスト ボックス 26">
            <a:extLst>
              <a:ext uri="{FF2B5EF4-FFF2-40B4-BE49-F238E27FC236}">
                <a16:creationId xmlns:a16="http://schemas.microsoft.com/office/drawing/2014/main" id="{B079CFAE-E919-E740-A805-870C88B3ACB2}"/>
              </a:ext>
            </a:extLst>
          </p:cNvPr>
          <p:cNvSpPr txBox="1"/>
          <p:nvPr/>
        </p:nvSpPr>
        <p:spPr>
          <a:xfrm>
            <a:off x="1803400" y="5867400"/>
            <a:ext cx="4648200" cy="1651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機密情報を外部</a:t>
            </a:r>
            <a:r>
              <a:rPr lang="en" altLang="ja-JP" sz="900">
                <a:solidFill>
                  <a:srgbClr val="333333"/>
                </a:solidFill>
                <a:latin typeface="Meiryo"/>
                <a:ea typeface="Meiryo"/>
              </a:rPr>
              <a:t>AI</a:t>
            </a:r>
            <a:r>
              <a:rPr lang="ja-JP" altLang="en-US" sz="900">
                <a:solidFill>
                  <a:srgbClr val="333333"/>
                </a:solidFill>
                <a:latin typeface="Meiryo"/>
                <a:ea typeface="Meiryo"/>
              </a:rPr>
              <a:t>到達前に自動マスキング・ブロックし、</a:t>
            </a:r>
            <a:r>
              <a:rPr lang="en" altLang="ja-JP" sz="900">
                <a:solidFill>
                  <a:srgbClr val="333333"/>
                </a:solidFill>
                <a:latin typeface="Meiryo"/>
                <a:ea typeface="Meiryo"/>
              </a:rPr>
              <a:t>AI</a:t>
            </a:r>
            <a:r>
              <a:rPr lang="ja-JP" altLang="en-US" sz="900">
                <a:solidFill>
                  <a:srgbClr val="333333"/>
                </a:solidFill>
                <a:latin typeface="Meiryo"/>
                <a:ea typeface="Meiryo"/>
              </a:rPr>
              <a:t>特有の攻撃も防御。</a:t>
            </a:r>
          </a:p>
        </p:txBody>
      </p:sp>
      <p:sp>
        <p:nvSpPr>
          <p:cNvPr id="28" name="正方形/長方形 27">
            <a:extLst>
              <a:ext uri="{FF2B5EF4-FFF2-40B4-BE49-F238E27FC236}">
                <a16:creationId xmlns:a16="http://schemas.microsoft.com/office/drawing/2014/main" id="{BCB3A959-47B7-3C4E-9654-2018499C8EB4}"/>
              </a:ext>
            </a:extLst>
          </p:cNvPr>
          <p:cNvSpPr/>
          <p:nvPr/>
        </p:nvSpPr>
        <p:spPr>
          <a:xfrm>
            <a:off x="965200" y="6070600"/>
            <a:ext cx="736600" cy="1905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850" b="1">
                <a:solidFill>
                  <a:srgbClr val="FFFFFF"/>
                </a:solidFill>
                <a:latin typeface="Meiryo"/>
                <a:ea typeface="Meiryo"/>
              </a:rPr>
              <a:t>Control</a:t>
            </a:r>
            <a:endParaRPr lang="ja-JP" altLang="en-US" sz="850" b="1">
              <a:solidFill>
                <a:srgbClr val="FFFFFF"/>
              </a:solidFill>
              <a:latin typeface="Meiryo"/>
              <a:ea typeface="Meiryo"/>
            </a:endParaRPr>
          </a:p>
        </p:txBody>
      </p:sp>
      <p:sp>
        <p:nvSpPr>
          <p:cNvPr id="29" name="テキスト ボックス 28">
            <a:extLst>
              <a:ext uri="{FF2B5EF4-FFF2-40B4-BE49-F238E27FC236}">
                <a16:creationId xmlns:a16="http://schemas.microsoft.com/office/drawing/2014/main" id="{EE161BB5-956F-334B-86E9-688317D74D36}"/>
              </a:ext>
            </a:extLst>
          </p:cNvPr>
          <p:cNvSpPr txBox="1"/>
          <p:nvPr/>
        </p:nvSpPr>
        <p:spPr>
          <a:xfrm>
            <a:off x="1803400" y="6070600"/>
            <a:ext cx="4648200" cy="190500"/>
          </a:xfrm>
          <a:prstGeom prst="rect">
            <a:avLst/>
          </a:prstGeom>
          <a:noFill/>
        </p:spPr>
        <p:txBody>
          <a:bodyPr vertOverflow="overflow" vert="horz" wrap="square" rtlCol="0" anchor="ctr" anchorCtr="0">
            <a:noAutofit/>
          </a:bodyPr>
          <a:lstStyle/>
          <a:p>
            <a:pPr algn="l"/>
            <a:r>
              <a:rPr lang="ja-JP" altLang="en-US" sz="1000" b="1">
                <a:solidFill>
                  <a:srgbClr val="0B2545"/>
                </a:solidFill>
                <a:latin typeface="Meiryo"/>
                <a:ea typeface="Meiryo"/>
              </a:rPr>
              <a:t>ポリシーベースの</a:t>
            </a:r>
            <a:r>
              <a:rPr lang="en" altLang="ja-JP" sz="1000" b="1">
                <a:solidFill>
                  <a:srgbClr val="0B2545"/>
                </a:solidFill>
                <a:latin typeface="Meiryo"/>
                <a:ea typeface="Meiryo"/>
              </a:rPr>
              <a:t>AI</a:t>
            </a:r>
            <a:r>
              <a:rPr lang="ja-JP" altLang="en-US" sz="1000" b="1">
                <a:solidFill>
                  <a:srgbClr val="0B2545"/>
                </a:solidFill>
                <a:latin typeface="Meiryo"/>
                <a:ea typeface="Meiryo"/>
              </a:rPr>
              <a:t>利用統制</a:t>
            </a:r>
          </a:p>
        </p:txBody>
      </p:sp>
      <p:sp>
        <p:nvSpPr>
          <p:cNvPr id="30" name="テキスト ボックス 29">
            <a:extLst>
              <a:ext uri="{FF2B5EF4-FFF2-40B4-BE49-F238E27FC236}">
                <a16:creationId xmlns:a16="http://schemas.microsoft.com/office/drawing/2014/main" id="{72D0163E-4042-5B4C-86FE-BAAF7F9AAC3C}"/>
              </a:ext>
            </a:extLst>
          </p:cNvPr>
          <p:cNvSpPr txBox="1"/>
          <p:nvPr/>
        </p:nvSpPr>
        <p:spPr>
          <a:xfrm>
            <a:off x="1803400" y="6273800"/>
            <a:ext cx="4648200" cy="1651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部門・役割・意図に応じた単一ポリシーで統制し、監査用の記録も保存。</a:t>
            </a:r>
          </a:p>
        </p:txBody>
      </p:sp>
      <p:sp>
        <p:nvSpPr>
          <p:cNvPr id="31" name="テキスト ボックス 30">
            <a:extLst>
              <a:ext uri="{FF2B5EF4-FFF2-40B4-BE49-F238E27FC236}">
                <a16:creationId xmlns:a16="http://schemas.microsoft.com/office/drawing/2014/main" id="{A94E3434-35E3-D341-A07C-B1C81F3CC929}"/>
              </a:ext>
            </a:extLst>
          </p:cNvPr>
          <p:cNvSpPr txBox="1"/>
          <p:nvPr/>
        </p:nvSpPr>
        <p:spPr>
          <a:xfrm>
            <a:off x="965200" y="6502400"/>
            <a:ext cx="5486400" cy="1778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ユーザと</a:t>
            </a:r>
            <a:r>
              <a:rPr lang="en" altLang="ja-JP" sz="900">
                <a:solidFill>
                  <a:srgbClr val="333333"/>
                </a:solidFill>
                <a:latin typeface="Meiryo"/>
                <a:ea typeface="Meiryo"/>
              </a:rPr>
              <a:t>AI</a:t>
            </a:r>
            <a:r>
              <a:rPr lang="ja-JP" altLang="en-US" sz="900">
                <a:solidFill>
                  <a:srgbClr val="333333"/>
                </a:solidFill>
                <a:latin typeface="Meiryo"/>
                <a:ea typeface="Meiryo"/>
              </a:rPr>
              <a:t>の間に立つ「</a:t>
            </a:r>
            <a:r>
              <a:rPr lang="en" altLang="ja-JP" sz="900">
                <a:solidFill>
                  <a:srgbClr val="333333"/>
                </a:solidFill>
                <a:latin typeface="Meiryo"/>
                <a:ea typeface="Meiryo"/>
              </a:rPr>
              <a:t>AI Security Gateway</a:t>
            </a:r>
            <a:r>
              <a:rPr lang="ja-JP" altLang="en" sz="900">
                <a:solidFill>
                  <a:srgbClr val="333333"/>
                </a:solidFill>
                <a:latin typeface="Meiryo"/>
                <a:ea typeface="Meiryo"/>
              </a:rPr>
              <a:t>」</a:t>
            </a:r>
            <a:r>
              <a:rPr lang="ja-JP" altLang="en-US" sz="900">
                <a:solidFill>
                  <a:srgbClr val="333333"/>
                </a:solidFill>
                <a:latin typeface="Meiryo"/>
                <a:ea typeface="Meiryo"/>
              </a:rPr>
              <a:t>がエージェントレスで機能します。</a:t>
            </a:r>
          </a:p>
        </p:txBody>
      </p:sp>
      <p:sp>
        <p:nvSpPr>
          <p:cNvPr id="32" name="正方形/長方形 31">
            <a:extLst>
              <a:ext uri="{FF2B5EF4-FFF2-40B4-BE49-F238E27FC236}">
                <a16:creationId xmlns:a16="http://schemas.microsoft.com/office/drawing/2014/main" id="{AB791FE7-3D07-0D41-91B2-552D25466ED8}"/>
              </a:ext>
            </a:extLst>
          </p:cNvPr>
          <p:cNvSpPr/>
          <p:nvPr/>
        </p:nvSpPr>
        <p:spPr>
          <a:xfrm>
            <a:off x="965200" y="9575800"/>
            <a:ext cx="5486400" cy="12700"/>
          </a:xfrm>
          <a:prstGeom prst="rect">
            <a:avLst/>
          </a:prstGeom>
          <a:solidFill>
            <a:srgbClr val="C9D2D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7C99E74A-9AAD-7749-A41D-9F9A42A15A99}"/>
              </a:ext>
            </a:extLst>
          </p:cNvPr>
          <p:cNvSpPr txBox="1"/>
          <p:nvPr/>
        </p:nvSpPr>
        <p:spPr>
          <a:xfrm>
            <a:off x="965200" y="9652000"/>
            <a:ext cx="3429000" cy="177800"/>
          </a:xfrm>
          <a:prstGeom prst="rect">
            <a:avLst/>
          </a:prstGeom>
          <a:noFill/>
        </p:spPr>
        <p:txBody>
          <a:bodyPr vertOverflow="overflow" vert="horz" wrap="square" rtlCol="0" anchor="ctr" anchorCtr="0">
            <a:noAutofit/>
          </a:bodyPr>
          <a:lstStyle/>
          <a:p>
            <a:pPr algn="l"/>
            <a:r>
              <a:rPr lang="ja-JP" altLang="en-US" sz="850">
                <a:solidFill>
                  <a:srgbClr val="333333"/>
                </a:solidFill>
                <a:latin typeface="Meiryo"/>
                <a:ea typeface="Meiryo"/>
              </a:rPr>
              <a:t>導入のご相談：</a:t>
            </a:r>
            <a:r>
              <a:rPr lang="en" altLang="ja-JP" sz="850">
                <a:solidFill>
                  <a:srgbClr val="333333"/>
                </a:solidFill>
                <a:latin typeface="Meiryo"/>
                <a:ea typeface="Meiryo"/>
              </a:rPr>
              <a:t>go.jsol.co.jp/lp/inquiry/00009</a:t>
            </a:r>
            <a:endParaRPr lang="ja-JP" altLang="en-US" sz="850">
              <a:solidFill>
                <a:srgbClr val="333333"/>
              </a:solidFill>
              <a:latin typeface="Meiryo"/>
              <a:ea typeface="Meiryo"/>
            </a:endParaRPr>
          </a:p>
        </p:txBody>
      </p:sp>
      <p:sp>
        <p:nvSpPr>
          <p:cNvPr id="34" name="テキスト ボックス 33">
            <a:extLst>
              <a:ext uri="{FF2B5EF4-FFF2-40B4-BE49-F238E27FC236}">
                <a16:creationId xmlns:a16="http://schemas.microsoft.com/office/drawing/2014/main" id="{876EAA76-94B0-0243-950B-9932CEBF07B8}"/>
              </a:ext>
            </a:extLst>
          </p:cNvPr>
          <p:cNvSpPr txBox="1"/>
          <p:nvPr/>
        </p:nvSpPr>
        <p:spPr>
          <a:xfrm>
            <a:off x="4394200" y="9652000"/>
            <a:ext cx="2057400" cy="177800"/>
          </a:xfrm>
          <a:prstGeom prst="rect">
            <a:avLst/>
          </a:prstGeom>
          <a:noFill/>
        </p:spPr>
        <p:txBody>
          <a:bodyPr vertOverflow="overflow" vert="horz" wrap="square" rtlCol="0" anchor="ctr" anchorCtr="0">
            <a:noAutofit/>
          </a:bodyPr>
          <a:lstStyle/>
          <a:p>
            <a:pPr algn="l"/>
            <a:r>
              <a:rPr lang="ja-JP" altLang="en-US" sz="850" b="1">
                <a:solidFill>
                  <a:srgbClr val="0B2545"/>
                </a:solidFill>
                <a:latin typeface="Meiryo"/>
                <a:ea typeface="Meiryo"/>
              </a:rPr>
              <a:t>提供：</a:t>
            </a:r>
            <a:r>
              <a:rPr lang="en" altLang="ja-JP" sz="850" b="1">
                <a:solidFill>
                  <a:srgbClr val="0B2545"/>
                </a:solidFill>
                <a:latin typeface="Meiryo"/>
                <a:ea typeface="Meiryo"/>
              </a:rPr>
              <a:t>JSOL</a:t>
            </a:r>
            <a:endParaRPr lang="ja-JP" altLang="en-US" sz="850" b="1">
              <a:solidFill>
                <a:srgbClr val="0B2545"/>
              </a:solidFill>
              <a:latin typeface="Meiryo"/>
              <a:ea typeface="Meiryo"/>
            </a:endParaRPr>
          </a:p>
        </p:txBody>
      </p:sp>
    </p:spTree>
    <p:extLst>
      <p:ext uri="{BB962C8B-B14F-4D97-AF65-F5344CB8AC3E}">
        <p14:creationId xmlns:p14="http://schemas.microsoft.com/office/powerpoint/2010/main" val="362513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06A8CB49-5F3A-05C0-E05F-FCEE303AC714}"/>
              </a:ext>
            </a:extLst>
          </p:cNvPr>
          <p:cNvPicPr>
            <a:picLocks noChangeAspect="1"/>
          </p:cNvPicPr>
          <p:nvPr/>
        </p:nvPicPr>
        <p:blipFill>
          <a:blip r:embed="rId2"/>
          <a:stretch>
            <a:fillRect/>
          </a:stretch>
        </p:blipFill>
        <p:spPr>
          <a:xfrm>
            <a:off x="0" y="22334"/>
            <a:ext cx="6858000" cy="4930666"/>
          </a:xfrm>
          <a:prstGeom prst="rect">
            <a:avLst/>
          </a:prstGeom>
        </p:spPr>
      </p:pic>
      <p:pic>
        <p:nvPicPr>
          <p:cNvPr id="3" name="図 2">
            <a:extLst>
              <a:ext uri="{FF2B5EF4-FFF2-40B4-BE49-F238E27FC236}">
                <a16:creationId xmlns:a16="http://schemas.microsoft.com/office/drawing/2014/main" id="{1142FE13-195B-8BDA-35D8-827CEE214515}"/>
              </a:ext>
            </a:extLst>
          </p:cNvPr>
          <p:cNvPicPr>
            <a:picLocks noChangeAspect="1"/>
          </p:cNvPicPr>
          <p:nvPr/>
        </p:nvPicPr>
        <p:blipFill>
          <a:blip r:embed="rId3"/>
          <a:stretch>
            <a:fillRect/>
          </a:stretch>
        </p:blipFill>
        <p:spPr>
          <a:xfrm>
            <a:off x="0" y="4076097"/>
            <a:ext cx="6858000" cy="2095182"/>
          </a:xfrm>
          <a:prstGeom prst="rect">
            <a:avLst/>
          </a:prstGeom>
        </p:spPr>
      </p:pic>
      <p:pic>
        <p:nvPicPr>
          <p:cNvPr id="4" name="図 3">
            <a:extLst>
              <a:ext uri="{FF2B5EF4-FFF2-40B4-BE49-F238E27FC236}">
                <a16:creationId xmlns:a16="http://schemas.microsoft.com/office/drawing/2014/main" id="{541C5C11-DB50-5754-C447-8BF253D4EC0A}"/>
              </a:ext>
            </a:extLst>
          </p:cNvPr>
          <p:cNvPicPr>
            <a:picLocks noChangeAspect="1"/>
          </p:cNvPicPr>
          <p:nvPr/>
        </p:nvPicPr>
        <p:blipFill>
          <a:blip r:embed="rId4"/>
          <a:stretch>
            <a:fillRect/>
          </a:stretch>
        </p:blipFill>
        <p:spPr>
          <a:xfrm>
            <a:off x="859536" y="6171279"/>
            <a:ext cx="4724400" cy="3695700"/>
          </a:xfrm>
          <a:prstGeom prst="rect">
            <a:avLst/>
          </a:prstGeom>
        </p:spPr>
      </p:pic>
    </p:spTree>
    <p:extLst>
      <p:ext uri="{BB962C8B-B14F-4D97-AF65-F5344CB8AC3E}">
        <p14:creationId xmlns:p14="http://schemas.microsoft.com/office/powerpoint/2010/main" val="3227898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C459B470-669F-35D3-18BD-9347EBD245F4}"/>
              </a:ext>
            </a:extLst>
          </p:cNvPr>
          <p:cNvPicPr>
            <a:picLocks noChangeAspect="1"/>
          </p:cNvPicPr>
          <p:nvPr/>
        </p:nvPicPr>
        <p:blipFill>
          <a:blip r:embed="rId2"/>
          <a:stretch>
            <a:fillRect/>
          </a:stretch>
        </p:blipFill>
        <p:spPr>
          <a:xfrm>
            <a:off x="1066800" y="3105150"/>
            <a:ext cx="4724400" cy="3695700"/>
          </a:xfrm>
          <a:prstGeom prst="rect">
            <a:avLst/>
          </a:prstGeom>
        </p:spPr>
      </p:pic>
      <p:pic>
        <p:nvPicPr>
          <p:cNvPr id="3" name="図 2">
            <a:extLst>
              <a:ext uri="{FF2B5EF4-FFF2-40B4-BE49-F238E27FC236}">
                <a16:creationId xmlns:a16="http://schemas.microsoft.com/office/drawing/2014/main" id="{3ADAD9CC-7FF8-DA2D-DB38-807D5AFBA1DE}"/>
              </a:ext>
            </a:extLst>
          </p:cNvPr>
          <p:cNvPicPr>
            <a:picLocks noChangeAspect="1"/>
          </p:cNvPicPr>
          <p:nvPr/>
        </p:nvPicPr>
        <p:blipFill>
          <a:blip r:embed="rId3"/>
          <a:stretch>
            <a:fillRect/>
          </a:stretch>
        </p:blipFill>
        <p:spPr>
          <a:xfrm>
            <a:off x="1548384" y="5708142"/>
            <a:ext cx="4724400" cy="3695700"/>
          </a:xfrm>
          <a:prstGeom prst="rect">
            <a:avLst/>
          </a:prstGeom>
        </p:spPr>
      </p:pic>
      <p:pic>
        <p:nvPicPr>
          <p:cNvPr id="4" name="図 3">
            <a:extLst>
              <a:ext uri="{FF2B5EF4-FFF2-40B4-BE49-F238E27FC236}">
                <a16:creationId xmlns:a16="http://schemas.microsoft.com/office/drawing/2014/main" id="{E9562AD1-1AE1-1BBC-2AA3-17E90E87D1F5}"/>
              </a:ext>
            </a:extLst>
          </p:cNvPr>
          <p:cNvPicPr>
            <a:picLocks noChangeAspect="1"/>
          </p:cNvPicPr>
          <p:nvPr/>
        </p:nvPicPr>
        <p:blipFill>
          <a:blip r:embed="rId4"/>
          <a:stretch>
            <a:fillRect/>
          </a:stretch>
        </p:blipFill>
        <p:spPr>
          <a:xfrm>
            <a:off x="1174750" y="1001776"/>
            <a:ext cx="4508500" cy="1270000"/>
          </a:xfrm>
          <a:prstGeom prst="rect">
            <a:avLst/>
          </a:prstGeom>
        </p:spPr>
      </p:pic>
    </p:spTree>
    <p:extLst>
      <p:ext uri="{BB962C8B-B14F-4D97-AF65-F5344CB8AC3E}">
        <p14:creationId xmlns:p14="http://schemas.microsoft.com/office/powerpoint/2010/main" val="588662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4AB2640C-5043-74AA-5B32-92EAA64290EA}"/>
              </a:ext>
            </a:extLst>
          </p:cNvPr>
          <p:cNvPicPr>
            <a:picLocks noChangeAspect="1"/>
          </p:cNvPicPr>
          <p:nvPr/>
        </p:nvPicPr>
        <p:blipFill>
          <a:blip r:embed="rId2"/>
          <a:stretch>
            <a:fillRect/>
          </a:stretch>
        </p:blipFill>
        <p:spPr>
          <a:xfrm>
            <a:off x="0" y="253896"/>
            <a:ext cx="6858000" cy="4594559"/>
          </a:xfrm>
          <a:prstGeom prst="rect">
            <a:avLst/>
          </a:prstGeom>
        </p:spPr>
      </p:pic>
      <p:pic>
        <p:nvPicPr>
          <p:cNvPr id="3" name="図 2">
            <a:extLst>
              <a:ext uri="{FF2B5EF4-FFF2-40B4-BE49-F238E27FC236}">
                <a16:creationId xmlns:a16="http://schemas.microsoft.com/office/drawing/2014/main" id="{60A2401D-5FA7-C93A-D59B-2495EFF9295F}"/>
              </a:ext>
            </a:extLst>
          </p:cNvPr>
          <p:cNvPicPr>
            <a:picLocks noChangeAspect="1"/>
          </p:cNvPicPr>
          <p:nvPr/>
        </p:nvPicPr>
        <p:blipFill>
          <a:blip r:embed="rId3"/>
          <a:stretch>
            <a:fillRect/>
          </a:stretch>
        </p:blipFill>
        <p:spPr>
          <a:xfrm>
            <a:off x="1346708" y="4229204"/>
            <a:ext cx="4749800" cy="5422900"/>
          </a:xfrm>
          <a:prstGeom prst="rect">
            <a:avLst/>
          </a:prstGeom>
        </p:spPr>
      </p:pic>
    </p:spTree>
    <p:extLst>
      <p:ext uri="{BB962C8B-B14F-4D97-AF65-F5344CB8AC3E}">
        <p14:creationId xmlns:p14="http://schemas.microsoft.com/office/powerpoint/2010/main" val="1462869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685DC0B8-57F7-A7CB-411A-C31F240CBDCC}"/>
              </a:ext>
            </a:extLst>
          </p:cNvPr>
          <p:cNvPicPr>
            <a:picLocks noChangeAspect="1"/>
          </p:cNvPicPr>
          <p:nvPr/>
        </p:nvPicPr>
        <p:blipFill>
          <a:blip r:embed="rId2"/>
          <a:stretch>
            <a:fillRect/>
          </a:stretch>
        </p:blipFill>
        <p:spPr>
          <a:xfrm>
            <a:off x="1590548" y="3704590"/>
            <a:ext cx="4749800" cy="5422900"/>
          </a:xfrm>
          <a:prstGeom prst="rect">
            <a:avLst/>
          </a:prstGeom>
        </p:spPr>
      </p:pic>
      <p:pic>
        <p:nvPicPr>
          <p:cNvPr id="3" name="図 2">
            <a:extLst>
              <a:ext uri="{FF2B5EF4-FFF2-40B4-BE49-F238E27FC236}">
                <a16:creationId xmlns:a16="http://schemas.microsoft.com/office/drawing/2014/main" id="{07D2EF51-566D-D0E3-B4A9-2B11DBCD7895}"/>
              </a:ext>
            </a:extLst>
          </p:cNvPr>
          <p:cNvPicPr>
            <a:picLocks noChangeAspect="1"/>
          </p:cNvPicPr>
          <p:nvPr/>
        </p:nvPicPr>
        <p:blipFill>
          <a:blip r:embed="rId3"/>
          <a:stretch>
            <a:fillRect/>
          </a:stretch>
        </p:blipFill>
        <p:spPr>
          <a:xfrm>
            <a:off x="639064" y="290830"/>
            <a:ext cx="4762500" cy="5422900"/>
          </a:xfrm>
          <a:prstGeom prst="rect">
            <a:avLst/>
          </a:prstGeom>
        </p:spPr>
      </p:pic>
    </p:spTree>
    <p:extLst>
      <p:ext uri="{BB962C8B-B14F-4D97-AF65-F5344CB8AC3E}">
        <p14:creationId xmlns:p14="http://schemas.microsoft.com/office/powerpoint/2010/main" val="1320057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5A6E668B-4094-B277-76A4-F90597835919}"/>
              </a:ext>
            </a:extLst>
          </p:cNvPr>
          <p:cNvPicPr>
            <a:picLocks noChangeAspect="1"/>
          </p:cNvPicPr>
          <p:nvPr/>
        </p:nvPicPr>
        <p:blipFill>
          <a:blip r:embed="rId2"/>
          <a:stretch>
            <a:fillRect/>
          </a:stretch>
        </p:blipFill>
        <p:spPr>
          <a:xfrm>
            <a:off x="3657600" y="1168400"/>
            <a:ext cx="2743200" cy="1838960"/>
          </a:xfrm>
          <a:prstGeom prst="rect">
            <a:avLst/>
          </a:prstGeom>
        </p:spPr>
      </p:pic>
      <p:pic>
        <p:nvPicPr>
          <p:cNvPr id="3" name="図 2">
            <a:extLst>
              <a:ext uri="{FF2B5EF4-FFF2-40B4-BE49-F238E27FC236}">
                <a16:creationId xmlns:a16="http://schemas.microsoft.com/office/drawing/2014/main" id="{A7452EFD-42E6-2755-172B-2EDFD5C8D4C3}"/>
              </a:ext>
            </a:extLst>
          </p:cNvPr>
          <p:cNvPicPr>
            <a:picLocks noChangeAspect="1"/>
          </p:cNvPicPr>
          <p:nvPr/>
        </p:nvPicPr>
        <p:blipFill>
          <a:blip r:embed="rId3"/>
          <a:stretch>
            <a:fillRect/>
          </a:stretch>
        </p:blipFill>
        <p:spPr>
          <a:xfrm>
            <a:off x="457200" y="3784600"/>
            <a:ext cx="5943600" cy="1816100"/>
          </a:xfrm>
          <a:prstGeom prst="rect">
            <a:avLst/>
          </a:prstGeom>
        </p:spPr>
      </p:pic>
      <p:sp>
        <p:nvSpPr>
          <p:cNvPr id="4" name="テキスト ボックス 3">
            <a:extLst>
              <a:ext uri="{FF2B5EF4-FFF2-40B4-BE49-F238E27FC236}">
                <a16:creationId xmlns:a16="http://schemas.microsoft.com/office/drawing/2014/main" id="{9F11BEF8-3EAD-D240-8350-608253D0EFA3}"/>
              </a:ext>
            </a:extLst>
          </p:cNvPr>
          <p:cNvSpPr txBox="1"/>
          <p:nvPr/>
        </p:nvSpPr>
        <p:spPr>
          <a:xfrm>
            <a:off x="457200" y="330200"/>
            <a:ext cx="2540000" cy="330200"/>
          </a:xfrm>
          <a:prstGeom prst="rect">
            <a:avLst/>
          </a:prstGeom>
          <a:noFill/>
        </p:spPr>
        <p:txBody>
          <a:bodyPr vertOverflow="overflow" vert="horz" wrap="square" rtlCol="0" anchor="t" anchorCtr="0">
            <a:noAutofit/>
          </a:bodyPr>
          <a:lstStyle/>
          <a:p>
            <a:pPr algn="l"/>
            <a:r>
              <a:rPr lang="en" altLang="ja-JP" sz="2000" b="1">
                <a:solidFill>
                  <a:srgbClr val="0B2545"/>
                </a:solidFill>
                <a:latin typeface="Meiryo"/>
                <a:ea typeface="Meiryo"/>
              </a:rPr>
              <a:t>WITNESS AI</a:t>
            </a:r>
            <a:endParaRPr lang="ja-JP" altLang="en-US" sz="2000" b="1">
              <a:solidFill>
                <a:srgbClr val="0B2545"/>
              </a:solidFill>
              <a:latin typeface="Meiryo"/>
              <a:ea typeface="Meiryo"/>
            </a:endParaRPr>
          </a:p>
        </p:txBody>
      </p:sp>
      <p:sp>
        <p:nvSpPr>
          <p:cNvPr id="5" name="テキスト ボックス 4">
            <a:extLst>
              <a:ext uri="{FF2B5EF4-FFF2-40B4-BE49-F238E27FC236}">
                <a16:creationId xmlns:a16="http://schemas.microsoft.com/office/drawing/2014/main" id="{80DAC181-9F62-4041-ADDE-8D412BFDD59C}"/>
              </a:ext>
            </a:extLst>
          </p:cNvPr>
          <p:cNvSpPr txBox="1"/>
          <p:nvPr/>
        </p:nvSpPr>
        <p:spPr>
          <a:xfrm>
            <a:off x="3048000" y="381000"/>
            <a:ext cx="3352800" cy="203200"/>
          </a:xfrm>
          <a:prstGeom prst="rect">
            <a:avLst/>
          </a:prstGeom>
          <a:noFill/>
        </p:spPr>
        <p:txBody>
          <a:bodyPr vertOverflow="overflow" vert="horz" wrap="square" rtlCol="0" anchor="t" anchorCtr="0">
            <a:noAutofit/>
          </a:bodyPr>
          <a:lstStyle/>
          <a:p>
            <a:pPr algn="l"/>
            <a:r>
              <a:rPr lang="ja-JP" altLang="en-US" sz="850">
                <a:solidFill>
                  <a:srgbClr val="333333"/>
                </a:solidFill>
                <a:latin typeface="Meiryo"/>
                <a:ea typeface="Meiryo"/>
              </a:rPr>
              <a:t>生成</a:t>
            </a:r>
            <a:r>
              <a:rPr lang="en" altLang="ja-JP" sz="850">
                <a:solidFill>
                  <a:srgbClr val="333333"/>
                </a:solidFill>
                <a:latin typeface="Meiryo"/>
                <a:ea typeface="Meiryo"/>
              </a:rPr>
              <a:t>AI</a:t>
            </a:r>
            <a:r>
              <a:rPr lang="ja-JP" altLang="en-US" sz="850">
                <a:solidFill>
                  <a:srgbClr val="333333"/>
                </a:solidFill>
                <a:latin typeface="Meiryo"/>
                <a:ea typeface="Meiryo"/>
              </a:rPr>
              <a:t>セキュリティ・ガバナンスソリューション｜提供：</a:t>
            </a:r>
            <a:r>
              <a:rPr lang="en" altLang="ja-JP" sz="850">
                <a:solidFill>
                  <a:srgbClr val="333333"/>
                </a:solidFill>
                <a:latin typeface="Meiryo"/>
                <a:ea typeface="Meiryo"/>
              </a:rPr>
              <a:t>JSOL</a:t>
            </a:r>
            <a:endParaRPr lang="ja-JP" altLang="en-US" sz="850">
              <a:solidFill>
                <a:srgbClr val="333333"/>
              </a:solidFill>
              <a:latin typeface="Meiryo"/>
              <a:ea typeface="Meiryo"/>
            </a:endParaRPr>
          </a:p>
        </p:txBody>
      </p:sp>
      <p:sp>
        <p:nvSpPr>
          <p:cNvPr id="6" name="正方形/長方形 5">
            <a:extLst>
              <a:ext uri="{FF2B5EF4-FFF2-40B4-BE49-F238E27FC236}">
                <a16:creationId xmlns:a16="http://schemas.microsoft.com/office/drawing/2014/main" id="{D97C7D87-F619-684C-8726-EE9CF9B8F2C7}"/>
              </a:ext>
            </a:extLst>
          </p:cNvPr>
          <p:cNvSpPr/>
          <p:nvPr/>
        </p:nvSpPr>
        <p:spPr>
          <a:xfrm>
            <a:off x="0" y="812800"/>
            <a:ext cx="6858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310B12E0-4851-1A43-91CB-6829510F1DE7}"/>
              </a:ext>
            </a:extLst>
          </p:cNvPr>
          <p:cNvSpPr txBox="1"/>
          <p:nvPr/>
        </p:nvSpPr>
        <p:spPr>
          <a:xfrm>
            <a:off x="457200" y="1219200"/>
            <a:ext cx="3048000" cy="812800"/>
          </a:xfrm>
          <a:prstGeom prst="rect">
            <a:avLst/>
          </a:prstGeom>
          <a:noFill/>
        </p:spPr>
        <p:txBody>
          <a:bodyPr vertOverflow="overflow" vert="horz" wrap="square" rtlCol="0" anchor="t" anchorCtr="0">
            <a:noAutofit/>
          </a:bodyPr>
          <a:lstStyle/>
          <a:p>
            <a:pPr algn="l"/>
            <a:r>
              <a:rPr lang="ja-JP" altLang="en-US" sz="1900" b="1">
                <a:solidFill>
                  <a:srgbClr val="0B2545"/>
                </a:solidFill>
                <a:latin typeface="Meiryo"/>
                <a:ea typeface="Meiryo"/>
              </a:rPr>
              <a:t>生成</a:t>
            </a:r>
            <a:r>
              <a:rPr lang="en" altLang="ja-JP" sz="1900" b="1" dirty="0">
                <a:solidFill>
                  <a:srgbClr val="0B2545"/>
                </a:solidFill>
                <a:latin typeface="Meiryo"/>
                <a:ea typeface="Meiryo"/>
              </a:rPr>
              <a:t>AI</a:t>
            </a:r>
            <a:r>
              <a:rPr lang="ja-JP" altLang="en-US" sz="1900" b="1">
                <a:solidFill>
                  <a:srgbClr val="0B2545"/>
                </a:solidFill>
                <a:latin typeface="Meiryo"/>
                <a:ea typeface="Meiryo"/>
              </a:rPr>
              <a:t>の活用を、
止めずに守る。</a:t>
            </a:r>
          </a:p>
        </p:txBody>
      </p:sp>
      <p:sp>
        <p:nvSpPr>
          <p:cNvPr id="8" name="テキスト ボックス 7">
            <a:extLst>
              <a:ext uri="{FF2B5EF4-FFF2-40B4-BE49-F238E27FC236}">
                <a16:creationId xmlns:a16="http://schemas.microsoft.com/office/drawing/2014/main" id="{914F5406-2162-ED4F-970F-FEC695FA7881}"/>
              </a:ext>
            </a:extLst>
          </p:cNvPr>
          <p:cNvSpPr txBox="1"/>
          <p:nvPr/>
        </p:nvSpPr>
        <p:spPr>
          <a:xfrm>
            <a:off x="457200" y="2159000"/>
            <a:ext cx="3048000" cy="8890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シャドー</a:t>
            </a:r>
            <a:r>
              <a:rPr lang="en" altLang="ja-JP" sz="900">
                <a:solidFill>
                  <a:srgbClr val="333333"/>
                </a:solidFill>
                <a:latin typeface="Meiryo"/>
                <a:ea typeface="Meiryo"/>
              </a:rPr>
              <a:t>AI</a:t>
            </a:r>
            <a:r>
              <a:rPr lang="ja-JP" altLang="en-US" sz="900">
                <a:solidFill>
                  <a:srgbClr val="333333"/>
                </a:solidFill>
                <a:latin typeface="Meiryo"/>
                <a:ea typeface="Meiryo"/>
              </a:rPr>
              <a:t>やプロンプトインジェクションによる情報流出リスクが顕在化。</a:t>
            </a:r>
            <a:r>
              <a:rPr lang="en" altLang="ja-JP" sz="900">
                <a:solidFill>
                  <a:srgbClr val="333333"/>
                </a:solidFill>
                <a:latin typeface="Meiryo"/>
                <a:ea typeface="Meiryo"/>
              </a:rPr>
              <a:t>AI</a:t>
            </a:r>
            <a:r>
              <a:rPr lang="ja-JP" altLang="en-US" sz="900">
                <a:solidFill>
                  <a:srgbClr val="333333"/>
                </a:solidFill>
                <a:latin typeface="Meiryo"/>
                <a:ea typeface="Meiryo"/>
              </a:rPr>
              <a:t>活用のスピードを落とさず統制する、実効性ある</a:t>
            </a:r>
            <a:r>
              <a:rPr lang="en" altLang="ja-JP" sz="900">
                <a:solidFill>
                  <a:srgbClr val="333333"/>
                </a:solidFill>
                <a:latin typeface="Meiryo"/>
                <a:ea typeface="Meiryo"/>
              </a:rPr>
              <a:t>AI</a:t>
            </a:r>
            <a:r>
              <a:rPr lang="ja-JP" altLang="en-US" sz="900">
                <a:solidFill>
                  <a:srgbClr val="333333"/>
                </a:solidFill>
                <a:latin typeface="Meiryo"/>
                <a:ea typeface="Meiryo"/>
              </a:rPr>
              <a:t>ガバナンスが必要です。</a:t>
            </a:r>
          </a:p>
        </p:txBody>
      </p:sp>
      <p:sp>
        <p:nvSpPr>
          <p:cNvPr id="9" name="正方形/長方形 8">
            <a:extLst>
              <a:ext uri="{FF2B5EF4-FFF2-40B4-BE49-F238E27FC236}">
                <a16:creationId xmlns:a16="http://schemas.microsoft.com/office/drawing/2014/main" id="{18B89454-2B7F-834A-974D-087499F568A5}"/>
              </a:ext>
            </a:extLst>
          </p:cNvPr>
          <p:cNvSpPr/>
          <p:nvPr/>
        </p:nvSpPr>
        <p:spPr>
          <a:xfrm>
            <a:off x="457200" y="3327400"/>
            <a:ext cx="63500" cy="2032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テキスト ボックス 9">
            <a:extLst>
              <a:ext uri="{FF2B5EF4-FFF2-40B4-BE49-F238E27FC236}">
                <a16:creationId xmlns:a16="http://schemas.microsoft.com/office/drawing/2014/main" id="{D6450F0E-786B-1A42-A182-13854A40442F}"/>
              </a:ext>
            </a:extLst>
          </p:cNvPr>
          <p:cNvSpPr txBox="1"/>
          <p:nvPr/>
        </p:nvSpPr>
        <p:spPr>
          <a:xfrm>
            <a:off x="596900" y="3302000"/>
            <a:ext cx="5842000" cy="228600"/>
          </a:xfrm>
          <a:prstGeom prst="rect">
            <a:avLst/>
          </a:prstGeom>
          <a:noFill/>
        </p:spPr>
        <p:txBody>
          <a:bodyPr vertOverflow="overflow" vert="horz" wrap="square" rtlCol="0" anchor="t" anchorCtr="0">
            <a:noAutofit/>
          </a:bodyPr>
          <a:lstStyle/>
          <a:p>
            <a:pPr algn="l"/>
            <a:r>
              <a:rPr lang="ja-JP" altLang="en-US" sz="1350" b="1">
                <a:solidFill>
                  <a:srgbClr val="0B2545"/>
                </a:solidFill>
                <a:latin typeface="Meiryo"/>
                <a:ea typeface="Meiryo"/>
              </a:rPr>
              <a:t>あらゆる</a:t>
            </a:r>
            <a:r>
              <a:rPr lang="en" altLang="ja-JP" sz="1350" b="1">
                <a:solidFill>
                  <a:srgbClr val="0B2545"/>
                </a:solidFill>
                <a:latin typeface="Meiryo"/>
                <a:ea typeface="Meiryo"/>
              </a:rPr>
              <a:t>AI</a:t>
            </a:r>
            <a:r>
              <a:rPr lang="ja-JP" altLang="en-US" sz="1350" b="1">
                <a:solidFill>
                  <a:srgbClr val="0B2545"/>
                </a:solidFill>
                <a:latin typeface="Meiryo"/>
                <a:ea typeface="Meiryo"/>
              </a:rPr>
              <a:t>利用を、一つのゲートウェイで統制</a:t>
            </a:r>
          </a:p>
        </p:txBody>
      </p:sp>
      <p:sp>
        <p:nvSpPr>
          <p:cNvPr id="11" name="テキスト ボックス 10">
            <a:extLst>
              <a:ext uri="{FF2B5EF4-FFF2-40B4-BE49-F238E27FC236}">
                <a16:creationId xmlns:a16="http://schemas.microsoft.com/office/drawing/2014/main" id="{6FC7699E-041A-CA49-AFFD-DAE2F9956C64}"/>
              </a:ext>
            </a:extLst>
          </p:cNvPr>
          <p:cNvSpPr txBox="1"/>
          <p:nvPr/>
        </p:nvSpPr>
        <p:spPr>
          <a:xfrm>
            <a:off x="457200" y="5689600"/>
            <a:ext cx="5943600" cy="152400"/>
          </a:xfrm>
          <a:prstGeom prst="rect">
            <a:avLst/>
          </a:prstGeom>
          <a:noFill/>
        </p:spPr>
        <p:txBody>
          <a:bodyPr vertOverflow="overflow" vert="horz" wrap="square" rtlCol="0" anchor="t" anchorCtr="0">
            <a:noAutofit/>
          </a:bodyPr>
          <a:lstStyle/>
          <a:p>
            <a:pPr algn="l"/>
            <a:r>
              <a:rPr lang="ja-JP" altLang="en-US" sz="800">
                <a:solidFill>
                  <a:srgbClr val="667788"/>
                </a:solidFill>
                <a:latin typeface="Meiryo"/>
                <a:ea typeface="Meiryo"/>
              </a:rPr>
              <a:t>デバイスからの</a:t>
            </a:r>
            <a:r>
              <a:rPr lang="en" altLang="ja-JP" sz="800">
                <a:solidFill>
                  <a:srgbClr val="667788"/>
                </a:solidFill>
                <a:latin typeface="Meiryo"/>
                <a:ea typeface="Meiryo"/>
              </a:rPr>
              <a:t>AI</a:t>
            </a:r>
            <a:r>
              <a:rPr lang="ja-JP" altLang="en-US" sz="800">
                <a:solidFill>
                  <a:srgbClr val="667788"/>
                </a:solidFill>
                <a:latin typeface="Meiryo"/>
                <a:ea typeface="Meiryo"/>
              </a:rPr>
              <a:t>利用を</a:t>
            </a:r>
            <a:r>
              <a:rPr lang="en" altLang="ja-JP" sz="800">
                <a:solidFill>
                  <a:srgbClr val="667788"/>
                </a:solidFill>
                <a:latin typeface="Meiryo"/>
                <a:ea typeface="Meiryo"/>
              </a:rPr>
              <a:t>WitnessAI Gateway</a:t>
            </a:r>
            <a:r>
              <a:rPr lang="ja-JP" altLang="en-US" sz="800">
                <a:solidFill>
                  <a:srgbClr val="667788"/>
                </a:solidFill>
                <a:latin typeface="Meiryo"/>
                <a:ea typeface="Meiryo"/>
              </a:rPr>
              <a:t>が仲介し、可視化・制御したうえで外部</a:t>
            </a:r>
            <a:r>
              <a:rPr lang="en" altLang="ja-JP" sz="800">
                <a:solidFill>
                  <a:srgbClr val="667788"/>
                </a:solidFill>
                <a:latin typeface="Meiryo"/>
                <a:ea typeface="Meiryo"/>
              </a:rPr>
              <a:t>AI</a:t>
            </a:r>
            <a:r>
              <a:rPr lang="ja-JP" altLang="en" sz="800">
                <a:solidFill>
                  <a:srgbClr val="667788"/>
                </a:solidFill>
                <a:latin typeface="Meiryo"/>
                <a:ea typeface="Meiryo"/>
              </a:rPr>
              <a:t>・</a:t>
            </a:r>
            <a:r>
              <a:rPr lang="ja-JP" altLang="en-US" sz="800">
                <a:solidFill>
                  <a:srgbClr val="667788"/>
                </a:solidFill>
                <a:latin typeface="Meiryo"/>
                <a:ea typeface="Meiryo"/>
              </a:rPr>
              <a:t>クラウドへ中継します。</a:t>
            </a:r>
          </a:p>
        </p:txBody>
      </p:sp>
      <p:sp>
        <p:nvSpPr>
          <p:cNvPr id="12" name="正方形/長方形 11">
            <a:extLst>
              <a:ext uri="{FF2B5EF4-FFF2-40B4-BE49-F238E27FC236}">
                <a16:creationId xmlns:a16="http://schemas.microsoft.com/office/drawing/2014/main" id="{D1A9FE25-38E2-D44A-A4A8-22F57827D7FF}"/>
              </a:ext>
            </a:extLst>
          </p:cNvPr>
          <p:cNvSpPr/>
          <p:nvPr/>
        </p:nvSpPr>
        <p:spPr>
          <a:xfrm>
            <a:off x="457200" y="6070600"/>
            <a:ext cx="63500" cy="2032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テキスト ボックス 12">
            <a:extLst>
              <a:ext uri="{FF2B5EF4-FFF2-40B4-BE49-F238E27FC236}">
                <a16:creationId xmlns:a16="http://schemas.microsoft.com/office/drawing/2014/main" id="{FBE6571C-7550-A243-9123-C21EDDBA6FD7}"/>
              </a:ext>
            </a:extLst>
          </p:cNvPr>
          <p:cNvSpPr txBox="1"/>
          <p:nvPr/>
        </p:nvSpPr>
        <p:spPr>
          <a:xfrm>
            <a:off x="596900" y="6045200"/>
            <a:ext cx="3810000" cy="228600"/>
          </a:xfrm>
          <a:prstGeom prst="rect">
            <a:avLst/>
          </a:prstGeom>
          <a:noFill/>
        </p:spPr>
        <p:txBody>
          <a:bodyPr vertOverflow="overflow" vert="horz" wrap="square" rtlCol="0" anchor="t" anchorCtr="0">
            <a:noAutofit/>
          </a:bodyPr>
          <a:lstStyle/>
          <a:p>
            <a:pPr algn="l"/>
            <a:r>
              <a:rPr lang="ja-JP" altLang="en-US" sz="1350" b="1">
                <a:solidFill>
                  <a:srgbClr val="0B2545"/>
                </a:solidFill>
                <a:latin typeface="Meiryo"/>
                <a:ea typeface="Meiryo"/>
              </a:rPr>
              <a:t>なぜ今、</a:t>
            </a:r>
            <a:r>
              <a:rPr lang="en" altLang="ja-JP" sz="1350" b="1">
                <a:solidFill>
                  <a:srgbClr val="0B2545"/>
                </a:solidFill>
                <a:latin typeface="Meiryo"/>
                <a:ea typeface="Meiryo"/>
              </a:rPr>
              <a:t>AI</a:t>
            </a:r>
            <a:r>
              <a:rPr lang="ja-JP" altLang="en-US" sz="1350" b="1">
                <a:solidFill>
                  <a:srgbClr val="0B2545"/>
                </a:solidFill>
                <a:latin typeface="Meiryo"/>
                <a:ea typeface="Meiryo"/>
              </a:rPr>
              <a:t>ガバナンスが必要か</a:t>
            </a:r>
          </a:p>
        </p:txBody>
      </p:sp>
      <p:sp>
        <p:nvSpPr>
          <p:cNvPr id="14" name="正方形/長方形 13">
            <a:extLst>
              <a:ext uri="{FF2B5EF4-FFF2-40B4-BE49-F238E27FC236}">
                <a16:creationId xmlns:a16="http://schemas.microsoft.com/office/drawing/2014/main" id="{3E44E5AF-EBD3-E748-9FDD-CFE653152C7D}"/>
              </a:ext>
            </a:extLst>
          </p:cNvPr>
          <p:cNvSpPr/>
          <p:nvPr/>
        </p:nvSpPr>
        <p:spPr>
          <a:xfrm>
            <a:off x="457200" y="6350000"/>
            <a:ext cx="5943600" cy="3810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正方形/長方形 14">
            <a:extLst>
              <a:ext uri="{FF2B5EF4-FFF2-40B4-BE49-F238E27FC236}">
                <a16:creationId xmlns:a16="http://schemas.microsoft.com/office/drawing/2014/main" id="{96CF6218-B62E-A349-A67B-E87BD5765B03}"/>
              </a:ext>
            </a:extLst>
          </p:cNvPr>
          <p:cNvSpPr/>
          <p:nvPr/>
        </p:nvSpPr>
        <p:spPr>
          <a:xfrm>
            <a:off x="457200" y="6350000"/>
            <a:ext cx="304800" cy="3810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950" b="1">
                <a:solidFill>
                  <a:srgbClr val="FFFFFF"/>
                </a:solidFill>
                <a:latin typeface="Meiryo"/>
                <a:ea typeface="Meiryo"/>
              </a:rPr>
              <a:t>01</a:t>
            </a:r>
            <a:endParaRPr lang="ja-JP" altLang="en-US" sz="950" b="1">
              <a:solidFill>
                <a:srgbClr val="FFFFFF"/>
              </a:solidFill>
              <a:latin typeface="Meiryo"/>
              <a:ea typeface="Meiryo"/>
            </a:endParaRPr>
          </a:p>
        </p:txBody>
      </p:sp>
      <p:sp>
        <p:nvSpPr>
          <p:cNvPr id="16" name="テキスト ボックス 15">
            <a:extLst>
              <a:ext uri="{FF2B5EF4-FFF2-40B4-BE49-F238E27FC236}">
                <a16:creationId xmlns:a16="http://schemas.microsoft.com/office/drawing/2014/main" id="{189115E0-29E6-BB45-9B6A-34E803B4581E}"/>
              </a:ext>
            </a:extLst>
          </p:cNvPr>
          <p:cNvSpPr txBox="1"/>
          <p:nvPr/>
        </p:nvSpPr>
        <p:spPr>
          <a:xfrm>
            <a:off x="863600" y="6350000"/>
            <a:ext cx="1841500" cy="381000"/>
          </a:xfrm>
          <a:prstGeom prst="rect">
            <a:avLst/>
          </a:prstGeom>
          <a:noFill/>
        </p:spPr>
        <p:txBody>
          <a:bodyPr vertOverflow="overflow" vert="horz" wrap="square" rtlCol="0" anchor="ctr" anchorCtr="0">
            <a:noAutofit/>
          </a:bodyPr>
          <a:lstStyle/>
          <a:p>
            <a:pPr algn="l"/>
            <a:r>
              <a:rPr lang="ja-JP" altLang="en-US" sz="950" b="1">
                <a:solidFill>
                  <a:srgbClr val="0B2545"/>
                </a:solidFill>
                <a:latin typeface="Meiryo"/>
                <a:ea typeface="Meiryo"/>
              </a:rPr>
              <a:t>自律型エージェントの台頭</a:t>
            </a:r>
          </a:p>
        </p:txBody>
      </p:sp>
      <p:sp>
        <p:nvSpPr>
          <p:cNvPr id="17" name="テキスト ボックス 16">
            <a:extLst>
              <a:ext uri="{FF2B5EF4-FFF2-40B4-BE49-F238E27FC236}">
                <a16:creationId xmlns:a16="http://schemas.microsoft.com/office/drawing/2014/main" id="{5E9F1050-BD70-5D45-B7EB-F36F8329C1F3}"/>
              </a:ext>
            </a:extLst>
          </p:cNvPr>
          <p:cNvSpPr txBox="1"/>
          <p:nvPr/>
        </p:nvSpPr>
        <p:spPr>
          <a:xfrm>
            <a:off x="2794000" y="6350000"/>
            <a:ext cx="3530600" cy="381000"/>
          </a:xfrm>
          <a:prstGeom prst="rect">
            <a:avLst/>
          </a:prstGeom>
          <a:noFill/>
        </p:spPr>
        <p:txBody>
          <a:bodyPr vertOverflow="overflow" vert="horz" wrap="square" rtlCol="0" anchor="ctr" anchorCtr="0">
            <a:noAutofit/>
          </a:bodyPr>
          <a:lstStyle/>
          <a:p>
            <a:pPr algn="l"/>
            <a:r>
              <a:rPr lang="ja-JP" altLang="en-US" sz="850">
                <a:solidFill>
                  <a:srgbClr val="333333"/>
                </a:solidFill>
                <a:latin typeface="Meiryo"/>
                <a:ea typeface="Meiryo"/>
              </a:rPr>
              <a:t>外部</a:t>
            </a:r>
            <a:r>
              <a:rPr lang="en" altLang="ja-JP" sz="850">
                <a:solidFill>
                  <a:srgbClr val="333333"/>
                </a:solidFill>
                <a:latin typeface="Meiryo"/>
                <a:ea typeface="Meiryo"/>
              </a:rPr>
              <a:t>API</a:t>
            </a:r>
            <a:r>
              <a:rPr lang="ja-JP" altLang="en-US" sz="850">
                <a:solidFill>
                  <a:srgbClr val="333333"/>
                </a:solidFill>
                <a:latin typeface="Meiryo"/>
                <a:ea typeface="Meiryo"/>
              </a:rPr>
              <a:t>や</a:t>
            </a:r>
            <a:r>
              <a:rPr lang="en" altLang="ja-JP" sz="850">
                <a:solidFill>
                  <a:srgbClr val="333333"/>
                </a:solidFill>
                <a:latin typeface="Meiryo"/>
                <a:ea typeface="Meiryo"/>
              </a:rPr>
              <a:t>DB</a:t>
            </a:r>
            <a:r>
              <a:rPr lang="ja-JP" altLang="en-US" sz="850">
                <a:solidFill>
                  <a:srgbClr val="333333"/>
                </a:solidFill>
                <a:latin typeface="Meiryo"/>
                <a:ea typeface="Meiryo"/>
              </a:rPr>
              <a:t>を自律操作する</a:t>
            </a:r>
            <a:r>
              <a:rPr lang="en" altLang="ja-JP" sz="850">
                <a:solidFill>
                  <a:srgbClr val="333333"/>
                </a:solidFill>
                <a:latin typeface="Meiryo"/>
                <a:ea typeface="Meiryo"/>
              </a:rPr>
              <a:t>AI</a:t>
            </a:r>
            <a:r>
              <a:rPr lang="ja-JP" altLang="en-US" sz="850">
                <a:solidFill>
                  <a:srgbClr val="333333"/>
                </a:solidFill>
                <a:latin typeface="Meiryo"/>
                <a:ea typeface="Meiryo"/>
              </a:rPr>
              <a:t>へ進化し、従来の監視では追随できない。</a:t>
            </a:r>
          </a:p>
        </p:txBody>
      </p:sp>
      <p:sp>
        <p:nvSpPr>
          <p:cNvPr id="18" name="正方形/長方形 17">
            <a:extLst>
              <a:ext uri="{FF2B5EF4-FFF2-40B4-BE49-F238E27FC236}">
                <a16:creationId xmlns:a16="http://schemas.microsoft.com/office/drawing/2014/main" id="{C584CC1A-413B-084A-BAE0-9FBE68351DA2}"/>
              </a:ext>
            </a:extLst>
          </p:cNvPr>
          <p:cNvSpPr/>
          <p:nvPr/>
        </p:nvSpPr>
        <p:spPr>
          <a:xfrm>
            <a:off x="457200" y="6807200"/>
            <a:ext cx="5943600" cy="3810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 name="正方形/長方形 18">
            <a:extLst>
              <a:ext uri="{FF2B5EF4-FFF2-40B4-BE49-F238E27FC236}">
                <a16:creationId xmlns:a16="http://schemas.microsoft.com/office/drawing/2014/main" id="{F2FF8CFF-ED6F-464F-AD97-687B7A25F616}"/>
              </a:ext>
            </a:extLst>
          </p:cNvPr>
          <p:cNvSpPr/>
          <p:nvPr/>
        </p:nvSpPr>
        <p:spPr>
          <a:xfrm>
            <a:off x="457200" y="6807200"/>
            <a:ext cx="304800" cy="3810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950" b="1">
                <a:solidFill>
                  <a:srgbClr val="FFFFFF"/>
                </a:solidFill>
                <a:latin typeface="Meiryo"/>
                <a:ea typeface="Meiryo"/>
              </a:rPr>
              <a:t>02</a:t>
            </a:r>
            <a:endParaRPr lang="ja-JP" altLang="en-US" sz="950" b="1">
              <a:solidFill>
                <a:srgbClr val="FFFFFF"/>
              </a:solidFill>
              <a:latin typeface="Meiryo"/>
              <a:ea typeface="Meiryo"/>
            </a:endParaRPr>
          </a:p>
        </p:txBody>
      </p:sp>
      <p:sp>
        <p:nvSpPr>
          <p:cNvPr id="20" name="テキスト ボックス 19">
            <a:extLst>
              <a:ext uri="{FF2B5EF4-FFF2-40B4-BE49-F238E27FC236}">
                <a16:creationId xmlns:a16="http://schemas.microsoft.com/office/drawing/2014/main" id="{8FFF55B3-0231-CC42-99EC-3D22175092A8}"/>
              </a:ext>
            </a:extLst>
          </p:cNvPr>
          <p:cNvSpPr txBox="1"/>
          <p:nvPr/>
        </p:nvSpPr>
        <p:spPr>
          <a:xfrm>
            <a:off x="863600" y="6807200"/>
            <a:ext cx="1841500" cy="381000"/>
          </a:xfrm>
          <a:prstGeom prst="rect">
            <a:avLst/>
          </a:prstGeom>
          <a:noFill/>
        </p:spPr>
        <p:txBody>
          <a:bodyPr vertOverflow="overflow" vert="horz" wrap="square" rtlCol="0" anchor="ctr" anchorCtr="0">
            <a:noAutofit/>
          </a:bodyPr>
          <a:lstStyle/>
          <a:p>
            <a:pPr algn="l"/>
            <a:r>
              <a:rPr lang="ja-JP" altLang="en-US" sz="950" b="1">
                <a:solidFill>
                  <a:srgbClr val="0B2545"/>
                </a:solidFill>
                <a:latin typeface="Meiryo"/>
                <a:ea typeface="Meiryo"/>
              </a:rPr>
              <a:t>シャドー</a:t>
            </a:r>
            <a:r>
              <a:rPr lang="en" altLang="ja-JP" sz="950" b="1">
                <a:solidFill>
                  <a:srgbClr val="0B2545"/>
                </a:solidFill>
                <a:latin typeface="Meiryo"/>
                <a:ea typeface="Meiryo"/>
              </a:rPr>
              <a:t>AI</a:t>
            </a:r>
            <a:r>
              <a:rPr lang="ja-JP" altLang="en-US" sz="950" b="1">
                <a:solidFill>
                  <a:srgbClr val="0B2545"/>
                </a:solidFill>
                <a:latin typeface="Meiryo"/>
                <a:ea typeface="Meiryo"/>
              </a:rPr>
              <a:t>による管理不全</a:t>
            </a:r>
          </a:p>
        </p:txBody>
      </p:sp>
      <p:sp>
        <p:nvSpPr>
          <p:cNvPr id="21" name="テキスト ボックス 20">
            <a:extLst>
              <a:ext uri="{FF2B5EF4-FFF2-40B4-BE49-F238E27FC236}">
                <a16:creationId xmlns:a16="http://schemas.microsoft.com/office/drawing/2014/main" id="{641030D6-1285-724C-9085-5301B947EACA}"/>
              </a:ext>
            </a:extLst>
          </p:cNvPr>
          <p:cNvSpPr txBox="1"/>
          <p:nvPr/>
        </p:nvSpPr>
        <p:spPr>
          <a:xfrm>
            <a:off x="2794000" y="6807200"/>
            <a:ext cx="3530600" cy="381000"/>
          </a:xfrm>
          <a:prstGeom prst="rect">
            <a:avLst/>
          </a:prstGeom>
          <a:noFill/>
        </p:spPr>
        <p:txBody>
          <a:bodyPr vertOverflow="overflow" vert="horz" wrap="square" rtlCol="0" anchor="ctr" anchorCtr="0">
            <a:noAutofit/>
          </a:bodyPr>
          <a:lstStyle/>
          <a:p>
            <a:pPr algn="l"/>
            <a:r>
              <a:rPr lang="en" altLang="ja-JP" sz="850">
                <a:solidFill>
                  <a:srgbClr val="333333"/>
                </a:solidFill>
                <a:latin typeface="Meiryo"/>
                <a:ea typeface="Meiryo"/>
              </a:rPr>
              <a:t>IT</a:t>
            </a:r>
            <a:r>
              <a:rPr lang="ja-JP" altLang="en-US" sz="850">
                <a:solidFill>
                  <a:srgbClr val="333333"/>
                </a:solidFill>
                <a:latin typeface="Meiryo"/>
                <a:ea typeface="Meiryo"/>
              </a:rPr>
              <a:t>部門が把握できない現場の</a:t>
            </a:r>
            <a:r>
              <a:rPr lang="en" altLang="ja-JP" sz="850">
                <a:solidFill>
                  <a:srgbClr val="333333"/>
                </a:solidFill>
                <a:latin typeface="Meiryo"/>
                <a:ea typeface="Meiryo"/>
              </a:rPr>
              <a:t>AI</a:t>
            </a:r>
            <a:r>
              <a:rPr lang="ja-JP" altLang="en-US" sz="850">
                <a:solidFill>
                  <a:srgbClr val="333333"/>
                </a:solidFill>
                <a:latin typeface="Meiryo"/>
                <a:ea typeface="Meiryo"/>
              </a:rPr>
              <a:t>利用が、組織のセキュリティの盲点に。</a:t>
            </a:r>
          </a:p>
        </p:txBody>
      </p:sp>
      <p:sp>
        <p:nvSpPr>
          <p:cNvPr id="22" name="正方形/長方形 21">
            <a:extLst>
              <a:ext uri="{FF2B5EF4-FFF2-40B4-BE49-F238E27FC236}">
                <a16:creationId xmlns:a16="http://schemas.microsoft.com/office/drawing/2014/main" id="{B4E4181E-745D-A74E-A761-796815C83949}"/>
              </a:ext>
            </a:extLst>
          </p:cNvPr>
          <p:cNvSpPr/>
          <p:nvPr/>
        </p:nvSpPr>
        <p:spPr>
          <a:xfrm>
            <a:off x="457200" y="7264400"/>
            <a:ext cx="5943600" cy="3810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3" name="正方形/長方形 22">
            <a:extLst>
              <a:ext uri="{FF2B5EF4-FFF2-40B4-BE49-F238E27FC236}">
                <a16:creationId xmlns:a16="http://schemas.microsoft.com/office/drawing/2014/main" id="{DE2A4E9B-155B-804F-AEC7-463E39FE68B5}"/>
              </a:ext>
            </a:extLst>
          </p:cNvPr>
          <p:cNvSpPr/>
          <p:nvPr/>
        </p:nvSpPr>
        <p:spPr>
          <a:xfrm>
            <a:off x="457200" y="7264400"/>
            <a:ext cx="304800" cy="3810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950" b="1">
                <a:solidFill>
                  <a:srgbClr val="FFFFFF"/>
                </a:solidFill>
                <a:latin typeface="Meiryo"/>
                <a:ea typeface="Meiryo"/>
              </a:rPr>
              <a:t>03</a:t>
            </a:r>
            <a:endParaRPr lang="ja-JP" altLang="en-US" sz="950" b="1">
              <a:solidFill>
                <a:srgbClr val="FFFFFF"/>
              </a:solidFill>
              <a:latin typeface="Meiryo"/>
              <a:ea typeface="Meiryo"/>
            </a:endParaRPr>
          </a:p>
        </p:txBody>
      </p:sp>
      <p:sp>
        <p:nvSpPr>
          <p:cNvPr id="24" name="テキスト ボックス 23">
            <a:extLst>
              <a:ext uri="{FF2B5EF4-FFF2-40B4-BE49-F238E27FC236}">
                <a16:creationId xmlns:a16="http://schemas.microsoft.com/office/drawing/2014/main" id="{35E83FF0-E52E-F747-AE2F-EB26020081DE}"/>
              </a:ext>
            </a:extLst>
          </p:cNvPr>
          <p:cNvSpPr txBox="1"/>
          <p:nvPr/>
        </p:nvSpPr>
        <p:spPr>
          <a:xfrm>
            <a:off x="863600" y="7264400"/>
            <a:ext cx="1841500" cy="381000"/>
          </a:xfrm>
          <a:prstGeom prst="rect">
            <a:avLst/>
          </a:prstGeom>
          <a:noFill/>
        </p:spPr>
        <p:txBody>
          <a:bodyPr vertOverflow="overflow" vert="horz" wrap="square" rtlCol="0" anchor="ctr" anchorCtr="0">
            <a:noAutofit/>
          </a:bodyPr>
          <a:lstStyle/>
          <a:p>
            <a:pPr algn="l"/>
            <a:r>
              <a:rPr lang="ja-JP" altLang="en-US" sz="950" b="1">
                <a:solidFill>
                  <a:srgbClr val="0B2545"/>
                </a:solidFill>
                <a:latin typeface="Meiryo"/>
                <a:ea typeface="Meiryo"/>
              </a:rPr>
              <a:t>新たな脆弱性の出現</a:t>
            </a:r>
          </a:p>
        </p:txBody>
      </p:sp>
      <p:sp>
        <p:nvSpPr>
          <p:cNvPr id="25" name="テキスト ボックス 24">
            <a:extLst>
              <a:ext uri="{FF2B5EF4-FFF2-40B4-BE49-F238E27FC236}">
                <a16:creationId xmlns:a16="http://schemas.microsoft.com/office/drawing/2014/main" id="{EFB09FC0-789B-2E4F-AD8F-5FB0DC096B7E}"/>
              </a:ext>
            </a:extLst>
          </p:cNvPr>
          <p:cNvSpPr txBox="1"/>
          <p:nvPr/>
        </p:nvSpPr>
        <p:spPr>
          <a:xfrm>
            <a:off x="2794000" y="7264400"/>
            <a:ext cx="3530600" cy="381000"/>
          </a:xfrm>
          <a:prstGeom prst="rect">
            <a:avLst/>
          </a:prstGeom>
          <a:noFill/>
        </p:spPr>
        <p:txBody>
          <a:bodyPr vertOverflow="overflow" vert="horz" wrap="square" rtlCol="0" anchor="ctr" anchorCtr="0">
            <a:noAutofit/>
          </a:bodyPr>
          <a:lstStyle/>
          <a:p>
            <a:pPr algn="l"/>
            <a:r>
              <a:rPr lang="ja-JP" altLang="en-US" sz="850">
                <a:solidFill>
                  <a:srgbClr val="333333"/>
                </a:solidFill>
                <a:latin typeface="Meiryo"/>
                <a:ea typeface="Meiryo"/>
              </a:rPr>
              <a:t>プロンプトインジェクションは </a:t>
            </a:r>
            <a:r>
              <a:rPr lang="en" altLang="ja-JP" sz="850">
                <a:solidFill>
                  <a:srgbClr val="333333"/>
                </a:solidFill>
                <a:latin typeface="Meiryo"/>
                <a:ea typeface="Meiryo"/>
              </a:rPr>
              <a:t>OWASP Top 10 for LLM 2025 </a:t>
            </a:r>
            <a:r>
              <a:rPr lang="ja-JP" altLang="en-US" sz="850">
                <a:solidFill>
                  <a:srgbClr val="333333"/>
                </a:solidFill>
                <a:latin typeface="Meiryo"/>
                <a:ea typeface="Meiryo"/>
              </a:rPr>
              <a:t>の最上位リスク。</a:t>
            </a:r>
          </a:p>
        </p:txBody>
      </p:sp>
      <p:sp>
        <p:nvSpPr>
          <p:cNvPr id="26" name="正方形/長方形 25">
            <a:extLst>
              <a:ext uri="{FF2B5EF4-FFF2-40B4-BE49-F238E27FC236}">
                <a16:creationId xmlns:a16="http://schemas.microsoft.com/office/drawing/2014/main" id="{47B85CB6-DDBC-9447-B924-E53E2E41A69D}"/>
              </a:ext>
            </a:extLst>
          </p:cNvPr>
          <p:cNvSpPr/>
          <p:nvPr/>
        </p:nvSpPr>
        <p:spPr>
          <a:xfrm>
            <a:off x="457200" y="7899400"/>
            <a:ext cx="63500" cy="2032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5C3D0214-8835-CF48-8D4F-1757E200B716}"/>
              </a:ext>
            </a:extLst>
          </p:cNvPr>
          <p:cNvSpPr txBox="1"/>
          <p:nvPr/>
        </p:nvSpPr>
        <p:spPr>
          <a:xfrm>
            <a:off x="596900" y="7874000"/>
            <a:ext cx="3810000" cy="228600"/>
          </a:xfrm>
          <a:prstGeom prst="rect">
            <a:avLst/>
          </a:prstGeom>
          <a:noFill/>
        </p:spPr>
        <p:txBody>
          <a:bodyPr vertOverflow="overflow" vert="horz" wrap="square" rtlCol="0" anchor="t" anchorCtr="0">
            <a:noAutofit/>
          </a:bodyPr>
          <a:lstStyle/>
          <a:p>
            <a:pPr algn="l"/>
            <a:r>
              <a:rPr lang="ja-JP" altLang="en-US" sz="1350" b="1">
                <a:solidFill>
                  <a:srgbClr val="0B2545"/>
                </a:solidFill>
                <a:latin typeface="Meiryo"/>
                <a:ea typeface="Meiryo"/>
              </a:rPr>
              <a:t>なぜ、</a:t>
            </a:r>
            <a:r>
              <a:rPr lang="en" altLang="ja-JP" sz="1350" b="1">
                <a:solidFill>
                  <a:srgbClr val="0B2545"/>
                </a:solidFill>
                <a:latin typeface="Meiryo"/>
                <a:ea typeface="Meiryo"/>
              </a:rPr>
              <a:t>WitnessAI</a:t>
            </a:r>
            <a:r>
              <a:rPr lang="ja-JP" altLang="en-US" sz="1350" b="1">
                <a:solidFill>
                  <a:srgbClr val="0B2545"/>
                </a:solidFill>
                <a:latin typeface="Meiryo"/>
                <a:ea typeface="Meiryo"/>
              </a:rPr>
              <a:t>なのか</a:t>
            </a:r>
          </a:p>
        </p:txBody>
      </p:sp>
      <p:sp>
        <p:nvSpPr>
          <p:cNvPr id="28" name="正方形/長方形 27">
            <a:extLst>
              <a:ext uri="{FF2B5EF4-FFF2-40B4-BE49-F238E27FC236}">
                <a16:creationId xmlns:a16="http://schemas.microsoft.com/office/drawing/2014/main" id="{A7236272-A1E5-A24E-8A81-46E1CF12E4C0}"/>
              </a:ext>
            </a:extLst>
          </p:cNvPr>
          <p:cNvSpPr/>
          <p:nvPr/>
        </p:nvSpPr>
        <p:spPr>
          <a:xfrm>
            <a:off x="457200" y="8204200"/>
            <a:ext cx="1905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正方形/長方形 28">
            <a:extLst>
              <a:ext uri="{FF2B5EF4-FFF2-40B4-BE49-F238E27FC236}">
                <a16:creationId xmlns:a16="http://schemas.microsoft.com/office/drawing/2014/main" id="{EA7A27FD-5F01-C242-843C-DC57678C16D3}"/>
              </a:ext>
            </a:extLst>
          </p:cNvPr>
          <p:cNvSpPr/>
          <p:nvPr/>
        </p:nvSpPr>
        <p:spPr>
          <a:xfrm>
            <a:off x="457200" y="8242300"/>
            <a:ext cx="1905000" cy="8636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0" name="テキスト ボックス 29">
            <a:extLst>
              <a:ext uri="{FF2B5EF4-FFF2-40B4-BE49-F238E27FC236}">
                <a16:creationId xmlns:a16="http://schemas.microsoft.com/office/drawing/2014/main" id="{67AB92C8-6124-3E43-804B-070DEDBE2E7A}"/>
              </a:ext>
            </a:extLst>
          </p:cNvPr>
          <p:cNvSpPr txBox="1"/>
          <p:nvPr/>
        </p:nvSpPr>
        <p:spPr>
          <a:xfrm>
            <a:off x="584200" y="8331200"/>
            <a:ext cx="1651000" cy="177800"/>
          </a:xfrm>
          <a:prstGeom prst="rect">
            <a:avLst/>
          </a:prstGeom>
          <a:noFill/>
        </p:spPr>
        <p:txBody>
          <a:bodyPr vertOverflow="overflow" vert="horz" wrap="square" rtlCol="0" anchor="t" anchorCtr="0">
            <a:noAutofit/>
          </a:bodyPr>
          <a:lstStyle/>
          <a:p>
            <a:pPr algn="l"/>
            <a:r>
              <a:rPr lang="en" altLang="ja-JP" sz="1050" b="1">
                <a:solidFill>
                  <a:srgbClr val="00B3A4"/>
                </a:solidFill>
                <a:latin typeface="Meiryo"/>
                <a:ea typeface="Meiryo"/>
              </a:rPr>
              <a:t>Discover</a:t>
            </a:r>
            <a:endParaRPr lang="ja-JP" altLang="en-US" sz="1050" b="1">
              <a:solidFill>
                <a:srgbClr val="00B3A4"/>
              </a:solidFill>
              <a:latin typeface="Meiryo"/>
              <a:ea typeface="Meiryo"/>
            </a:endParaRPr>
          </a:p>
        </p:txBody>
      </p:sp>
      <p:sp>
        <p:nvSpPr>
          <p:cNvPr id="31" name="テキスト ボックス 30">
            <a:extLst>
              <a:ext uri="{FF2B5EF4-FFF2-40B4-BE49-F238E27FC236}">
                <a16:creationId xmlns:a16="http://schemas.microsoft.com/office/drawing/2014/main" id="{65E00128-7DE0-A242-B8CF-45583EC4BFAB}"/>
              </a:ext>
            </a:extLst>
          </p:cNvPr>
          <p:cNvSpPr txBox="1"/>
          <p:nvPr/>
        </p:nvSpPr>
        <p:spPr>
          <a:xfrm>
            <a:off x="584200" y="8534400"/>
            <a:ext cx="1651000" cy="177800"/>
          </a:xfrm>
          <a:prstGeom prst="rect">
            <a:avLst/>
          </a:prstGeom>
          <a:noFill/>
        </p:spPr>
        <p:txBody>
          <a:bodyPr vertOverflow="overflow" vert="horz" wrap="square" rtlCol="0" anchor="t" anchorCtr="0">
            <a:noAutofit/>
          </a:bodyPr>
          <a:lstStyle/>
          <a:p>
            <a:pPr algn="l"/>
            <a:r>
              <a:rPr lang="ja-JP" altLang="en-US" sz="900" b="1">
                <a:solidFill>
                  <a:srgbClr val="0B2545"/>
                </a:solidFill>
                <a:latin typeface="Meiryo"/>
                <a:ea typeface="Meiryo"/>
              </a:rPr>
              <a:t>生成</a:t>
            </a:r>
            <a:r>
              <a:rPr lang="en" altLang="ja-JP" sz="900" b="1">
                <a:solidFill>
                  <a:srgbClr val="0B2545"/>
                </a:solidFill>
                <a:latin typeface="Meiryo"/>
                <a:ea typeface="Meiryo"/>
              </a:rPr>
              <a:t>AI</a:t>
            </a:r>
            <a:r>
              <a:rPr lang="ja-JP" altLang="en-US" sz="900" b="1">
                <a:solidFill>
                  <a:srgbClr val="0B2545"/>
                </a:solidFill>
                <a:latin typeface="Meiryo"/>
                <a:ea typeface="Meiryo"/>
              </a:rPr>
              <a:t>利用の可視化</a:t>
            </a:r>
          </a:p>
        </p:txBody>
      </p:sp>
      <p:sp>
        <p:nvSpPr>
          <p:cNvPr id="32" name="テキスト ボックス 31">
            <a:extLst>
              <a:ext uri="{FF2B5EF4-FFF2-40B4-BE49-F238E27FC236}">
                <a16:creationId xmlns:a16="http://schemas.microsoft.com/office/drawing/2014/main" id="{D50CC64E-409A-6246-90A6-C04FF1E41C88}"/>
              </a:ext>
            </a:extLst>
          </p:cNvPr>
          <p:cNvSpPr txBox="1"/>
          <p:nvPr/>
        </p:nvSpPr>
        <p:spPr>
          <a:xfrm>
            <a:off x="584200" y="8737600"/>
            <a:ext cx="1651000" cy="304800"/>
          </a:xfrm>
          <a:prstGeom prst="rect">
            <a:avLst/>
          </a:prstGeom>
          <a:noFill/>
        </p:spPr>
        <p:txBody>
          <a:bodyPr vertOverflow="overflow" vert="horz" wrap="square" rtlCol="0" anchor="t" anchorCtr="0">
            <a:noAutofit/>
          </a:bodyPr>
          <a:lstStyle/>
          <a:p>
            <a:pPr algn="l"/>
            <a:r>
              <a:rPr lang="ja-JP" altLang="en-US" sz="800">
                <a:solidFill>
                  <a:srgbClr val="333333"/>
                </a:solidFill>
                <a:latin typeface="Meiryo"/>
                <a:ea typeface="Meiryo"/>
              </a:rPr>
              <a:t>シャドー</a:t>
            </a:r>
            <a:r>
              <a:rPr lang="en" altLang="ja-JP" sz="800">
                <a:solidFill>
                  <a:srgbClr val="333333"/>
                </a:solidFill>
                <a:latin typeface="Meiryo"/>
                <a:ea typeface="Meiryo"/>
              </a:rPr>
              <a:t>AI</a:t>
            </a:r>
            <a:r>
              <a:rPr lang="ja-JP" altLang="en-US" sz="800">
                <a:solidFill>
                  <a:srgbClr val="333333"/>
                </a:solidFill>
                <a:latin typeface="Meiryo"/>
                <a:ea typeface="Meiryo"/>
              </a:rPr>
              <a:t>含む全</a:t>
            </a:r>
            <a:r>
              <a:rPr lang="en" altLang="ja-JP" sz="800">
                <a:solidFill>
                  <a:srgbClr val="333333"/>
                </a:solidFill>
                <a:latin typeface="Meiryo"/>
                <a:ea typeface="Meiryo"/>
              </a:rPr>
              <a:t>AI</a:t>
            </a:r>
            <a:r>
              <a:rPr lang="ja-JP" altLang="en-US" sz="800">
                <a:solidFill>
                  <a:srgbClr val="333333"/>
                </a:solidFill>
                <a:latin typeface="Meiryo"/>
                <a:ea typeface="Meiryo"/>
              </a:rPr>
              <a:t>利用をリアルタイムに把握</a:t>
            </a:r>
          </a:p>
        </p:txBody>
      </p:sp>
      <p:sp>
        <p:nvSpPr>
          <p:cNvPr id="33" name="正方形/長方形 32">
            <a:extLst>
              <a:ext uri="{FF2B5EF4-FFF2-40B4-BE49-F238E27FC236}">
                <a16:creationId xmlns:a16="http://schemas.microsoft.com/office/drawing/2014/main" id="{C98B1C13-1EDA-9A45-B5D7-0D98B8B01162}"/>
              </a:ext>
            </a:extLst>
          </p:cNvPr>
          <p:cNvSpPr/>
          <p:nvPr/>
        </p:nvSpPr>
        <p:spPr>
          <a:xfrm>
            <a:off x="2501900" y="8204200"/>
            <a:ext cx="1905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4" name="正方形/長方形 33">
            <a:extLst>
              <a:ext uri="{FF2B5EF4-FFF2-40B4-BE49-F238E27FC236}">
                <a16:creationId xmlns:a16="http://schemas.microsoft.com/office/drawing/2014/main" id="{1E3537B8-F6B7-574D-AF35-9DB2B9534D15}"/>
              </a:ext>
            </a:extLst>
          </p:cNvPr>
          <p:cNvSpPr/>
          <p:nvPr/>
        </p:nvSpPr>
        <p:spPr>
          <a:xfrm>
            <a:off x="2501900" y="8242300"/>
            <a:ext cx="1905000" cy="8636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5" name="テキスト ボックス 34">
            <a:extLst>
              <a:ext uri="{FF2B5EF4-FFF2-40B4-BE49-F238E27FC236}">
                <a16:creationId xmlns:a16="http://schemas.microsoft.com/office/drawing/2014/main" id="{99081276-0C1B-374C-9D1D-3F9BB09778F1}"/>
              </a:ext>
            </a:extLst>
          </p:cNvPr>
          <p:cNvSpPr txBox="1"/>
          <p:nvPr/>
        </p:nvSpPr>
        <p:spPr>
          <a:xfrm>
            <a:off x="2628900" y="8331200"/>
            <a:ext cx="1651000" cy="177800"/>
          </a:xfrm>
          <a:prstGeom prst="rect">
            <a:avLst/>
          </a:prstGeom>
          <a:noFill/>
        </p:spPr>
        <p:txBody>
          <a:bodyPr vertOverflow="overflow" vert="horz" wrap="square" rtlCol="0" anchor="t" anchorCtr="0">
            <a:noAutofit/>
          </a:bodyPr>
          <a:lstStyle/>
          <a:p>
            <a:pPr algn="l"/>
            <a:r>
              <a:rPr lang="en" altLang="ja-JP" sz="1050" b="1">
                <a:solidFill>
                  <a:srgbClr val="00B3A4"/>
                </a:solidFill>
                <a:latin typeface="Meiryo"/>
                <a:ea typeface="Meiryo"/>
              </a:rPr>
              <a:t>Protect</a:t>
            </a:r>
            <a:endParaRPr lang="ja-JP" altLang="en-US" sz="1050" b="1">
              <a:solidFill>
                <a:srgbClr val="00B3A4"/>
              </a:solidFill>
              <a:latin typeface="Meiryo"/>
              <a:ea typeface="Meiryo"/>
            </a:endParaRPr>
          </a:p>
        </p:txBody>
      </p:sp>
      <p:sp>
        <p:nvSpPr>
          <p:cNvPr id="36" name="テキスト ボックス 35">
            <a:extLst>
              <a:ext uri="{FF2B5EF4-FFF2-40B4-BE49-F238E27FC236}">
                <a16:creationId xmlns:a16="http://schemas.microsoft.com/office/drawing/2014/main" id="{2707067A-1B64-3644-BDB5-66639C4A0C94}"/>
              </a:ext>
            </a:extLst>
          </p:cNvPr>
          <p:cNvSpPr txBox="1"/>
          <p:nvPr/>
        </p:nvSpPr>
        <p:spPr>
          <a:xfrm>
            <a:off x="2628900" y="8534400"/>
            <a:ext cx="1651000" cy="177800"/>
          </a:xfrm>
          <a:prstGeom prst="rect">
            <a:avLst/>
          </a:prstGeom>
          <a:noFill/>
        </p:spPr>
        <p:txBody>
          <a:bodyPr vertOverflow="overflow" vert="horz" wrap="square" rtlCol="0" anchor="t" anchorCtr="0">
            <a:noAutofit/>
          </a:bodyPr>
          <a:lstStyle/>
          <a:p>
            <a:pPr algn="l"/>
            <a:r>
              <a:rPr lang="ja-JP" altLang="en-US" sz="900" b="1">
                <a:solidFill>
                  <a:srgbClr val="0B2545"/>
                </a:solidFill>
                <a:latin typeface="Meiryo"/>
                <a:ea typeface="Meiryo"/>
              </a:rPr>
              <a:t>入力制御と</a:t>
            </a:r>
            <a:r>
              <a:rPr lang="en" altLang="ja-JP" sz="900" b="1">
                <a:solidFill>
                  <a:srgbClr val="0B2545"/>
                </a:solidFill>
                <a:latin typeface="Meiryo"/>
                <a:ea typeface="Meiryo"/>
              </a:rPr>
              <a:t>AI</a:t>
            </a:r>
            <a:r>
              <a:rPr lang="ja-JP" altLang="en-US" sz="900" b="1">
                <a:solidFill>
                  <a:srgbClr val="0B2545"/>
                </a:solidFill>
                <a:latin typeface="Meiryo"/>
                <a:ea typeface="Meiryo"/>
              </a:rPr>
              <a:t>アプリ保護</a:t>
            </a:r>
          </a:p>
        </p:txBody>
      </p:sp>
      <p:sp>
        <p:nvSpPr>
          <p:cNvPr id="37" name="テキスト ボックス 36">
            <a:extLst>
              <a:ext uri="{FF2B5EF4-FFF2-40B4-BE49-F238E27FC236}">
                <a16:creationId xmlns:a16="http://schemas.microsoft.com/office/drawing/2014/main" id="{4E1BD512-5694-7C45-988C-384436324571}"/>
              </a:ext>
            </a:extLst>
          </p:cNvPr>
          <p:cNvSpPr txBox="1"/>
          <p:nvPr/>
        </p:nvSpPr>
        <p:spPr>
          <a:xfrm>
            <a:off x="2628900" y="8737600"/>
            <a:ext cx="1651000" cy="304800"/>
          </a:xfrm>
          <a:prstGeom prst="rect">
            <a:avLst/>
          </a:prstGeom>
          <a:noFill/>
        </p:spPr>
        <p:txBody>
          <a:bodyPr vertOverflow="overflow" vert="horz" wrap="square" rtlCol="0" anchor="t" anchorCtr="0">
            <a:noAutofit/>
          </a:bodyPr>
          <a:lstStyle/>
          <a:p>
            <a:pPr algn="l"/>
            <a:r>
              <a:rPr lang="ja-JP" altLang="en-US" sz="800">
                <a:solidFill>
                  <a:srgbClr val="333333"/>
                </a:solidFill>
                <a:latin typeface="Meiryo"/>
                <a:ea typeface="Meiryo"/>
              </a:rPr>
              <a:t>機密情報を自動マスキングし攻撃を防御</a:t>
            </a:r>
          </a:p>
        </p:txBody>
      </p:sp>
      <p:sp>
        <p:nvSpPr>
          <p:cNvPr id="38" name="正方形/長方形 37">
            <a:extLst>
              <a:ext uri="{FF2B5EF4-FFF2-40B4-BE49-F238E27FC236}">
                <a16:creationId xmlns:a16="http://schemas.microsoft.com/office/drawing/2014/main" id="{193B4860-E9BB-454D-A8BF-E3820B630184}"/>
              </a:ext>
            </a:extLst>
          </p:cNvPr>
          <p:cNvSpPr/>
          <p:nvPr/>
        </p:nvSpPr>
        <p:spPr>
          <a:xfrm>
            <a:off x="4546600" y="8204200"/>
            <a:ext cx="1905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正方形/長方形 38">
            <a:extLst>
              <a:ext uri="{FF2B5EF4-FFF2-40B4-BE49-F238E27FC236}">
                <a16:creationId xmlns:a16="http://schemas.microsoft.com/office/drawing/2014/main" id="{7EFACD5D-A9C2-1C45-A1FE-EF800FC73169}"/>
              </a:ext>
            </a:extLst>
          </p:cNvPr>
          <p:cNvSpPr/>
          <p:nvPr/>
        </p:nvSpPr>
        <p:spPr>
          <a:xfrm>
            <a:off x="4546600" y="8242300"/>
            <a:ext cx="1905000" cy="8636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0" name="テキスト ボックス 39">
            <a:extLst>
              <a:ext uri="{FF2B5EF4-FFF2-40B4-BE49-F238E27FC236}">
                <a16:creationId xmlns:a16="http://schemas.microsoft.com/office/drawing/2014/main" id="{7E54B13C-5838-9640-8037-CE52399924BA}"/>
              </a:ext>
            </a:extLst>
          </p:cNvPr>
          <p:cNvSpPr txBox="1"/>
          <p:nvPr/>
        </p:nvSpPr>
        <p:spPr>
          <a:xfrm>
            <a:off x="4673600" y="8331200"/>
            <a:ext cx="1651000" cy="177800"/>
          </a:xfrm>
          <a:prstGeom prst="rect">
            <a:avLst/>
          </a:prstGeom>
          <a:noFill/>
        </p:spPr>
        <p:txBody>
          <a:bodyPr vertOverflow="overflow" vert="horz" wrap="square" rtlCol="0" anchor="t" anchorCtr="0">
            <a:noAutofit/>
          </a:bodyPr>
          <a:lstStyle/>
          <a:p>
            <a:pPr algn="l"/>
            <a:r>
              <a:rPr lang="en" altLang="ja-JP" sz="1050" b="1">
                <a:solidFill>
                  <a:srgbClr val="00B3A4"/>
                </a:solidFill>
                <a:latin typeface="Meiryo"/>
                <a:ea typeface="Meiryo"/>
              </a:rPr>
              <a:t>Control</a:t>
            </a:r>
            <a:endParaRPr lang="ja-JP" altLang="en-US" sz="1050" b="1">
              <a:solidFill>
                <a:srgbClr val="00B3A4"/>
              </a:solidFill>
              <a:latin typeface="Meiryo"/>
              <a:ea typeface="Meiryo"/>
            </a:endParaRPr>
          </a:p>
        </p:txBody>
      </p:sp>
      <p:sp>
        <p:nvSpPr>
          <p:cNvPr id="41" name="テキスト ボックス 40">
            <a:extLst>
              <a:ext uri="{FF2B5EF4-FFF2-40B4-BE49-F238E27FC236}">
                <a16:creationId xmlns:a16="http://schemas.microsoft.com/office/drawing/2014/main" id="{5B0DE405-4B49-7A4C-B625-1CCC46B86C97}"/>
              </a:ext>
            </a:extLst>
          </p:cNvPr>
          <p:cNvSpPr txBox="1"/>
          <p:nvPr/>
        </p:nvSpPr>
        <p:spPr>
          <a:xfrm>
            <a:off x="4673600" y="8534400"/>
            <a:ext cx="1651000" cy="177800"/>
          </a:xfrm>
          <a:prstGeom prst="rect">
            <a:avLst/>
          </a:prstGeom>
          <a:noFill/>
        </p:spPr>
        <p:txBody>
          <a:bodyPr vertOverflow="overflow" vert="horz" wrap="square" rtlCol="0" anchor="t" anchorCtr="0">
            <a:noAutofit/>
          </a:bodyPr>
          <a:lstStyle/>
          <a:p>
            <a:pPr algn="l"/>
            <a:r>
              <a:rPr lang="ja-JP" altLang="en-US" sz="900" b="1">
                <a:solidFill>
                  <a:srgbClr val="0B2545"/>
                </a:solidFill>
                <a:latin typeface="Meiryo"/>
                <a:ea typeface="Meiryo"/>
              </a:rPr>
              <a:t>ポリシーベースの統制</a:t>
            </a:r>
          </a:p>
        </p:txBody>
      </p:sp>
      <p:sp>
        <p:nvSpPr>
          <p:cNvPr id="42" name="テキスト ボックス 41">
            <a:extLst>
              <a:ext uri="{FF2B5EF4-FFF2-40B4-BE49-F238E27FC236}">
                <a16:creationId xmlns:a16="http://schemas.microsoft.com/office/drawing/2014/main" id="{93D0520A-EFA7-CA4E-9201-3DBA23F79F7A}"/>
              </a:ext>
            </a:extLst>
          </p:cNvPr>
          <p:cNvSpPr txBox="1"/>
          <p:nvPr/>
        </p:nvSpPr>
        <p:spPr>
          <a:xfrm>
            <a:off x="4673600" y="8737600"/>
            <a:ext cx="1651000" cy="304800"/>
          </a:xfrm>
          <a:prstGeom prst="rect">
            <a:avLst/>
          </a:prstGeom>
          <a:noFill/>
        </p:spPr>
        <p:txBody>
          <a:bodyPr vertOverflow="overflow" vert="horz" wrap="square" rtlCol="0" anchor="t" anchorCtr="0">
            <a:noAutofit/>
          </a:bodyPr>
          <a:lstStyle/>
          <a:p>
            <a:pPr algn="l"/>
            <a:r>
              <a:rPr lang="ja-JP" altLang="en-US" sz="800">
                <a:solidFill>
                  <a:srgbClr val="333333"/>
                </a:solidFill>
                <a:latin typeface="Meiryo"/>
                <a:ea typeface="Meiryo"/>
              </a:rPr>
              <a:t>単一ポリシーで統制し監査記録も保存</a:t>
            </a:r>
          </a:p>
        </p:txBody>
      </p:sp>
      <p:sp>
        <p:nvSpPr>
          <p:cNvPr id="43" name="正方形/長方形 42">
            <a:extLst>
              <a:ext uri="{FF2B5EF4-FFF2-40B4-BE49-F238E27FC236}">
                <a16:creationId xmlns:a16="http://schemas.microsoft.com/office/drawing/2014/main" id="{B79A3A2B-BFC1-DC49-BC93-1BC01D5B18B1}"/>
              </a:ext>
            </a:extLst>
          </p:cNvPr>
          <p:cNvSpPr/>
          <p:nvPr/>
        </p:nvSpPr>
        <p:spPr>
          <a:xfrm>
            <a:off x="0" y="9499600"/>
            <a:ext cx="6858000" cy="4064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6F5FABF0-F420-814C-82F2-7A33C11246A6}"/>
              </a:ext>
            </a:extLst>
          </p:cNvPr>
          <p:cNvSpPr txBox="1"/>
          <p:nvPr/>
        </p:nvSpPr>
        <p:spPr>
          <a:xfrm>
            <a:off x="406400" y="9601200"/>
            <a:ext cx="4064000" cy="203200"/>
          </a:xfrm>
          <a:prstGeom prst="rect">
            <a:avLst/>
          </a:prstGeom>
          <a:noFill/>
        </p:spPr>
        <p:txBody>
          <a:bodyPr vertOverflow="overflow" vert="horz" wrap="square" rtlCol="0" anchor="ctr" anchorCtr="0">
            <a:noAutofit/>
          </a:bodyPr>
          <a:lstStyle/>
          <a:p>
            <a:pPr algn="l"/>
            <a:r>
              <a:rPr lang="en" altLang="ja-JP" sz="900" b="1">
                <a:solidFill>
                  <a:srgbClr val="FFFFFF"/>
                </a:solidFill>
                <a:latin typeface="Meiryo"/>
                <a:ea typeface="Meiryo"/>
              </a:rPr>
              <a:t>AI</a:t>
            </a:r>
            <a:r>
              <a:rPr lang="ja-JP" altLang="en-US" sz="900" b="1">
                <a:solidFill>
                  <a:srgbClr val="FFFFFF"/>
                </a:solidFill>
                <a:latin typeface="Meiryo"/>
                <a:ea typeface="Meiryo"/>
              </a:rPr>
              <a:t>ガバナンスの整備から導入・運用まで</a:t>
            </a:r>
            <a:r>
              <a:rPr lang="en" altLang="ja-JP" sz="900" b="1">
                <a:solidFill>
                  <a:srgbClr val="FFFFFF"/>
                </a:solidFill>
                <a:latin typeface="Meiryo"/>
                <a:ea typeface="Meiryo"/>
              </a:rPr>
              <a:t>JSOL</a:t>
            </a:r>
            <a:r>
              <a:rPr lang="ja-JP" altLang="en-US" sz="900" b="1">
                <a:solidFill>
                  <a:srgbClr val="FFFFFF"/>
                </a:solidFill>
                <a:latin typeface="Meiryo"/>
                <a:ea typeface="Meiryo"/>
              </a:rPr>
              <a:t>が支援します。</a:t>
            </a:r>
          </a:p>
        </p:txBody>
      </p:sp>
      <p:sp>
        <p:nvSpPr>
          <p:cNvPr id="45" name="テキスト ボックス 44">
            <a:extLst>
              <a:ext uri="{FF2B5EF4-FFF2-40B4-BE49-F238E27FC236}">
                <a16:creationId xmlns:a16="http://schemas.microsoft.com/office/drawing/2014/main" id="{39A6FED6-A65E-774F-B5EF-10F47E417A38}"/>
              </a:ext>
            </a:extLst>
          </p:cNvPr>
          <p:cNvSpPr txBox="1"/>
          <p:nvPr/>
        </p:nvSpPr>
        <p:spPr>
          <a:xfrm>
            <a:off x="4572000" y="9601200"/>
            <a:ext cx="1879600" cy="203200"/>
          </a:xfrm>
          <a:prstGeom prst="rect">
            <a:avLst/>
          </a:prstGeom>
          <a:noFill/>
        </p:spPr>
        <p:txBody>
          <a:bodyPr vertOverflow="overflow" vert="horz" wrap="square" rtlCol="0" anchor="ctr" anchorCtr="0">
            <a:noAutofit/>
          </a:bodyPr>
          <a:lstStyle/>
          <a:p>
            <a:pPr algn="l"/>
            <a:r>
              <a:rPr lang="en" altLang="ja-JP" sz="800">
                <a:solidFill>
                  <a:srgbClr val="FFFFFF"/>
                </a:solidFill>
                <a:latin typeface="Meiryo"/>
                <a:ea typeface="Meiryo"/>
              </a:rPr>
              <a:t>go.jsol.co.jp/lp/inquiry/00009</a:t>
            </a:r>
            <a:endParaRPr lang="ja-JP" altLang="en-US" sz="800">
              <a:solidFill>
                <a:srgbClr val="FFFFFF"/>
              </a:solidFill>
              <a:latin typeface="Meiryo"/>
              <a:ea typeface="Meiryo"/>
            </a:endParaRPr>
          </a:p>
        </p:txBody>
      </p:sp>
    </p:spTree>
    <p:extLst>
      <p:ext uri="{BB962C8B-B14F-4D97-AF65-F5344CB8AC3E}">
        <p14:creationId xmlns:p14="http://schemas.microsoft.com/office/powerpoint/2010/main" val="880867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E2E2D7E5-E0C2-92AB-4130-03B06005EEE6}"/>
              </a:ext>
            </a:extLst>
          </p:cNvPr>
          <p:cNvPicPr>
            <a:picLocks noChangeAspect="1"/>
          </p:cNvPicPr>
          <p:nvPr/>
        </p:nvPicPr>
        <p:blipFill>
          <a:blip r:embed="rId2"/>
          <a:stretch>
            <a:fillRect/>
          </a:stretch>
        </p:blipFill>
        <p:spPr>
          <a:xfrm>
            <a:off x="457200" y="1524000"/>
            <a:ext cx="1981200" cy="2261958"/>
          </a:xfrm>
          <a:prstGeom prst="rect">
            <a:avLst/>
          </a:prstGeom>
        </p:spPr>
      </p:pic>
      <p:pic>
        <p:nvPicPr>
          <p:cNvPr id="3" name="図 2">
            <a:extLst>
              <a:ext uri="{FF2B5EF4-FFF2-40B4-BE49-F238E27FC236}">
                <a16:creationId xmlns:a16="http://schemas.microsoft.com/office/drawing/2014/main" id="{1850491F-FD39-A20B-EFA7-37DDDAD158A1}"/>
              </a:ext>
            </a:extLst>
          </p:cNvPr>
          <p:cNvPicPr>
            <a:picLocks noChangeAspect="1"/>
          </p:cNvPicPr>
          <p:nvPr/>
        </p:nvPicPr>
        <p:blipFill>
          <a:blip r:embed="rId3"/>
          <a:stretch>
            <a:fillRect/>
          </a:stretch>
        </p:blipFill>
        <p:spPr>
          <a:xfrm>
            <a:off x="2590800" y="1524000"/>
            <a:ext cx="1981200" cy="2255926"/>
          </a:xfrm>
          <a:prstGeom prst="rect">
            <a:avLst/>
          </a:prstGeom>
        </p:spPr>
      </p:pic>
      <p:pic>
        <p:nvPicPr>
          <p:cNvPr id="4" name="図 3">
            <a:extLst>
              <a:ext uri="{FF2B5EF4-FFF2-40B4-BE49-F238E27FC236}">
                <a16:creationId xmlns:a16="http://schemas.microsoft.com/office/drawing/2014/main" id="{4D1E96D5-E2ED-7BC7-EC4A-B074BCC8FA2A}"/>
              </a:ext>
            </a:extLst>
          </p:cNvPr>
          <p:cNvPicPr>
            <a:picLocks noChangeAspect="1"/>
          </p:cNvPicPr>
          <p:nvPr/>
        </p:nvPicPr>
        <p:blipFill>
          <a:blip r:embed="rId4"/>
          <a:stretch>
            <a:fillRect/>
          </a:stretch>
        </p:blipFill>
        <p:spPr>
          <a:xfrm>
            <a:off x="4724400" y="1524000"/>
            <a:ext cx="1981200" cy="2261958"/>
          </a:xfrm>
          <a:prstGeom prst="rect">
            <a:avLst/>
          </a:prstGeom>
        </p:spPr>
      </p:pic>
      <p:pic>
        <p:nvPicPr>
          <p:cNvPr id="5" name="図 4">
            <a:extLst>
              <a:ext uri="{FF2B5EF4-FFF2-40B4-BE49-F238E27FC236}">
                <a16:creationId xmlns:a16="http://schemas.microsoft.com/office/drawing/2014/main" id="{E18E89A0-D0B0-F477-F132-CD0B37D761CE}"/>
              </a:ext>
            </a:extLst>
          </p:cNvPr>
          <p:cNvPicPr>
            <a:picLocks noChangeAspect="1"/>
          </p:cNvPicPr>
          <p:nvPr/>
        </p:nvPicPr>
        <p:blipFill>
          <a:blip r:embed="rId5"/>
          <a:stretch>
            <a:fillRect/>
          </a:stretch>
        </p:blipFill>
        <p:spPr>
          <a:xfrm>
            <a:off x="889000" y="5588000"/>
            <a:ext cx="5080000" cy="1552222"/>
          </a:xfrm>
          <a:prstGeom prst="rect">
            <a:avLst/>
          </a:prstGeom>
        </p:spPr>
      </p:pic>
      <p:sp>
        <p:nvSpPr>
          <p:cNvPr id="6" name="正方形/長方形 5">
            <a:extLst>
              <a:ext uri="{FF2B5EF4-FFF2-40B4-BE49-F238E27FC236}">
                <a16:creationId xmlns:a16="http://schemas.microsoft.com/office/drawing/2014/main" id="{8B4FF15B-62B7-4946-BEDA-2E50B2D8B80E}"/>
              </a:ext>
            </a:extLst>
          </p:cNvPr>
          <p:cNvSpPr/>
          <p:nvPr/>
        </p:nvSpPr>
        <p:spPr>
          <a:xfrm>
            <a:off x="0" y="0"/>
            <a:ext cx="6858000" cy="8890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03E33030-81C3-C44F-8B28-27B948431504}"/>
              </a:ext>
            </a:extLst>
          </p:cNvPr>
          <p:cNvSpPr txBox="1"/>
          <p:nvPr/>
        </p:nvSpPr>
        <p:spPr>
          <a:xfrm>
            <a:off x="457200" y="254000"/>
            <a:ext cx="2794000" cy="279400"/>
          </a:xfrm>
          <a:prstGeom prst="rect">
            <a:avLst/>
          </a:prstGeom>
          <a:noFill/>
        </p:spPr>
        <p:txBody>
          <a:bodyPr vertOverflow="overflow" vert="horz" wrap="square" rtlCol="0" anchor="t" anchorCtr="0">
            <a:noAutofit/>
          </a:bodyPr>
          <a:lstStyle/>
          <a:p>
            <a:pPr algn="l"/>
            <a:r>
              <a:rPr lang="en" altLang="ja-JP" sz="1700" b="1">
                <a:solidFill>
                  <a:srgbClr val="FFFFFF"/>
                </a:solidFill>
                <a:latin typeface="Meiryo"/>
                <a:ea typeface="Meiryo"/>
              </a:rPr>
              <a:t>WITNESS AI</a:t>
            </a:r>
            <a:endParaRPr lang="ja-JP" altLang="en-US" sz="1700" b="1">
              <a:solidFill>
                <a:srgbClr val="FFFFFF"/>
              </a:solidFill>
              <a:latin typeface="Meiryo"/>
              <a:ea typeface="Meiryo"/>
            </a:endParaRPr>
          </a:p>
        </p:txBody>
      </p:sp>
      <p:sp>
        <p:nvSpPr>
          <p:cNvPr id="8" name="テキスト ボックス 7">
            <a:extLst>
              <a:ext uri="{FF2B5EF4-FFF2-40B4-BE49-F238E27FC236}">
                <a16:creationId xmlns:a16="http://schemas.microsoft.com/office/drawing/2014/main" id="{BE7A17DB-3B9F-B84C-9F88-D18B45518442}"/>
              </a:ext>
            </a:extLst>
          </p:cNvPr>
          <p:cNvSpPr txBox="1"/>
          <p:nvPr/>
        </p:nvSpPr>
        <p:spPr>
          <a:xfrm>
            <a:off x="457200" y="558800"/>
            <a:ext cx="3810000" cy="152400"/>
          </a:xfrm>
          <a:prstGeom prst="rect">
            <a:avLst/>
          </a:prstGeom>
          <a:noFill/>
        </p:spPr>
        <p:txBody>
          <a:bodyPr vertOverflow="overflow" vert="horz" wrap="square" rtlCol="0" anchor="t" anchorCtr="0">
            <a:noAutofit/>
          </a:bodyPr>
          <a:lstStyle/>
          <a:p>
            <a:pPr algn="l"/>
            <a:r>
              <a:rPr lang="ja-JP" altLang="en-US" sz="850">
                <a:solidFill>
                  <a:srgbClr val="FFFFFF"/>
                </a:solidFill>
                <a:latin typeface="Meiryo"/>
                <a:ea typeface="Meiryo"/>
              </a:rPr>
              <a:t>生成</a:t>
            </a:r>
            <a:r>
              <a:rPr lang="en" altLang="ja-JP" sz="850">
                <a:solidFill>
                  <a:srgbClr val="FFFFFF"/>
                </a:solidFill>
                <a:latin typeface="Meiryo"/>
                <a:ea typeface="Meiryo"/>
              </a:rPr>
              <a:t>AI</a:t>
            </a:r>
            <a:r>
              <a:rPr lang="ja-JP" altLang="en-US" sz="850">
                <a:solidFill>
                  <a:srgbClr val="FFFFFF"/>
                </a:solidFill>
                <a:latin typeface="Meiryo"/>
                <a:ea typeface="Meiryo"/>
              </a:rPr>
              <a:t>セキュリティ・ガバナンスソリューション</a:t>
            </a:r>
          </a:p>
        </p:txBody>
      </p:sp>
      <p:sp>
        <p:nvSpPr>
          <p:cNvPr id="9" name="テキスト ボックス 8">
            <a:extLst>
              <a:ext uri="{FF2B5EF4-FFF2-40B4-BE49-F238E27FC236}">
                <a16:creationId xmlns:a16="http://schemas.microsoft.com/office/drawing/2014/main" id="{22D9EFB1-AA7F-A342-AA9B-1A3B9BB0E246}"/>
              </a:ext>
            </a:extLst>
          </p:cNvPr>
          <p:cNvSpPr txBox="1"/>
          <p:nvPr/>
        </p:nvSpPr>
        <p:spPr>
          <a:xfrm>
            <a:off x="4318000" y="558800"/>
            <a:ext cx="2133600" cy="152400"/>
          </a:xfrm>
          <a:prstGeom prst="rect">
            <a:avLst/>
          </a:prstGeom>
          <a:noFill/>
        </p:spPr>
        <p:txBody>
          <a:bodyPr vertOverflow="overflow" vert="horz" wrap="square" rtlCol="0" anchor="t" anchorCtr="0">
            <a:noAutofit/>
          </a:bodyPr>
          <a:lstStyle/>
          <a:p>
            <a:pPr algn="l"/>
            <a:r>
              <a:rPr lang="ja-JP" altLang="en-US" sz="850">
                <a:solidFill>
                  <a:srgbClr val="FFFFFF"/>
                </a:solidFill>
                <a:latin typeface="Meiryo"/>
                <a:ea typeface="Meiryo"/>
              </a:rPr>
              <a:t>提供：</a:t>
            </a:r>
            <a:r>
              <a:rPr lang="en" altLang="ja-JP" sz="850">
                <a:solidFill>
                  <a:srgbClr val="FFFFFF"/>
                </a:solidFill>
                <a:latin typeface="Meiryo"/>
                <a:ea typeface="Meiryo"/>
              </a:rPr>
              <a:t>JSOL</a:t>
            </a:r>
            <a:endParaRPr lang="ja-JP" altLang="en-US" sz="850">
              <a:solidFill>
                <a:srgbClr val="FFFFFF"/>
              </a:solidFill>
              <a:latin typeface="Meiryo"/>
              <a:ea typeface="Meiryo"/>
            </a:endParaRPr>
          </a:p>
        </p:txBody>
      </p:sp>
      <p:sp>
        <p:nvSpPr>
          <p:cNvPr id="10" name="テキスト ボックス 9">
            <a:extLst>
              <a:ext uri="{FF2B5EF4-FFF2-40B4-BE49-F238E27FC236}">
                <a16:creationId xmlns:a16="http://schemas.microsoft.com/office/drawing/2014/main" id="{8756AE79-1C86-DC43-9389-D44FFD5E973B}"/>
              </a:ext>
            </a:extLst>
          </p:cNvPr>
          <p:cNvSpPr txBox="1"/>
          <p:nvPr/>
        </p:nvSpPr>
        <p:spPr>
          <a:xfrm>
            <a:off x="457200" y="1117600"/>
            <a:ext cx="5943600" cy="254000"/>
          </a:xfrm>
          <a:prstGeom prst="rect">
            <a:avLst/>
          </a:prstGeom>
          <a:noFill/>
        </p:spPr>
        <p:txBody>
          <a:bodyPr vertOverflow="overflow" vert="horz" wrap="square" rtlCol="0" anchor="t" anchorCtr="0">
            <a:noAutofit/>
          </a:bodyPr>
          <a:lstStyle/>
          <a:p>
            <a:pPr algn="l"/>
            <a:r>
              <a:rPr lang="ja-JP" altLang="en-US" sz="1500" b="1">
                <a:solidFill>
                  <a:srgbClr val="0B2545"/>
                </a:solidFill>
                <a:latin typeface="Meiryo"/>
                <a:ea typeface="Meiryo"/>
              </a:rPr>
              <a:t>なぜ</a:t>
            </a:r>
            <a:r>
              <a:rPr lang="en" altLang="ja-JP" sz="1500" b="1">
                <a:solidFill>
                  <a:srgbClr val="0B2545"/>
                </a:solidFill>
                <a:latin typeface="Meiryo"/>
                <a:ea typeface="Meiryo"/>
              </a:rPr>
              <a:t>AI</a:t>
            </a:r>
            <a:r>
              <a:rPr lang="ja-JP" altLang="en-US" sz="1500" b="1">
                <a:solidFill>
                  <a:srgbClr val="0B2545"/>
                </a:solidFill>
                <a:latin typeface="Meiryo"/>
                <a:ea typeface="Meiryo"/>
              </a:rPr>
              <a:t>ガバナンスか。なぜ、</a:t>
            </a:r>
            <a:r>
              <a:rPr lang="en" altLang="ja-JP" sz="1500" b="1">
                <a:solidFill>
                  <a:srgbClr val="0B2545"/>
                </a:solidFill>
                <a:latin typeface="Meiryo"/>
                <a:ea typeface="Meiryo"/>
              </a:rPr>
              <a:t>WitnessAI</a:t>
            </a:r>
            <a:r>
              <a:rPr lang="ja-JP" altLang="en-US" sz="1500" b="1">
                <a:solidFill>
                  <a:srgbClr val="0B2545"/>
                </a:solidFill>
                <a:latin typeface="Meiryo"/>
                <a:ea typeface="Meiryo"/>
              </a:rPr>
              <a:t>なのか。</a:t>
            </a:r>
          </a:p>
        </p:txBody>
      </p:sp>
      <p:sp>
        <p:nvSpPr>
          <p:cNvPr id="11" name="正方形/長方形 10">
            <a:extLst>
              <a:ext uri="{FF2B5EF4-FFF2-40B4-BE49-F238E27FC236}">
                <a16:creationId xmlns:a16="http://schemas.microsoft.com/office/drawing/2014/main" id="{495DB48B-65F8-644E-94AA-E2A852903CD7}"/>
              </a:ext>
            </a:extLst>
          </p:cNvPr>
          <p:cNvSpPr/>
          <p:nvPr/>
        </p:nvSpPr>
        <p:spPr>
          <a:xfrm>
            <a:off x="457200" y="3784600"/>
            <a:ext cx="1981200" cy="2794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テキスト ボックス 11">
            <a:extLst>
              <a:ext uri="{FF2B5EF4-FFF2-40B4-BE49-F238E27FC236}">
                <a16:creationId xmlns:a16="http://schemas.microsoft.com/office/drawing/2014/main" id="{97D406D4-AE50-374E-A7BB-EB8013D35AE9}"/>
              </a:ext>
            </a:extLst>
          </p:cNvPr>
          <p:cNvSpPr txBox="1"/>
          <p:nvPr/>
        </p:nvSpPr>
        <p:spPr>
          <a:xfrm>
            <a:off x="558800" y="3822700"/>
            <a:ext cx="1778000" cy="203200"/>
          </a:xfrm>
          <a:prstGeom prst="rect">
            <a:avLst/>
          </a:prstGeom>
          <a:noFill/>
        </p:spPr>
        <p:txBody>
          <a:bodyPr vertOverflow="overflow" vert="horz" wrap="square" rtlCol="0" anchor="t" anchorCtr="0">
            <a:noAutofit/>
          </a:bodyPr>
          <a:lstStyle/>
          <a:p>
            <a:pPr algn="l"/>
            <a:r>
              <a:rPr lang="ja-JP" altLang="en-US" sz="950" b="1">
                <a:solidFill>
                  <a:srgbClr val="FFFFFF"/>
                </a:solidFill>
                <a:latin typeface="Meiryo"/>
                <a:ea typeface="Meiryo"/>
              </a:rPr>
              <a:t>広がる生成</a:t>
            </a:r>
            <a:r>
              <a:rPr lang="en" altLang="ja-JP" sz="950" b="1">
                <a:solidFill>
                  <a:srgbClr val="FFFFFF"/>
                </a:solidFill>
                <a:latin typeface="Meiryo"/>
                <a:ea typeface="Meiryo"/>
              </a:rPr>
              <a:t>AI</a:t>
            </a:r>
            <a:r>
              <a:rPr lang="ja-JP" altLang="en-US" sz="950" b="1">
                <a:solidFill>
                  <a:srgbClr val="FFFFFF"/>
                </a:solidFill>
                <a:latin typeface="Meiryo"/>
                <a:ea typeface="Meiryo"/>
              </a:rPr>
              <a:t>利用</a:t>
            </a:r>
          </a:p>
        </p:txBody>
      </p:sp>
      <p:sp>
        <p:nvSpPr>
          <p:cNvPr id="13" name="正方形/長方形 12">
            <a:extLst>
              <a:ext uri="{FF2B5EF4-FFF2-40B4-BE49-F238E27FC236}">
                <a16:creationId xmlns:a16="http://schemas.microsoft.com/office/drawing/2014/main" id="{FAA09410-2C84-2643-B712-45D2EC747253}"/>
              </a:ext>
            </a:extLst>
          </p:cNvPr>
          <p:cNvSpPr/>
          <p:nvPr/>
        </p:nvSpPr>
        <p:spPr>
          <a:xfrm>
            <a:off x="457200" y="4064000"/>
            <a:ext cx="1981200" cy="812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テキスト ボックス 13">
            <a:extLst>
              <a:ext uri="{FF2B5EF4-FFF2-40B4-BE49-F238E27FC236}">
                <a16:creationId xmlns:a16="http://schemas.microsoft.com/office/drawing/2014/main" id="{595E700E-6B72-2D43-B677-56447825950E}"/>
              </a:ext>
            </a:extLst>
          </p:cNvPr>
          <p:cNvSpPr txBox="1"/>
          <p:nvPr/>
        </p:nvSpPr>
        <p:spPr>
          <a:xfrm>
            <a:off x="571500" y="4165600"/>
            <a:ext cx="1752600" cy="635000"/>
          </a:xfrm>
          <a:prstGeom prst="rect">
            <a:avLst/>
          </a:prstGeom>
          <a:noFill/>
        </p:spPr>
        <p:txBody>
          <a:bodyPr vertOverflow="overflow" vert="horz" wrap="square" rtlCol="0" anchor="t" anchorCtr="0">
            <a:noAutofit/>
          </a:bodyPr>
          <a:lstStyle/>
          <a:p>
            <a:pPr algn="l"/>
            <a:r>
              <a:rPr lang="ja-JP" altLang="en-US" sz="850">
                <a:solidFill>
                  <a:srgbClr val="333333"/>
                </a:solidFill>
                <a:latin typeface="Meiryo"/>
                <a:ea typeface="Meiryo"/>
              </a:rPr>
              <a:t>シャドー</a:t>
            </a:r>
            <a:r>
              <a:rPr lang="en" altLang="ja-JP" sz="850">
                <a:solidFill>
                  <a:srgbClr val="333333"/>
                </a:solidFill>
                <a:latin typeface="Meiryo"/>
                <a:ea typeface="Meiryo"/>
              </a:rPr>
              <a:t>AI</a:t>
            </a:r>
            <a:r>
              <a:rPr lang="ja-JP" altLang="en-US" sz="850">
                <a:solidFill>
                  <a:srgbClr val="333333"/>
                </a:solidFill>
                <a:latin typeface="Meiryo"/>
                <a:ea typeface="Meiryo"/>
              </a:rPr>
              <a:t>と自律型エージェントの拡大で、個人のリテラシー任せの利用は限界に。</a:t>
            </a:r>
          </a:p>
        </p:txBody>
      </p:sp>
      <p:sp>
        <p:nvSpPr>
          <p:cNvPr id="15" name="正方形/長方形 14">
            <a:extLst>
              <a:ext uri="{FF2B5EF4-FFF2-40B4-BE49-F238E27FC236}">
                <a16:creationId xmlns:a16="http://schemas.microsoft.com/office/drawing/2014/main" id="{C9120B48-F21D-2742-855C-5F1014A1CB35}"/>
              </a:ext>
            </a:extLst>
          </p:cNvPr>
          <p:cNvSpPr/>
          <p:nvPr/>
        </p:nvSpPr>
        <p:spPr>
          <a:xfrm>
            <a:off x="2590800" y="3784600"/>
            <a:ext cx="1981200" cy="2794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テキスト ボックス 15">
            <a:extLst>
              <a:ext uri="{FF2B5EF4-FFF2-40B4-BE49-F238E27FC236}">
                <a16:creationId xmlns:a16="http://schemas.microsoft.com/office/drawing/2014/main" id="{59762EBB-F528-A848-A1B0-1F644747506B}"/>
              </a:ext>
            </a:extLst>
          </p:cNvPr>
          <p:cNvSpPr txBox="1"/>
          <p:nvPr/>
        </p:nvSpPr>
        <p:spPr>
          <a:xfrm>
            <a:off x="2692400" y="3822700"/>
            <a:ext cx="1778000" cy="203200"/>
          </a:xfrm>
          <a:prstGeom prst="rect">
            <a:avLst/>
          </a:prstGeom>
          <a:noFill/>
        </p:spPr>
        <p:txBody>
          <a:bodyPr vertOverflow="overflow" vert="horz" wrap="square" rtlCol="0" anchor="t" anchorCtr="0">
            <a:noAutofit/>
          </a:bodyPr>
          <a:lstStyle/>
          <a:p>
            <a:pPr algn="l"/>
            <a:r>
              <a:rPr lang="ja-JP" altLang="en-US" sz="950" b="1">
                <a:solidFill>
                  <a:srgbClr val="FFFFFF"/>
                </a:solidFill>
                <a:latin typeface="Meiryo"/>
                <a:ea typeface="Meiryo"/>
              </a:rPr>
              <a:t>強まる規制と説明責任</a:t>
            </a:r>
          </a:p>
        </p:txBody>
      </p:sp>
      <p:sp>
        <p:nvSpPr>
          <p:cNvPr id="17" name="正方形/長方形 16">
            <a:extLst>
              <a:ext uri="{FF2B5EF4-FFF2-40B4-BE49-F238E27FC236}">
                <a16:creationId xmlns:a16="http://schemas.microsoft.com/office/drawing/2014/main" id="{3F3B56B4-0B13-AA4F-9695-1CE45576F9A6}"/>
              </a:ext>
            </a:extLst>
          </p:cNvPr>
          <p:cNvSpPr/>
          <p:nvPr/>
        </p:nvSpPr>
        <p:spPr>
          <a:xfrm>
            <a:off x="2590800" y="4064000"/>
            <a:ext cx="1981200" cy="812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A594A456-8222-1F40-A418-31A8EC83EEDC}"/>
              </a:ext>
            </a:extLst>
          </p:cNvPr>
          <p:cNvSpPr txBox="1"/>
          <p:nvPr/>
        </p:nvSpPr>
        <p:spPr>
          <a:xfrm>
            <a:off x="2705100" y="4165600"/>
            <a:ext cx="1752600" cy="635000"/>
          </a:xfrm>
          <a:prstGeom prst="rect">
            <a:avLst/>
          </a:prstGeom>
          <a:noFill/>
        </p:spPr>
        <p:txBody>
          <a:bodyPr vertOverflow="overflow" vert="horz" wrap="square" rtlCol="0" anchor="t" anchorCtr="0">
            <a:noAutofit/>
          </a:bodyPr>
          <a:lstStyle/>
          <a:p>
            <a:pPr algn="l"/>
            <a:r>
              <a:rPr lang="en" altLang="ja-JP" sz="850">
                <a:solidFill>
                  <a:srgbClr val="333333"/>
                </a:solidFill>
                <a:latin typeface="Meiryo"/>
                <a:ea typeface="Meiryo"/>
              </a:rPr>
              <a:t>EU AI Act</a:t>
            </a:r>
            <a:r>
              <a:rPr lang="ja-JP" altLang="en-US" sz="850">
                <a:solidFill>
                  <a:srgbClr val="333333"/>
                </a:solidFill>
                <a:latin typeface="Meiryo"/>
                <a:ea typeface="Meiryo"/>
              </a:rPr>
              <a:t>や</a:t>
            </a:r>
            <a:r>
              <a:rPr lang="en" altLang="ja-JP" sz="850">
                <a:solidFill>
                  <a:srgbClr val="333333"/>
                </a:solidFill>
                <a:latin typeface="Meiryo"/>
                <a:ea typeface="Meiryo"/>
              </a:rPr>
              <a:t>AI</a:t>
            </a:r>
            <a:r>
              <a:rPr lang="ja-JP" altLang="en-US" sz="850">
                <a:solidFill>
                  <a:srgbClr val="333333"/>
                </a:solidFill>
                <a:latin typeface="Meiryo"/>
                <a:ea typeface="Meiryo"/>
              </a:rPr>
              <a:t>事業者ガイドライン、</a:t>
            </a:r>
            <a:r>
              <a:rPr lang="en" altLang="ja-JP" sz="850">
                <a:solidFill>
                  <a:srgbClr val="333333"/>
                </a:solidFill>
                <a:latin typeface="Meiryo"/>
                <a:ea typeface="Meiryo"/>
              </a:rPr>
              <a:t>NIST</a:t>
            </a:r>
            <a:r>
              <a:rPr lang="ja-JP" altLang="en-US" sz="850">
                <a:solidFill>
                  <a:srgbClr val="333333"/>
                </a:solidFill>
                <a:latin typeface="Meiryo"/>
                <a:ea typeface="Meiryo"/>
              </a:rPr>
              <a:t>基準への準拠が事業の必須条件に。</a:t>
            </a:r>
          </a:p>
        </p:txBody>
      </p:sp>
      <p:sp>
        <p:nvSpPr>
          <p:cNvPr id="19" name="正方形/長方形 18">
            <a:extLst>
              <a:ext uri="{FF2B5EF4-FFF2-40B4-BE49-F238E27FC236}">
                <a16:creationId xmlns:a16="http://schemas.microsoft.com/office/drawing/2014/main" id="{FB518231-8A3C-2F45-8B0C-44085CF2F8E2}"/>
              </a:ext>
            </a:extLst>
          </p:cNvPr>
          <p:cNvSpPr/>
          <p:nvPr/>
        </p:nvSpPr>
        <p:spPr>
          <a:xfrm>
            <a:off x="4724400" y="3784600"/>
            <a:ext cx="1981200" cy="2794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テキスト ボックス 19">
            <a:extLst>
              <a:ext uri="{FF2B5EF4-FFF2-40B4-BE49-F238E27FC236}">
                <a16:creationId xmlns:a16="http://schemas.microsoft.com/office/drawing/2014/main" id="{70550935-E689-B144-A635-228493BD982D}"/>
              </a:ext>
            </a:extLst>
          </p:cNvPr>
          <p:cNvSpPr txBox="1"/>
          <p:nvPr/>
        </p:nvSpPr>
        <p:spPr>
          <a:xfrm>
            <a:off x="4826000" y="3822700"/>
            <a:ext cx="1778000" cy="203200"/>
          </a:xfrm>
          <a:prstGeom prst="rect">
            <a:avLst/>
          </a:prstGeom>
          <a:noFill/>
        </p:spPr>
        <p:txBody>
          <a:bodyPr vertOverflow="overflow" vert="horz" wrap="square" rtlCol="0" anchor="t" anchorCtr="0">
            <a:noAutofit/>
          </a:bodyPr>
          <a:lstStyle/>
          <a:p>
            <a:pPr algn="l"/>
            <a:r>
              <a:rPr lang="ja-JP" altLang="en-US" sz="950" b="1">
                <a:solidFill>
                  <a:srgbClr val="FFFFFF"/>
                </a:solidFill>
                <a:latin typeface="Meiryo"/>
                <a:ea typeface="Meiryo"/>
              </a:rPr>
              <a:t>問われる信頼</a:t>
            </a:r>
          </a:p>
        </p:txBody>
      </p:sp>
      <p:sp>
        <p:nvSpPr>
          <p:cNvPr id="21" name="正方形/長方形 20">
            <a:extLst>
              <a:ext uri="{FF2B5EF4-FFF2-40B4-BE49-F238E27FC236}">
                <a16:creationId xmlns:a16="http://schemas.microsoft.com/office/drawing/2014/main" id="{9D87ECEB-F07C-1A4D-8484-327CF1529DA5}"/>
              </a:ext>
            </a:extLst>
          </p:cNvPr>
          <p:cNvSpPr/>
          <p:nvPr/>
        </p:nvSpPr>
        <p:spPr>
          <a:xfrm>
            <a:off x="4724400" y="4064000"/>
            <a:ext cx="1981200" cy="812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83C6AA47-BEA0-9D40-81BF-CEA6760A34EA}"/>
              </a:ext>
            </a:extLst>
          </p:cNvPr>
          <p:cNvSpPr txBox="1"/>
          <p:nvPr/>
        </p:nvSpPr>
        <p:spPr>
          <a:xfrm>
            <a:off x="4838700" y="4165600"/>
            <a:ext cx="1752600" cy="635000"/>
          </a:xfrm>
          <a:prstGeom prst="rect">
            <a:avLst/>
          </a:prstGeom>
          <a:noFill/>
        </p:spPr>
        <p:txBody>
          <a:bodyPr vertOverflow="overflow" vert="horz" wrap="square" rtlCol="0" anchor="t" anchorCtr="0">
            <a:noAutofit/>
          </a:bodyPr>
          <a:lstStyle/>
          <a:p>
            <a:pPr algn="l"/>
            <a:r>
              <a:rPr lang="ja-JP" altLang="en-US" sz="850">
                <a:solidFill>
                  <a:srgbClr val="333333"/>
                </a:solidFill>
                <a:latin typeface="Meiryo"/>
                <a:ea typeface="Meiryo"/>
              </a:rPr>
              <a:t>透明性の確保がブランドを守り、社内外ステークホルダーの信頼につながる。</a:t>
            </a:r>
          </a:p>
        </p:txBody>
      </p:sp>
      <p:sp>
        <p:nvSpPr>
          <p:cNvPr id="23" name="正方形/長方形 22">
            <a:extLst>
              <a:ext uri="{FF2B5EF4-FFF2-40B4-BE49-F238E27FC236}">
                <a16:creationId xmlns:a16="http://schemas.microsoft.com/office/drawing/2014/main" id="{0F8760ED-CAA5-CF40-8C74-AFCD1746B37E}"/>
              </a:ext>
            </a:extLst>
          </p:cNvPr>
          <p:cNvSpPr/>
          <p:nvPr/>
        </p:nvSpPr>
        <p:spPr>
          <a:xfrm>
            <a:off x="457200" y="5257800"/>
            <a:ext cx="63500" cy="2032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テキスト ボックス 23">
            <a:extLst>
              <a:ext uri="{FF2B5EF4-FFF2-40B4-BE49-F238E27FC236}">
                <a16:creationId xmlns:a16="http://schemas.microsoft.com/office/drawing/2014/main" id="{896B409C-F450-EE44-86F6-D95A8EE80306}"/>
              </a:ext>
            </a:extLst>
          </p:cNvPr>
          <p:cNvSpPr txBox="1"/>
          <p:nvPr/>
        </p:nvSpPr>
        <p:spPr>
          <a:xfrm>
            <a:off x="596900" y="5232400"/>
            <a:ext cx="5842000" cy="228600"/>
          </a:xfrm>
          <a:prstGeom prst="rect">
            <a:avLst/>
          </a:prstGeom>
          <a:noFill/>
        </p:spPr>
        <p:txBody>
          <a:bodyPr vertOverflow="overflow" vert="horz" wrap="square" rtlCol="0" anchor="t" anchorCtr="0">
            <a:noAutofit/>
          </a:bodyPr>
          <a:lstStyle/>
          <a:p>
            <a:pPr algn="l"/>
            <a:r>
              <a:rPr lang="en" altLang="ja-JP" sz="1300" b="1">
                <a:solidFill>
                  <a:srgbClr val="0B2545"/>
                </a:solidFill>
                <a:latin typeface="Meiryo"/>
                <a:ea typeface="Meiryo"/>
              </a:rPr>
              <a:t>WitnessAI ─ </a:t>
            </a:r>
            <a:r>
              <a:rPr lang="ja-JP" altLang="en-US" sz="1300" b="1">
                <a:solidFill>
                  <a:srgbClr val="0B2545"/>
                </a:solidFill>
                <a:latin typeface="Meiryo"/>
                <a:ea typeface="Meiryo"/>
              </a:rPr>
              <a:t>あらゆる</a:t>
            </a:r>
            <a:r>
              <a:rPr lang="en" altLang="ja-JP" sz="1300" b="1">
                <a:solidFill>
                  <a:srgbClr val="0B2545"/>
                </a:solidFill>
                <a:latin typeface="Meiryo"/>
                <a:ea typeface="Meiryo"/>
              </a:rPr>
              <a:t>AI</a:t>
            </a:r>
            <a:r>
              <a:rPr lang="ja-JP" altLang="en-US" sz="1300" b="1">
                <a:solidFill>
                  <a:srgbClr val="0B2545"/>
                </a:solidFill>
                <a:latin typeface="Meiryo"/>
                <a:ea typeface="Meiryo"/>
              </a:rPr>
              <a:t>利用を、一つのゲートウェイで統制</a:t>
            </a:r>
          </a:p>
        </p:txBody>
      </p:sp>
      <p:sp>
        <p:nvSpPr>
          <p:cNvPr id="25" name="テキスト ボックス 24">
            <a:extLst>
              <a:ext uri="{FF2B5EF4-FFF2-40B4-BE49-F238E27FC236}">
                <a16:creationId xmlns:a16="http://schemas.microsoft.com/office/drawing/2014/main" id="{5A49FBCB-6BB3-9745-9E0A-D0937D40BD0C}"/>
              </a:ext>
            </a:extLst>
          </p:cNvPr>
          <p:cNvSpPr txBox="1"/>
          <p:nvPr/>
        </p:nvSpPr>
        <p:spPr>
          <a:xfrm>
            <a:off x="457200" y="7188200"/>
            <a:ext cx="5943600" cy="152400"/>
          </a:xfrm>
          <a:prstGeom prst="rect">
            <a:avLst/>
          </a:prstGeom>
          <a:noFill/>
        </p:spPr>
        <p:txBody>
          <a:bodyPr vertOverflow="overflow" vert="horz" wrap="square" rtlCol="0" anchor="t" anchorCtr="0">
            <a:noAutofit/>
          </a:bodyPr>
          <a:lstStyle/>
          <a:p>
            <a:pPr algn="l"/>
            <a:r>
              <a:rPr lang="ja-JP" altLang="en-US" sz="800">
                <a:solidFill>
                  <a:srgbClr val="667788"/>
                </a:solidFill>
                <a:latin typeface="Meiryo"/>
                <a:ea typeface="Meiryo"/>
              </a:rPr>
              <a:t>エージェントレスで導入負荷が小さく、ネットワークレベルで</a:t>
            </a:r>
            <a:r>
              <a:rPr lang="en" altLang="ja-JP" sz="800">
                <a:solidFill>
                  <a:srgbClr val="667788"/>
                </a:solidFill>
                <a:latin typeface="Meiryo"/>
                <a:ea typeface="Meiryo"/>
              </a:rPr>
              <a:t>AI</a:t>
            </a:r>
            <a:r>
              <a:rPr lang="ja-JP" altLang="en-US" sz="800">
                <a:solidFill>
                  <a:srgbClr val="667788"/>
                </a:solidFill>
                <a:latin typeface="Meiryo"/>
                <a:ea typeface="Meiryo"/>
              </a:rPr>
              <a:t>利用を</a:t>
            </a:r>
            <a:r>
              <a:rPr lang="en-US" altLang="ja-JP" sz="800">
                <a:solidFill>
                  <a:srgbClr val="667788"/>
                </a:solidFill>
                <a:latin typeface="Meiryo"/>
                <a:ea typeface="Meiryo"/>
              </a:rPr>
              <a:t>100%</a:t>
            </a:r>
            <a:r>
              <a:rPr lang="ja-JP" altLang="en-US" sz="800">
                <a:solidFill>
                  <a:srgbClr val="667788"/>
                </a:solidFill>
                <a:latin typeface="Meiryo"/>
                <a:ea typeface="Meiryo"/>
              </a:rPr>
              <a:t>把握します。</a:t>
            </a:r>
          </a:p>
        </p:txBody>
      </p:sp>
      <p:sp>
        <p:nvSpPr>
          <p:cNvPr id="26" name="正方形/長方形 25">
            <a:extLst>
              <a:ext uri="{FF2B5EF4-FFF2-40B4-BE49-F238E27FC236}">
                <a16:creationId xmlns:a16="http://schemas.microsoft.com/office/drawing/2014/main" id="{D87F8D43-C231-074C-867D-671E02D05EC3}"/>
              </a:ext>
            </a:extLst>
          </p:cNvPr>
          <p:cNvSpPr/>
          <p:nvPr/>
        </p:nvSpPr>
        <p:spPr>
          <a:xfrm>
            <a:off x="457200" y="7620000"/>
            <a:ext cx="1905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D7D6AF0D-38BF-BD4B-AD05-9F2595238449}"/>
              </a:ext>
            </a:extLst>
          </p:cNvPr>
          <p:cNvSpPr/>
          <p:nvPr/>
        </p:nvSpPr>
        <p:spPr>
          <a:xfrm>
            <a:off x="457200" y="7658100"/>
            <a:ext cx="1905000" cy="558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DBA6F43D-4889-C640-A71E-E6A63A00A0E6}"/>
              </a:ext>
            </a:extLst>
          </p:cNvPr>
          <p:cNvSpPr txBox="1"/>
          <p:nvPr/>
        </p:nvSpPr>
        <p:spPr>
          <a:xfrm>
            <a:off x="584200" y="7747000"/>
            <a:ext cx="1651000" cy="177800"/>
          </a:xfrm>
          <a:prstGeom prst="rect">
            <a:avLst/>
          </a:prstGeom>
          <a:noFill/>
        </p:spPr>
        <p:txBody>
          <a:bodyPr vertOverflow="overflow" vert="horz" wrap="square" rtlCol="0" anchor="t" anchorCtr="0">
            <a:noAutofit/>
          </a:bodyPr>
          <a:lstStyle/>
          <a:p>
            <a:pPr algn="l"/>
            <a:r>
              <a:rPr lang="en" altLang="ja-JP" sz="1050" b="1">
                <a:solidFill>
                  <a:srgbClr val="00B3A4"/>
                </a:solidFill>
                <a:latin typeface="Meiryo"/>
                <a:ea typeface="Meiryo"/>
              </a:rPr>
              <a:t>Discover</a:t>
            </a:r>
            <a:endParaRPr lang="ja-JP" altLang="en-US" sz="1050" b="1">
              <a:solidFill>
                <a:srgbClr val="00B3A4"/>
              </a:solidFill>
              <a:latin typeface="Meiryo"/>
              <a:ea typeface="Meiryo"/>
            </a:endParaRPr>
          </a:p>
        </p:txBody>
      </p:sp>
      <p:sp>
        <p:nvSpPr>
          <p:cNvPr id="29" name="テキスト ボックス 28">
            <a:extLst>
              <a:ext uri="{FF2B5EF4-FFF2-40B4-BE49-F238E27FC236}">
                <a16:creationId xmlns:a16="http://schemas.microsoft.com/office/drawing/2014/main" id="{76879DA5-28C4-9849-98AC-7E263FD5D360}"/>
              </a:ext>
            </a:extLst>
          </p:cNvPr>
          <p:cNvSpPr txBox="1"/>
          <p:nvPr/>
        </p:nvSpPr>
        <p:spPr>
          <a:xfrm>
            <a:off x="584200" y="7950200"/>
            <a:ext cx="1651000" cy="177800"/>
          </a:xfrm>
          <a:prstGeom prst="rect">
            <a:avLst/>
          </a:prstGeom>
          <a:noFill/>
        </p:spPr>
        <p:txBody>
          <a:bodyPr vertOverflow="overflow" vert="horz" wrap="square" rtlCol="0" anchor="t" anchorCtr="0">
            <a:noAutofit/>
          </a:bodyPr>
          <a:lstStyle/>
          <a:p>
            <a:pPr algn="l"/>
            <a:r>
              <a:rPr lang="ja-JP" altLang="en-US" sz="850" b="1">
                <a:solidFill>
                  <a:srgbClr val="0B2545"/>
                </a:solidFill>
                <a:latin typeface="Meiryo"/>
                <a:ea typeface="Meiryo"/>
              </a:rPr>
              <a:t>生成</a:t>
            </a:r>
            <a:r>
              <a:rPr lang="en" altLang="ja-JP" sz="850" b="1">
                <a:solidFill>
                  <a:srgbClr val="0B2545"/>
                </a:solidFill>
                <a:latin typeface="Meiryo"/>
                <a:ea typeface="Meiryo"/>
              </a:rPr>
              <a:t>AI</a:t>
            </a:r>
            <a:r>
              <a:rPr lang="ja-JP" altLang="en-US" sz="850" b="1">
                <a:solidFill>
                  <a:srgbClr val="0B2545"/>
                </a:solidFill>
                <a:latin typeface="Meiryo"/>
                <a:ea typeface="Meiryo"/>
              </a:rPr>
              <a:t>利用の可視化</a:t>
            </a:r>
          </a:p>
        </p:txBody>
      </p:sp>
      <p:sp>
        <p:nvSpPr>
          <p:cNvPr id="30" name="正方形/長方形 29">
            <a:extLst>
              <a:ext uri="{FF2B5EF4-FFF2-40B4-BE49-F238E27FC236}">
                <a16:creationId xmlns:a16="http://schemas.microsoft.com/office/drawing/2014/main" id="{BCBEF623-F9AB-F746-B1FE-3252845D8696}"/>
              </a:ext>
            </a:extLst>
          </p:cNvPr>
          <p:cNvSpPr/>
          <p:nvPr/>
        </p:nvSpPr>
        <p:spPr>
          <a:xfrm>
            <a:off x="2501900" y="7620000"/>
            <a:ext cx="1905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1" name="正方形/長方形 30">
            <a:extLst>
              <a:ext uri="{FF2B5EF4-FFF2-40B4-BE49-F238E27FC236}">
                <a16:creationId xmlns:a16="http://schemas.microsoft.com/office/drawing/2014/main" id="{B31452F9-0F2F-CD4D-B679-B3497BD65EE9}"/>
              </a:ext>
            </a:extLst>
          </p:cNvPr>
          <p:cNvSpPr/>
          <p:nvPr/>
        </p:nvSpPr>
        <p:spPr>
          <a:xfrm>
            <a:off x="2501900" y="7658100"/>
            <a:ext cx="1905000" cy="558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2" name="テキスト ボックス 31">
            <a:extLst>
              <a:ext uri="{FF2B5EF4-FFF2-40B4-BE49-F238E27FC236}">
                <a16:creationId xmlns:a16="http://schemas.microsoft.com/office/drawing/2014/main" id="{565DEA3A-AAD8-8343-B826-A6038016D143}"/>
              </a:ext>
            </a:extLst>
          </p:cNvPr>
          <p:cNvSpPr txBox="1"/>
          <p:nvPr/>
        </p:nvSpPr>
        <p:spPr>
          <a:xfrm>
            <a:off x="2628900" y="7747000"/>
            <a:ext cx="1651000" cy="177800"/>
          </a:xfrm>
          <a:prstGeom prst="rect">
            <a:avLst/>
          </a:prstGeom>
          <a:noFill/>
        </p:spPr>
        <p:txBody>
          <a:bodyPr vertOverflow="overflow" vert="horz" wrap="square" rtlCol="0" anchor="t" anchorCtr="0">
            <a:noAutofit/>
          </a:bodyPr>
          <a:lstStyle/>
          <a:p>
            <a:pPr algn="l"/>
            <a:r>
              <a:rPr lang="en" altLang="ja-JP" sz="1050" b="1">
                <a:solidFill>
                  <a:srgbClr val="00B3A4"/>
                </a:solidFill>
                <a:latin typeface="Meiryo"/>
                <a:ea typeface="Meiryo"/>
              </a:rPr>
              <a:t>Protect</a:t>
            </a:r>
            <a:endParaRPr lang="ja-JP" altLang="en-US" sz="1050" b="1">
              <a:solidFill>
                <a:srgbClr val="00B3A4"/>
              </a:solidFill>
              <a:latin typeface="Meiryo"/>
              <a:ea typeface="Meiryo"/>
            </a:endParaRPr>
          </a:p>
        </p:txBody>
      </p:sp>
      <p:sp>
        <p:nvSpPr>
          <p:cNvPr id="33" name="テキスト ボックス 32">
            <a:extLst>
              <a:ext uri="{FF2B5EF4-FFF2-40B4-BE49-F238E27FC236}">
                <a16:creationId xmlns:a16="http://schemas.microsoft.com/office/drawing/2014/main" id="{4128B4B0-ABD5-434B-96A6-D1F7C906181D}"/>
              </a:ext>
            </a:extLst>
          </p:cNvPr>
          <p:cNvSpPr txBox="1"/>
          <p:nvPr/>
        </p:nvSpPr>
        <p:spPr>
          <a:xfrm>
            <a:off x="2628900" y="7950200"/>
            <a:ext cx="1651000" cy="177800"/>
          </a:xfrm>
          <a:prstGeom prst="rect">
            <a:avLst/>
          </a:prstGeom>
          <a:noFill/>
        </p:spPr>
        <p:txBody>
          <a:bodyPr vertOverflow="overflow" vert="horz" wrap="square" rtlCol="0" anchor="t" anchorCtr="0">
            <a:noAutofit/>
          </a:bodyPr>
          <a:lstStyle/>
          <a:p>
            <a:pPr algn="l"/>
            <a:r>
              <a:rPr lang="ja-JP" altLang="en-US" sz="850" b="1">
                <a:solidFill>
                  <a:srgbClr val="0B2545"/>
                </a:solidFill>
                <a:latin typeface="Meiryo"/>
                <a:ea typeface="Meiryo"/>
              </a:rPr>
              <a:t>入力制御と</a:t>
            </a:r>
            <a:r>
              <a:rPr lang="en" altLang="ja-JP" sz="850" b="1">
                <a:solidFill>
                  <a:srgbClr val="0B2545"/>
                </a:solidFill>
                <a:latin typeface="Meiryo"/>
                <a:ea typeface="Meiryo"/>
              </a:rPr>
              <a:t>AI</a:t>
            </a:r>
            <a:r>
              <a:rPr lang="ja-JP" altLang="en-US" sz="850" b="1">
                <a:solidFill>
                  <a:srgbClr val="0B2545"/>
                </a:solidFill>
                <a:latin typeface="Meiryo"/>
                <a:ea typeface="Meiryo"/>
              </a:rPr>
              <a:t>アプリ保護</a:t>
            </a:r>
          </a:p>
        </p:txBody>
      </p:sp>
      <p:sp>
        <p:nvSpPr>
          <p:cNvPr id="34" name="正方形/長方形 33">
            <a:extLst>
              <a:ext uri="{FF2B5EF4-FFF2-40B4-BE49-F238E27FC236}">
                <a16:creationId xmlns:a16="http://schemas.microsoft.com/office/drawing/2014/main" id="{7B0E1236-6996-8043-8A02-BD7E3122730D}"/>
              </a:ext>
            </a:extLst>
          </p:cNvPr>
          <p:cNvSpPr/>
          <p:nvPr/>
        </p:nvSpPr>
        <p:spPr>
          <a:xfrm>
            <a:off x="4546600" y="7620000"/>
            <a:ext cx="1905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5" name="正方形/長方形 34">
            <a:extLst>
              <a:ext uri="{FF2B5EF4-FFF2-40B4-BE49-F238E27FC236}">
                <a16:creationId xmlns:a16="http://schemas.microsoft.com/office/drawing/2014/main" id="{66895091-C964-BB4C-8B51-0E3F2B27D71C}"/>
              </a:ext>
            </a:extLst>
          </p:cNvPr>
          <p:cNvSpPr/>
          <p:nvPr/>
        </p:nvSpPr>
        <p:spPr>
          <a:xfrm>
            <a:off x="4546600" y="7658100"/>
            <a:ext cx="1905000" cy="558800"/>
          </a:xfrm>
          <a:prstGeom prst="rect">
            <a:avLst/>
          </a:prstGeom>
          <a:solidFill>
            <a:srgbClr val="F2F6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240F8CCD-BC04-EF44-BACE-741E1BC95087}"/>
              </a:ext>
            </a:extLst>
          </p:cNvPr>
          <p:cNvSpPr txBox="1"/>
          <p:nvPr/>
        </p:nvSpPr>
        <p:spPr>
          <a:xfrm>
            <a:off x="4673600" y="7747000"/>
            <a:ext cx="1651000" cy="177800"/>
          </a:xfrm>
          <a:prstGeom prst="rect">
            <a:avLst/>
          </a:prstGeom>
          <a:noFill/>
        </p:spPr>
        <p:txBody>
          <a:bodyPr vertOverflow="overflow" vert="horz" wrap="square" rtlCol="0" anchor="t" anchorCtr="0">
            <a:noAutofit/>
          </a:bodyPr>
          <a:lstStyle/>
          <a:p>
            <a:pPr algn="l"/>
            <a:r>
              <a:rPr lang="en" altLang="ja-JP" sz="1050" b="1">
                <a:solidFill>
                  <a:srgbClr val="00B3A4"/>
                </a:solidFill>
                <a:latin typeface="Meiryo"/>
                <a:ea typeface="Meiryo"/>
              </a:rPr>
              <a:t>Control</a:t>
            </a:r>
            <a:endParaRPr lang="ja-JP" altLang="en-US" sz="1050" b="1">
              <a:solidFill>
                <a:srgbClr val="00B3A4"/>
              </a:solidFill>
              <a:latin typeface="Meiryo"/>
              <a:ea typeface="Meiryo"/>
            </a:endParaRPr>
          </a:p>
        </p:txBody>
      </p:sp>
      <p:sp>
        <p:nvSpPr>
          <p:cNvPr id="37" name="テキスト ボックス 36">
            <a:extLst>
              <a:ext uri="{FF2B5EF4-FFF2-40B4-BE49-F238E27FC236}">
                <a16:creationId xmlns:a16="http://schemas.microsoft.com/office/drawing/2014/main" id="{87349398-4245-D041-A403-0DFCC4CD9333}"/>
              </a:ext>
            </a:extLst>
          </p:cNvPr>
          <p:cNvSpPr txBox="1"/>
          <p:nvPr/>
        </p:nvSpPr>
        <p:spPr>
          <a:xfrm>
            <a:off x="4673600" y="7950200"/>
            <a:ext cx="1651000" cy="177800"/>
          </a:xfrm>
          <a:prstGeom prst="rect">
            <a:avLst/>
          </a:prstGeom>
          <a:noFill/>
        </p:spPr>
        <p:txBody>
          <a:bodyPr vertOverflow="overflow" vert="horz" wrap="square" rtlCol="0" anchor="t" anchorCtr="0">
            <a:noAutofit/>
          </a:bodyPr>
          <a:lstStyle/>
          <a:p>
            <a:pPr algn="l"/>
            <a:r>
              <a:rPr lang="ja-JP" altLang="en-US" sz="850" b="1">
                <a:solidFill>
                  <a:srgbClr val="0B2545"/>
                </a:solidFill>
                <a:latin typeface="Meiryo"/>
                <a:ea typeface="Meiryo"/>
              </a:rPr>
              <a:t>ポリシーベースの統制</a:t>
            </a:r>
          </a:p>
        </p:txBody>
      </p:sp>
      <p:sp>
        <p:nvSpPr>
          <p:cNvPr id="38" name="正方形/長方形 37">
            <a:extLst>
              <a:ext uri="{FF2B5EF4-FFF2-40B4-BE49-F238E27FC236}">
                <a16:creationId xmlns:a16="http://schemas.microsoft.com/office/drawing/2014/main" id="{2B197265-8E5D-7048-9710-4AF5F4463672}"/>
              </a:ext>
            </a:extLst>
          </p:cNvPr>
          <p:cNvSpPr/>
          <p:nvPr/>
        </p:nvSpPr>
        <p:spPr>
          <a:xfrm>
            <a:off x="0" y="8890000"/>
            <a:ext cx="6858000" cy="10160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正方形/長方形 38">
            <a:extLst>
              <a:ext uri="{FF2B5EF4-FFF2-40B4-BE49-F238E27FC236}">
                <a16:creationId xmlns:a16="http://schemas.microsoft.com/office/drawing/2014/main" id="{570B096C-82D8-6044-A3B5-DA6406645ED1}"/>
              </a:ext>
            </a:extLst>
          </p:cNvPr>
          <p:cNvSpPr/>
          <p:nvPr/>
        </p:nvSpPr>
        <p:spPr>
          <a:xfrm>
            <a:off x="0" y="8890000"/>
            <a:ext cx="6858000" cy="381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0" name="テキスト ボックス 39">
            <a:extLst>
              <a:ext uri="{FF2B5EF4-FFF2-40B4-BE49-F238E27FC236}">
                <a16:creationId xmlns:a16="http://schemas.microsoft.com/office/drawing/2014/main" id="{BA3B8308-D941-C941-9DBB-4F788071E4F2}"/>
              </a:ext>
            </a:extLst>
          </p:cNvPr>
          <p:cNvSpPr txBox="1"/>
          <p:nvPr/>
        </p:nvSpPr>
        <p:spPr>
          <a:xfrm>
            <a:off x="457200" y="9093200"/>
            <a:ext cx="4064000" cy="254000"/>
          </a:xfrm>
          <a:prstGeom prst="rect">
            <a:avLst/>
          </a:prstGeom>
          <a:noFill/>
        </p:spPr>
        <p:txBody>
          <a:bodyPr vertOverflow="overflow" vert="horz" wrap="square" rtlCol="0" anchor="t" anchorCtr="0">
            <a:noAutofit/>
          </a:bodyPr>
          <a:lstStyle/>
          <a:p>
            <a:pPr algn="l"/>
            <a:r>
              <a:rPr lang="ja-JP" altLang="en-US" sz="1300" b="1">
                <a:solidFill>
                  <a:srgbClr val="FFFFFF"/>
                </a:solidFill>
                <a:latin typeface="Meiryo"/>
                <a:ea typeface="Meiryo"/>
              </a:rPr>
              <a:t>導入のご相談はこちら</a:t>
            </a:r>
          </a:p>
        </p:txBody>
      </p:sp>
      <p:sp>
        <p:nvSpPr>
          <p:cNvPr id="41" name="テキスト ボックス 40">
            <a:extLst>
              <a:ext uri="{FF2B5EF4-FFF2-40B4-BE49-F238E27FC236}">
                <a16:creationId xmlns:a16="http://schemas.microsoft.com/office/drawing/2014/main" id="{D2ADF5BF-C6D7-C743-BABC-3D69401C79D7}"/>
              </a:ext>
            </a:extLst>
          </p:cNvPr>
          <p:cNvSpPr txBox="1"/>
          <p:nvPr/>
        </p:nvSpPr>
        <p:spPr>
          <a:xfrm>
            <a:off x="457200" y="9398000"/>
            <a:ext cx="4064000" cy="177800"/>
          </a:xfrm>
          <a:prstGeom prst="rect">
            <a:avLst/>
          </a:prstGeom>
          <a:noFill/>
        </p:spPr>
        <p:txBody>
          <a:bodyPr vertOverflow="overflow" vert="horz" wrap="square" rtlCol="0" anchor="t" anchorCtr="0">
            <a:noAutofit/>
          </a:bodyPr>
          <a:lstStyle/>
          <a:p>
            <a:pPr algn="l"/>
            <a:r>
              <a:rPr lang="ja-JP" altLang="en-US" sz="850">
                <a:solidFill>
                  <a:srgbClr val="FFFFFF"/>
                </a:solidFill>
                <a:latin typeface="Meiryo"/>
                <a:ea typeface="Meiryo"/>
              </a:rPr>
              <a:t>アセスメント・</a:t>
            </a:r>
            <a:r>
              <a:rPr lang="en" altLang="ja-JP" sz="850">
                <a:solidFill>
                  <a:srgbClr val="FFFFFF"/>
                </a:solidFill>
                <a:latin typeface="Meiryo"/>
                <a:ea typeface="Meiryo"/>
              </a:rPr>
              <a:t>PoC</a:t>
            </a:r>
            <a:r>
              <a:rPr lang="ja-JP" altLang="en-US" sz="850">
                <a:solidFill>
                  <a:srgbClr val="FFFFFF"/>
                </a:solidFill>
                <a:latin typeface="Meiryo"/>
                <a:ea typeface="Meiryo"/>
              </a:rPr>
              <a:t>から運用整備まで</a:t>
            </a:r>
            <a:r>
              <a:rPr lang="en" altLang="ja-JP" sz="850">
                <a:solidFill>
                  <a:srgbClr val="FFFFFF"/>
                </a:solidFill>
                <a:latin typeface="Meiryo"/>
                <a:ea typeface="Meiryo"/>
              </a:rPr>
              <a:t>JSOL</a:t>
            </a:r>
            <a:r>
              <a:rPr lang="ja-JP" altLang="en-US" sz="850">
                <a:solidFill>
                  <a:srgbClr val="FFFFFF"/>
                </a:solidFill>
                <a:latin typeface="Meiryo"/>
                <a:ea typeface="Meiryo"/>
              </a:rPr>
              <a:t>が支援します。</a:t>
            </a:r>
          </a:p>
        </p:txBody>
      </p:sp>
      <p:sp>
        <p:nvSpPr>
          <p:cNvPr id="42" name="テキスト ボックス 41">
            <a:extLst>
              <a:ext uri="{FF2B5EF4-FFF2-40B4-BE49-F238E27FC236}">
                <a16:creationId xmlns:a16="http://schemas.microsoft.com/office/drawing/2014/main" id="{46E72F1B-C3C7-2549-9941-9CD27087CDE1}"/>
              </a:ext>
            </a:extLst>
          </p:cNvPr>
          <p:cNvSpPr txBox="1"/>
          <p:nvPr/>
        </p:nvSpPr>
        <p:spPr>
          <a:xfrm>
            <a:off x="4572000" y="9194800"/>
            <a:ext cx="1879600" cy="406400"/>
          </a:xfrm>
          <a:prstGeom prst="rect">
            <a:avLst/>
          </a:prstGeom>
          <a:noFill/>
        </p:spPr>
        <p:txBody>
          <a:bodyPr vertOverflow="overflow" vert="horz" wrap="square" rtlCol="0" anchor="ctr" anchorCtr="0">
            <a:noAutofit/>
          </a:bodyPr>
          <a:lstStyle/>
          <a:p>
            <a:pPr algn="l"/>
            <a:r>
              <a:rPr lang="en" altLang="ja-JP" sz="900" b="1">
                <a:solidFill>
                  <a:srgbClr val="FFFFFF"/>
                </a:solidFill>
                <a:latin typeface="Meiryo"/>
                <a:ea typeface="Meiryo"/>
              </a:rPr>
              <a:t>go.jsol.co.jp/lp/
inquiry/00009</a:t>
            </a:r>
            <a:endParaRPr lang="ja-JP" altLang="en-US" sz="900" b="1">
              <a:solidFill>
                <a:srgbClr val="FFFFFF"/>
              </a:solidFill>
              <a:latin typeface="Meiryo"/>
              <a:ea typeface="Meiryo"/>
            </a:endParaRPr>
          </a:p>
        </p:txBody>
      </p:sp>
    </p:spTree>
    <p:extLst>
      <p:ext uri="{BB962C8B-B14F-4D97-AF65-F5344CB8AC3E}">
        <p14:creationId xmlns:p14="http://schemas.microsoft.com/office/powerpoint/2010/main" val="4176995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縦型デザインのビジネス提案書用PowerPointテンプレート_01">
            <a:extLst>
              <a:ext uri="{FF2B5EF4-FFF2-40B4-BE49-F238E27FC236}">
                <a16:creationId xmlns:a16="http://schemas.microsoft.com/office/drawing/2014/main" id="{72E319C0-8776-AAB5-8908-5803CF37D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6858000" cy="9142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833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縦型デザインのビジネス提案書用PowerPointテンプレート_10">
            <a:extLst>
              <a:ext uri="{FF2B5EF4-FFF2-40B4-BE49-F238E27FC236}">
                <a16:creationId xmlns:a16="http://schemas.microsoft.com/office/drawing/2014/main" id="{76653C0A-DA1F-907E-7C34-A2DE50C71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84" y="647265"/>
            <a:ext cx="4445000" cy="59309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縦型デザインのビジネス提案書用PowerPointテンプレート_20">
            <a:extLst>
              <a:ext uri="{FF2B5EF4-FFF2-40B4-BE49-F238E27FC236}">
                <a16:creationId xmlns:a16="http://schemas.microsoft.com/office/drawing/2014/main" id="{B759019B-C4AD-80C0-68C4-CBEE847A3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5098" y="3104454"/>
            <a:ext cx="4445000" cy="593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9031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57E97199-E94D-B965-23DC-90E2CE4833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a:stretch/>
        </p:blipFill>
        <p:spPr bwMode="auto">
          <a:xfrm>
            <a:off x="402398" y="410401"/>
            <a:ext cx="6053203" cy="8561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771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06A10574-164B-5F0E-3135-8BD06AE8DA36}"/>
              </a:ext>
            </a:extLst>
          </p:cNvPr>
          <p:cNvPicPr>
            <a:picLocks noChangeAspect="1"/>
          </p:cNvPicPr>
          <p:nvPr/>
        </p:nvPicPr>
        <p:blipFill>
          <a:blip r:embed="rId2"/>
          <a:stretch>
            <a:fillRect/>
          </a:stretch>
        </p:blipFill>
        <p:spPr>
          <a:xfrm>
            <a:off x="2286000" y="0"/>
            <a:ext cx="4572000" cy="3064933"/>
          </a:xfrm>
          <a:prstGeom prst="rect">
            <a:avLst/>
          </a:prstGeom>
        </p:spPr>
      </p:pic>
      <p:pic>
        <p:nvPicPr>
          <p:cNvPr id="3" name="図 2">
            <a:extLst>
              <a:ext uri="{FF2B5EF4-FFF2-40B4-BE49-F238E27FC236}">
                <a16:creationId xmlns:a16="http://schemas.microsoft.com/office/drawing/2014/main" id="{68D9E852-117A-519A-9BAA-881C2977704A}"/>
              </a:ext>
            </a:extLst>
          </p:cNvPr>
          <p:cNvPicPr>
            <a:picLocks noChangeAspect="1"/>
          </p:cNvPicPr>
          <p:nvPr/>
        </p:nvPicPr>
        <p:blipFill>
          <a:blip r:embed="rId3"/>
          <a:stretch>
            <a:fillRect/>
          </a:stretch>
        </p:blipFill>
        <p:spPr>
          <a:xfrm>
            <a:off x="3378200" y="7518400"/>
            <a:ext cx="3022600" cy="923572"/>
          </a:xfrm>
          <a:prstGeom prst="rect">
            <a:avLst/>
          </a:prstGeom>
        </p:spPr>
      </p:pic>
      <p:sp>
        <p:nvSpPr>
          <p:cNvPr id="4" name="平行四辺形 3">
            <a:extLst>
              <a:ext uri="{FF2B5EF4-FFF2-40B4-BE49-F238E27FC236}">
                <a16:creationId xmlns:a16="http://schemas.microsoft.com/office/drawing/2014/main" id="{375D0C4F-97CD-BB4F-A919-0D9E03910960}"/>
              </a:ext>
            </a:extLst>
          </p:cNvPr>
          <p:cNvSpPr/>
          <p:nvPr/>
        </p:nvSpPr>
        <p:spPr>
          <a:xfrm>
            <a:off x="-889000" y="0"/>
            <a:ext cx="3810000" cy="3200400"/>
          </a:xfrm>
          <a:prstGeom prst="parallelogram">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平行四辺形 4">
            <a:extLst>
              <a:ext uri="{FF2B5EF4-FFF2-40B4-BE49-F238E27FC236}">
                <a16:creationId xmlns:a16="http://schemas.microsoft.com/office/drawing/2014/main" id="{89F2D7E0-4499-434F-AF82-853EC50F51E8}"/>
              </a:ext>
            </a:extLst>
          </p:cNvPr>
          <p:cNvSpPr/>
          <p:nvPr/>
        </p:nvSpPr>
        <p:spPr>
          <a:xfrm>
            <a:off x="1498600" y="2413000"/>
            <a:ext cx="1905000" cy="787400"/>
          </a:xfrm>
          <a:prstGeom prst="parallelogram">
            <a:avLst/>
          </a:prstGeom>
          <a:solidFill>
            <a:srgbClr val="FFB81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AF319A6-D323-5F46-A692-2C2A12BDF21E}"/>
              </a:ext>
            </a:extLst>
          </p:cNvPr>
          <p:cNvSpPr txBox="1"/>
          <p:nvPr/>
        </p:nvSpPr>
        <p:spPr>
          <a:xfrm>
            <a:off x="304800" y="660400"/>
            <a:ext cx="1905000" cy="304800"/>
          </a:xfrm>
          <a:prstGeom prst="rect">
            <a:avLst/>
          </a:prstGeom>
          <a:noFill/>
        </p:spPr>
        <p:txBody>
          <a:bodyPr vertOverflow="overflow" vert="horz" wrap="square" rtlCol="0" anchor="t" anchorCtr="0">
            <a:noAutofit/>
          </a:bodyPr>
          <a:lstStyle/>
          <a:p>
            <a:pPr algn="l"/>
            <a:r>
              <a:rPr lang="en" altLang="ja-JP" sz="1500" b="1">
                <a:solidFill>
                  <a:srgbClr val="FFFFFF"/>
                </a:solidFill>
                <a:latin typeface="Meiryo"/>
                <a:ea typeface="Meiryo"/>
              </a:rPr>
              <a:t>AI</a:t>
            </a:r>
            <a:r>
              <a:rPr lang="ja-JP" altLang="en-US" sz="1500" b="1">
                <a:solidFill>
                  <a:srgbClr val="FFFFFF"/>
                </a:solidFill>
                <a:latin typeface="Meiryo"/>
                <a:ea typeface="Meiryo"/>
              </a:rPr>
              <a:t>は、止めない。</a:t>
            </a:r>
          </a:p>
        </p:txBody>
      </p:sp>
      <p:sp>
        <p:nvSpPr>
          <p:cNvPr id="7" name="テキスト ボックス 6">
            <a:extLst>
              <a:ext uri="{FF2B5EF4-FFF2-40B4-BE49-F238E27FC236}">
                <a16:creationId xmlns:a16="http://schemas.microsoft.com/office/drawing/2014/main" id="{40D391A1-5614-284F-9CF2-11FE60A7832F}"/>
              </a:ext>
            </a:extLst>
          </p:cNvPr>
          <p:cNvSpPr txBox="1"/>
          <p:nvPr/>
        </p:nvSpPr>
        <p:spPr>
          <a:xfrm>
            <a:off x="304800" y="1016000"/>
            <a:ext cx="1905000" cy="558800"/>
          </a:xfrm>
          <a:prstGeom prst="rect">
            <a:avLst/>
          </a:prstGeom>
          <a:noFill/>
        </p:spPr>
        <p:txBody>
          <a:bodyPr vertOverflow="overflow" vert="horz" wrap="square" rtlCol="0" anchor="t" anchorCtr="0">
            <a:noAutofit/>
          </a:bodyPr>
          <a:lstStyle/>
          <a:p>
            <a:pPr algn="l"/>
            <a:r>
              <a:rPr lang="ja-JP" altLang="en-US" sz="1500" b="1">
                <a:solidFill>
                  <a:srgbClr val="FFFFFF"/>
                </a:solidFill>
                <a:latin typeface="Meiryo"/>
                <a:ea typeface="Meiryo"/>
              </a:rPr>
              <a:t>リスクだけを、
統制する。</a:t>
            </a:r>
          </a:p>
        </p:txBody>
      </p:sp>
      <p:sp>
        <p:nvSpPr>
          <p:cNvPr id="8" name="テキスト ボックス 7">
            <a:extLst>
              <a:ext uri="{FF2B5EF4-FFF2-40B4-BE49-F238E27FC236}">
                <a16:creationId xmlns:a16="http://schemas.microsoft.com/office/drawing/2014/main" id="{E6BCE85D-FABB-5C4A-8A3E-CB8B0638801A}"/>
              </a:ext>
            </a:extLst>
          </p:cNvPr>
          <p:cNvSpPr txBox="1"/>
          <p:nvPr/>
        </p:nvSpPr>
        <p:spPr>
          <a:xfrm>
            <a:off x="304800" y="1778000"/>
            <a:ext cx="2032000" cy="355600"/>
          </a:xfrm>
          <a:prstGeom prst="rect">
            <a:avLst/>
          </a:prstGeom>
          <a:noFill/>
        </p:spPr>
        <p:txBody>
          <a:bodyPr vertOverflow="overflow" vert="horz" wrap="square" rtlCol="0" anchor="t" anchorCtr="0">
            <a:noAutofit/>
          </a:bodyPr>
          <a:lstStyle/>
          <a:p>
            <a:pPr algn="l"/>
            <a:r>
              <a:rPr lang="ja-JP" altLang="en-US" sz="850">
                <a:solidFill>
                  <a:srgbClr val="BFD0DE"/>
                </a:solidFill>
                <a:latin typeface="Meiryo"/>
                <a:ea typeface="Meiryo"/>
              </a:rPr>
              <a:t>生成</a:t>
            </a:r>
            <a:r>
              <a:rPr lang="en" altLang="ja-JP" sz="850">
                <a:solidFill>
                  <a:srgbClr val="BFD0DE"/>
                </a:solidFill>
                <a:latin typeface="Meiryo"/>
                <a:ea typeface="Meiryo"/>
              </a:rPr>
              <a:t>AI</a:t>
            </a:r>
            <a:r>
              <a:rPr lang="ja-JP" altLang="en-US" sz="850">
                <a:solidFill>
                  <a:srgbClr val="BFD0DE"/>
                </a:solidFill>
                <a:latin typeface="Meiryo"/>
                <a:ea typeface="Meiryo"/>
              </a:rPr>
              <a:t>セキュリティ・
ガバナンスソリューション</a:t>
            </a:r>
          </a:p>
        </p:txBody>
      </p:sp>
      <p:sp>
        <p:nvSpPr>
          <p:cNvPr id="9" name="テキスト ボックス 8">
            <a:extLst>
              <a:ext uri="{FF2B5EF4-FFF2-40B4-BE49-F238E27FC236}">
                <a16:creationId xmlns:a16="http://schemas.microsoft.com/office/drawing/2014/main" id="{5C9CCEBB-EAA7-8C49-9595-A544A2520C25}"/>
              </a:ext>
            </a:extLst>
          </p:cNvPr>
          <p:cNvSpPr txBox="1"/>
          <p:nvPr/>
        </p:nvSpPr>
        <p:spPr>
          <a:xfrm>
            <a:off x="3810000" y="3327400"/>
            <a:ext cx="2590800" cy="533400"/>
          </a:xfrm>
          <a:prstGeom prst="rect">
            <a:avLst/>
          </a:prstGeom>
          <a:noFill/>
        </p:spPr>
        <p:txBody>
          <a:bodyPr vertOverflow="overflow" vert="horz" wrap="square" rtlCol="0" anchor="t" anchorCtr="0">
            <a:noAutofit/>
          </a:bodyPr>
          <a:lstStyle/>
          <a:p>
            <a:pPr algn="l"/>
            <a:r>
              <a:rPr lang="en" altLang="ja-JP" sz="3400" b="1">
                <a:solidFill>
                  <a:srgbClr val="D9E2EA"/>
                </a:solidFill>
                <a:latin typeface="Meiryo"/>
                <a:ea typeface="Meiryo"/>
              </a:rPr>
              <a:t>ISSUE</a:t>
            </a:r>
            <a:endParaRPr lang="ja-JP" altLang="en-US" sz="3400" b="1">
              <a:solidFill>
                <a:srgbClr val="D9E2EA"/>
              </a:solidFill>
              <a:latin typeface="Meiryo"/>
              <a:ea typeface="Meiryo"/>
            </a:endParaRPr>
          </a:p>
        </p:txBody>
      </p:sp>
      <p:sp>
        <p:nvSpPr>
          <p:cNvPr id="10" name="テキスト ボックス 9">
            <a:extLst>
              <a:ext uri="{FF2B5EF4-FFF2-40B4-BE49-F238E27FC236}">
                <a16:creationId xmlns:a16="http://schemas.microsoft.com/office/drawing/2014/main" id="{A847A61A-919E-F648-B694-E17D330A60CC}"/>
              </a:ext>
            </a:extLst>
          </p:cNvPr>
          <p:cNvSpPr txBox="1"/>
          <p:nvPr/>
        </p:nvSpPr>
        <p:spPr>
          <a:xfrm>
            <a:off x="457200" y="3632200"/>
            <a:ext cx="4064000" cy="254000"/>
          </a:xfrm>
          <a:prstGeom prst="rect">
            <a:avLst/>
          </a:prstGeom>
          <a:noFill/>
        </p:spPr>
        <p:txBody>
          <a:bodyPr vertOverflow="overflow" vert="horz" wrap="square" rtlCol="0" anchor="t" anchorCtr="0">
            <a:noAutofit/>
          </a:bodyPr>
          <a:lstStyle/>
          <a:p>
            <a:pPr algn="l"/>
            <a:r>
              <a:rPr lang="ja-JP" altLang="en-US" sz="1500" b="1">
                <a:solidFill>
                  <a:srgbClr val="0B2545"/>
                </a:solidFill>
                <a:latin typeface="Meiryo"/>
                <a:ea typeface="Meiryo"/>
              </a:rPr>
              <a:t>なぜ今、</a:t>
            </a:r>
            <a:r>
              <a:rPr lang="en" altLang="ja-JP" sz="1500" b="1">
                <a:solidFill>
                  <a:srgbClr val="0B2545"/>
                </a:solidFill>
                <a:latin typeface="Meiryo"/>
                <a:ea typeface="Meiryo"/>
              </a:rPr>
              <a:t>AI</a:t>
            </a:r>
            <a:r>
              <a:rPr lang="ja-JP" altLang="en-US" sz="1500" b="1">
                <a:solidFill>
                  <a:srgbClr val="0B2545"/>
                </a:solidFill>
                <a:latin typeface="Meiryo"/>
                <a:ea typeface="Meiryo"/>
              </a:rPr>
              <a:t>ガバナンスが必要か</a:t>
            </a:r>
          </a:p>
        </p:txBody>
      </p:sp>
      <p:sp>
        <p:nvSpPr>
          <p:cNvPr id="11" name="テキスト ボックス 10">
            <a:extLst>
              <a:ext uri="{FF2B5EF4-FFF2-40B4-BE49-F238E27FC236}">
                <a16:creationId xmlns:a16="http://schemas.microsoft.com/office/drawing/2014/main" id="{711CF16E-C4D7-1A42-85E1-180D96AB2267}"/>
              </a:ext>
            </a:extLst>
          </p:cNvPr>
          <p:cNvSpPr txBox="1"/>
          <p:nvPr/>
        </p:nvSpPr>
        <p:spPr>
          <a:xfrm>
            <a:off x="457200" y="4013200"/>
            <a:ext cx="762000" cy="457200"/>
          </a:xfrm>
          <a:prstGeom prst="rect">
            <a:avLst/>
          </a:prstGeom>
          <a:noFill/>
        </p:spPr>
        <p:txBody>
          <a:bodyPr vertOverflow="overflow" vert="horz" wrap="square" rtlCol="0" anchor="t" anchorCtr="0">
            <a:noAutofit/>
          </a:bodyPr>
          <a:lstStyle/>
          <a:p>
            <a:pPr algn="l"/>
            <a:r>
              <a:rPr lang="en-US" altLang="ja-JP" sz="2600" b="1">
                <a:solidFill>
                  <a:srgbClr val="D9E2EA"/>
                </a:solidFill>
                <a:latin typeface="Meiryo"/>
                <a:ea typeface="Meiryo"/>
              </a:rPr>
              <a:t>01</a:t>
            </a:r>
            <a:endParaRPr lang="ja-JP" altLang="en-US" sz="2600" b="1">
              <a:solidFill>
                <a:srgbClr val="D9E2EA"/>
              </a:solidFill>
              <a:latin typeface="Meiryo"/>
              <a:ea typeface="Meiryo"/>
            </a:endParaRPr>
          </a:p>
        </p:txBody>
      </p:sp>
      <p:sp>
        <p:nvSpPr>
          <p:cNvPr id="12" name="テキスト ボックス 11">
            <a:extLst>
              <a:ext uri="{FF2B5EF4-FFF2-40B4-BE49-F238E27FC236}">
                <a16:creationId xmlns:a16="http://schemas.microsoft.com/office/drawing/2014/main" id="{658D16BB-7AFF-BA4B-9D8E-7B1FE4F19560}"/>
              </a:ext>
            </a:extLst>
          </p:cNvPr>
          <p:cNvSpPr txBox="1"/>
          <p:nvPr/>
        </p:nvSpPr>
        <p:spPr>
          <a:xfrm>
            <a:off x="1168400" y="4089400"/>
            <a:ext cx="5232400" cy="228600"/>
          </a:xfrm>
          <a:prstGeom prst="rect">
            <a:avLst/>
          </a:prstGeom>
          <a:noFill/>
        </p:spPr>
        <p:txBody>
          <a:bodyPr vertOverflow="overflow" vert="horz" wrap="square" rtlCol="0" anchor="t" anchorCtr="0">
            <a:noAutofit/>
          </a:bodyPr>
          <a:lstStyle/>
          <a:p>
            <a:pPr algn="l"/>
            <a:r>
              <a:rPr lang="ja-JP" altLang="en-US" sz="1200" b="1">
                <a:solidFill>
                  <a:srgbClr val="0B2545"/>
                </a:solidFill>
                <a:latin typeface="Meiryo"/>
                <a:ea typeface="Meiryo"/>
              </a:rPr>
              <a:t>自律型エージェントの台頭</a:t>
            </a:r>
          </a:p>
        </p:txBody>
      </p:sp>
      <p:sp>
        <p:nvSpPr>
          <p:cNvPr id="13" name="正方形/長方形 12">
            <a:extLst>
              <a:ext uri="{FF2B5EF4-FFF2-40B4-BE49-F238E27FC236}">
                <a16:creationId xmlns:a16="http://schemas.microsoft.com/office/drawing/2014/main" id="{36896780-CE16-464D-9C85-4D032B4ACD2F}"/>
              </a:ext>
            </a:extLst>
          </p:cNvPr>
          <p:cNvSpPr/>
          <p:nvPr/>
        </p:nvSpPr>
        <p:spPr>
          <a:xfrm>
            <a:off x="1168400" y="4330700"/>
            <a:ext cx="381000" cy="254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テキスト ボックス 13">
            <a:extLst>
              <a:ext uri="{FF2B5EF4-FFF2-40B4-BE49-F238E27FC236}">
                <a16:creationId xmlns:a16="http://schemas.microsoft.com/office/drawing/2014/main" id="{DF53A33B-AFFB-764A-9A23-F36DDA59D5A9}"/>
              </a:ext>
            </a:extLst>
          </p:cNvPr>
          <p:cNvSpPr txBox="1"/>
          <p:nvPr/>
        </p:nvSpPr>
        <p:spPr>
          <a:xfrm>
            <a:off x="1168400" y="4419600"/>
            <a:ext cx="5232400" cy="4064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外部</a:t>
            </a:r>
            <a:r>
              <a:rPr lang="en" altLang="ja-JP" sz="900">
                <a:solidFill>
                  <a:srgbClr val="333333"/>
                </a:solidFill>
                <a:latin typeface="Meiryo"/>
                <a:ea typeface="Meiryo"/>
              </a:rPr>
              <a:t>API</a:t>
            </a:r>
            <a:r>
              <a:rPr lang="ja-JP" altLang="en-US" sz="900">
                <a:solidFill>
                  <a:srgbClr val="333333"/>
                </a:solidFill>
                <a:latin typeface="Meiryo"/>
                <a:ea typeface="Meiryo"/>
              </a:rPr>
              <a:t>やデータベースを自律操作する</a:t>
            </a:r>
            <a:r>
              <a:rPr lang="en" altLang="ja-JP" sz="900">
                <a:solidFill>
                  <a:srgbClr val="333333"/>
                </a:solidFill>
                <a:latin typeface="Meiryo"/>
                <a:ea typeface="Meiryo"/>
              </a:rPr>
              <a:t>AI</a:t>
            </a:r>
            <a:r>
              <a:rPr lang="ja-JP" altLang="en-US" sz="900">
                <a:solidFill>
                  <a:srgbClr val="333333"/>
                </a:solidFill>
                <a:latin typeface="Meiryo"/>
                <a:ea typeface="Meiryo"/>
              </a:rPr>
              <a:t>へ進化。</a:t>
            </a:r>
            <a:r>
              <a:rPr lang="en" altLang="ja-JP" sz="900">
                <a:solidFill>
                  <a:srgbClr val="333333"/>
                </a:solidFill>
                <a:latin typeface="Meiryo"/>
                <a:ea typeface="Meiryo"/>
              </a:rPr>
              <a:t>AI</a:t>
            </a:r>
            <a:r>
              <a:rPr lang="ja-JP" altLang="en-US" sz="900">
                <a:solidFill>
                  <a:srgbClr val="333333"/>
                </a:solidFill>
                <a:latin typeface="Meiryo"/>
                <a:ea typeface="Meiryo"/>
              </a:rPr>
              <a:t>が自律的に行動する環境では、従来の監視手法では追いつきません。</a:t>
            </a:r>
          </a:p>
        </p:txBody>
      </p:sp>
      <p:sp>
        <p:nvSpPr>
          <p:cNvPr id="15" name="テキスト ボックス 14">
            <a:extLst>
              <a:ext uri="{FF2B5EF4-FFF2-40B4-BE49-F238E27FC236}">
                <a16:creationId xmlns:a16="http://schemas.microsoft.com/office/drawing/2014/main" id="{1A3F6B3E-2C71-974D-AF3B-77CBD0859538}"/>
              </a:ext>
            </a:extLst>
          </p:cNvPr>
          <p:cNvSpPr txBox="1"/>
          <p:nvPr/>
        </p:nvSpPr>
        <p:spPr>
          <a:xfrm>
            <a:off x="457200" y="4953000"/>
            <a:ext cx="762000" cy="457200"/>
          </a:xfrm>
          <a:prstGeom prst="rect">
            <a:avLst/>
          </a:prstGeom>
          <a:noFill/>
        </p:spPr>
        <p:txBody>
          <a:bodyPr vertOverflow="overflow" vert="horz" wrap="square" rtlCol="0" anchor="t" anchorCtr="0">
            <a:noAutofit/>
          </a:bodyPr>
          <a:lstStyle/>
          <a:p>
            <a:pPr algn="l"/>
            <a:r>
              <a:rPr lang="en-US" altLang="ja-JP" sz="2600" b="1">
                <a:solidFill>
                  <a:srgbClr val="D9E2EA"/>
                </a:solidFill>
                <a:latin typeface="Meiryo"/>
                <a:ea typeface="Meiryo"/>
              </a:rPr>
              <a:t>02</a:t>
            </a:r>
            <a:endParaRPr lang="ja-JP" altLang="en-US" sz="2600" b="1">
              <a:solidFill>
                <a:srgbClr val="D9E2EA"/>
              </a:solidFill>
              <a:latin typeface="Meiryo"/>
              <a:ea typeface="Meiryo"/>
            </a:endParaRPr>
          </a:p>
        </p:txBody>
      </p:sp>
      <p:sp>
        <p:nvSpPr>
          <p:cNvPr id="16" name="テキスト ボックス 15">
            <a:extLst>
              <a:ext uri="{FF2B5EF4-FFF2-40B4-BE49-F238E27FC236}">
                <a16:creationId xmlns:a16="http://schemas.microsoft.com/office/drawing/2014/main" id="{8DFBAED2-5401-534A-9EA5-91002EAE963C}"/>
              </a:ext>
            </a:extLst>
          </p:cNvPr>
          <p:cNvSpPr txBox="1"/>
          <p:nvPr/>
        </p:nvSpPr>
        <p:spPr>
          <a:xfrm>
            <a:off x="1168400" y="5029200"/>
            <a:ext cx="5232400" cy="228600"/>
          </a:xfrm>
          <a:prstGeom prst="rect">
            <a:avLst/>
          </a:prstGeom>
          <a:noFill/>
        </p:spPr>
        <p:txBody>
          <a:bodyPr vertOverflow="overflow" vert="horz" wrap="square" rtlCol="0" anchor="t" anchorCtr="0">
            <a:noAutofit/>
          </a:bodyPr>
          <a:lstStyle/>
          <a:p>
            <a:pPr algn="l"/>
            <a:r>
              <a:rPr lang="ja-JP" altLang="en-US" sz="1200" b="1">
                <a:solidFill>
                  <a:srgbClr val="0B2545"/>
                </a:solidFill>
                <a:latin typeface="Meiryo"/>
                <a:ea typeface="Meiryo"/>
              </a:rPr>
              <a:t>シャドー</a:t>
            </a:r>
            <a:r>
              <a:rPr lang="en" altLang="ja-JP" sz="1200" b="1">
                <a:solidFill>
                  <a:srgbClr val="0B2545"/>
                </a:solidFill>
                <a:latin typeface="Meiryo"/>
                <a:ea typeface="Meiryo"/>
              </a:rPr>
              <a:t>AI</a:t>
            </a:r>
            <a:r>
              <a:rPr lang="ja-JP" altLang="en-US" sz="1200" b="1">
                <a:solidFill>
                  <a:srgbClr val="0B2545"/>
                </a:solidFill>
                <a:latin typeface="Meiryo"/>
                <a:ea typeface="Meiryo"/>
              </a:rPr>
              <a:t>による管理不全</a:t>
            </a:r>
          </a:p>
        </p:txBody>
      </p:sp>
      <p:sp>
        <p:nvSpPr>
          <p:cNvPr id="17" name="正方形/長方形 16">
            <a:extLst>
              <a:ext uri="{FF2B5EF4-FFF2-40B4-BE49-F238E27FC236}">
                <a16:creationId xmlns:a16="http://schemas.microsoft.com/office/drawing/2014/main" id="{931D6A1B-3F10-E048-B046-AD9F94D261FE}"/>
              </a:ext>
            </a:extLst>
          </p:cNvPr>
          <p:cNvSpPr/>
          <p:nvPr/>
        </p:nvSpPr>
        <p:spPr>
          <a:xfrm>
            <a:off x="1168400" y="5270500"/>
            <a:ext cx="381000" cy="254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E39D9E88-CBDA-1F46-820B-94CBE0EF0A10}"/>
              </a:ext>
            </a:extLst>
          </p:cNvPr>
          <p:cNvSpPr txBox="1"/>
          <p:nvPr/>
        </p:nvSpPr>
        <p:spPr>
          <a:xfrm>
            <a:off x="1168400" y="5359400"/>
            <a:ext cx="5232400" cy="4064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IT</a:t>
            </a:r>
            <a:r>
              <a:rPr lang="ja-JP" altLang="en-US" sz="900">
                <a:solidFill>
                  <a:srgbClr val="333333"/>
                </a:solidFill>
                <a:latin typeface="Meiryo"/>
                <a:ea typeface="Meiryo"/>
              </a:rPr>
              <a:t>部門が把握していない現場の</a:t>
            </a:r>
            <a:r>
              <a:rPr lang="en" altLang="ja-JP" sz="900">
                <a:solidFill>
                  <a:srgbClr val="333333"/>
                </a:solidFill>
                <a:latin typeface="Meiryo"/>
                <a:ea typeface="Meiryo"/>
              </a:rPr>
              <a:t>AI</a:t>
            </a:r>
            <a:r>
              <a:rPr lang="ja-JP" altLang="en-US" sz="900">
                <a:solidFill>
                  <a:srgbClr val="333333"/>
                </a:solidFill>
                <a:latin typeface="Meiryo"/>
                <a:ea typeface="Meiryo"/>
              </a:rPr>
              <a:t>利用が急増。情報漏洩とデータ流出のリスクが、組織全体の盲点になります。</a:t>
            </a:r>
          </a:p>
        </p:txBody>
      </p:sp>
      <p:sp>
        <p:nvSpPr>
          <p:cNvPr id="19" name="テキスト ボックス 18">
            <a:extLst>
              <a:ext uri="{FF2B5EF4-FFF2-40B4-BE49-F238E27FC236}">
                <a16:creationId xmlns:a16="http://schemas.microsoft.com/office/drawing/2014/main" id="{3EF5ED32-EEDC-3744-AAA6-9A4CDAD2FF09}"/>
              </a:ext>
            </a:extLst>
          </p:cNvPr>
          <p:cNvSpPr txBox="1"/>
          <p:nvPr/>
        </p:nvSpPr>
        <p:spPr>
          <a:xfrm>
            <a:off x="457200" y="5892800"/>
            <a:ext cx="762000" cy="457200"/>
          </a:xfrm>
          <a:prstGeom prst="rect">
            <a:avLst/>
          </a:prstGeom>
          <a:noFill/>
        </p:spPr>
        <p:txBody>
          <a:bodyPr vertOverflow="overflow" vert="horz" wrap="square" rtlCol="0" anchor="t" anchorCtr="0">
            <a:noAutofit/>
          </a:bodyPr>
          <a:lstStyle/>
          <a:p>
            <a:pPr algn="l"/>
            <a:r>
              <a:rPr lang="en-US" altLang="ja-JP" sz="2600" b="1">
                <a:solidFill>
                  <a:srgbClr val="D9E2EA"/>
                </a:solidFill>
                <a:latin typeface="Meiryo"/>
                <a:ea typeface="Meiryo"/>
              </a:rPr>
              <a:t>03</a:t>
            </a:r>
            <a:endParaRPr lang="ja-JP" altLang="en-US" sz="2600" b="1">
              <a:solidFill>
                <a:srgbClr val="D9E2EA"/>
              </a:solidFill>
              <a:latin typeface="Meiryo"/>
              <a:ea typeface="Meiryo"/>
            </a:endParaRPr>
          </a:p>
        </p:txBody>
      </p:sp>
      <p:sp>
        <p:nvSpPr>
          <p:cNvPr id="20" name="テキスト ボックス 19">
            <a:extLst>
              <a:ext uri="{FF2B5EF4-FFF2-40B4-BE49-F238E27FC236}">
                <a16:creationId xmlns:a16="http://schemas.microsoft.com/office/drawing/2014/main" id="{1DEB45B1-CB23-0F4E-A904-FFCA291A3EC9}"/>
              </a:ext>
            </a:extLst>
          </p:cNvPr>
          <p:cNvSpPr txBox="1"/>
          <p:nvPr/>
        </p:nvSpPr>
        <p:spPr>
          <a:xfrm>
            <a:off x="1168400" y="5969000"/>
            <a:ext cx="5232400" cy="228600"/>
          </a:xfrm>
          <a:prstGeom prst="rect">
            <a:avLst/>
          </a:prstGeom>
          <a:noFill/>
        </p:spPr>
        <p:txBody>
          <a:bodyPr vertOverflow="overflow" vert="horz" wrap="square" rtlCol="0" anchor="t" anchorCtr="0">
            <a:noAutofit/>
          </a:bodyPr>
          <a:lstStyle/>
          <a:p>
            <a:pPr algn="l"/>
            <a:r>
              <a:rPr lang="ja-JP" altLang="en-US" sz="1200" b="1">
                <a:solidFill>
                  <a:srgbClr val="0B2545"/>
                </a:solidFill>
                <a:latin typeface="Meiryo"/>
                <a:ea typeface="Meiryo"/>
              </a:rPr>
              <a:t>新たな脆弱性の出現</a:t>
            </a:r>
          </a:p>
        </p:txBody>
      </p:sp>
      <p:sp>
        <p:nvSpPr>
          <p:cNvPr id="21" name="正方形/長方形 20">
            <a:extLst>
              <a:ext uri="{FF2B5EF4-FFF2-40B4-BE49-F238E27FC236}">
                <a16:creationId xmlns:a16="http://schemas.microsoft.com/office/drawing/2014/main" id="{E6F67A5F-BFB2-B44A-A129-8A046536E5C3}"/>
              </a:ext>
            </a:extLst>
          </p:cNvPr>
          <p:cNvSpPr/>
          <p:nvPr/>
        </p:nvSpPr>
        <p:spPr>
          <a:xfrm>
            <a:off x="1168400" y="6210300"/>
            <a:ext cx="381000" cy="25400"/>
          </a:xfrm>
          <a:prstGeom prst="rect">
            <a:avLst/>
          </a:prstGeom>
          <a:solidFill>
            <a:srgbClr val="00B3A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DD9F92E0-3F8D-4845-B52C-32561085DC36}"/>
              </a:ext>
            </a:extLst>
          </p:cNvPr>
          <p:cNvSpPr txBox="1"/>
          <p:nvPr/>
        </p:nvSpPr>
        <p:spPr>
          <a:xfrm>
            <a:off x="1168400" y="6299200"/>
            <a:ext cx="5232400" cy="4064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プロンプトインジェクション等の</a:t>
            </a:r>
            <a:r>
              <a:rPr lang="en" altLang="ja-JP" sz="900">
                <a:solidFill>
                  <a:srgbClr val="333333"/>
                </a:solidFill>
                <a:latin typeface="Meiryo"/>
                <a:ea typeface="Meiryo"/>
              </a:rPr>
              <a:t>AI</a:t>
            </a:r>
            <a:r>
              <a:rPr lang="ja-JP" altLang="en-US" sz="900">
                <a:solidFill>
                  <a:srgbClr val="333333"/>
                </a:solidFill>
                <a:latin typeface="Meiryo"/>
                <a:ea typeface="Meiryo"/>
              </a:rPr>
              <a:t>特有の攻撃は、</a:t>
            </a:r>
            <a:r>
              <a:rPr lang="en" altLang="ja-JP" sz="900">
                <a:solidFill>
                  <a:srgbClr val="333333"/>
                </a:solidFill>
                <a:latin typeface="Meiryo"/>
                <a:ea typeface="Meiryo"/>
              </a:rPr>
              <a:t>OWASP Top 10 for LLM 2025 </a:t>
            </a:r>
            <a:r>
              <a:rPr lang="ja-JP" altLang="en-US" sz="900">
                <a:solidFill>
                  <a:srgbClr val="333333"/>
                </a:solidFill>
                <a:latin typeface="Meiryo"/>
                <a:ea typeface="Meiryo"/>
              </a:rPr>
              <a:t>で最上位に位置づけられています。</a:t>
            </a:r>
          </a:p>
        </p:txBody>
      </p:sp>
      <p:sp>
        <p:nvSpPr>
          <p:cNvPr id="23" name="テキスト ボックス 22">
            <a:extLst>
              <a:ext uri="{FF2B5EF4-FFF2-40B4-BE49-F238E27FC236}">
                <a16:creationId xmlns:a16="http://schemas.microsoft.com/office/drawing/2014/main" id="{89F50122-62CC-A44D-97FC-D609A6631B80}"/>
              </a:ext>
            </a:extLst>
          </p:cNvPr>
          <p:cNvSpPr txBox="1"/>
          <p:nvPr/>
        </p:nvSpPr>
        <p:spPr>
          <a:xfrm>
            <a:off x="3175000" y="6959600"/>
            <a:ext cx="3225800" cy="533400"/>
          </a:xfrm>
          <a:prstGeom prst="rect">
            <a:avLst/>
          </a:prstGeom>
          <a:noFill/>
        </p:spPr>
        <p:txBody>
          <a:bodyPr vertOverflow="overflow" vert="horz" wrap="square" rtlCol="0" anchor="t" anchorCtr="0">
            <a:noAutofit/>
          </a:bodyPr>
          <a:lstStyle/>
          <a:p>
            <a:pPr algn="l"/>
            <a:r>
              <a:rPr lang="en" altLang="ja-JP" sz="3400" b="1">
                <a:solidFill>
                  <a:srgbClr val="D9E2EA"/>
                </a:solidFill>
                <a:latin typeface="Meiryo"/>
                <a:ea typeface="Meiryo"/>
              </a:rPr>
              <a:t>GATEWAY</a:t>
            </a:r>
            <a:endParaRPr lang="ja-JP" altLang="en-US" sz="3400" b="1">
              <a:solidFill>
                <a:srgbClr val="D9E2EA"/>
              </a:solidFill>
              <a:latin typeface="Meiryo"/>
              <a:ea typeface="Meiryo"/>
            </a:endParaRPr>
          </a:p>
        </p:txBody>
      </p:sp>
      <p:sp>
        <p:nvSpPr>
          <p:cNvPr id="24" name="テキスト ボックス 23">
            <a:extLst>
              <a:ext uri="{FF2B5EF4-FFF2-40B4-BE49-F238E27FC236}">
                <a16:creationId xmlns:a16="http://schemas.microsoft.com/office/drawing/2014/main" id="{E0386B44-E254-D84E-BDB1-3DA9E780886E}"/>
              </a:ext>
            </a:extLst>
          </p:cNvPr>
          <p:cNvSpPr txBox="1"/>
          <p:nvPr/>
        </p:nvSpPr>
        <p:spPr>
          <a:xfrm>
            <a:off x="457200" y="7264400"/>
            <a:ext cx="4064000" cy="254000"/>
          </a:xfrm>
          <a:prstGeom prst="rect">
            <a:avLst/>
          </a:prstGeom>
          <a:noFill/>
        </p:spPr>
        <p:txBody>
          <a:bodyPr vertOverflow="overflow" vert="horz" wrap="square" rtlCol="0" anchor="t" anchorCtr="0">
            <a:noAutofit/>
          </a:bodyPr>
          <a:lstStyle/>
          <a:p>
            <a:pPr algn="l"/>
            <a:r>
              <a:rPr lang="en" altLang="ja-JP" sz="1500" b="1">
                <a:solidFill>
                  <a:srgbClr val="0B2545"/>
                </a:solidFill>
                <a:latin typeface="Meiryo"/>
                <a:ea typeface="Meiryo"/>
              </a:rPr>
              <a:t>WitnessAI</a:t>
            </a:r>
            <a:r>
              <a:rPr lang="ja-JP" altLang="en-US" sz="1500" b="1">
                <a:solidFill>
                  <a:srgbClr val="0B2545"/>
                </a:solidFill>
                <a:latin typeface="Meiryo"/>
                <a:ea typeface="Meiryo"/>
              </a:rPr>
              <a:t>とは</a:t>
            </a:r>
          </a:p>
        </p:txBody>
      </p:sp>
      <p:sp>
        <p:nvSpPr>
          <p:cNvPr id="25" name="テキスト ボックス 24">
            <a:extLst>
              <a:ext uri="{FF2B5EF4-FFF2-40B4-BE49-F238E27FC236}">
                <a16:creationId xmlns:a16="http://schemas.microsoft.com/office/drawing/2014/main" id="{CDC315F0-C8B7-BA4C-9D95-848903C6D45B}"/>
              </a:ext>
            </a:extLst>
          </p:cNvPr>
          <p:cNvSpPr txBox="1"/>
          <p:nvPr/>
        </p:nvSpPr>
        <p:spPr>
          <a:xfrm>
            <a:off x="457200" y="7594600"/>
            <a:ext cx="2768600" cy="10668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ユーザと</a:t>
            </a:r>
            <a:r>
              <a:rPr lang="en" altLang="ja-JP" sz="950">
                <a:solidFill>
                  <a:srgbClr val="333333"/>
                </a:solidFill>
                <a:latin typeface="Meiryo"/>
                <a:ea typeface="Meiryo"/>
              </a:rPr>
              <a:t>AI</a:t>
            </a:r>
            <a:r>
              <a:rPr lang="ja-JP" altLang="en-US" sz="950">
                <a:solidFill>
                  <a:srgbClr val="333333"/>
                </a:solidFill>
                <a:latin typeface="Meiryo"/>
                <a:ea typeface="Meiryo"/>
              </a:rPr>
              <a:t>の間に立ち、すべての</a:t>
            </a:r>
            <a:r>
              <a:rPr lang="en" altLang="ja-JP" sz="950">
                <a:solidFill>
                  <a:srgbClr val="333333"/>
                </a:solidFill>
                <a:latin typeface="Meiryo"/>
                <a:ea typeface="Meiryo"/>
              </a:rPr>
              <a:t>AI</a:t>
            </a:r>
            <a:r>
              <a:rPr lang="ja-JP" altLang="en-US" sz="950">
                <a:solidFill>
                  <a:srgbClr val="333333"/>
                </a:solidFill>
                <a:latin typeface="Meiryo"/>
                <a:ea typeface="Meiryo"/>
              </a:rPr>
              <a:t>利用を可視化・統制する、エージェントレスの「</a:t>
            </a:r>
            <a:r>
              <a:rPr lang="en" altLang="ja-JP" sz="950">
                <a:solidFill>
                  <a:srgbClr val="333333"/>
                </a:solidFill>
                <a:latin typeface="Meiryo"/>
                <a:ea typeface="Meiryo"/>
              </a:rPr>
              <a:t>AI Security Gateway</a:t>
            </a:r>
            <a:r>
              <a:rPr lang="ja-JP" altLang="en" sz="950">
                <a:solidFill>
                  <a:srgbClr val="333333"/>
                </a:solidFill>
                <a:latin typeface="Meiryo"/>
                <a:ea typeface="Meiryo"/>
              </a:rPr>
              <a:t>」。</a:t>
            </a:r>
            <a:r>
              <a:rPr lang="ja-JP" altLang="en-US" sz="950">
                <a:solidFill>
                  <a:srgbClr val="333333"/>
                </a:solidFill>
                <a:latin typeface="Meiryo"/>
                <a:ea typeface="Meiryo"/>
              </a:rPr>
              <a:t>エンドポイントに依存せず、既存環境へ迅速に導入できます。</a:t>
            </a:r>
          </a:p>
        </p:txBody>
      </p:sp>
      <p:sp>
        <p:nvSpPr>
          <p:cNvPr id="26" name="テキスト ボックス 25">
            <a:extLst>
              <a:ext uri="{FF2B5EF4-FFF2-40B4-BE49-F238E27FC236}">
                <a16:creationId xmlns:a16="http://schemas.microsoft.com/office/drawing/2014/main" id="{D51602E3-54EA-684C-BDC0-BB552BFF7DE6}"/>
              </a:ext>
            </a:extLst>
          </p:cNvPr>
          <p:cNvSpPr txBox="1"/>
          <p:nvPr/>
        </p:nvSpPr>
        <p:spPr>
          <a:xfrm>
            <a:off x="3378200" y="8483600"/>
            <a:ext cx="3022600" cy="152400"/>
          </a:xfrm>
          <a:prstGeom prst="rect">
            <a:avLst/>
          </a:prstGeom>
          <a:noFill/>
        </p:spPr>
        <p:txBody>
          <a:bodyPr vertOverflow="overflow" vert="horz" wrap="square" rtlCol="0" anchor="t" anchorCtr="0">
            <a:noAutofit/>
          </a:bodyPr>
          <a:lstStyle/>
          <a:p>
            <a:pPr algn="l"/>
            <a:r>
              <a:rPr lang="ja-JP" altLang="en-US" sz="800">
                <a:solidFill>
                  <a:srgbClr val="667788"/>
                </a:solidFill>
                <a:latin typeface="Meiryo"/>
                <a:ea typeface="Meiryo"/>
              </a:rPr>
              <a:t>デバイスからの</a:t>
            </a:r>
            <a:r>
              <a:rPr lang="en" altLang="ja-JP" sz="800">
                <a:solidFill>
                  <a:srgbClr val="667788"/>
                </a:solidFill>
                <a:latin typeface="Meiryo"/>
                <a:ea typeface="Meiryo"/>
              </a:rPr>
              <a:t>AI</a:t>
            </a:r>
            <a:r>
              <a:rPr lang="ja-JP" altLang="en-US" sz="800">
                <a:solidFill>
                  <a:srgbClr val="667788"/>
                </a:solidFill>
                <a:latin typeface="Meiryo"/>
                <a:ea typeface="Meiryo"/>
              </a:rPr>
              <a:t>利用を仲介し、安全に中継</a:t>
            </a:r>
          </a:p>
        </p:txBody>
      </p:sp>
      <p:sp>
        <p:nvSpPr>
          <p:cNvPr id="27" name="テキスト ボックス 26">
            <a:extLst>
              <a:ext uri="{FF2B5EF4-FFF2-40B4-BE49-F238E27FC236}">
                <a16:creationId xmlns:a16="http://schemas.microsoft.com/office/drawing/2014/main" id="{AAC372B6-CCCE-FB4A-AB9B-DA8EB7240BE9}"/>
              </a:ext>
            </a:extLst>
          </p:cNvPr>
          <p:cNvSpPr txBox="1"/>
          <p:nvPr/>
        </p:nvSpPr>
        <p:spPr>
          <a:xfrm>
            <a:off x="457200" y="8763000"/>
            <a:ext cx="5943600" cy="177800"/>
          </a:xfrm>
          <a:prstGeom prst="rect">
            <a:avLst/>
          </a:prstGeom>
          <a:noFill/>
        </p:spPr>
        <p:txBody>
          <a:bodyPr vertOverflow="overflow" vert="horz" wrap="square" rtlCol="0" anchor="t" anchorCtr="0">
            <a:noAutofit/>
          </a:bodyPr>
          <a:lstStyle/>
          <a:p>
            <a:pPr algn="l"/>
            <a:r>
              <a:rPr lang="ja-JP" altLang="en-US" sz="900" b="1">
                <a:solidFill>
                  <a:srgbClr val="00B3A4"/>
                </a:solidFill>
                <a:latin typeface="Meiryo"/>
                <a:ea typeface="Meiryo"/>
              </a:rPr>
              <a:t>▶ 具体的な機能・提供メニューは裏面をご覧ください</a:t>
            </a:r>
          </a:p>
        </p:txBody>
      </p:sp>
      <p:sp>
        <p:nvSpPr>
          <p:cNvPr id="28" name="平行四辺形 27">
            <a:extLst>
              <a:ext uri="{FF2B5EF4-FFF2-40B4-BE49-F238E27FC236}">
                <a16:creationId xmlns:a16="http://schemas.microsoft.com/office/drawing/2014/main" id="{033B3C57-ED5A-AC48-ADFF-62770C9F0A60}"/>
              </a:ext>
            </a:extLst>
          </p:cNvPr>
          <p:cNvSpPr/>
          <p:nvPr/>
        </p:nvSpPr>
        <p:spPr>
          <a:xfrm>
            <a:off x="-381000" y="8966200"/>
            <a:ext cx="7620000" cy="254000"/>
          </a:xfrm>
          <a:prstGeom prst="parallelogram">
            <a:avLst/>
          </a:prstGeom>
          <a:solidFill>
            <a:srgbClr val="FFB81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正方形/長方形 28">
            <a:extLst>
              <a:ext uri="{FF2B5EF4-FFF2-40B4-BE49-F238E27FC236}">
                <a16:creationId xmlns:a16="http://schemas.microsoft.com/office/drawing/2014/main" id="{614C1104-B04A-C64A-A336-5BBE09C95351}"/>
              </a:ext>
            </a:extLst>
          </p:cNvPr>
          <p:cNvSpPr/>
          <p:nvPr/>
        </p:nvSpPr>
        <p:spPr>
          <a:xfrm>
            <a:off x="0" y="9194800"/>
            <a:ext cx="6858000" cy="711200"/>
          </a:xfrm>
          <a:prstGeom prst="rect">
            <a:avLst/>
          </a:prstGeom>
          <a:solidFill>
            <a:srgbClr val="0B254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0" name="テキスト ボックス 29">
            <a:extLst>
              <a:ext uri="{FF2B5EF4-FFF2-40B4-BE49-F238E27FC236}">
                <a16:creationId xmlns:a16="http://schemas.microsoft.com/office/drawing/2014/main" id="{F0B3FA85-B2E9-0447-92A3-F612C19CE8C6}"/>
              </a:ext>
            </a:extLst>
          </p:cNvPr>
          <p:cNvSpPr txBox="1"/>
          <p:nvPr/>
        </p:nvSpPr>
        <p:spPr>
          <a:xfrm>
            <a:off x="457200" y="9372600"/>
            <a:ext cx="3175000" cy="355600"/>
          </a:xfrm>
          <a:prstGeom prst="rect">
            <a:avLst/>
          </a:prstGeom>
          <a:noFill/>
        </p:spPr>
        <p:txBody>
          <a:bodyPr vertOverflow="overflow" vert="horz" wrap="square" rtlCol="0" anchor="ctr" anchorCtr="0">
            <a:noAutofit/>
          </a:bodyPr>
          <a:lstStyle/>
          <a:p>
            <a:pPr algn="l"/>
            <a:r>
              <a:rPr lang="ja-JP" altLang="en-US" sz="1300" b="1">
                <a:solidFill>
                  <a:srgbClr val="FFFFFF"/>
                </a:solidFill>
                <a:latin typeface="Meiryo"/>
                <a:ea typeface="Meiryo"/>
              </a:rPr>
              <a:t>導入のご相談はこちら</a:t>
            </a:r>
          </a:p>
        </p:txBody>
      </p:sp>
      <p:sp>
        <p:nvSpPr>
          <p:cNvPr id="31" name="テキスト ボックス 30">
            <a:extLst>
              <a:ext uri="{FF2B5EF4-FFF2-40B4-BE49-F238E27FC236}">
                <a16:creationId xmlns:a16="http://schemas.microsoft.com/office/drawing/2014/main" id="{BD107670-5653-B842-86B7-645BE7D337DF}"/>
              </a:ext>
            </a:extLst>
          </p:cNvPr>
          <p:cNvSpPr txBox="1"/>
          <p:nvPr/>
        </p:nvSpPr>
        <p:spPr>
          <a:xfrm>
            <a:off x="3810000" y="9372600"/>
            <a:ext cx="2590800" cy="355600"/>
          </a:xfrm>
          <a:prstGeom prst="rect">
            <a:avLst/>
          </a:prstGeom>
          <a:noFill/>
        </p:spPr>
        <p:txBody>
          <a:bodyPr vertOverflow="overflow" vert="horz" wrap="square" rtlCol="0" anchor="ctr" anchorCtr="0">
            <a:noAutofit/>
          </a:bodyPr>
          <a:lstStyle/>
          <a:p>
            <a:pPr algn="l"/>
            <a:r>
              <a:rPr lang="en" altLang="ja-JP" sz="850">
                <a:solidFill>
                  <a:srgbClr val="FFFFFF"/>
                </a:solidFill>
                <a:latin typeface="Meiryo"/>
                <a:ea typeface="Meiryo"/>
              </a:rPr>
              <a:t>go.jsol.co.jp/lp/inquiry/00009
</a:t>
            </a:r>
            <a:r>
              <a:rPr lang="ja-JP" altLang="en-US" sz="850">
                <a:solidFill>
                  <a:srgbClr val="FFFFFF"/>
                </a:solidFill>
                <a:latin typeface="Meiryo"/>
                <a:ea typeface="Meiryo"/>
              </a:rPr>
              <a:t>提供：</a:t>
            </a:r>
            <a:r>
              <a:rPr lang="en" altLang="ja-JP" sz="850">
                <a:solidFill>
                  <a:srgbClr val="FFFFFF"/>
                </a:solidFill>
                <a:latin typeface="Meiryo"/>
                <a:ea typeface="Meiryo"/>
              </a:rPr>
              <a:t>JSOL</a:t>
            </a:r>
            <a:endParaRPr lang="ja-JP" altLang="en-US" sz="850">
              <a:solidFill>
                <a:srgbClr val="FFFFFF"/>
              </a:solidFill>
              <a:latin typeface="Meiryo"/>
              <a:ea typeface="Meiryo"/>
            </a:endParaRPr>
          </a:p>
        </p:txBody>
      </p:sp>
    </p:spTree>
    <p:extLst>
      <p:ext uri="{BB962C8B-B14F-4D97-AF65-F5344CB8AC3E}">
        <p14:creationId xmlns:p14="http://schemas.microsoft.com/office/powerpoint/2010/main" val="2494329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E63FEB2-3828-7249-F64A-D05E750B3669}"/>
              </a:ext>
            </a:extLst>
          </p:cNvPr>
          <p:cNvPicPr>
            <a:picLocks noChangeAspect="1"/>
          </p:cNvPicPr>
          <p:nvPr/>
        </p:nvPicPr>
        <p:blipFill>
          <a:blip r:embed="rId2"/>
          <a:stretch>
            <a:fillRect/>
          </a:stretch>
        </p:blipFill>
        <p:spPr>
          <a:xfrm>
            <a:off x="1905000" y="0"/>
            <a:ext cx="4953000" cy="3874524"/>
          </a:xfrm>
          <a:prstGeom prst="rect">
            <a:avLst/>
          </a:prstGeom>
        </p:spPr>
      </p:pic>
      <p:pic>
        <p:nvPicPr>
          <p:cNvPr id="3" name="図 2">
            <a:extLst>
              <a:ext uri="{FF2B5EF4-FFF2-40B4-BE49-F238E27FC236}">
                <a16:creationId xmlns:a16="http://schemas.microsoft.com/office/drawing/2014/main" id="{A7B63763-87BA-D5BA-A80B-D31D9F7695BB}"/>
              </a:ext>
            </a:extLst>
          </p:cNvPr>
          <p:cNvPicPr>
            <a:picLocks noChangeAspect="1"/>
          </p:cNvPicPr>
          <p:nvPr/>
        </p:nvPicPr>
        <p:blipFill>
          <a:blip r:embed="rId3"/>
          <a:stretch>
            <a:fillRect/>
          </a:stretch>
        </p:blipFill>
        <p:spPr>
          <a:xfrm>
            <a:off x="2717800" y="8686800"/>
            <a:ext cx="3302000" cy="1016000"/>
          </a:xfrm>
          <a:prstGeom prst="rect">
            <a:avLst/>
          </a:prstGeom>
        </p:spPr>
      </p:pic>
      <p:sp>
        <p:nvSpPr>
          <p:cNvPr id="4" name="正方形/長方形 3">
            <a:extLst>
              <a:ext uri="{FF2B5EF4-FFF2-40B4-BE49-F238E27FC236}">
                <a16:creationId xmlns:a16="http://schemas.microsoft.com/office/drawing/2014/main" id="{91AFB51F-3CEB-9E42-A294-CBC56ABEDFC9}"/>
              </a:ext>
            </a:extLst>
          </p:cNvPr>
          <p:cNvSpPr/>
          <p:nvPr/>
        </p:nvSpPr>
        <p:spPr>
          <a:xfrm>
            <a:off x="0" y="0"/>
            <a:ext cx="2413000" cy="9906000"/>
          </a:xfrm>
          <a:prstGeom prst="rect">
            <a:avLst/>
          </a:prstGeom>
          <a:solidFill>
            <a:srgbClr val="1C2B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平行四辺形 4">
            <a:extLst>
              <a:ext uri="{FF2B5EF4-FFF2-40B4-BE49-F238E27FC236}">
                <a16:creationId xmlns:a16="http://schemas.microsoft.com/office/drawing/2014/main" id="{86692623-3E25-6541-A9D9-3F7F637CC13B}"/>
              </a:ext>
            </a:extLst>
          </p:cNvPr>
          <p:cNvSpPr/>
          <p:nvPr/>
        </p:nvSpPr>
        <p:spPr>
          <a:xfrm>
            <a:off x="1219200" y="3403600"/>
            <a:ext cx="2540000" cy="5588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6AA98C7D-ACA3-D94A-8FB0-2826A49CB62D}"/>
              </a:ext>
            </a:extLst>
          </p:cNvPr>
          <p:cNvSpPr txBox="1"/>
          <p:nvPr/>
        </p:nvSpPr>
        <p:spPr>
          <a:xfrm>
            <a:off x="203200" y="3733800"/>
            <a:ext cx="1397000" cy="1143000"/>
          </a:xfrm>
          <a:prstGeom prst="rect">
            <a:avLst/>
          </a:prstGeom>
          <a:noFill/>
        </p:spPr>
        <p:txBody>
          <a:bodyPr vertOverflow="overflow" vert="horz" wrap="none" rtlCol="0" anchor="t" anchorCtr="0">
            <a:noAutofit/>
          </a:bodyPr>
          <a:lstStyle/>
          <a:p>
            <a:pPr algn="l"/>
            <a:r>
              <a:rPr lang="ja-JP" altLang="en-US" sz="7600" b="1">
                <a:solidFill>
                  <a:srgbClr val="F7B815"/>
                </a:solidFill>
                <a:latin typeface="Meiryo"/>
                <a:ea typeface="Meiryo"/>
              </a:rPr>
              <a:t>“</a:t>
            </a:r>
          </a:p>
        </p:txBody>
      </p:sp>
      <p:sp>
        <p:nvSpPr>
          <p:cNvPr id="7" name="テキスト ボックス 6">
            <a:extLst>
              <a:ext uri="{FF2B5EF4-FFF2-40B4-BE49-F238E27FC236}">
                <a16:creationId xmlns:a16="http://schemas.microsoft.com/office/drawing/2014/main" id="{353904B2-0B07-4441-B919-05D992AF7D8D}"/>
              </a:ext>
            </a:extLst>
          </p:cNvPr>
          <p:cNvSpPr txBox="1"/>
          <p:nvPr/>
        </p:nvSpPr>
        <p:spPr>
          <a:xfrm>
            <a:off x="279400" y="5003800"/>
            <a:ext cx="2057400" cy="863600"/>
          </a:xfrm>
          <a:prstGeom prst="rect">
            <a:avLst/>
          </a:prstGeom>
          <a:noFill/>
        </p:spPr>
        <p:txBody>
          <a:bodyPr vertOverflow="overflow" vert="horz" wrap="square" rtlCol="0" anchor="t" anchorCtr="0">
            <a:noAutofit/>
          </a:bodyPr>
          <a:lstStyle/>
          <a:p>
            <a:pPr algn="l"/>
            <a:r>
              <a:rPr lang="en" altLang="ja-JP" sz="1850" b="1">
                <a:solidFill>
                  <a:srgbClr val="FFFFFF"/>
                </a:solidFill>
                <a:latin typeface="Meiryo"/>
                <a:ea typeface="Meiryo"/>
              </a:rPr>
              <a:t>AI</a:t>
            </a:r>
            <a:r>
              <a:rPr lang="ja-JP" altLang="en-US" sz="1850" b="1">
                <a:solidFill>
                  <a:srgbClr val="FFFFFF"/>
                </a:solidFill>
                <a:latin typeface="Meiryo"/>
                <a:ea typeface="Meiryo"/>
              </a:rPr>
              <a:t>の利用を、
止めずに、
守る。</a:t>
            </a:r>
          </a:p>
        </p:txBody>
      </p:sp>
      <p:sp>
        <p:nvSpPr>
          <p:cNvPr id="8" name="テキスト ボックス 7">
            <a:extLst>
              <a:ext uri="{FF2B5EF4-FFF2-40B4-BE49-F238E27FC236}">
                <a16:creationId xmlns:a16="http://schemas.microsoft.com/office/drawing/2014/main" id="{0120EFC2-C951-A34A-B7A2-2100D0216324}"/>
              </a:ext>
            </a:extLst>
          </p:cNvPr>
          <p:cNvSpPr txBox="1"/>
          <p:nvPr/>
        </p:nvSpPr>
        <p:spPr>
          <a:xfrm>
            <a:off x="279400" y="6146800"/>
            <a:ext cx="1930400" cy="1397000"/>
          </a:xfrm>
          <a:prstGeom prst="rect">
            <a:avLst/>
          </a:prstGeom>
          <a:noFill/>
        </p:spPr>
        <p:txBody>
          <a:bodyPr vertOverflow="overflow" vert="horz" wrap="square" rtlCol="0" anchor="t" anchorCtr="0">
            <a:noAutofit/>
          </a:bodyPr>
          <a:lstStyle/>
          <a:p>
            <a:pPr algn="l"/>
            <a:r>
              <a:rPr lang="en" altLang="ja-JP" sz="900">
                <a:solidFill>
                  <a:srgbClr val="BFD0DE"/>
                </a:solidFill>
                <a:latin typeface="Meiryo"/>
                <a:ea typeface="Meiryo"/>
              </a:rPr>
              <a:t>WitnessAI</a:t>
            </a:r>
            <a:r>
              <a:rPr lang="ja-JP" altLang="en-US" sz="900">
                <a:solidFill>
                  <a:srgbClr val="BFD0DE"/>
                </a:solidFill>
                <a:latin typeface="Meiryo"/>
                <a:ea typeface="Meiryo"/>
              </a:rPr>
              <a:t>は、ユーザと</a:t>
            </a:r>
            <a:r>
              <a:rPr lang="en" altLang="ja-JP" sz="900">
                <a:solidFill>
                  <a:srgbClr val="BFD0DE"/>
                </a:solidFill>
                <a:latin typeface="Meiryo"/>
                <a:ea typeface="Meiryo"/>
              </a:rPr>
              <a:t>AI</a:t>
            </a:r>
            <a:r>
              <a:rPr lang="ja-JP" altLang="en-US" sz="900">
                <a:solidFill>
                  <a:srgbClr val="BFD0DE"/>
                </a:solidFill>
                <a:latin typeface="Meiryo"/>
                <a:ea typeface="Meiryo"/>
              </a:rPr>
              <a:t>の間に立つ「</a:t>
            </a:r>
            <a:r>
              <a:rPr lang="en" altLang="ja-JP" sz="900">
                <a:solidFill>
                  <a:srgbClr val="BFD0DE"/>
                </a:solidFill>
                <a:latin typeface="Meiryo"/>
                <a:ea typeface="Meiryo"/>
              </a:rPr>
              <a:t>AI Security Gateway</a:t>
            </a:r>
            <a:r>
              <a:rPr lang="ja-JP" altLang="en" sz="900">
                <a:solidFill>
                  <a:srgbClr val="BFD0DE"/>
                </a:solidFill>
                <a:latin typeface="Meiryo"/>
                <a:ea typeface="Meiryo"/>
              </a:rPr>
              <a:t>」。</a:t>
            </a:r>
            <a:r>
              <a:rPr lang="ja-JP" altLang="en-US" sz="900">
                <a:solidFill>
                  <a:srgbClr val="BFD0DE"/>
                </a:solidFill>
                <a:latin typeface="Meiryo"/>
                <a:ea typeface="Meiryo"/>
              </a:rPr>
              <a:t>生成</a:t>
            </a:r>
            <a:r>
              <a:rPr lang="en" altLang="ja-JP" sz="900">
                <a:solidFill>
                  <a:srgbClr val="BFD0DE"/>
                </a:solidFill>
                <a:latin typeface="Meiryo"/>
                <a:ea typeface="Meiryo"/>
              </a:rPr>
              <a:t>AI</a:t>
            </a:r>
            <a:r>
              <a:rPr lang="ja-JP" altLang="en-US" sz="900">
                <a:solidFill>
                  <a:srgbClr val="BFD0DE"/>
                </a:solidFill>
                <a:latin typeface="Meiryo"/>
                <a:ea typeface="Meiryo"/>
              </a:rPr>
              <a:t>活用の安全な拡大を支えます。</a:t>
            </a:r>
          </a:p>
        </p:txBody>
      </p:sp>
      <p:sp>
        <p:nvSpPr>
          <p:cNvPr id="10" name="テキスト ボックス 9">
            <a:extLst>
              <a:ext uri="{FF2B5EF4-FFF2-40B4-BE49-F238E27FC236}">
                <a16:creationId xmlns:a16="http://schemas.microsoft.com/office/drawing/2014/main" id="{76502203-A73C-B741-A106-D6109E607EAA}"/>
              </a:ext>
            </a:extLst>
          </p:cNvPr>
          <p:cNvSpPr txBox="1"/>
          <p:nvPr/>
        </p:nvSpPr>
        <p:spPr>
          <a:xfrm>
            <a:off x="304800" y="9067800"/>
            <a:ext cx="1803400" cy="508000"/>
          </a:xfrm>
          <a:prstGeom prst="rect">
            <a:avLst/>
          </a:prstGeom>
          <a:noFill/>
        </p:spPr>
        <p:txBody>
          <a:bodyPr vertOverflow="overflow" vert="horz" wrap="square" rtlCol="0" anchor="t" anchorCtr="0">
            <a:noAutofit/>
          </a:bodyPr>
          <a:lstStyle/>
          <a:p>
            <a:pPr algn="l"/>
            <a:r>
              <a:rPr lang="ja-JP" altLang="en-US" sz="750">
                <a:solidFill>
                  <a:srgbClr val="BFD0DE"/>
                </a:solidFill>
                <a:latin typeface="Meiryo"/>
                <a:ea typeface="Meiryo"/>
              </a:rPr>
              <a:t>提供：</a:t>
            </a:r>
            <a:r>
              <a:rPr lang="en" altLang="ja-JP" sz="750">
                <a:solidFill>
                  <a:srgbClr val="BFD0DE"/>
                </a:solidFill>
                <a:latin typeface="Meiryo"/>
                <a:ea typeface="Meiryo"/>
              </a:rPr>
              <a:t>JSOL
go.jsol.co.jp/lp/inquiry/00009</a:t>
            </a:r>
            <a:endParaRPr lang="ja-JP" altLang="en-US" sz="750">
              <a:solidFill>
                <a:srgbClr val="BFD0DE"/>
              </a:solidFill>
              <a:latin typeface="Meiryo"/>
              <a:ea typeface="Meiryo"/>
            </a:endParaRPr>
          </a:p>
        </p:txBody>
      </p:sp>
      <p:sp>
        <p:nvSpPr>
          <p:cNvPr id="11" name="テキスト ボックス 10">
            <a:extLst>
              <a:ext uri="{FF2B5EF4-FFF2-40B4-BE49-F238E27FC236}">
                <a16:creationId xmlns:a16="http://schemas.microsoft.com/office/drawing/2014/main" id="{633662A6-F031-6A47-B7DE-6A2F7F92DFF4}"/>
              </a:ext>
            </a:extLst>
          </p:cNvPr>
          <p:cNvSpPr txBox="1"/>
          <p:nvPr/>
        </p:nvSpPr>
        <p:spPr>
          <a:xfrm>
            <a:off x="2717800" y="4140200"/>
            <a:ext cx="3683000" cy="406400"/>
          </a:xfrm>
          <a:prstGeom prst="rect">
            <a:avLst/>
          </a:prstGeom>
          <a:noFill/>
        </p:spPr>
        <p:txBody>
          <a:bodyPr vertOverflow="overflow" vert="horz" wrap="square" rtlCol="0" anchor="t" anchorCtr="0">
            <a:noAutofit/>
          </a:bodyPr>
          <a:lstStyle/>
          <a:p>
            <a:pPr algn="l"/>
            <a:r>
              <a:rPr lang="ja-JP" altLang="en-US" sz="2100" b="1">
                <a:solidFill>
                  <a:srgbClr val="1C2B4A"/>
                </a:solidFill>
                <a:latin typeface="Meiryo"/>
                <a:ea typeface="Meiryo"/>
              </a:rPr>
              <a:t>なぜ、</a:t>
            </a:r>
            <a:r>
              <a:rPr lang="en" altLang="ja-JP" sz="2100" b="1">
                <a:solidFill>
                  <a:srgbClr val="1C2B4A"/>
                </a:solidFill>
                <a:latin typeface="Meiryo"/>
                <a:ea typeface="Meiryo"/>
              </a:rPr>
              <a:t>AI</a:t>
            </a:r>
            <a:r>
              <a:rPr lang="ja-JP" altLang="en-US" sz="2100" b="1">
                <a:solidFill>
                  <a:srgbClr val="1C2B4A"/>
                </a:solidFill>
                <a:latin typeface="Meiryo"/>
                <a:ea typeface="Meiryo"/>
              </a:rPr>
              <a:t>ガバナンスか。</a:t>
            </a:r>
          </a:p>
        </p:txBody>
      </p:sp>
      <p:sp>
        <p:nvSpPr>
          <p:cNvPr id="13" name="テキスト ボックス 12">
            <a:extLst>
              <a:ext uri="{FF2B5EF4-FFF2-40B4-BE49-F238E27FC236}">
                <a16:creationId xmlns:a16="http://schemas.microsoft.com/office/drawing/2014/main" id="{037E6103-941E-EC42-B5C0-921D7D748A64}"/>
              </a:ext>
            </a:extLst>
          </p:cNvPr>
          <p:cNvSpPr txBox="1"/>
          <p:nvPr/>
        </p:nvSpPr>
        <p:spPr>
          <a:xfrm>
            <a:off x="2717800" y="47244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01</a:t>
            </a:r>
            <a:endParaRPr lang="ja-JP" altLang="en-US" b="1">
              <a:solidFill>
                <a:srgbClr val="F7B815"/>
              </a:solidFill>
              <a:latin typeface="Meiryo"/>
              <a:ea typeface="Meiryo"/>
            </a:endParaRPr>
          </a:p>
        </p:txBody>
      </p:sp>
      <p:sp>
        <p:nvSpPr>
          <p:cNvPr id="14" name="テキスト ボックス 13">
            <a:extLst>
              <a:ext uri="{FF2B5EF4-FFF2-40B4-BE49-F238E27FC236}">
                <a16:creationId xmlns:a16="http://schemas.microsoft.com/office/drawing/2014/main" id="{DD60C55A-8F84-B446-839E-F95A9230CAF0}"/>
              </a:ext>
            </a:extLst>
          </p:cNvPr>
          <p:cNvSpPr txBox="1"/>
          <p:nvPr/>
        </p:nvSpPr>
        <p:spPr>
          <a:xfrm>
            <a:off x="3276600" y="47498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自律型エージェントの台頭</a:t>
            </a:r>
          </a:p>
        </p:txBody>
      </p:sp>
      <p:sp>
        <p:nvSpPr>
          <p:cNvPr id="15" name="テキスト ボックス 14">
            <a:extLst>
              <a:ext uri="{FF2B5EF4-FFF2-40B4-BE49-F238E27FC236}">
                <a16:creationId xmlns:a16="http://schemas.microsoft.com/office/drawing/2014/main" id="{9EFFCCCB-0878-0E4D-9806-4758D4092707}"/>
              </a:ext>
            </a:extLst>
          </p:cNvPr>
          <p:cNvSpPr txBox="1"/>
          <p:nvPr/>
        </p:nvSpPr>
        <p:spPr>
          <a:xfrm>
            <a:off x="3276600" y="5054600"/>
            <a:ext cx="3124200" cy="4572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AI</a:t>
            </a:r>
            <a:r>
              <a:rPr lang="ja-JP" altLang="en-US" sz="900">
                <a:solidFill>
                  <a:srgbClr val="333333"/>
                </a:solidFill>
                <a:latin typeface="Meiryo"/>
                <a:ea typeface="Meiryo"/>
              </a:rPr>
              <a:t>が外部</a:t>
            </a:r>
            <a:r>
              <a:rPr lang="en" altLang="ja-JP" sz="900">
                <a:solidFill>
                  <a:srgbClr val="333333"/>
                </a:solidFill>
                <a:latin typeface="Meiryo"/>
                <a:ea typeface="Meiryo"/>
              </a:rPr>
              <a:t>API</a:t>
            </a:r>
            <a:r>
              <a:rPr lang="ja-JP" altLang="en-US" sz="900">
                <a:solidFill>
                  <a:srgbClr val="333333"/>
                </a:solidFill>
                <a:latin typeface="Meiryo"/>
                <a:ea typeface="Meiryo"/>
              </a:rPr>
              <a:t>や</a:t>
            </a:r>
            <a:r>
              <a:rPr lang="en" altLang="ja-JP" sz="900">
                <a:solidFill>
                  <a:srgbClr val="333333"/>
                </a:solidFill>
                <a:latin typeface="Meiryo"/>
                <a:ea typeface="Meiryo"/>
              </a:rPr>
              <a:t>DB</a:t>
            </a:r>
            <a:r>
              <a:rPr lang="ja-JP" altLang="en-US" sz="900">
                <a:solidFill>
                  <a:srgbClr val="333333"/>
                </a:solidFill>
                <a:latin typeface="Meiryo"/>
                <a:ea typeface="Meiryo"/>
              </a:rPr>
              <a:t>を自律操作する時代。従来の監視では追いつきません。</a:t>
            </a:r>
          </a:p>
        </p:txBody>
      </p:sp>
      <p:sp>
        <p:nvSpPr>
          <p:cNvPr id="16" name="テキスト ボックス 15">
            <a:extLst>
              <a:ext uri="{FF2B5EF4-FFF2-40B4-BE49-F238E27FC236}">
                <a16:creationId xmlns:a16="http://schemas.microsoft.com/office/drawing/2014/main" id="{160AD626-BD66-A346-933B-9712C514DA02}"/>
              </a:ext>
            </a:extLst>
          </p:cNvPr>
          <p:cNvSpPr txBox="1"/>
          <p:nvPr/>
        </p:nvSpPr>
        <p:spPr>
          <a:xfrm>
            <a:off x="2717800" y="55626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02</a:t>
            </a:r>
            <a:endParaRPr lang="ja-JP" altLang="en-US" b="1">
              <a:solidFill>
                <a:srgbClr val="F7B815"/>
              </a:solidFill>
              <a:latin typeface="Meiryo"/>
              <a:ea typeface="Meiryo"/>
            </a:endParaRPr>
          </a:p>
        </p:txBody>
      </p:sp>
      <p:sp>
        <p:nvSpPr>
          <p:cNvPr id="17" name="テキスト ボックス 16">
            <a:extLst>
              <a:ext uri="{FF2B5EF4-FFF2-40B4-BE49-F238E27FC236}">
                <a16:creationId xmlns:a16="http://schemas.microsoft.com/office/drawing/2014/main" id="{1A95332C-7384-A74D-AE61-607A482CB639}"/>
              </a:ext>
            </a:extLst>
          </p:cNvPr>
          <p:cNvSpPr txBox="1"/>
          <p:nvPr/>
        </p:nvSpPr>
        <p:spPr>
          <a:xfrm>
            <a:off x="3276600" y="55880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シャドー</a:t>
            </a:r>
            <a:r>
              <a:rPr lang="en" altLang="ja-JP" sz="1300" b="1">
                <a:solidFill>
                  <a:srgbClr val="1C2B4A"/>
                </a:solidFill>
                <a:latin typeface="Meiryo"/>
                <a:ea typeface="Meiryo"/>
              </a:rPr>
              <a:t>AI</a:t>
            </a:r>
            <a:r>
              <a:rPr lang="ja-JP" altLang="en-US" sz="1300" b="1">
                <a:solidFill>
                  <a:srgbClr val="1C2B4A"/>
                </a:solidFill>
                <a:latin typeface="Meiryo"/>
                <a:ea typeface="Meiryo"/>
              </a:rPr>
              <a:t>による管理不全</a:t>
            </a:r>
          </a:p>
        </p:txBody>
      </p:sp>
      <p:sp>
        <p:nvSpPr>
          <p:cNvPr id="18" name="テキスト ボックス 17">
            <a:extLst>
              <a:ext uri="{FF2B5EF4-FFF2-40B4-BE49-F238E27FC236}">
                <a16:creationId xmlns:a16="http://schemas.microsoft.com/office/drawing/2014/main" id="{AF9B7078-0E0C-0447-88CB-B75A83B187DD}"/>
              </a:ext>
            </a:extLst>
          </p:cNvPr>
          <p:cNvSpPr txBox="1"/>
          <p:nvPr/>
        </p:nvSpPr>
        <p:spPr>
          <a:xfrm>
            <a:off x="3276600" y="5892800"/>
            <a:ext cx="3124200" cy="4572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IT</a:t>
            </a:r>
            <a:r>
              <a:rPr lang="ja-JP" altLang="en-US" sz="900">
                <a:solidFill>
                  <a:srgbClr val="333333"/>
                </a:solidFill>
                <a:latin typeface="Meiryo"/>
                <a:ea typeface="Meiryo"/>
              </a:rPr>
              <a:t>部門が把握できない</a:t>
            </a:r>
            <a:r>
              <a:rPr lang="en" altLang="ja-JP" sz="900">
                <a:solidFill>
                  <a:srgbClr val="333333"/>
                </a:solidFill>
                <a:latin typeface="Meiryo"/>
                <a:ea typeface="Meiryo"/>
              </a:rPr>
              <a:t>AI</a:t>
            </a:r>
            <a:r>
              <a:rPr lang="ja-JP" altLang="en-US" sz="900">
                <a:solidFill>
                  <a:srgbClr val="333333"/>
                </a:solidFill>
                <a:latin typeface="Meiryo"/>
                <a:ea typeface="Meiryo"/>
              </a:rPr>
              <a:t>利用が、組織のセキュリティの盲点に。</a:t>
            </a:r>
          </a:p>
        </p:txBody>
      </p:sp>
      <p:sp>
        <p:nvSpPr>
          <p:cNvPr id="19" name="テキスト ボックス 18">
            <a:extLst>
              <a:ext uri="{FF2B5EF4-FFF2-40B4-BE49-F238E27FC236}">
                <a16:creationId xmlns:a16="http://schemas.microsoft.com/office/drawing/2014/main" id="{3B672AEE-189E-7A45-A244-98FE1E081465}"/>
              </a:ext>
            </a:extLst>
          </p:cNvPr>
          <p:cNvSpPr txBox="1"/>
          <p:nvPr/>
        </p:nvSpPr>
        <p:spPr>
          <a:xfrm>
            <a:off x="2717800" y="64008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03</a:t>
            </a:r>
            <a:endParaRPr lang="ja-JP" altLang="en-US" b="1">
              <a:solidFill>
                <a:srgbClr val="F7B815"/>
              </a:solidFill>
              <a:latin typeface="Meiryo"/>
              <a:ea typeface="Meiryo"/>
            </a:endParaRPr>
          </a:p>
        </p:txBody>
      </p:sp>
      <p:sp>
        <p:nvSpPr>
          <p:cNvPr id="20" name="テキスト ボックス 19">
            <a:extLst>
              <a:ext uri="{FF2B5EF4-FFF2-40B4-BE49-F238E27FC236}">
                <a16:creationId xmlns:a16="http://schemas.microsoft.com/office/drawing/2014/main" id="{82980855-84FB-8B4A-853D-B9752CE50055}"/>
              </a:ext>
            </a:extLst>
          </p:cNvPr>
          <p:cNvSpPr txBox="1"/>
          <p:nvPr/>
        </p:nvSpPr>
        <p:spPr>
          <a:xfrm>
            <a:off x="3276600" y="64262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新たな脆弱性の出現</a:t>
            </a:r>
          </a:p>
        </p:txBody>
      </p:sp>
      <p:sp>
        <p:nvSpPr>
          <p:cNvPr id="21" name="テキスト ボックス 20">
            <a:extLst>
              <a:ext uri="{FF2B5EF4-FFF2-40B4-BE49-F238E27FC236}">
                <a16:creationId xmlns:a16="http://schemas.microsoft.com/office/drawing/2014/main" id="{C4D69F5B-7556-554F-ACF1-993009C931B6}"/>
              </a:ext>
            </a:extLst>
          </p:cNvPr>
          <p:cNvSpPr txBox="1"/>
          <p:nvPr/>
        </p:nvSpPr>
        <p:spPr>
          <a:xfrm>
            <a:off x="3276600" y="6731000"/>
            <a:ext cx="3124200" cy="4572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プロンプトインジェクションは</a:t>
            </a:r>
            <a:r>
              <a:rPr lang="en" altLang="ja-JP" sz="900">
                <a:solidFill>
                  <a:srgbClr val="333333"/>
                </a:solidFill>
                <a:latin typeface="Meiryo"/>
                <a:ea typeface="Meiryo"/>
              </a:rPr>
              <a:t>OWASP Top 10 for LLM 2025</a:t>
            </a:r>
            <a:r>
              <a:rPr lang="ja-JP" altLang="en-US" sz="900">
                <a:solidFill>
                  <a:srgbClr val="333333"/>
                </a:solidFill>
                <a:latin typeface="Meiryo"/>
                <a:ea typeface="Meiryo"/>
              </a:rPr>
              <a:t>の最上位リスク。</a:t>
            </a:r>
          </a:p>
        </p:txBody>
      </p:sp>
      <p:sp>
        <p:nvSpPr>
          <p:cNvPr id="22" name="テキスト ボックス 21">
            <a:extLst>
              <a:ext uri="{FF2B5EF4-FFF2-40B4-BE49-F238E27FC236}">
                <a16:creationId xmlns:a16="http://schemas.microsoft.com/office/drawing/2014/main" id="{A7CE39B4-A148-7D4F-839D-D89FCE29107D}"/>
              </a:ext>
            </a:extLst>
          </p:cNvPr>
          <p:cNvSpPr txBox="1"/>
          <p:nvPr/>
        </p:nvSpPr>
        <p:spPr>
          <a:xfrm>
            <a:off x="2717800" y="7518400"/>
            <a:ext cx="3683000" cy="381000"/>
          </a:xfrm>
          <a:prstGeom prst="rect">
            <a:avLst/>
          </a:prstGeom>
          <a:noFill/>
        </p:spPr>
        <p:txBody>
          <a:bodyPr vertOverflow="overflow" vert="horz" wrap="square" rtlCol="0" anchor="t" anchorCtr="0">
            <a:noAutofit/>
          </a:bodyPr>
          <a:lstStyle/>
          <a:p>
            <a:pPr algn="l"/>
            <a:r>
              <a:rPr lang="ja-JP" altLang="en-US" sz="2000" b="1">
                <a:solidFill>
                  <a:srgbClr val="1C2B4A"/>
                </a:solidFill>
                <a:latin typeface="Meiryo"/>
                <a:ea typeface="Meiryo"/>
              </a:rPr>
              <a:t>なぜ、</a:t>
            </a:r>
            <a:r>
              <a:rPr lang="en" altLang="ja-JP" sz="2000" b="1">
                <a:solidFill>
                  <a:srgbClr val="1C2B4A"/>
                </a:solidFill>
                <a:latin typeface="Meiryo"/>
                <a:ea typeface="Meiryo"/>
              </a:rPr>
              <a:t>WitnessAI</a:t>
            </a:r>
            <a:r>
              <a:rPr lang="ja-JP" altLang="en-US" sz="2000" b="1">
                <a:solidFill>
                  <a:srgbClr val="1C2B4A"/>
                </a:solidFill>
                <a:latin typeface="Meiryo"/>
                <a:ea typeface="Meiryo"/>
              </a:rPr>
              <a:t>なのか。</a:t>
            </a:r>
          </a:p>
        </p:txBody>
      </p:sp>
      <p:sp>
        <p:nvSpPr>
          <p:cNvPr id="24" name="テキスト ボックス 23">
            <a:extLst>
              <a:ext uri="{FF2B5EF4-FFF2-40B4-BE49-F238E27FC236}">
                <a16:creationId xmlns:a16="http://schemas.microsoft.com/office/drawing/2014/main" id="{9397192E-AF75-4649-B1C6-F57F7BD74215}"/>
              </a:ext>
            </a:extLst>
          </p:cNvPr>
          <p:cNvSpPr txBox="1"/>
          <p:nvPr/>
        </p:nvSpPr>
        <p:spPr>
          <a:xfrm>
            <a:off x="2717800" y="7975600"/>
            <a:ext cx="3683000" cy="6350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エンドポイントに依存しないエージェントレス型。あらゆる</a:t>
            </a:r>
            <a:r>
              <a:rPr lang="en" altLang="ja-JP" sz="950">
                <a:solidFill>
                  <a:srgbClr val="333333"/>
                </a:solidFill>
                <a:latin typeface="Meiryo"/>
                <a:ea typeface="Meiryo"/>
              </a:rPr>
              <a:t>AI</a:t>
            </a:r>
            <a:r>
              <a:rPr lang="ja-JP" altLang="en-US" sz="950">
                <a:solidFill>
                  <a:srgbClr val="333333"/>
                </a:solidFill>
                <a:latin typeface="Meiryo"/>
                <a:ea typeface="Meiryo"/>
              </a:rPr>
              <a:t>利用を可視化し、単一ポリシーで統制します。</a:t>
            </a:r>
          </a:p>
        </p:txBody>
      </p:sp>
      <p:sp>
        <p:nvSpPr>
          <p:cNvPr id="26" name="テキスト ボックス 25">
            <a:extLst>
              <a:ext uri="{FF2B5EF4-FFF2-40B4-BE49-F238E27FC236}">
                <a16:creationId xmlns:a16="http://schemas.microsoft.com/office/drawing/2014/main" id="{6CF7BFDB-DBCE-1E46-9299-0F075C207B53}"/>
              </a:ext>
            </a:extLst>
          </p:cNvPr>
          <p:cNvSpPr txBox="1"/>
          <p:nvPr/>
        </p:nvSpPr>
        <p:spPr>
          <a:xfrm>
            <a:off x="279400" y="8229600"/>
            <a:ext cx="1930400" cy="508000"/>
          </a:xfrm>
          <a:prstGeom prst="rect">
            <a:avLst/>
          </a:prstGeom>
          <a:noFill/>
        </p:spPr>
        <p:txBody>
          <a:bodyPr vertOverflow="overflow" vert="horz" wrap="square" rtlCol="0" anchor="ctr" anchorCtr="0">
            <a:noAutofit/>
          </a:bodyPr>
          <a:lstStyle/>
          <a:p>
            <a:pPr algn="l"/>
            <a:r>
              <a:rPr lang="ja-JP" altLang="en-US" sz="900" b="1">
                <a:solidFill>
                  <a:srgbClr val="F7B815"/>
                </a:solidFill>
                <a:latin typeface="Meiryo"/>
                <a:ea typeface="Meiryo"/>
              </a:rPr>
              <a:t>▶ 機能・提供メニューは
　裏面をご覧ください</a:t>
            </a:r>
          </a:p>
        </p:txBody>
      </p:sp>
    </p:spTree>
    <p:extLst>
      <p:ext uri="{BB962C8B-B14F-4D97-AF65-F5344CB8AC3E}">
        <p14:creationId xmlns:p14="http://schemas.microsoft.com/office/powerpoint/2010/main" val="2611669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E63FEB2-3828-7249-F64A-D05E750B3669}"/>
              </a:ext>
            </a:extLst>
          </p:cNvPr>
          <p:cNvPicPr>
            <a:picLocks noChangeAspect="1"/>
          </p:cNvPicPr>
          <p:nvPr/>
        </p:nvPicPr>
        <p:blipFill rotWithShape="1">
          <a:blip r:embed="rId2"/>
          <a:srcRect t="3785" r="3785"/>
          <a:stretch/>
        </p:blipFill>
        <p:spPr>
          <a:xfrm>
            <a:off x="1904999" y="0"/>
            <a:ext cx="4953001" cy="3874524"/>
          </a:xfrm>
          <a:prstGeom prst="rect">
            <a:avLst/>
          </a:prstGeom>
        </p:spPr>
      </p:pic>
      <p:pic>
        <p:nvPicPr>
          <p:cNvPr id="3" name="図 2">
            <a:extLst>
              <a:ext uri="{FF2B5EF4-FFF2-40B4-BE49-F238E27FC236}">
                <a16:creationId xmlns:a16="http://schemas.microsoft.com/office/drawing/2014/main" id="{A7B63763-87BA-D5BA-A80B-D31D9F7695BB}"/>
              </a:ext>
            </a:extLst>
          </p:cNvPr>
          <p:cNvPicPr>
            <a:picLocks noChangeAspect="1"/>
          </p:cNvPicPr>
          <p:nvPr/>
        </p:nvPicPr>
        <p:blipFill>
          <a:blip r:embed="rId3"/>
          <a:stretch>
            <a:fillRect/>
          </a:stretch>
        </p:blipFill>
        <p:spPr>
          <a:xfrm>
            <a:off x="2717800" y="8686800"/>
            <a:ext cx="3302000" cy="1016000"/>
          </a:xfrm>
          <a:prstGeom prst="rect">
            <a:avLst/>
          </a:prstGeom>
        </p:spPr>
      </p:pic>
      <p:sp>
        <p:nvSpPr>
          <p:cNvPr id="4" name="正方形/長方形 3">
            <a:extLst>
              <a:ext uri="{FF2B5EF4-FFF2-40B4-BE49-F238E27FC236}">
                <a16:creationId xmlns:a16="http://schemas.microsoft.com/office/drawing/2014/main" id="{91AFB51F-3CEB-9E42-A294-CBC56ABEDFC9}"/>
              </a:ext>
            </a:extLst>
          </p:cNvPr>
          <p:cNvSpPr/>
          <p:nvPr/>
        </p:nvSpPr>
        <p:spPr>
          <a:xfrm>
            <a:off x="0" y="0"/>
            <a:ext cx="2413000" cy="9906000"/>
          </a:xfrm>
          <a:prstGeom prst="rect">
            <a:avLst/>
          </a:prstGeom>
          <a:solidFill>
            <a:srgbClr val="1C2B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平行四辺形 4">
            <a:extLst>
              <a:ext uri="{FF2B5EF4-FFF2-40B4-BE49-F238E27FC236}">
                <a16:creationId xmlns:a16="http://schemas.microsoft.com/office/drawing/2014/main" id="{86692623-3E25-6541-A9D9-3F7F637CC13B}"/>
              </a:ext>
            </a:extLst>
          </p:cNvPr>
          <p:cNvSpPr/>
          <p:nvPr/>
        </p:nvSpPr>
        <p:spPr>
          <a:xfrm>
            <a:off x="1219200" y="3403600"/>
            <a:ext cx="2540000" cy="5588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6AA98C7D-ACA3-D94A-8FB0-2826A49CB62D}"/>
              </a:ext>
            </a:extLst>
          </p:cNvPr>
          <p:cNvSpPr txBox="1"/>
          <p:nvPr/>
        </p:nvSpPr>
        <p:spPr>
          <a:xfrm>
            <a:off x="203200" y="3733800"/>
            <a:ext cx="1397000" cy="1143000"/>
          </a:xfrm>
          <a:prstGeom prst="rect">
            <a:avLst/>
          </a:prstGeom>
          <a:noFill/>
        </p:spPr>
        <p:txBody>
          <a:bodyPr vertOverflow="overflow" vert="horz" wrap="none" rtlCol="0" anchor="t" anchorCtr="0">
            <a:noAutofit/>
          </a:bodyPr>
          <a:lstStyle/>
          <a:p>
            <a:pPr algn="l"/>
            <a:r>
              <a:rPr lang="ja-JP" altLang="en-US" sz="7600" b="1">
                <a:solidFill>
                  <a:srgbClr val="F7B815"/>
                </a:solidFill>
                <a:latin typeface="Meiryo"/>
                <a:ea typeface="Meiryo"/>
              </a:rPr>
              <a:t>“</a:t>
            </a:r>
          </a:p>
        </p:txBody>
      </p:sp>
      <p:sp>
        <p:nvSpPr>
          <p:cNvPr id="7" name="テキスト ボックス 6">
            <a:extLst>
              <a:ext uri="{FF2B5EF4-FFF2-40B4-BE49-F238E27FC236}">
                <a16:creationId xmlns:a16="http://schemas.microsoft.com/office/drawing/2014/main" id="{353904B2-0B07-4441-B919-05D992AF7D8D}"/>
              </a:ext>
            </a:extLst>
          </p:cNvPr>
          <p:cNvSpPr txBox="1"/>
          <p:nvPr/>
        </p:nvSpPr>
        <p:spPr>
          <a:xfrm>
            <a:off x="279400" y="5003800"/>
            <a:ext cx="2057400" cy="863600"/>
          </a:xfrm>
          <a:prstGeom prst="rect">
            <a:avLst/>
          </a:prstGeom>
          <a:noFill/>
        </p:spPr>
        <p:txBody>
          <a:bodyPr vertOverflow="overflow" vert="horz" wrap="square" rtlCol="0" anchor="t" anchorCtr="0">
            <a:noAutofit/>
          </a:bodyPr>
          <a:lstStyle/>
          <a:p>
            <a:pPr algn="l"/>
            <a:r>
              <a:rPr lang="en" altLang="ja-JP" sz="1850" b="1">
                <a:solidFill>
                  <a:srgbClr val="FFFFFF"/>
                </a:solidFill>
                <a:latin typeface="Meiryo"/>
                <a:ea typeface="Meiryo"/>
              </a:rPr>
              <a:t>AI</a:t>
            </a:r>
            <a:r>
              <a:rPr lang="ja-JP" altLang="en-US" sz="1850" b="1">
                <a:solidFill>
                  <a:srgbClr val="FFFFFF"/>
                </a:solidFill>
                <a:latin typeface="Meiryo"/>
                <a:ea typeface="Meiryo"/>
              </a:rPr>
              <a:t>の利用を、
止めずに、
守る。</a:t>
            </a:r>
          </a:p>
        </p:txBody>
      </p:sp>
      <p:sp>
        <p:nvSpPr>
          <p:cNvPr id="8" name="テキスト ボックス 7">
            <a:extLst>
              <a:ext uri="{FF2B5EF4-FFF2-40B4-BE49-F238E27FC236}">
                <a16:creationId xmlns:a16="http://schemas.microsoft.com/office/drawing/2014/main" id="{0120EFC2-C951-A34A-B7A2-2100D0216324}"/>
              </a:ext>
            </a:extLst>
          </p:cNvPr>
          <p:cNvSpPr txBox="1"/>
          <p:nvPr/>
        </p:nvSpPr>
        <p:spPr>
          <a:xfrm>
            <a:off x="279400" y="6146800"/>
            <a:ext cx="1930400" cy="1397000"/>
          </a:xfrm>
          <a:prstGeom prst="rect">
            <a:avLst/>
          </a:prstGeom>
          <a:noFill/>
        </p:spPr>
        <p:txBody>
          <a:bodyPr vertOverflow="overflow" vert="horz" wrap="square" rtlCol="0" anchor="t" anchorCtr="0">
            <a:noAutofit/>
          </a:bodyPr>
          <a:lstStyle/>
          <a:p>
            <a:pPr algn="l"/>
            <a:r>
              <a:rPr lang="en" altLang="ja-JP" sz="900">
                <a:solidFill>
                  <a:srgbClr val="BFD0DE"/>
                </a:solidFill>
                <a:latin typeface="Meiryo"/>
                <a:ea typeface="Meiryo"/>
              </a:rPr>
              <a:t>WitnessAI</a:t>
            </a:r>
            <a:r>
              <a:rPr lang="ja-JP" altLang="en-US" sz="900">
                <a:solidFill>
                  <a:srgbClr val="BFD0DE"/>
                </a:solidFill>
                <a:latin typeface="Meiryo"/>
                <a:ea typeface="Meiryo"/>
              </a:rPr>
              <a:t>は、ユーザと</a:t>
            </a:r>
            <a:r>
              <a:rPr lang="en" altLang="ja-JP" sz="900">
                <a:solidFill>
                  <a:srgbClr val="BFD0DE"/>
                </a:solidFill>
                <a:latin typeface="Meiryo"/>
                <a:ea typeface="Meiryo"/>
              </a:rPr>
              <a:t>AI</a:t>
            </a:r>
            <a:r>
              <a:rPr lang="ja-JP" altLang="en-US" sz="900">
                <a:solidFill>
                  <a:srgbClr val="BFD0DE"/>
                </a:solidFill>
                <a:latin typeface="Meiryo"/>
                <a:ea typeface="Meiryo"/>
              </a:rPr>
              <a:t>の間に立つ「</a:t>
            </a:r>
            <a:r>
              <a:rPr lang="en" altLang="ja-JP" sz="900">
                <a:solidFill>
                  <a:srgbClr val="BFD0DE"/>
                </a:solidFill>
                <a:latin typeface="Meiryo"/>
                <a:ea typeface="Meiryo"/>
              </a:rPr>
              <a:t>AI Security Gateway</a:t>
            </a:r>
            <a:r>
              <a:rPr lang="ja-JP" altLang="en" sz="900">
                <a:solidFill>
                  <a:srgbClr val="BFD0DE"/>
                </a:solidFill>
                <a:latin typeface="Meiryo"/>
                <a:ea typeface="Meiryo"/>
              </a:rPr>
              <a:t>」。</a:t>
            </a:r>
            <a:r>
              <a:rPr lang="ja-JP" altLang="en-US" sz="900">
                <a:solidFill>
                  <a:srgbClr val="BFD0DE"/>
                </a:solidFill>
                <a:latin typeface="Meiryo"/>
                <a:ea typeface="Meiryo"/>
              </a:rPr>
              <a:t>生成</a:t>
            </a:r>
            <a:r>
              <a:rPr lang="en" altLang="ja-JP" sz="900">
                <a:solidFill>
                  <a:srgbClr val="BFD0DE"/>
                </a:solidFill>
                <a:latin typeface="Meiryo"/>
                <a:ea typeface="Meiryo"/>
              </a:rPr>
              <a:t>AI</a:t>
            </a:r>
            <a:r>
              <a:rPr lang="ja-JP" altLang="en-US" sz="900">
                <a:solidFill>
                  <a:srgbClr val="BFD0DE"/>
                </a:solidFill>
                <a:latin typeface="Meiryo"/>
                <a:ea typeface="Meiryo"/>
              </a:rPr>
              <a:t>活用の安全な拡大を支えます。</a:t>
            </a:r>
          </a:p>
        </p:txBody>
      </p:sp>
      <p:sp>
        <p:nvSpPr>
          <p:cNvPr id="10" name="テキスト ボックス 9">
            <a:extLst>
              <a:ext uri="{FF2B5EF4-FFF2-40B4-BE49-F238E27FC236}">
                <a16:creationId xmlns:a16="http://schemas.microsoft.com/office/drawing/2014/main" id="{76502203-A73C-B741-A106-D6109E607EAA}"/>
              </a:ext>
            </a:extLst>
          </p:cNvPr>
          <p:cNvSpPr txBox="1"/>
          <p:nvPr/>
        </p:nvSpPr>
        <p:spPr>
          <a:xfrm>
            <a:off x="304800" y="9067800"/>
            <a:ext cx="1803400" cy="508000"/>
          </a:xfrm>
          <a:prstGeom prst="rect">
            <a:avLst/>
          </a:prstGeom>
          <a:noFill/>
        </p:spPr>
        <p:txBody>
          <a:bodyPr vertOverflow="overflow" vert="horz" wrap="square" rtlCol="0" anchor="t" anchorCtr="0">
            <a:noAutofit/>
          </a:bodyPr>
          <a:lstStyle/>
          <a:p>
            <a:pPr algn="l"/>
            <a:r>
              <a:rPr lang="ja-JP" altLang="en-US" sz="750">
                <a:solidFill>
                  <a:srgbClr val="BFD0DE"/>
                </a:solidFill>
                <a:latin typeface="Meiryo"/>
                <a:ea typeface="Meiryo"/>
              </a:rPr>
              <a:t>提供：</a:t>
            </a:r>
            <a:r>
              <a:rPr lang="en" altLang="ja-JP" sz="750" dirty="0">
                <a:solidFill>
                  <a:srgbClr val="BFD0DE"/>
                </a:solidFill>
                <a:latin typeface="Meiryo"/>
                <a:ea typeface="Meiryo"/>
              </a:rPr>
              <a:t>JSOL
</a:t>
            </a:r>
            <a:r>
              <a:rPr lang="en" altLang="ja-JP" sz="750" dirty="0" err="1">
                <a:solidFill>
                  <a:srgbClr val="BFD0DE"/>
                </a:solidFill>
                <a:latin typeface="Meiryo"/>
                <a:ea typeface="Meiryo"/>
              </a:rPr>
              <a:t>go.jsol.co.jp</a:t>
            </a:r>
            <a:r>
              <a:rPr lang="en" altLang="ja-JP" sz="750" dirty="0">
                <a:solidFill>
                  <a:srgbClr val="BFD0DE"/>
                </a:solidFill>
                <a:latin typeface="Meiryo"/>
                <a:ea typeface="Meiryo"/>
              </a:rPr>
              <a:t>/</a:t>
            </a:r>
            <a:r>
              <a:rPr lang="en" altLang="ja-JP" sz="750" dirty="0" err="1">
                <a:solidFill>
                  <a:srgbClr val="BFD0DE"/>
                </a:solidFill>
                <a:latin typeface="Meiryo"/>
                <a:ea typeface="Meiryo"/>
              </a:rPr>
              <a:t>lp</a:t>
            </a:r>
            <a:r>
              <a:rPr lang="en" altLang="ja-JP" sz="750" dirty="0">
                <a:solidFill>
                  <a:srgbClr val="BFD0DE"/>
                </a:solidFill>
                <a:latin typeface="Meiryo"/>
                <a:ea typeface="Meiryo"/>
              </a:rPr>
              <a:t>/inquiry/00009</a:t>
            </a:r>
            <a:endParaRPr lang="ja-JP" altLang="en-US" sz="750">
              <a:solidFill>
                <a:srgbClr val="BFD0DE"/>
              </a:solidFill>
              <a:latin typeface="Meiryo"/>
              <a:ea typeface="Meiryo"/>
            </a:endParaRPr>
          </a:p>
        </p:txBody>
      </p:sp>
      <p:sp>
        <p:nvSpPr>
          <p:cNvPr id="11" name="テキスト ボックス 10">
            <a:extLst>
              <a:ext uri="{FF2B5EF4-FFF2-40B4-BE49-F238E27FC236}">
                <a16:creationId xmlns:a16="http://schemas.microsoft.com/office/drawing/2014/main" id="{633662A6-F031-6A47-B7DE-6A2F7F92DFF4}"/>
              </a:ext>
            </a:extLst>
          </p:cNvPr>
          <p:cNvSpPr txBox="1"/>
          <p:nvPr/>
        </p:nvSpPr>
        <p:spPr>
          <a:xfrm>
            <a:off x="2717800" y="4140200"/>
            <a:ext cx="3683000" cy="406400"/>
          </a:xfrm>
          <a:prstGeom prst="rect">
            <a:avLst/>
          </a:prstGeom>
          <a:noFill/>
        </p:spPr>
        <p:txBody>
          <a:bodyPr vertOverflow="overflow" vert="horz" wrap="square" rtlCol="0" anchor="t" anchorCtr="0">
            <a:noAutofit/>
          </a:bodyPr>
          <a:lstStyle/>
          <a:p>
            <a:pPr algn="l"/>
            <a:r>
              <a:rPr lang="ja-JP" altLang="en-US" sz="2100" b="1">
                <a:solidFill>
                  <a:srgbClr val="1C2B4A"/>
                </a:solidFill>
                <a:latin typeface="Meiryo"/>
                <a:ea typeface="Meiryo"/>
              </a:rPr>
              <a:t>なぜ、</a:t>
            </a:r>
            <a:r>
              <a:rPr lang="en" altLang="ja-JP" sz="2100" b="1">
                <a:solidFill>
                  <a:srgbClr val="1C2B4A"/>
                </a:solidFill>
                <a:latin typeface="Meiryo"/>
                <a:ea typeface="Meiryo"/>
              </a:rPr>
              <a:t>AI</a:t>
            </a:r>
            <a:r>
              <a:rPr lang="ja-JP" altLang="en-US" sz="2100" b="1">
                <a:solidFill>
                  <a:srgbClr val="1C2B4A"/>
                </a:solidFill>
                <a:latin typeface="Meiryo"/>
                <a:ea typeface="Meiryo"/>
              </a:rPr>
              <a:t>ガバナンスか。</a:t>
            </a:r>
          </a:p>
        </p:txBody>
      </p:sp>
      <p:sp>
        <p:nvSpPr>
          <p:cNvPr id="13" name="テキスト ボックス 12">
            <a:extLst>
              <a:ext uri="{FF2B5EF4-FFF2-40B4-BE49-F238E27FC236}">
                <a16:creationId xmlns:a16="http://schemas.microsoft.com/office/drawing/2014/main" id="{037E6103-941E-EC42-B5C0-921D7D748A64}"/>
              </a:ext>
            </a:extLst>
          </p:cNvPr>
          <p:cNvSpPr txBox="1"/>
          <p:nvPr/>
        </p:nvSpPr>
        <p:spPr>
          <a:xfrm>
            <a:off x="2717800" y="4724400"/>
            <a:ext cx="584200" cy="355600"/>
          </a:xfrm>
          <a:prstGeom prst="rect">
            <a:avLst/>
          </a:prstGeom>
          <a:noFill/>
        </p:spPr>
        <p:txBody>
          <a:bodyPr vertOverflow="overflow" vert="horz" wrap="square" rtlCol="0" anchor="t" anchorCtr="0">
            <a:noAutofit/>
          </a:bodyPr>
          <a:lstStyle/>
          <a:p>
            <a:pPr algn="l"/>
            <a:r>
              <a:rPr lang="en-US" altLang="ja-JP" b="1" dirty="0">
                <a:solidFill>
                  <a:srgbClr val="F7B815"/>
                </a:solidFill>
                <a:latin typeface="Meiryo"/>
                <a:ea typeface="Meiryo"/>
              </a:rPr>
              <a:t>01</a:t>
            </a:r>
            <a:endParaRPr lang="ja-JP" altLang="en-US" b="1">
              <a:solidFill>
                <a:srgbClr val="F7B815"/>
              </a:solidFill>
              <a:latin typeface="Meiryo"/>
              <a:ea typeface="Meiryo"/>
            </a:endParaRPr>
          </a:p>
        </p:txBody>
      </p:sp>
      <p:sp>
        <p:nvSpPr>
          <p:cNvPr id="14" name="テキスト ボックス 13">
            <a:extLst>
              <a:ext uri="{FF2B5EF4-FFF2-40B4-BE49-F238E27FC236}">
                <a16:creationId xmlns:a16="http://schemas.microsoft.com/office/drawing/2014/main" id="{DD60C55A-8F84-B446-839E-F95A9230CAF0}"/>
              </a:ext>
            </a:extLst>
          </p:cNvPr>
          <p:cNvSpPr txBox="1"/>
          <p:nvPr/>
        </p:nvSpPr>
        <p:spPr>
          <a:xfrm>
            <a:off x="3276600" y="47498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自律型エージェントの台頭</a:t>
            </a:r>
          </a:p>
        </p:txBody>
      </p:sp>
      <p:sp>
        <p:nvSpPr>
          <p:cNvPr id="15" name="テキスト ボックス 14">
            <a:extLst>
              <a:ext uri="{FF2B5EF4-FFF2-40B4-BE49-F238E27FC236}">
                <a16:creationId xmlns:a16="http://schemas.microsoft.com/office/drawing/2014/main" id="{9EFFCCCB-0878-0E4D-9806-4758D4092707}"/>
              </a:ext>
            </a:extLst>
          </p:cNvPr>
          <p:cNvSpPr txBox="1"/>
          <p:nvPr/>
        </p:nvSpPr>
        <p:spPr>
          <a:xfrm>
            <a:off x="3276600" y="5054600"/>
            <a:ext cx="3124200" cy="4572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AI</a:t>
            </a:r>
            <a:r>
              <a:rPr lang="ja-JP" altLang="en-US" sz="900">
                <a:solidFill>
                  <a:srgbClr val="333333"/>
                </a:solidFill>
                <a:latin typeface="Meiryo"/>
                <a:ea typeface="Meiryo"/>
              </a:rPr>
              <a:t>が外部</a:t>
            </a:r>
            <a:r>
              <a:rPr lang="en" altLang="ja-JP" sz="900">
                <a:solidFill>
                  <a:srgbClr val="333333"/>
                </a:solidFill>
                <a:latin typeface="Meiryo"/>
                <a:ea typeface="Meiryo"/>
              </a:rPr>
              <a:t>API</a:t>
            </a:r>
            <a:r>
              <a:rPr lang="ja-JP" altLang="en-US" sz="900">
                <a:solidFill>
                  <a:srgbClr val="333333"/>
                </a:solidFill>
                <a:latin typeface="Meiryo"/>
                <a:ea typeface="Meiryo"/>
              </a:rPr>
              <a:t>や</a:t>
            </a:r>
            <a:r>
              <a:rPr lang="en" altLang="ja-JP" sz="900">
                <a:solidFill>
                  <a:srgbClr val="333333"/>
                </a:solidFill>
                <a:latin typeface="Meiryo"/>
                <a:ea typeface="Meiryo"/>
              </a:rPr>
              <a:t>DB</a:t>
            </a:r>
            <a:r>
              <a:rPr lang="ja-JP" altLang="en-US" sz="900">
                <a:solidFill>
                  <a:srgbClr val="333333"/>
                </a:solidFill>
                <a:latin typeface="Meiryo"/>
                <a:ea typeface="Meiryo"/>
              </a:rPr>
              <a:t>を自律操作する時代。従来の監視では追いつきません。</a:t>
            </a:r>
          </a:p>
        </p:txBody>
      </p:sp>
      <p:sp>
        <p:nvSpPr>
          <p:cNvPr id="16" name="テキスト ボックス 15">
            <a:extLst>
              <a:ext uri="{FF2B5EF4-FFF2-40B4-BE49-F238E27FC236}">
                <a16:creationId xmlns:a16="http://schemas.microsoft.com/office/drawing/2014/main" id="{160AD626-BD66-A346-933B-9712C514DA02}"/>
              </a:ext>
            </a:extLst>
          </p:cNvPr>
          <p:cNvSpPr txBox="1"/>
          <p:nvPr/>
        </p:nvSpPr>
        <p:spPr>
          <a:xfrm>
            <a:off x="2717800" y="55626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02</a:t>
            </a:r>
            <a:endParaRPr lang="ja-JP" altLang="en-US" b="1">
              <a:solidFill>
                <a:srgbClr val="F7B815"/>
              </a:solidFill>
              <a:latin typeface="Meiryo"/>
              <a:ea typeface="Meiryo"/>
            </a:endParaRPr>
          </a:p>
        </p:txBody>
      </p:sp>
      <p:sp>
        <p:nvSpPr>
          <p:cNvPr id="17" name="テキスト ボックス 16">
            <a:extLst>
              <a:ext uri="{FF2B5EF4-FFF2-40B4-BE49-F238E27FC236}">
                <a16:creationId xmlns:a16="http://schemas.microsoft.com/office/drawing/2014/main" id="{1A95332C-7384-A74D-AE61-607A482CB639}"/>
              </a:ext>
            </a:extLst>
          </p:cNvPr>
          <p:cNvSpPr txBox="1"/>
          <p:nvPr/>
        </p:nvSpPr>
        <p:spPr>
          <a:xfrm>
            <a:off x="3276600" y="55880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シャドー</a:t>
            </a:r>
            <a:r>
              <a:rPr lang="en" altLang="ja-JP" sz="1300" b="1">
                <a:solidFill>
                  <a:srgbClr val="1C2B4A"/>
                </a:solidFill>
                <a:latin typeface="Meiryo"/>
                <a:ea typeface="Meiryo"/>
              </a:rPr>
              <a:t>AI</a:t>
            </a:r>
            <a:r>
              <a:rPr lang="ja-JP" altLang="en-US" sz="1300" b="1">
                <a:solidFill>
                  <a:srgbClr val="1C2B4A"/>
                </a:solidFill>
                <a:latin typeface="Meiryo"/>
                <a:ea typeface="Meiryo"/>
              </a:rPr>
              <a:t>による管理不全</a:t>
            </a:r>
          </a:p>
        </p:txBody>
      </p:sp>
      <p:sp>
        <p:nvSpPr>
          <p:cNvPr id="18" name="テキスト ボックス 17">
            <a:extLst>
              <a:ext uri="{FF2B5EF4-FFF2-40B4-BE49-F238E27FC236}">
                <a16:creationId xmlns:a16="http://schemas.microsoft.com/office/drawing/2014/main" id="{AF9B7078-0E0C-0447-88CB-B75A83B187DD}"/>
              </a:ext>
            </a:extLst>
          </p:cNvPr>
          <p:cNvSpPr txBox="1"/>
          <p:nvPr/>
        </p:nvSpPr>
        <p:spPr>
          <a:xfrm>
            <a:off x="3276600" y="5892800"/>
            <a:ext cx="3124200" cy="4572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IT</a:t>
            </a:r>
            <a:r>
              <a:rPr lang="ja-JP" altLang="en-US" sz="900">
                <a:solidFill>
                  <a:srgbClr val="333333"/>
                </a:solidFill>
                <a:latin typeface="Meiryo"/>
                <a:ea typeface="Meiryo"/>
              </a:rPr>
              <a:t>部門が把握できない</a:t>
            </a:r>
            <a:r>
              <a:rPr lang="en" altLang="ja-JP" sz="900">
                <a:solidFill>
                  <a:srgbClr val="333333"/>
                </a:solidFill>
                <a:latin typeface="Meiryo"/>
                <a:ea typeface="Meiryo"/>
              </a:rPr>
              <a:t>AI</a:t>
            </a:r>
            <a:r>
              <a:rPr lang="ja-JP" altLang="en-US" sz="900">
                <a:solidFill>
                  <a:srgbClr val="333333"/>
                </a:solidFill>
                <a:latin typeface="Meiryo"/>
                <a:ea typeface="Meiryo"/>
              </a:rPr>
              <a:t>利用が、組織のセキュリティの盲点に。</a:t>
            </a:r>
          </a:p>
        </p:txBody>
      </p:sp>
      <p:sp>
        <p:nvSpPr>
          <p:cNvPr id="19" name="テキスト ボックス 18">
            <a:extLst>
              <a:ext uri="{FF2B5EF4-FFF2-40B4-BE49-F238E27FC236}">
                <a16:creationId xmlns:a16="http://schemas.microsoft.com/office/drawing/2014/main" id="{3B672AEE-189E-7A45-A244-98FE1E081465}"/>
              </a:ext>
            </a:extLst>
          </p:cNvPr>
          <p:cNvSpPr txBox="1"/>
          <p:nvPr/>
        </p:nvSpPr>
        <p:spPr>
          <a:xfrm>
            <a:off x="2717800" y="64008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03</a:t>
            </a:r>
            <a:endParaRPr lang="ja-JP" altLang="en-US" b="1">
              <a:solidFill>
                <a:srgbClr val="F7B815"/>
              </a:solidFill>
              <a:latin typeface="Meiryo"/>
              <a:ea typeface="Meiryo"/>
            </a:endParaRPr>
          </a:p>
        </p:txBody>
      </p:sp>
      <p:sp>
        <p:nvSpPr>
          <p:cNvPr id="20" name="テキスト ボックス 19">
            <a:extLst>
              <a:ext uri="{FF2B5EF4-FFF2-40B4-BE49-F238E27FC236}">
                <a16:creationId xmlns:a16="http://schemas.microsoft.com/office/drawing/2014/main" id="{82980855-84FB-8B4A-853D-B9752CE50055}"/>
              </a:ext>
            </a:extLst>
          </p:cNvPr>
          <p:cNvSpPr txBox="1"/>
          <p:nvPr/>
        </p:nvSpPr>
        <p:spPr>
          <a:xfrm>
            <a:off x="3276600" y="64262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新たな脆弱性の出現</a:t>
            </a:r>
          </a:p>
        </p:txBody>
      </p:sp>
      <p:sp>
        <p:nvSpPr>
          <p:cNvPr id="21" name="テキスト ボックス 20">
            <a:extLst>
              <a:ext uri="{FF2B5EF4-FFF2-40B4-BE49-F238E27FC236}">
                <a16:creationId xmlns:a16="http://schemas.microsoft.com/office/drawing/2014/main" id="{C4D69F5B-7556-554F-ACF1-993009C931B6}"/>
              </a:ext>
            </a:extLst>
          </p:cNvPr>
          <p:cNvSpPr txBox="1"/>
          <p:nvPr/>
        </p:nvSpPr>
        <p:spPr>
          <a:xfrm>
            <a:off x="3276600" y="6731000"/>
            <a:ext cx="3124200" cy="4572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プロンプトインジェクションは</a:t>
            </a:r>
            <a:r>
              <a:rPr lang="en" altLang="ja-JP" sz="900">
                <a:solidFill>
                  <a:srgbClr val="333333"/>
                </a:solidFill>
                <a:latin typeface="Meiryo"/>
                <a:ea typeface="Meiryo"/>
              </a:rPr>
              <a:t>OWASP Top 10 for LLM 2025</a:t>
            </a:r>
            <a:r>
              <a:rPr lang="ja-JP" altLang="en-US" sz="900">
                <a:solidFill>
                  <a:srgbClr val="333333"/>
                </a:solidFill>
                <a:latin typeface="Meiryo"/>
                <a:ea typeface="Meiryo"/>
              </a:rPr>
              <a:t>の最上位リスク。</a:t>
            </a:r>
          </a:p>
        </p:txBody>
      </p:sp>
      <p:sp>
        <p:nvSpPr>
          <p:cNvPr id="22" name="テキスト ボックス 21">
            <a:extLst>
              <a:ext uri="{FF2B5EF4-FFF2-40B4-BE49-F238E27FC236}">
                <a16:creationId xmlns:a16="http://schemas.microsoft.com/office/drawing/2014/main" id="{A7CE39B4-A148-7D4F-839D-D89FCE29107D}"/>
              </a:ext>
            </a:extLst>
          </p:cNvPr>
          <p:cNvSpPr txBox="1"/>
          <p:nvPr/>
        </p:nvSpPr>
        <p:spPr>
          <a:xfrm>
            <a:off x="2717800" y="7518400"/>
            <a:ext cx="3683000" cy="381000"/>
          </a:xfrm>
          <a:prstGeom prst="rect">
            <a:avLst/>
          </a:prstGeom>
          <a:noFill/>
        </p:spPr>
        <p:txBody>
          <a:bodyPr vertOverflow="overflow" vert="horz" wrap="square" rtlCol="0" anchor="t" anchorCtr="0">
            <a:noAutofit/>
          </a:bodyPr>
          <a:lstStyle/>
          <a:p>
            <a:pPr algn="l"/>
            <a:r>
              <a:rPr lang="ja-JP" altLang="en-US" sz="2000" b="1">
                <a:solidFill>
                  <a:srgbClr val="1C2B4A"/>
                </a:solidFill>
                <a:latin typeface="Meiryo"/>
                <a:ea typeface="Meiryo"/>
              </a:rPr>
              <a:t>なぜ、</a:t>
            </a:r>
            <a:r>
              <a:rPr lang="en" altLang="ja-JP" sz="2000" b="1" dirty="0" err="1">
                <a:solidFill>
                  <a:srgbClr val="1C2B4A"/>
                </a:solidFill>
                <a:latin typeface="Meiryo"/>
                <a:ea typeface="Meiryo"/>
              </a:rPr>
              <a:t>WitnessAI</a:t>
            </a:r>
            <a:r>
              <a:rPr lang="ja-JP" altLang="en-US" sz="2000" b="1">
                <a:solidFill>
                  <a:srgbClr val="1C2B4A"/>
                </a:solidFill>
                <a:latin typeface="Meiryo"/>
                <a:ea typeface="Meiryo"/>
              </a:rPr>
              <a:t>なのか。</a:t>
            </a:r>
          </a:p>
        </p:txBody>
      </p:sp>
      <p:sp>
        <p:nvSpPr>
          <p:cNvPr id="24" name="テキスト ボックス 23">
            <a:extLst>
              <a:ext uri="{FF2B5EF4-FFF2-40B4-BE49-F238E27FC236}">
                <a16:creationId xmlns:a16="http://schemas.microsoft.com/office/drawing/2014/main" id="{9397192E-AF75-4649-B1C6-F57F7BD74215}"/>
              </a:ext>
            </a:extLst>
          </p:cNvPr>
          <p:cNvSpPr txBox="1"/>
          <p:nvPr/>
        </p:nvSpPr>
        <p:spPr>
          <a:xfrm>
            <a:off x="2717800" y="7975600"/>
            <a:ext cx="3683000" cy="6350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エンドポイントに依存しないエージェントレス型。あらゆる</a:t>
            </a:r>
            <a:r>
              <a:rPr lang="en" altLang="ja-JP" sz="950">
                <a:solidFill>
                  <a:srgbClr val="333333"/>
                </a:solidFill>
                <a:latin typeface="Meiryo"/>
                <a:ea typeface="Meiryo"/>
              </a:rPr>
              <a:t>AI</a:t>
            </a:r>
            <a:r>
              <a:rPr lang="ja-JP" altLang="en-US" sz="950">
                <a:solidFill>
                  <a:srgbClr val="333333"/>
                </a:solidFill>
                <a:latin typeface="Meiryo"/>
                <a:ea typeface="Meiryo"/>
              </a:rPr>
              <a:t>利用を可視化し、単一ポリシーで統制します。</a:t>
            </a:r>
          </a:p>
        </p:txBody>
      </p:sp>
      <p:sp>
        <p:nvSpPr>
          <p:cNvPr id="26" name="テキスト ボックス 25">
            <a:extLst>
              <a:ext uri="{FF2B5EF4-FFF2-40B4-BE49-F238E27FC236}">
                <a16:creationId xmlns:a16="http://schemas.microsoft.com/office/drawing/2014/main" id="{6CF7BFDB-DBCE-1E46-9299-0F075C207B53}"/>
              </a:ext>
            </a:extLst>
          </p:cNvPr>
          <p:cNvSpPr txBox="1"/>
          <p:nvPr/>
        </p:nvSpPr>
        <p:spPr>
          <a:xfrm>
            <a:off x="279400" y="8229600"/>
            <a:ext cx="1930400" cy="508000"/>
          </a:xfrm>
          <a:prstGeom prst="rect">
            <a:avLst/>
          </a:prstGeom>
          <a:noFill/>
        </p:spPr>
        <p:txBody>
          <a:bodyPr vertOverflow="overflow" vert="horz" wrap="square" rtlCol="0" anchor="ctr" anchorCtr="0">
            <a:noAutofit/>
          </a:bodyPr>
          <a:lstStyle/>
          <a:p>
            <a:pPr algn="l"/>
            <a:r>
              <a:rPr lang="ja-JP" altLang="en-US" sz="900" b="1">
                <a:solidFill>
                  <a:srgbClr val="F7B815"/>
                </a:solidFill>
                <a:latin typeface="Meiryo"/>
                <a:ea typeface="Meiryo"/>
              </a:rPr>
              <a:t>▶ 機能・提供メニューは
　裏面をご覧ください</a:t>
            </a:r>
          </a:p>
        </p:txBody>
      </p:sp>
      <p:pic>
        <p:nvPicPr>
          <p:cNvPr id="9" name="図 8">
            <a:extLst>
              <a:ext uri="{FF2B5EF4-FFF2-40B4-BE49-F238E27FC236}">
                <a16:creationId xmlns:a16="http://schemas.microsoft.com/office/drawing/2014/main" id="{6F10B590-4B35-039A-B71F-B50896AE9029}"/>
              </a:ext>
            </a:extLst>
          </p:cNvPr>
          <p:cNvPicPr>
            <a:picLocks noChangeAspect="1"/>
          </p:cNvPicPr>
          <p:nvPr/>
        </p:nvPicPr>
        <p:blipFill>
          <a:blip r:embed="rId4"/>
          <a:stretch>
            <a:fillRect/>
          </a:stretch>
        </p:blipFill>
        <p:spPr>
          <a:xfrm>
            <a:off x="203200" y="258266"/>
            <a:ext cx="3673953" cy="1034916"/>
          </a:xfrm>
          <a:prstGeom prst="rect">
            <a:avLst/>
          </a:prstGeom>
        </p:spPr>
      </p:pic>
    </p:spTree>
    <p:extLst>
      <p:ext uri="{BB962C8B-B14F-4D97-AF65-F5344CB8AC3E}">
        <p14:creationId xmlns:p14="http://schemas.microsoft.com/office/powerpoint/2010/main" val="712921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E63FEB2-3828-7249-F64A-D05E750B3669}"/>
              </a:ext>
            </a:extLst>
          </p:cNvPr>
          <p:cNvPicPr>
            <a:picLocks noChangeAspect="1"/>
          </p:cNvPicPr>
          <p:nvPr/>
        </p:nvPicPr>
        <p:blipFill rotWithShape="1">
          <a:blip r:embed="rId2"/>
          <a:srcRect t="3785" r="3785"/>
          <a:stretch/>
        </p:blipFill>
        <p:spPr>
          <a:xfrm>
            <a:off x="1904999" y="0"/>
            <a:ext cx="4953001" cy="3874524"/>
          </a:xfrm>
          <a:prstGeom prst="rect">
            <a:avLst/>
          </a:prstGeom>
        </p:spPr>
      </p:pic>
      <p:sp>
        <p:nvSpPr>
          <p:cNvPr id="4" name="正方形/長方形 3">
            <a:extLst>
              <a:ext uri="{FF2B5EF4-FFF2-40B4-BE49-F238E27FC236}">
                <a16:creationId xmlns:a16="http://schemas.microsoft.com/office/drawing/2014/main" id="{91AFB51F-3CEB-9E42-A294-CBC56ABEDFC9}"/>
              </a:ext>
            </a:extLst>
          </p:cNvPr>
          <p:cNvSpPr/>
          <p:nvPr/>
        </p:nvSpPr>
        <p:spPr>
          <a:xfrm>
            <a:off x="0" y="0"/>
            <a:ext cx="2413000" cy="9906000"/>
          </a:xfrm>
          <a:prstGeom prst="rect">
            <a:avLst/>
          </a:prstGeom>
          <a:solidFill>
            <a:srgbClr val="1C2B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平行四辺形 4">
            <a:extLst>
              <a:ext uri="{FF2B5EF4-FFF2-40B4-BE49-F238E27FC236}">
                <a16:creationId xmlns:a16="http://schemas.microsoft.com/office/drawing/2014/main" id="{86692623-3E25-6541-A9D9-3F7F637CC13B}"/>
              </a:ext>
            </a:extLst>
          </p:cNvPr>
          <p:cNvSpPr/>
          <p:nvPr/>
        </p:nvSpPr>
        <p:spPr>
          <a:xfrm>
            <a:off x="1219200" y="3403600"/>
            <a:ext cx="2540000" cy="5588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6AA98C7D-ACA3-D94A-8FB0-2826A49CB62D}"/>
              </a:ext>
            </a:extLst>
          </p:cNvPr>
          <p:cNvSpPr txBox="1"/>
          <p:nvPr/>
        </p:nvSpPr>
        <p:spPr>
          <a:xfrm>
            <a:off x="203200" y="3467100"/>
            <a:ext cx="1397000" cy="1143000"/>
          </a:xfrm>
          <a:prstGeom prst="rect">
            <a:avLst/>
          </a:prstGeom>
          <a:noFill/>
        </p:spPr>
        <p:txBody>
          <a:bodyPr vertOverflow="overflow" vert="horz" wrap="none" rtlCol="0" anchor="t" anchorCtr="0">
            <a:noAutofit/>
          </a:bodyPr>
          <a:lstStyle/>
          <a:p>
            <a:pPr algn="l"/>
            <a:r>
              <a:rPr lang="ja-JP" altLang="en-US" sz="7600" b="1">
                <a:solidFill>
                  <a:srgbClr val="F7B815"/>
                </a:solidFill>
                <a:latin typeface="Meiryo"/>
                <a:ea typeface="Meiryo"/>
              </a:rPr>
              <a:t>“</a:t>
            </a:r>
          </a:p>
        </p:txBody>
      </p:sp>
      <p:sp>
        <p:nvSpPr>
          <p:cNvPr id="7" name="テキスト ボックス 6">
            <a:extLst>
              <a:ext uri="{FF2B5EF4-FFF2-40B4-BE49-F238E27FC236}">
                <a16:creationId xmlns:a16="http://schemas.microsoft.com/office/drawing/2014/main" id="{353904B2-0B07-4441-B919-05D992AF7D8D}"/>
              </a:ext>
            </a:extLst>
          </p:cNvPr>
          <p:cNvSpPr txBox="1"/>
          <p:nvPr/>
        </p:nvSpPr>
        <p:spPr>
          <a:xfrm>
            <a:off x="152400" y="4608963"/>
            <a:ext cx="2057400" cy="863600"/>
          </a:xfrm>
          <a:prstGeom prst="rect">
            <a:avLst/>
          </a:prstGeom>
          <a:noFill/>
        </p:spPr>
        <p:txBody>
          <a:bodyPr vertOverflow="overflow" vert="horz" wrap="square" rtlCol="0" anchor="t" anchorCtr="0">
            <a:noAutofit/>
          </a:bodyPr>
          <a:lstStyle/>
          <a:p>
            <a:pPr algn="l"/>
            <a:r>
              <a:rPr lang="en" altLang="ja-JP" sz="2000" b="1" dirty="0">
                <a:solidFill>
                  <a:srgbClr val="FFFFFF"/>
                </a:solidFill>
                <a:latin typeface="Meiryo"/>
                <a:ea typeface="Meiryo"/>
              </a:rPr>
              <a:t>AI</a:t>
            </a:r>
            <a:r>
              <a:rPr lang="ja-JP" altLang="en-US" sz="2000" b="1">
                <a:solidFill>
                  <a:srgbClr val="FFFFFF"/>
                </a:solidFill>
                <a:latin typeface="Meiryo"/>
                <a:ea typeface="Meiryo"/>
              </a:rPr>
              <a:t>の利用を、
止めずに、守る。</a:t>
            </a:r>
          </a:p>
        </p:txBody>
      </p:sp>
      <p:sp>
        <p:nvSpPr>
          <p:cNvPr id="8" name="テキスト ボックス 7">
            <a:extLst>
              <a:ext uri="{FF2B5EF4-FFF2-40B4-BE49-F238E27FC236}">
                <a16:creationId xmlns:a16="http://schemas.microsoft.com/office/drawing/2014/main" id="{0120EFC2-C951-A34A-B7A2-2100D0216324}"/>
              </a:ext>
            </a:extLst>
          </p:cNvPr>
          <p:cNvSpPr txBox="1"/>
          <p:nvPr/>
        </p:nvSpPr>
        <p:spPr>
          <a:xfrm>
            <a:off x="165669" y="5309624"/>
            <a:ext cx="1930400" cy="1397000"/>
          </a:xfrm>
          <a:prstGeom prst="rect">
            <a:avLst/>
          </a:prstGeom>
          <a:noFill/>
        </p:spPr>
        <p:txBody>
          <a:bodyPr vertOverflow="overflow" vert="horz" wrap="square" rtlCol="0" anchor="t" anchorCtr="0">
            <a:noAutofit/>
          </a:bodyPr>
          <a:lstStyle/>
          <a:p>
            <a:pPr algn="l"/>
            <a:r>
              <a:rPr lang="en-US" altLang="ja-JP" sz="1100" dirty="0">
                <a:solidFill>
                  <a:srgbClr val="BFD0DE"/>
                </a:solidFill>
                <a:latin typeface="Meiryo"/>
                <a:ea typeface="Meiryo"/>
              </a:rPr>
              <a:t>Witness AI</a:t>
            </a:r>
            <a:r>
              <a:rPr lang="ja-JP" altLang="en-US" sz="1100">
                <a:solidFill>
                  <a:srgbClr val="BFD0DE"/>
                </a:solidFill>
                <a:latin typeface="Meiryo"/>
                <a:ea typeface="Meiryo"/>
              </a:rPr>
              <a:t>は</a:t>
            </a:r>
            <a:endParaRPr lang="en-US" altLang="ja-JP" sz="1100" dirty="0">
              <a:solidFill>
                <a:srgbClr val="BFD0DE"/>
              </a:solidFill>
              <a:latin typeface="Meiryo"/>
              <a:ea typeface="Meiryo"/>
            </a:endParaRPr>
          </a:p>
          <a:p>
            <a:pPr algn="l"/>
            <a:r>
              <a:rPr lang="ja-JP" altLang="en-US" sz="1100">
                <a:solidFill>
                  <a:srgbClr val="BFD0DE"/>
                </a:solidFill>
                <a:latin typeface="Meiryo"/>
                <a:ea typeface="Meiryo"/>
              </a:rPr>
              <a:t>ユーザと</a:t>
            </a:r>
            <a:r>
              <a:rPr lang="en" altLang="ja-JP" sz="1100" dirty="0">
                <a:solidFill>
                  <a:srgbClr val="BFD0DE"/>
                </a:solidFill>
                <a:latin typeface="Meiryo"/>
                <a:ea typeface="Meiryo"/>
              </a:rPr>
              <a:t>AI</a:t>
            </a:r>
            <a:r>
              <a:rPr lang="ja-JP" altLang="en-US" sz="1100">
                <a:solidFill>
                  <a:srgbClr val="BFD0DE"/>
                </a:solidFill>
                <a:latin typeface="Meiryo"/>
                <a:ea typeface="Meiryo"/>
              </a:rPr>
              <a:t>の間に立つ</a:t>
            </a:r>
            <a:endParaRPr lang="en-US" altLang="ja-JP" sz="1100" dirty="0">
              <a:solidFill>
                <a:srgbClr val="BFD0DE"/>
              </a:solidFill>
              <a:latin typeface="Meiryo"/>
              <a:ea typeface="Meiryo"/>
            </a:endParaRPr>
          </a:p>
          <a:p>
            <a:pPr algn="l"/>
            <a:r>
              <a:rPr lang="ja-JP" altLang="en-US" sz="1100">
                <a:solidFill>
                  <a:srgbClr val="BFD0DE"/>
                </a:solidFill>
                <a:latin typeface="Meiryo"/>
                <a:ea typeface="Meiryo"/>
              </a:rPr>
              <a:t>「</a:t>
            </a:r>
            <a:r>
              <a:rPr lang="en" altLang="ja-JP" sz="1100" dirty="0">
                <a:solidFill>
                  <a:srgbClr val="BFD0DE"/>
                </a:solidFill>
                <a:latin typeface="Meiryo"/>
                <a:ea typeface="Meiryo"/>
              </a:rPr>
              <a:t>AI Security Gateway</a:t>
            </a:r>
            <a:r>
              <a:rPr lang="ja-JP" altLang="en" sz="1100">
                <a:solidFill>
                  <a:srgbClr val="BFD0DE"/>
                </a:solidFill>
                <a:latin typeface="Meiryo"/>
                <a:ea typeface="Meiryo"/>
              </a:rPr>
              <a:t>」</a:t>
            </a:r>
            <a:r>
              <a:rPr lang="ja-JP" altLang="en-US" sz="1100">
                <a:solidFill>
                  <a:srgbClr val="BFD0DE"/>
                </a:solidFill>
                <a:latin typeface="Meiryo"/>
                <a:ea typeface="Meiryo"/>
              </a:rPr>
              <a:t>生成</a:t>
            </a:r>
            <a:r>
              <a:rPr lang="en" altLang="ja-JP" sz="1100" dirty="0">
                <a:solidFill>
                  <a:srgbClr val="BFD0DE"/>
                </a:solidFill>
                <a:latin typeface="Meiryo"/>
                <a:ea typeface="Meiryo"/>
              </a:rPr>
              <a:t>AI</a:t>
            </a:r>
            <a:r>
              <a:rPr lang="ja-JP" altLang="en-US" sz="1100">
                <a:solidFill>
                  <a:srgbClr val="BFD0DE"/>
                </a:solidFill>
                <a:latin typeface="Meiryo"/>
                <a:ea typeface="Meiryo"/>
              </a:rPr>
              <a:t>活用の安全な拡大を支えます。</a:t>
            </a:r>
          </a:p>
        </p:txBody>
      </p:sp>
      <p:sp>
        <p:nvSpPr>
          <p:cNvPr id="11" name="テキスト ボックス 10">
            <a:extLst>
              <a:ext uri="{FF2B5EF4-FFF2-40B4-BE49-F238E27FC236}">
                <a16:creationId xmlns:a16="http://schemas.microsoft.com/office/drawing/2014/main" id="{633662A6-F031-6A47-B7DE-6A2F7F92DFF4}"/>
              </a:ext>
            </a:extLst>
          </p:cNvPr>
          <p:cNvSpPr txBox="1"/>
          <p:nvPr/>
        </p:nvSpPr>
        <p:spPr>
          <a:xfrm>
            <a:off x="2717800" y="4140200"/>
            <a:ext cx="3683000" cy="406400"/>
          </a:xfrm>
          <a:prstGeom prst="rect">
            <a:avLst/>
          </a:prstGeom>
          <a:noFill/>
        </p:spPr>
        <p:txBody>
          <a:bodyPr vertOverflow="overflow" vert="horz" wrap="square" rtlCol="0" anchor="t" anchorCtr="0">
            <a:noAutofit/>
          </a:bodyPr>
          <a:lstStyle/>
          <a:p>
            <a:pPr algn="l"/>
            <a:r>
              <a:rPr lang="ja-JP" altLang="en-US" sz="2100" b="1">
                <a:solidFill>
                  <a:srgbClr val="1C2B4A"/>
                </a:solidFill>
                <a:latin typeface="Meiryo"/>
                <a:ea typeface="Meiryo"/>
              </a:rPr>
              <a:t>なぜ、</a:t>
            </a:r>
            <a:r>
              <a:rPr lang="en" altLang="ja-JP" sz="2100" b="1">
                <a:solidFill>
                  <a:srgbClr val="1C2B4A"/>
                </a:solidFill>
                <a:latin typeface="Meiryo"/>
                <a:ea typeface="Meiryo"/>
              </a:rPr>
              <a:t>AI</a:t>
            </a:r>
            <a:r>
              <a:rPr lang="ja-JP" altLang="en-US" sz="2100" b="1">
                <a:solidFill>
                  <a:srgbClr val="1C2B4A"/>
                </a:solidFill>
                <a:latin typeface="Meiryo"/>
                <a:ea typeface="Meiryo"/>
              </a:rPr>
              <a:t>ガバナンスか。</a:t>
            </a:r>
          </a:p>
        </p:txBody>
      </p:sp>
      <p:sp>
        <p:nvSpPr>
          <p:cNvPr id="13" name="テキスト ボックス 12">
            <a:extLst>
              <a:ext uri="{FF2B5EF4-FFF2-40B4-BE49-F238E27FC236}">
                <a16:creationId xmlns:a16="http://schemas.microsoft.com/office/drawing/2014/main" id="{037E6103-941E-EC42-B5C0-921D7D748A64}"/>
              </a:ext>
            </a:extLst>
          </p:cNvPr>
          <p:cNvSpPr txBox="1"/>
          <p:nvPr/>
        </p:nvSpPr>
        <p:spPr>
          <a:xfrm>
            <a:off x="2717800" y="4738124"/>
            <a:ext cx="584200" cy="355600"/>
          </a:xfrm>
          <a:prstGeom prst="rect">
            <a:avLst/>
          </a:prstGeom>
          <a:noFill/>
        </p:spPr>
        <p:txBody>
          <a:bodyPr vertOverflow="overflow" vert="horz" wrap="square" rtlCol="0" anchor="ctr" anchorCtr="0">
            <a:noAutofit/>
          </a:bodyPr>
          <a:lstStyle/>
          <a:p>
            <a:r>
              <a:rPr lang="en-US" altLang="ja-JP" b="1" dirty="0">
                <a:solidFill>
                  <a:srgbClr val="F7B815"/>
                </a:solidFill>
                <a:latin typeface="Meiryo"/>
                <a:ea typeface="Meiryo"/>
              </a:rPr>
              <a:t>01</a:t>
            </a:r>
            <a:endParaRPr lang="ja-JP" altLang="en-US" b="1">
              <a:solidFill>
                <a:srgbClr val="F7B815"/>
              </a:solidFill>
              <a:latin typeface="Meiryo"/>
              <a:ea typeface="Meiryo"/>
            </a:endParaRPr>
          </a:p>
        </p:txBody>
      </p:sp>
      <p:sp>
        <p:nvSpPr>
          <p:cNvPr id="14" name="テキスト ボックス 13">
            <a:extLst>
              <a:ext uri="{FF2B5EF4-FFF2-40B4-BE49-F238E27FC236}">
                <a16:creationId xmlns:a16="http://schemas.microsoft.com/office/drawing/2014/main" id="{DD60C55A-8F84-B446-839E-F95A9230CAF0}"/>
              </a:ext>
            </a:extLst>
          </p:cNvPr>
          <p:cNvSpPr txBox="1"/>
          <p:nvPr/>
        </p:nvSpPr>
        <p:spPr>
          <a:xfrm>
            <a:off x="3276600" y="47498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自律型エージェントの台頭</a:t>
            </a:r>
          </a:p>
        </p:txBody>
      </p:sp>
      <p:sp>
        <p:nvSpPr>
          <p:cNvPr id="15" name="テキスト ボックス 14">
            <a:extLst>
              <a:ext uri="{FF2B5EF4-FFF2-40B4-BE49-F238E27FC236}">
                <a16:creationId xmlns:a16="http://schemas.microsoft.com/office/drawing/2014/main" id="{9EFFCCCB-0878-0E4D-9806-4758D4092707}"/>
              </a:ext>
            </a:extLst>
          </p:cNvPr>
          <p:cNvSpPr txBox="1"/>
          <p:nvPr/>
        </p:nvSpPr>
        <p:spPr>
          <a:xfrm>
            <a:off x="3276600" y="5018741"/>
            <a:ext cx="3124200" cy="457200"/>
          </a:xfrm>
          <a:prstGeom prst="rect">
            <a:avLst/>
          </a:prstGeom>
          <a:noFill/>
        </p:spPr>
        <p:txBody>
          <a:bodyPr vertOverflow="overflow" vert="horz" wrap="square" rtlCol="0" anchor="t" anchorCtr="0">
            <a:noAutofit/>
          </a:bodyPr>
          <a:lstStyle/>
          <a:p>
            <a:pPr algn="l"/>
            <a:r>
              <a:rPr lang="en" altLang="ja-JP" sz="1000" dirty="0">
                <a:solidFill>
                  <a:srgbClr val="333333"/>
                </a:solidFill>
                <a:latin typeface="Meiryo"/>
                <a:ea typeface="Meiryo"/>
              </a:rPr>
              <a:t>AI</a:t>
            </a:r>
            <a:r>
              <a:rPr lang="ja-JP" altLang="en-US" sz="1000">
                <a:solidFill>
                  <a:srgbClr val="333333"/>
                </a:solidFill>
                <a:latin typeface="Meiryo"/>
                <a:ea typeface="Meiryo"/>
              </a:rPr>
              <a:t>が外部</a:t>
            </a:r>
            <a:r>
              <a:rPr lang="en" altLang="ja-JP" sz="1000" dirty="0">
                <a:solidFill>
                  <a:srgbClr val="333333"/>
                </a:solidFill>
                <a:latin typeface="Meiryo"/>
                <a:ea typeface="Meiryo"/>
              </a:rPr>
              <a:t>API</a:t>
            </a:r>
            <a:r>
              <a:rPr lang="ja-JP" altLang="en-US" sz="1000">
                <a:solidFill>
                  <a:srgbClr val="333333"/>
                </a:solidFill>
                <a:latin typeface="Meiryo"/>
                <a:ea typeface="Meiryo"/>
              </a:rPr>
              <a:t>や</a:t>
            </a:r>
            <a:r>
              <a:rPr lang="en" altLang="ja-JP" sz="1000" dirty="0">
                <a:solidFill>
                  <a:srgbClr val="333333"/>
                </a:solidFill>
                <a:latin typeface="Meiryo"/>
                <a:ea typeface="Meiryo"/>
              </a:rPr>
              <a:t>DB</a:t>
            </a:r>
            <a:r>
              <a:rPr lang="ja-JP" altLang="en-US" sz="1000">
                <a:solidFill>
                  <a:srgbClr val="333333"/>
                </a:solidFill>
                <a:latin typeface="Meiryo"/>
                <a:ea typeface="Meiryo"/>
              </a:rPr>
              <a:t>を自律操作する時代。</a:t>
            </a:r>
            <a:endParaRPr lang="en-US" altLang="ja-JP" sz="1000" dirty="0">
              <a:solidFill>
                <a:srgbClr val="333333"/>
              </a:solidFill>
              <a:latin typeface="Meiryo"/>
              <a:ea typeface="Meiryo"/>
            </a:endParaRPr>
          </a:p>
          <a:p>
            <a:pPr algn="l"/>
            <a:r>
              <a:rPr lang="ja-JP" altLang="en-US" sz="1000">
                <a:solidFill>
                  <a:srgbClr val="333333"/>
                </a:solidFill>
                <a:latin typeface="Meiryo"/>
                <a:ea typeface="Meiryo"/>
              </a:rPr>
              <a:t>従来の監視では統制が取れない。</a:t>
            </a:r>
          </a:p>
        </p:txBody>
      </p:sp>
      <p:sp>
        <p:nvSpPr>
          <p:cNvPr id="16" name="テキスト ボックス 15">
            <a:extLst>
              <a:ext uri="{FF2B5EF4-FFF2-40B4-BE49-F238E27FC236}">
                <a16:creationId xmlns:a16="http://schemas.microsoft.com/office/drawing/2014/main" id="{160AD626-BD66-A346-933B-9712C514DA02}"/>
              </a:ext>
            </a:extLst>
          </p:cNvPr>
          <p:cNvSpPr txBox="1"/>
          <p:nvPr/>
        </p:nvSpPr>
        <p:spPr>
          <a:xfrm>
            <a:off x="2717800" y="55626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02</a:t>
            </a:r>
            <a:endParaRPr lang="ja-JP" altLang="en-US" b="1">
              <a:solidFill>
                <a:srgbClr val="F7B815"/>
              </a:solidFill>
              <a:latin typeface="Meiryo"/>
              <a:ea typeface="Meiryo"/>
            </a:endParaRPr>
          </a:p>
        </p:txBody>
      </p:sp>
      <p:sp>
        <p:nvSpPr>
          <p:cNvPr id="17" name="テキスト ボックス 16">
            <a:extLst>
              <a:ext uri="{FF2B5EF4-FFF2-40B4-BE49-F238E27FC236}">
                <a16:creationId xmlns:a16="http://schemas.microsoft.com/office/drawing/2014/main" id="{1A95332C-7384-A74D-AE61-607A482CB639}"/>
              </a:ext>
            </a:extLst>
          </p:cNvPr>
          <p:cNvSpPr txBox="1"/>
          <p:nvPr/>
        </p:nvSpPr>
        <p:spPr>
          <a:xfrm>
            <a:off x="3276600" y="55880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シャドー</a:t>
            </a:r>
            <a:r>
              <a:rPr lang="en" altLang="ja-JP" sz="1300" b="1" dirty="0">
                <a:solidFill>
                  <a:srgbClr val="1C2B4A"/>
                </a:solidFill>
                <a:latin typeface="Meiryo"/>
                <a:ea typeface="Meiryo"/>
              </a:rPr>
              <a:t>AI</a:t>
            </a:r>
            <a:r>
              <a:rPr lang="ja-JP" altLang="en-US" sz="1300" b="1">
                <a:solidFill>
                  <a:srgbClr val="1C2B4A"/>
                </a:solidFill>
                <a:latin typeface="Meiryo"/>
                <a:ea typeface="Meiryo"/>
              </a:rPr>
              <a:t>による管理不全</a:t>
            </a:r>
          </a:p>
        </p:txBody>
      </p:sp>
      <p:sp>
        <p:nvSpPr>
          <p:cNvPr id="18" name="テキスト ボックス 17">
            <a:extLst>
              <a:ext uri="{FF2B5EF4-FFF2-40B4-BE49-F238E27FC236}">
                <a16:creationId xmlns:a16="http://schemas.microsoft.com/office/drawing/2014/main" id="{AF9B7078-0E0C-0447-88CB-B75A83B187DD}"/>
              </a:ext>
            </a:extLst>
          </p:cNvPr>
          <p:cNvSpPr txBox="1"/>
          <p:nvPr/>
        </p:nvSpPr>
        <p:spPr>
          <a:xfrm>
            <a:off x="3276600" y="5892800"/>
            <a:ext cx="3124200" cy="457200"/>
          </a:xfrm>
          <a:prstGeom prst="rect">
            <a:avLst/>
          </a:prstGeom>
          <a:noFill/>
        </p:spPr>
        <p:txBody>
          <a:bodyPr vertOverflow="overflow" vert="horz" wrap="square" rtlCol="0" anchor="t" anchorCtr="0">
            <a:noAutofit/>
          </a:bodyPr>
          <a:lstStyle/>
          <a:p>
            <a:pPr algn="l"/>
            <a:r>
              <a:rPr lang="en" altLang="ja-JP" sz="900" dirty="0">
                <a:solidFill>
                  <a:srgbClr val="333333"/>
                </a:solidFill>
                <a:latin typeface="Meiryo"/>
                <a:ea typeface="Meiryo"/>
              </a:rPr>
              <a:t>IT</a:t>
            </a:r>
            <a:r>
              <a:rPr lang="ja-JP" altLang="en-US" sz="900">
                <a:solidFill>
                  <a:srgbClr val="333333"/>
                </a:solidFill>
                <a:latin typeface="Meiryo"/>
                <a:ea typeface="Meiryo"/>
              </a:rPr>
              <a:t>部門が把握できない</a:t>
            </a:r>
            <a:r>
              <a:rPr lang="en" altLang="ja-JP" sz="900" dirty="0">
                <a:solidFill>
                  <a:srgbClr val="333333"/>
                </a:solidFill>
                <a:latin typeface="Meiryo"/>
                <a:ea typeface="Meiryo"/>
              </a:rPr>
              <a:t>AI</a:t>
            </a:r>
            <a:r>
              <a:rPr lang="ja-JP" altLang="en-US" sz="900">
                <a:solidFill>
                  <a:srgbClr val="333333"/>
                </a:solidFill>
                <a:latin typeface="Meiryo"/>
                <a:ea typeface="Meiryo"/>
              </a:rPr>
              <a:t>利用が、組織のセキュリティの盲点に。</a:t>
            </a:r>
          </a:p>
        </p:txBody>
      </p:sp>
      <p:sp>
        <p:nvSpPr>
          <p:cNvPr id="19" name="テキスト ボックス 18">
            <a:extLst>
              <a:ext uri="{FF2B5EF4-FFF2-40B4-BE49-F238E27FC236}">
                <a16:creationId xmlns:a16="http://schemas.microsoft.com/office/drawing/2014/main" id="{3B672AEE-189E-7A45-A244-98FE1E081465}"/>
              </a:ext>
            </a:extLst>
          </p:cNvPr>
          <p:cNvSpPr txBox="1"/>
          <p:nvPr/>
        </p:nvSpPr>
        <p:spPr>
          <a:xfrm>
            <a:off x="2717800" y="64008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03</a:t>
            </a:r>
            <a:endParaRPr lang="ja-JP" altLang="en-US" b="1">
              <a:solidFill>
                <a:srgbClr val="F7B815"/>
              </a:solidFill>
              <a:latin typeface="Meiryo"/>
              <a:ea typeface="Meiryo"/>
            </a:endParaRPr>
          </a:p>
        </p:txBody>
      </p:sp>
      <p:sp>
        <p:nvSpPr>
          <p:cNvPr id="20" name="テキスト ボックス 19">
            <a:extLst>
              <a:ext uri="{FF2B5EF4-FFF2-40B4-BE49-F238E27FC236}">
                <a16:creationId xmlns:a16="http://schemas.microsoft.com/office/drawing/2014/main" id="{82980855-84FB-8B4A-853D-B9752CE50055}"/>
              </a:ext>
            </a:extLst>
          </p:cNvPr>
          <p:cNvSpPr txBox="1"/>
          <p:nvPr/>
        </p:nvSpPr>
        <p:spPr>
          <a:xfrm>
            <a:off x="3276600" y="64262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新たな脆弱性の出現</a:t>
            </a:r>
          </a:p>
        </p:txBody>
      </p:sp>
      <p:sp>
        <p:nvSpPr>
          <p:cNvPr id="21" name="テキスト ボックス 20">
            <a:extLst>
              <a:ext uri="{FF2B5EF4-FFF2-40B4-BE49-F238E27FC236}">
                <a16:creationId xmlns:a16="http://schemas.microsoft.com/office/drawing/2014/main" id="{C4D69F5B-7556-554F-ACF1-993009C931B6}"/>
              </a:ext>
            </a:extLst>
          </p:cNvPr>
          <p:cNvSpPr txBox="1"/>
          <p:nvPr/>
        </p:nvSpPr>
        <p:spPr>
          <a:xfrm>
            <a:off x="3276600" y="6731000"/>
            <a:ext cx="3124200" cy="4572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プロンプトインジェクションは</a:t>
            </a:r>
            <a:r>
              <a:rPr lang="en" altLang="ja-JP" sz="900">
                <a:solidFill>
                  <a:srgbClr val="333333"/>
                </a:solidFill>
                <a:latin typeface="Meiryo"/>
                <a:ea typeface="Meiryo"/>
              </a:rPr>
              <a:t>OWASP Top 10 for LLM 2025</a:t>
            </a:r>
            <a:r>
              <a:rPr lang="ja-JP" altLang="en-US" sz="900">
                <a:solidFill>
                  <a:srgbClr val="333333"/>
                </a:solidFill>
                <a:latin typeface="Meiryo"/>
                <a:ea typeface="Meiryo"/>
              </a:rPr>
              <a:t>の最上位リスク。</a:t>
            </a:r>
          </a:p>
        </p:txBody>
      </p:sp>
      <p:sp>
        <p:nvSpPr>
          <p:cNvPr id="26" name="テキスト ボックス 25">
            <a:extLst>
              <a:ext uri="{FF2B5EF4-FFF2-40B4-BE49-F238E27FC236}">
                <a16:creationId xmlns:a16="http://schemas.microsoft.com/office/drawing/2014/main" id="{6CF7BFDB-DBCE-1E46-9299-0F075C207B53}"/>
              </a:ext>
            </a:extLst>
          </p:cNvPr>
          <p:cNvSpPr txBox="1"/>
          <p:nvPr/>
        </p:nvSpPr>
        <p:spPr>
          <a:xfrm>
            <a:off x="190500" y="6614426"/>
            <a:ext cx="1930400" cy="508000"/>
          </a:xfrm>
          <a:prstGeom prst="rect">
            <a:avLst/>
          </a:prstGeom>
          <a:noFill/>
        </p:spPr>
        <p:txBody>
          <a:bodyPr vertOverflow="overflow" vert="horz" wrap="square" rtlCol="0" anchor="ctr" anchorCtr="0">
            <a:noAutofit/>
          </a:bodyPr>
          <a:lstStyle/>
          <a:p>
            <a:pPr algn="l"/>
            <a:r>
              <a:rPr lang="ja-JP" altLang="en-US" sz="1000" b="1">
                <a:solidFill>
                  <a:srgbClr val="F7B815"/>
                </a:solidFill>
                <a:latin typeface="Meiryo"/>
                <a:ea typeface="Meiryo"/>
              </a:rPr>
              <a:t>▶ 機能・提供メニューは
　裏面をご覧ください</a:t>
            </a:r>
          </a:p>
        </p:txBody>
      </p:sp>
      <p:pic>
        <p:nvPicPr>
          <p:cNvPr id="9" name="図 8">
            <a:extLst>
              <a:ext uri="{FF2B5EF4-FFF2-40B4-BE49-F238E27FC236}">
                <a16:creationId xmlns:a16="http://schemas.microsoft.com/office/drawing/2014/main" id="{6F10B590-4B35-039A-B71F-B50896AE9029}"/>
              </a:ext>
            </a:extLst>
          </p:cNvPr>
          <p:cNvPicPr>
            <a:picLocks noChangeAspect="1"/>
          </p:cNvPicPr>
          <p:nvPr/>
        </p:nvPicPr>
        <p:blipFill>
          <a:blip r:embed="rId3"/>
          <a:stretch>
            <a:fillRect/>
          </a:stretch>
        </p:blipFill>
        <p:spPr>
          <a:xfrm>
            <a:off x="203200" y="258266"/>
            <a:ext cx="3673953" cy="1034916"/>
          </a:xfrm>
          <a:prstGeom prst="rect">
            <a:avLst/>
          </a:prstGeom>
        </p:spPr>
      </p:pic>
    </p:spTree>
    <p:extLst>
      <p:ext uri="{BB962C8B-B14F-4D97-AF65-F5344CB8AC3E}">
        <p14:creationId xmlns:p14="http://schemas.microsoft.com/office/powerpoint/2010/main" val="2623540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5182EC9-B010-2A43-ABB7-7C1DDD5E3336}"/>
              </a:ext>
            </a:extLst>
          </p:cNvPr>
          <p:cNvSpPr/>
          <p:nvPr/>
        </p:nvSpPr>
        <p:spPr>
          <a:xfrm>
            <a:off x="0" y="0"/>
            <a:ext cx="6858000" cy="2717800"/>
          </a:xfrm>
          <a:prstGeom prst="rect">
            <a:avLst/>
          </a:prstGeom>
          <a:solidFill>
            <a:srgbClr val="1C2B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平行四辺形 4">
            <a:extLst>
              <a:ext uri="{FF2B5EF4-FFF2-40B4-BE49-F238E27FC236}">
                <a16:creationId xmlns:a16="http://schemas.microsoft.com/office/drawing/2014/main" id="{22852138-844A-9F4F-BB4F-A8B0B97D3647}"/>
              </a:ext>
            </a:extLst>
          </p:cNvPr>
          <p:cNvSpPr/>
          <p:nvPr/>
        </p:nvSpPr>
        <p:spPr>
          <a:xfrm>
            <a:off x="-254000" y="2616200"/>
            <a:ext cx="7620000" cy="254000"/>
          </a:xfrm>
          <a:prstGeom prst="parallelogram">
            <a:avLst/>
          </a:prstGeom>
          <a:solidFill>
            <a:srgbClr val="F7B8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E5864F7D-5A93-FA4C-9419-126569B7AE54}"/>
              </a:ext>
            </a:extLst>
          </p:cNvPr>
          <p:cNvSpPr txBox="1"/>
          <p:nvPr/>
        </p:nvSpPr>
        <p:spPr>
          <a:xfrm>
            <a:off x="457200" y="508000"/>
            <a:ext cx="3175000" cy="1143000"/>
          </a:xfrm>
          <a:prstGeom prst="rect">
            <a:avLst/>
          </a:prstGeom>
          <a:noFill/>
        </p:spPr>
        <p:txBody>
          <a:bodyPr vertOverflow="overflow" vert="horz" wrap="square" rtlCol="0" anchor="t" anchorCtr="0">
            <a:noAutofit/>
          </a:bodyPr>
          <a:lstStyle/>
          <a:p>
            <a:pPr algn="l"/>
            <a:r>
              <a:rPr lang="en" altLang="ja-JP" sz="1700" b="1">
                <a:solidFill>
                  <a:srgbClr val="FFFFFF"/>
                </a:solidFill>
                <a:latin typeface="Meiryo"/>
                <a:ea typeface="Meiryo"/>
              </a:rPr>
              <a:t>AI</a:t>
            </a:r>
            <a:r>
              <a:rPr lang="ja-JP" altLang="en-US" sz="1700" b="1">
                <a:solidFill>
                  <a:srgbClr val="FFFFFF"/>
                </a:solidFill>
                <a:latin typeface="Meiryo"/>
                <a:ea typeface="Meiryo"/>
              </a:rPr>
              <a:t>は止めない。
リスクだけを、
統制する。</a:t>
            </a:r>
          </a:p>
        </p:txBody>
      </p:sp>
      <p:sp>
        <p:nvSpPr>
          <p:cNvPr id="7" name="テキスト ボックス 6">
            <a:extLst>
              <a:ext uri="{FF2B5EF4-FFF2-40B4-BE49-F238E27FC236}">
                <a16:creationId xmlns:a16="http://schemas.microsoft.com/office/drawing/2014/main" id="{52839DF1-894B-C04C-9452-2B1FE0975907}"/>
              </a:ext>
            </a:extLst>
          </p:cNvPr>
          <p:cNvSpPr txBox="1"/>
          <p:nvPr/>
        </p:nvSpPr>
        <p:spPr>
          <a:xfrm>
            <a:off x="457200" y="1803400"/>
            <a:ext cx="3302000" cy="381000"/>
          </a:xfrm>
          <a:prstGeom prst="rect">
            <a:avLst/>
          </a:prstGeom>
          <a:noFill/>
        </p:spPr>
        <p:txBody>
          <a:bodyPr vertOverflow="overflow" vert="horz" wrap="square" rtlCol="0" anchor="t" anchorCtr="0">
            <a:noAutofit/>
          </a:bodyPr>
          <a:lstStyle/>
          <a:p>
            <a:pPr algn="l"/>
            <a:r>
              <a:rPr lang="ja-JP" altLang="en-US" sz="850">
                <a:solidFill>
                  <a:srgbClr val="BFD0DE"/>
                </a:solidFill>
                <a:latin typeface="Meiryo"/>
                <a:ea typeface="Meiryo"/>
              </a:rPr>
              <a:t>生成</a:t>
            </a:r>
            <a:r>
              <a:rPr lang="en" altLang="ja-JP" sz="850">
                <a:solidFill>
                  <a:srgbClr val="BFD0DE"/>
                </a:solidFill>
                <a:latin typeface="Meiryo"/>
                <a:ea typeface="Meiryo"/>
              </a:rPr>
              <a:t>AI</a:t>
            </a:r>
            <a:r>
              <a:rPr lang="ja-JP" altLang="en-US" sz="850">
                <a:solidFill>
                  <a:srgbClr val="BFD0DE"/>
                </a:solidFill>
                <a:latin typeface="Meiryo"/>
                <a:ea typeface="Meiryo"/>
              </a:rPr>
              <a:t>セキュリティ・ガバナンス </a:t>
            </a:r>
            <a:r>
              <a:rPr lang="en" altLang="ja-JP" sz="850">
                <a:solidFill>
                  <a:srgbClr val="BFD0DE"/>
                </a:solidFill>
                <a:latin typeface="Meiryo"/>
                <a:ea typeface="Meiryo"/>
              </a:rPr>
              <a:t>WITNESS AI
</a:t>
            </a:r>
            <a:r>
              <a:rPr lang="ja-JP" altLang="en-US" sz="850">
                <a:solidFill>
                  <a:srgbClr val="BFD0DE"/>
                </a:solidFill>
                <a:latin typeface="Meiryo"/>
                <a:ea typeface="Meiryo"/>
              </a:rPr>
              <a:t>提供：</a:t>
            </a:r>
            <a:r>
              <a:rPr lang="en" altLang="ja-JP" sz="850">
                <a:solidFill>
                  <a:srgbClr val="BFD0DE"/>
                </a:solidFill>
                <a:latin typeface="Meiryo"/>
                <a:ea typeface="Meiryo"/>
              </a:rPr>
              <a:t>JSOL</a:t>
            </a:r>
            <a:endParaRPr lang="ja-JP" altLang="en-US" sz="850">
              <a:solidFill>
                <a:srgbClr val="BFD0DE"/>
              </a:solidFill>
              <a:latin typeface="Meiryo"/>
              <a:ea typeface="Meiryo"/>
            </a:endParaRPr>
          </a:p>
        </p:txBody>
      </p:sp>
      <p:sp>
        <p:nvSpPr>
          <p:cNvPr id="8" name="テキスト ボックス 7">
            <a:extLst>
              <a:ext uri="{FF2B5EF4-FFF2-40B4-BE49-F238E27FC236}">
                <a16:creationId xmlns:a16="http://schemas.microsoft.com/office/drawing/2014/main" id="{45E8B3C5-6D76-D048-83C1-7507ADC5FA5B}"/>
              </a:ext>
            </a:extLst>
          </p:cNvPr>
          <p:cNvSpPr txBox="1"/>
          <p:nvPr/>
        </p:nvSpPr>
        <p:spPr>
          <a:xfrm>
            <a:off x="457200" y="3200400"/>
            <a:ext cx="5943600" cy="304800"/>
          </a:xfrm>
          <a:prstGeom prst="rect">
            <a:avLst/>
          </a:prstGeom>
          <a:noFill/>
        </p:spPr>
        <p:txBody>
          <a:bodyPr vertOverflow="overflow" vert="horz" wrap="square" rtlCol="0" anchor="t" anchorCtr="0">
            <a:noAutofit/>
          </a:bodyPr>
          <a:lstStyle/>
          <a:p>
            <a:pPr algn="l"/>
            <a:r>
              <a:rPr lang="ja-JP" altLang="en-US" sz="1600" b="1">
                <a:solidFill>
                  <a:srgbClr val="1C2B4A"/>
                </a:solidFill>
                <a:latin typeface="Meiryo"/>
                <a:ea typeface="Meiryo"/>
              </a:rPr>
              <a:t>なぜ今、</a:t>
            </a:r>
            <a:r>
              <a:rPr lang="en" altLang="ja-JP" sz="1600" b="1">
                <a:solidFill>
                  <a:srgbClr val="1C2B4A"/>
                </a:solidFill>
                <a:latin typeface="Meiryo"/>
                <a:ea typeface="Meiryo"/>
              </a:rPr>
              <a:t>AI</a:t>
            </a:r>
            <a:r>
              <a:rPr lang="ja-JP" altLang="en-US" sz="1600" b="1">
                <a:solidFill>
                  <a:srgbClr val="1C2B4A"/>
                </a:solidFill>
                <a:latin typeface="Meiryo"/>
                <a:ea typeface="Meiryo"/>
              </a:rPr>
              <a:t>ガバナンスが必要か。</a:t>
            </a:r>
          </a:p>
        </p:txBody>
      </p:sp>
      <p:sp>
        <p:nvSpPr>
          <p:cNvPr id="9" name="正方形/長方形 8">
            <a:extLst>
              <a:ext uri="{FF2B5EF4-FFF2-40B4-BE49-F238E27FC236}">
                <a16:creationId xmlns:a16="http://schemas.microsoft.com/office/drawing/2014/main" id="{8BA9A964-C13D-AA43-A6C5-9965798AFA0C}"/>
              </a:ext>
            </a:extLst>
          </p:cNvPr>
          <p:cNvSpPr/>
          <p:nvPr/>
        </p:nvSpPr>
        <p:spPr>
          <a:xfrm>
            <a:off x="457200" y="3581400"/>
            <a:ext cx="558800" cy="38100"/>
          </a:xfrm>
          <a:prstGeom prst="rect">
            <a:avLst/>
          </a:prstGeom>
          <a:solidFill>
            <a:srgbClr val="F7B8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テキスト ボックス 9">
            <a:extLst>
              <a:ext uri="{FF2B5EF4-FFF2-40B4-BE49-F238E27FC236}">
                <a16:creationId xmlns:a16="http://schemas.microsoft.com/office/drawing/2014/main" id="{20B52E08-6491-9D4E-9709-1E342AACC6D8}"/>
              </a:ext>
            </a:extLst>
          </p:cNvPr>
          <p:cNvSpPr txBox="1"/>
          <p:nvPr/>
        </p:nvSpPr>
        <p:spPr>
          <a:xfrm>
            <a:off x="457200" y="3784600"/>
            <a:ext cx="355600" cy="228600"/>
          </a:xfrm>
          <a:prstGeom prst="rect">
            <a:avLst/>
          </a:prstGeom>
          <a:noFill/>
        </p:spPr>
        <p:txBody>
          <a:bodyPr vertOverflow="overflow" vert="horz" wrap="square" rtlCol="0" anchor="t" anchorCtr="0">
            <a:noAutofit/>
          </a:bodyPr>
          <a:lstStyle/>
          <a:p>
            <a:pPr algn="l"/>
            <a:r>
              <a:rPr lang="en-US" altLang="ja-JP" sz="1100" b="1">
                <a:solidFill>
                  <a:srgbClr val="F7B815"/>
                </a:solidFill>
                <a:latin typeface="Meiryo"/>
                <a:ea typeface="Meiryo"/>
              </a:rPr>
              <a:t>01</a:t>
            </a:r>
            <a:endParaRPr lang="ja-JP" altLang="en-US" sz="1100" b="1">
              <a:solidFill>
                <a:srgbClr val="F7B815"/>
              </a:solidFill>
              <a:latin typeface="Meiryo"/>
              <a:ea typeface="Meiryo"/>
            </a:endParaRPr>
          </a:p>
        </p:txBody>
      </p:sp>
      <p:sp>
        <p:nvSpPr>
          <p:cNvPr id="11" name="テキスト ボックス 10">
            <a:extLst>
              <a:ext uri="{FF2B5EF4-FFF2-40B4-BE49-F238E27FC236}">
                <a16:creationId xmlns:a16="http://schemas.microsoft.com/office/drawing/2014/main" id="{F4FED8AF-0BFF-8448-82BF-336101DB80D1}"/>
              </a:ext>
            </a:extLst>
          </p:cNvPr>
          <p:cNvSpPr txBox="1"/>
          <p:nvPr/>
        </p:nvSpPr>
        <p:spPr>
          <a:xfrm>
            <a:off x="889000" y="3784600"/>
            <a:ext cx="5511800" cy="228600"/>
          </a:xfrm>
          <a:prstGeom prst="rect">
            <a:avLst/>
          </a:prstGeom>
          <a:noFill/>
        </p:spPr>
        <p:txBody>
          <a:bodyPr vertOverflow="overflow" vert="horz" wrap="square" rtlCol="0" anchor="t" anchorCtr="0">
            <a:noAutofit/>
          </a:bodyPr>
          <a:lstStyle/>
          <a:p>
            <a:pPr algn="l"/>
            <a:r>
              <a:rPr lang="ja-JP" altLang="en-US" sz="1100" b="1">
                <a:solidFill>
                  <a:srgbClr val="1C2B4A"/>
                </a:solidFill>
                <a:latin typeface="Meiryo"/>
                <a:ea typeface="Meiryo"/>
              </a:rPr>
              <a:t>自律型エージェントの台頭</a:t>
            </a:r>
          </a:p>
        </p:txBody>
      </p:sp>
      <p:sp>
        <p:nvSpPr>
          <p:cNvPr id="12" name="テキスト ボックス 11">
            <a:extLst>
              <a:ext uri="{FF2B5EF4-FFF2-40B4-BE49-F238E27FC236}">
                <a16:creationId xmlns:a16="http://schemas.microsoft.com/office/drawing/2014/main" id="{ECDBF918-DBF6-A644-8536-981F3E15E0D1}"/>
              </a:ext>
            </a:extLst>
          </p:cNvPr>
          <p:cNvSpPr txBox="1"/>
          <p:nvPr/>
        </p:nvSpPr>
        <p:spPr>
          <a:xfrm>
            <a:off x="889000" y="4025900"/>
            <a:ext cx="5511800" cy="355600"/>
          </a:xfrm>
          <a:prstGeom prst="rect">
            <a:avLst/>
          </a:prstGeom>
          <a:noFill/>
        </p:spPr>
        <p:txBody>
          <a:bodyPr vertOverflow="overflow" vert="horz" wrap="square" rtlCol="0" anchor="t" anchorCtr="0">
            <a:noAutofit/>
          </a:bodyPr>
          <a:lstStyle/>
          <a:p>
            <a:pPr algn="l"/>
            <a:r>
              <a:rPr lang="ja-JP" altLang="en-US" sz="850">
                <a:solidFill>
                  <a:srgbClr val="333333"/>
                </a:solidFill>
                <a:latin typeface="Meiryo"/>
                <a:ea typeface="Meiryo"/>
              </a:rPr>
              <a:t>外部</a:t>
            </a:r>
            <a:r>
              <a:rPr lang="en" altLang="ja-JP" sz="850">
                <a:solidFill>
                  <a:srgbClr val="333333"/>
                </a:solidFill>
                <a:latin typeface="Meiryo"/>
                <a:ea typeface="Meiryo"/>
              </a:rPr>
              <a:t>API</a:t>
            </a:r>
            <a:r>
              <a:rPr lang="ja-JP" altLang="en-US" sz="850">
                <a:solidFill>
                  <a:srgbClr val="333333"/>
                </a:solidFill>
                <a:latin typeface="Meiryo"/>
                <a:ea typeface="Meiryo"/>
              </a:rPr>
              <a:t>や</a:t>
            </a:r>
            <a:r>
              <a:rPr lang="en" altLang="ja-JP" sz="850">
                <a:solidFill>
                  <a:srgbClr val="333333"/>
                </a:solidFill>
                <a:latin typeface="Meiryo"/>
                <a:ea typeface="Meiryo"/>
              </a:rPr>
              <a:t>DB</a:t>
            </a:r>
            <a:r>
              <a:rPr lang="ja-JP" altLang="en-US" sz="850">
                <a:solidFill>
                  <a:srgbClr val="333333"/>
                </a:solidFill>
                <a:latin typeface="Meiryo"/>
                <a:ea typeface="Meiryo"/>
              </a:rPr>
              <a:t>を自律操作する</a:t>
            </a:r>
            <a:r>
              <a:rPr lang="en" altLang="ja-JP" sz="850">
                <a:solidFill>
                  <a:srgbClr val="333333"/>
                </a:solidFill>
                <a:latin typeface="Meiryo"/>
                <a:ea typeface="Meiryo"/>
              </a:rPr>
              <a:t>AI</a:t>
            </a:r>
            <a:r>
              <a:rPr lang="ja-JP" altLang="en-US" sz="850">
                <a:solidFill>
                  <a:srgbClr val="333333"/>
                </a:solidFill>
                <a:latin typeface="Meiryo"/>
                <a:ea typeface="Meiryo"/>
              </a:rPr>
              <a:t>へ進化し、従来の監視手法では追随できません。</a:t>
            </a:r>
          </a:p>
        </p:txBody>
      </p:sp>
      <p:sp>
        <p:nvSpPr>
          <p:cNvPr id="13" name="テキスト ボックス 12">
            <a:extLst>
              <a:ext uri="{FF2B5EF4-FFF2-40B4-BE49-F238E27FC236}">
                <a16:creationId xmlns:a16="http://schemas.microsoft.com/office/drawing/2014/main" id="{62E59055-D988-C844-AE4D-AC9AC1FB88B6}"/>
              </a:ext>
            </a:extLst>
          </p:cNvPr>
          <p:cNvSpPr txBox="1"/>
          <p:nvPr/>
        </p:nvSpPr>
        <p:spPr>
          <a:xfrm>
            <a:off x="457200" y="4495800"/>
            <a:ext cx="355600" cy="228600"/>
          </a:xfrm>
          <a:prstGeom prst="rect">
            <a:avLst/>
          </a:prstGeom>
          <a:noFill/>
        </p:spPr>
        <p:txBody>
          <a:bodyPr vertOverflow="overflow" vert="horz" wrap="square" rtlCol="0" anchor="t" anchorCtr="0">
            <a:noAutofit/>
          </a:bodyPr>
          <a:lstStyle/>
          <a:p>
            <a:pPr algn="l"/>
            <a:r>
              <a:rPr lang="en-US" altLang="ja-JP" sz="1100" b="1">
                <a:solidFill>
                  <a:srgbClr val="F7B815"/>
                </a:solidFill>
                <a:latin typeface="Meiryo"/>
                <a:ea typeface="Meiryo"/>
              </a:rPr>
              <a:t>02</a:t>
            </a:r>
            <a:endParaRPr lang="ja-JP" altLang="en-US" sz="1100" b="1">
              <a:solidFill>
                <a:srgbClr val="F7B815"/>
              </a:solidFill>
              <a:latin typeface="Meiryo"/>
              <a:ea typeface="Meiryo"/>
            </a:endParaRPr>
          </a:p>
        </p:txBody>
      </p:sp>
      <p:sp>
        <p:nvSpPr>
          <p:cNvPr id="14" name="テキスト ボックス 13">
            <a:extLst>
              <a:ext uri="{FF2B5EF4-FFF2-40B4-BE49-F238E27FC236}">
                <a16:creationId xmlns:a16="http://schemas.microsoft.com/office/drawing/2014/main" id="{530E80B8-D7AC-C147-8986-F2705C960F33}"/>
              </a:ext>
            </a:extLst>
          </p:cNvPr>
          <p:cNvSpPr txBox="1"/>
          <p:nvPr/>
        </p:nvSpPr>
        <p:spPr>
          <a:xfrm>
            <a:off x="889000" y="4495800"/>
            <a:ext cx="5511800" cy="228600"/>
          </a:xfrm>
          <a:prstGeom prst="rect">
            <a:avLst/>
          </a:prstGeom>
          <a:noFill/>
        </p:spPr>
        <p:txBody>
          <a:bodyPr vertOverflow="overflow" vert="horz" wrap="square" rtlCol="0" anchor="t" anchorCtr="0">
            <a:noAutofit/>
          </a:bodyPr>
          <a:lstStyle/>
          <a:p>
            <a:pPr algn="l"/>
            <a:r>
              <a:rPr lang="ja-JP" altLang="en-US" sz="1100" b="1">
                <a:solidFill>
                  <a:srgbClr val="1C2B4A"/>
                </a:solidFill>
                <a:latin typeface="Meiryo"/>
                <a:ea typeface="Meiryo"/>
              </a:rPr>
              <a:t>シャドー</a:t>
            </a:r>
            <a:r>
              <a:rPr lang="en" altLang="ja-JP" sz="1100" b="1">
                <a:solidFill>
                  <a:srgbClr val="1C2B4A"/>
                </a:solidFill>
                <a:latin typeface="Meiryo"/>
                <a:ea typeface="Meiryo"/>
              </a:rPr>
              <a:t>AI</a:t>
            </a:r>
            <a:r>
              <a:rPr lang="ja-JP" altLang="en-US" sz="1100" b="1">
                <a:solidFill>
                  <a:srgbClr val="1C2B4A"/>
                </a:solidFill>
                <a:latin typeface="Meiryo"/>
                <a:ea typeface="Meiryo"/>
              </a:rPr>
              <a:t>による管理不全</a:t>
            </a:r>
          </a:p>
        </p:txBody>
      </p:sp>
      <p:sp>
        <p:nvSpPr>
          <p:cNvPr id="15" name="テキスト ボックス 14">
            <a:extLst>
              <a:ext uri="{FF2B5EF4-FFF2-40B4-BE49-F238E27FC236}">
                <a16:creationId xmlns:a16="http://schemas.microsoft.com/office/drawing/2014/main" id="{4AAE5A26-EC4A-7B44-8687-DE1C80D0A449}"/>
              </a:ext>
            </a:extLst>
          </p:cNvPr>
          <p:cNvSpPr txBox="1"/>
          <p:nvPr/>
        </p:nvSpPr>
        <p:spPr>
          <a:xfrm>
            <a:off x="889000" y="4737100"/>
            <a:ext cx="5511800" cy="355600"/>
          </a:xfrm>
          <a:prstGeom prst="rect">
            <a:avLst/>
          </a:prstGeom>
          <a:noFill/>
        </p:spPr>
        <p:txBody>
          <a:bodyPr vertOverflow="overflow" vert="horz" wrap="square" rtlCol="0" anchor="t" anchorCtr="0">
            <a:noAutofit/>
          </a:bodyPr>
          <a:lstStyle/>
          <a:p>
            <a:pPr algn="l"/>
            <a:r>
              <a:rPr lang="en" altLang="ja-JP" sz="850">
                <a:solidFill>
                  <a:srgbClr val="333333"/>
                </a:solidFill>
                <a:latin typeface="Meiryo"/>
                <a:ea typeface="Meiryo"/>
              </a:rPr>
              <a:t>IT</a:t>
            </a:r>
            <a:r>
              <a:rPr lang="ja-JP" altLang="en-US" sz="850">
                <a:solidFill>
                  <a:srgbClr val="333333"/>
                </a:solidFill>
                <a:latin typeface="Meiryo"/>
                <a:ea typeface="Meiryo"/>
              </a:rPr>
              <a:t>部門が把握できない現場の</a:t>
            </a:r>
            <a:r>
              <a:rPr lang="en" altLang="ja-JP" sz="850">
                <a:solidFill>
                  <a:srgbClr val="333333"/>
                </a:solidFill>
                <a:latin typeface="Meiryo"/>
                <a:ea typeface="Meiryo"/>
              </a:rPr>
              <a:t>AI</a:t>
            </a:r>
            <a:r>
              <a:rPr lang="ja-JP" altLang="en-US" sz="850">
                <a:solidFill>
                  <a:srgbClr val="333333"/>
                </a:solidFill>
                <a:latin typeface="Meiryo"/>
                <a:ea typeface="Meiryo"/>
              </a:rPr>
              <a:t>利用が、組織全体のセキュリティの盲点になります。</a:t>
            </a:r>
          </a:p>
        </p:txBody>
      </p:sp>
      <p:sp>
        <p:nvSpPr>
          <p:cNvPr id="16" name="テキスト ボックス 15">
            <a:extLst>
              <a:ext uri="{FF2B5EF4-FFF2-40B4-BE49-F238E27FC236}">
                <a16:creationId xmlns:a16="http://schemas.microsoft.com/office/drawing/2014/main" id="{AF4687F6-0253-664E-8A44-C38E2E92E86B}"/>
              </a:ext>
            </a:extLst>
          </p:cNvPr>
          <p:cNvSpPr txBox="1"/>
          <p:nvPr/>
        </p:nvSpPr>
        <p:spPr>
          <a:xfrm>
            <a:off x="457200" y="5207000"/>
            <a:ext cx="355600" cy="228600"/>
          </a:xfrm>
          <a:prstGeom prst="rect">
            <a:avLst/>
          </a:prstGeom>
          <a:noFill/>
        </p:spPr>
        <p:txBody>
          <a:bodyPr vertOverflow="overflow" vert="horz" wrap="square" rtlCol="0" anchor="t" anchorCtr="0">
            <a:noAutofit/>
          </a:bodyPr>
          <a:lstStyle/>
          <a:p>
            <a:pPr algn="l"/>
            <a:r>
              <a:rPr lang="en-US" altLang="ja-JP" sz="1100" b="1">
                <a:solidFill>
                  <a:srgbClr val="F7B815"/>
                </a:solidFill>
                <a:latin typeface="Meiryo"/>
                <a:ea typeface="Meiryo"/>
              </a:rPr>
              <a:t>03</a:t>
            </a:r>
            <a:endParaRPr lang="ja-JP" altLang="en-US" sz="1100" b="1">
              <a:solidFill>
                <a:srgbClr val="F7B815"/>
              </a:solidFill>
              <a:latin typeface="Meiryo"/>
              <a:ea typeface="Meiryo"/>
            </a:endParaRPr>
          </a:p>
        </p:txBody>
      </p:sp>
      <p:sp>
        <p:nvSpPr>
          <p:cNvPr id="17" name="テキスト ボックス 16">
            <a:extLst>
              <a:ext uri="{FF2B5EF4-FFF2-40B4-BE49-F238E27FC236}">
                <a16:creationId xmlns:a16="http://schemas.microsoft.com/office/drawing/2014/main" id="{EFB705C7-07C5-9946-A2A0-5C6F93B6A23B}"/>
              </a:ext>
            </a:extLst>
          </p:cNvPr>
          <p:cNvSpPr txBox="1"/>
          <p:nvPr/>
        </p:nvSpPr>
        <p:spPr>
          <a:xfrm>
            <a:off x="889000" y="5207000"/>
            <a:ext cx="5511800" cy="228600"/>
          </a:xfrm>
          <a:prstGeom prst="rect">
            <a:avLst/>
          </a:prstGeom>
          <a:noFill/>
        </p:spPr>
        <p:txBody>
          <a:bodyPr vertOverflow="overflow" vert="horz" wrap="square" rtlCol="0" anchor="t" anchorCtr="0">
            <a:noAutofit/>
          </a:bodyPr>
          <a:lstStyle/>
          <a:p>
            <a:pPr algn="l"/>
            <a:r>
              <a:rPr lang="ja-JP" altLang="en-US" sz="1100" b="1">
                <a:solidFill>
                  <a:srgbClr val="1C2B4A"/>
                </a:solidFill>
                <a:latin typeface="Meiryo"/>
                <a:ea typeface="Meiryo"/>
              </a:rPr>
              <a:t>新たな脆弱性の出現</a:t>
            </a:r>
          </a:p>
        </p:txBody>
      </p:sp>
      <p:sp>
        <p:nvSpPr>
          <p:cNvPr id="18" name="テキスト ボックス 17">
            <a:extLst>
              <a:ext uri="{FF2B5EF4-FFF2-40B4-BE49-F238E27FC236}">
                <a16:creationId xmlns:a16="http://schemas.microsoft.com/office/drawing/2014/main" id="{C492E4BB-1A3B-AF4C-9009-805DF45A534F}"/>
              </a:ext>
            </a:extLst>
          </p:cNvPr>
          <p:cNvSpPr txBox="1"/>
          <p:nvPr/>
        </p:nvSpPr>
        <p:spPr>
          <a:xfrm>
            <a:off x="889000" y="5448300"/>
            <a:ext cx="5511800" cy="355600"/>
          </a:xfrm>
          <a:prstGeom prst="rect">
            <a:avLst/>
          </a:prstGeom>
          <a:noFill/>
        </p:spPr>
        <p:txBody>
          <a:bodyPr vertOverflow="overflow" vert="horz" wrap="square" rtlCol="0" anchor="t" anchorCtr="0">
            <a:noAutofit/>
          </a:bodyPr>
          <a:lstStyle/>
          <a:p>
            <a:pPr algn="l"/>
            <a:r>
              <a:rPr lang="ja-JP" altLang="en-US" sz="850">
                <a:solidFill>
                  <a:srgbClr val="333333"/>
                </a:solidFill>
                <a:latin typeface="Meiryo"/>
                <a:ea typeface="Meiryo"/>
              </a:rPr>
              <a:t>プロンプトインジェクション等の</a:t>
            </a:r>
            <a:r>
              <a:rPr lang="en" altLang="ja-JP" sz="850">
                <a:solidFill>
                  <a:srgbClr val="333333"/>
                </a:solidFill>
                <a:latin typeface="Meiryo"/>
                <a:ea typeface="Meiryo"/>
              </a:rPr>
              <a:t>AI</a:t>
            </a:r>
            <a:r>
              <a:rPr lang="ja-JP" altLang="en-US" sz="850">
                <a:solidFill>
                  <a:srgbClr val="333333"/>
                </a:solidFill>
                <a:latin typeface="Meiryo"/>
                <a:ea typeface="Meiryo"/>
              </a:rPr>
              <a:t>特有の攻撃は、</a:t>
            </a:r>
            <a:r>
              <a:rPr lang="en" altLang="ja-JP" sz="850">
                <a:solidFill>
                  <a:srgbClr val="333333"/>
                </a:solidFill>
                <a:latin typeface="Meiryo"/>
                <a:ea typeface="Meiryo"/>
              </a:rPr>
              <a:t>OWASP Top 10 for LLM 2025</a:t>
            </a:r>
            <a:r>
              <a:rPr lang="ja-JP" altLang="en-US" sz="850">
                <a:solidFill>
                  <a:srgbClr val="333333"/>
                </a:solidFill>
                <a:latin typeface="Meiryo"/>
                <a:ea typeface="Meiryo"/>
              </a:rPr>
              <a:t>で最上位に位置づけられています。</a:t>
            </a:r>
          </a:p>
        </p:txBody>
      </p:sp>
      <p:sp>
        <p:nvSpPr>
          <p:cNvPr id="19" name="正方形/長方形 18">
            <a:extLst>
              <a:ext uri="{FF2B5EF4-FFF2-40B4-BE49-F238E27FC236}">
                <a16:creationId xmlns:a16="http://schemas.microsoft.com/office/drawing/2014/main" id="{8593F438-CFAA-9D4D-A7F0-10F26FCD5891}"/>
              </a:ext>
            </a:extLst>
          </p:cNvPr>
          <p:cNvSpPr/>
          <p:nvPr/>
        </p:nvSpPr>
        <p:spPr>
          <a:xfrm>
            <a:off x="457200" y="6070600"/>
            <a:ext cx="5943600" cy="2362200"/>
          </a:xfrm>
          <a:prstGeom prst="rect">
            <a:avLst/>
          </a:prstGeom>
          <a:solidFill>
            <a:srgbClr val="1C2B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7DC653A7-4A82-4543-A1BB-E7D66D442772}"/>
              </a:ext>
            </a:extLst>
          </p:cNvPr>
          <p:cNvSpPr/>
          <p:nvPr/>
        </p:nvSpPr>
        <p:spPr>
          <a:xfrm>
            <a:off x="457200" y="6070600"/>
            <a:ext cx="101600" cy="2362200"/>
          </a:xfrm>
          <a:prstGeom prst="rect">
            <a:avLst/>
          </a:prstGeom>
          <a:solidFill>
            <a:srgbClr val="F7B8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93E2557A-06CC-4541-88E6-5DF797D54FDC}"/>
              </a:ext>
            </a:extLst>
          </p:cNvPr>
          <p:cNvSpPr txBox="1"/>
          <p:nvPr/>
        </p:nvSpPr>
        <p:spPr>
          <a:xfrm>
            <a:off x="812800" y="6299200"/>
            <a:ext cx="2794000" cy="279400"/>
          </a:xfrm>
          <a:prstGeom prst="rect">
            <a:avLst/>
          </a:prstGeom>
          <a:noFill/>
        </p:spPr>
        <p:txBody>
          <a:bodyPr vertOverflow="overflow" vert="horz" wrap="square" rtlCol="0" anchor="t" anchorCtr="0">
            <a:noAutofit/>
          </a:bodyPr>
          <a:lstStyle/>
          <a:p>
            <a:pPr algn="l"/>
            <a:r>
              <a:rPr lang="en" altLang="ja-JP" sz="1400" b="1">
                <a:solidFill>
                  <a:srgbClr val="FFFFFF"/>
                </a:solidFill>
                <a:latin typeface="Meiryo"/>
                <a:ea typeface="Meiryo"/>
              </a:rPr>
              <a:t>WitnessAI</a:t>
            </a:r>
            <a:r>
              <a:rPr lang="ja-JP" altLang="en-US" sz="1400" b="1">
                <a:solidFill>
                  <a:srgbClr val="FFFFFF"/>
                </a:solidFill>
                <a:latin typeface="Meiryo"/>
                <a:ea typeface="Meiryo"/>
              </a:rPr>
              <a:t>とは</a:t>
            </a:r>
          </a:p>
        </p:txBody>
      </p:sp>
      <p:sp>
        <p:nvSpPr>
          <p:cNvPr id="22" name="テキスト ボックス 21">
            <a:extLst>
              <a:ext uri="{FF2B5EF4-FFF2-40B4-BE49-F238E27FC236}">
                <a16:creationId xmlns:a16="http://schemas.microsoft.com/office/drawing/2014/main" id="{197D821A-C406-F44B-BA6C-80BEA3DEB96C}"/>
              </a:ext>
            </a:extLst>
          </p:cNvPr>
          <p:cNvSpPr txBox="1"/>
          <p:nvPr/>
        </p:nvSpPr>
        <p:spPr>
          <a:xfrm>
            <a:off x="812800" y="6654800"/>
            <a:ext cx="2387600" cy="1371600"/>
          </a:xfrm>
          <a:prstGeom prst="rect">
            <a:avLst/>
          </a:prstGeom>
          <a:noFill/>
        </p:spPr>
        <p:txBody>
          <a:bodyPr vertOverflow="overflow" vert="horz" wrap="square" rtlCol="0" anchor="t" anchorCtr="0">
            <a:noAutofit/>
          </a:bodyPr>
          <a:lstStyle/>
          <a:p>
            <a:pPr algn="l"/>
            <a:r>
              <a:rPr lang="ja-JP" altLang="en-US" sz="850">
                <a:solidFill>
                  <a:srgbClr val="E6ECF4"/>
                </a:solidFill>
                <a:latin typeface="Meiryo"/>
                <a:ea typeface="Meiryo"/>
              </a:rPr>
              <a:t>ユーザと</a:t>
            </a:r>
            <a:r>
              <a:rPr lang="en" altLang="ja-JP" sz="850">
                <a:solidFill>
                  <a:srgbClr val="E6ECF4"/>
                </a:solidFill>
                <a:latin typeface="Meiryo"/>
                <a:ea typeface="Meiryo"/>
              </a:rPr>
              <a:t>AI</a:t>
            </a:r>
            <a:r>
              <a:rPr lang="ja-JP" altLang="en-US" sz="850">
                <a:solidFill>
                  <a:srgbClr val="E6ECF4"/>
                </a:solidFill>
                <a:latin typeface="Meiryo"/>
                <a:ea typeface="Meiryo"/>
              </a:rPr>
              <a:t>の間に立ち、すべての</a:t>
            </a:r>
            <a:r>
              <a:rPr lang="en" altLang="ja-JP" sz="850">
                <a:solidFill>
                  <a:srgbClr val="E6ECF4"/>
                </a:solidFill>
                <a:latin typeface="Meiryo"/>
                <a:ea typeface="Meiryo"/>
              </a:rPr>
              <a:t>AI</a:t>
            </a:r>
            <a:r>
              <a:rPr lang="ja-JP" altLang="en-US" sz="850">
                <a:solidFill>
                  <a:srgbClr val="E6ECF4"/>
                </a:solidFill>
                <a:latin typeface="Meiryo"/>
                <a:ea typeface="Meiryo"/>
              </a:rPr>
              <a:t>利用を可視化・統制する、エージェントレスの「</a:t>
            </a:r>
            <a:r>
              <a:rPr lang="en" altLang="ja-JP" sz="850">
                <a:solidFill>
                  <a:srgbClr val="E6ECF4"/>
                </a:solidFill>
                <a:latin typeface="Meiryo"/>
                <a:ea typeface="Meiryo"/>
              </a:rPr>
              <a:t>AI Security Gateway</a:t>
            </a:r>
            <a:r>
              <a:rPr lang="ja-JP" altLang="en" sz="850">
                <a:solidFill>
                  <a:srgbClr val="E6ECF4"/>
                </a:solidFill>
                <a:latin typeface="Meiryo"/>
                <a:ea typeface="Meiryo"/>
              </a:rPr>
              <a:t>」</a:t>
            </a:r>
            <a:r>
              <a:rPr lang="ja-JP" altLang="en-US" sz="850">
                <a:solidFill>
                  <a:srgbClr val="E6ECF4"/>
                </a:solidFill>
                <a:latin typeface="Meiryo"/>
                <a:ea typeface="Meiryo"/>
              </a:rPr>
              <a:t>です。エンドポイントに依存せず、既存環境へ迅速に導入できます。</a:t>
            </a:r>
          </a:p>
        </p:txBody>
      </p:sp>
      <p:sp>
        <p:nvSpPr>
          <p:cNvPr id="23" name="テキスト ボックス 22">
            <a:extLst>
              <a:ext uri="{FF2B5EF4-FFF2-40B4-BE49-F238E27FC236}">
                <a16:creationId xmlns:a16="http://schemas.microsoft.com/office/drawing/2014/main" id="{D63F8482-E5FE-6E4D-B808-C2848A9AF2FE}"/>
              </a:ext>
            </a:extLst>
          </p:cNvPr>
          <p:cNvSpPr txBox="1"/>
          <p:nvPr/>
        </p:nvSpPr>
        <p:spPr>
          <a:xfrm>
            <a:off x="3378200" y="7696200"/>
            <a:ext cx="2692400" cy="152400"/>
          </a:xfrm>
          <a:prstGeom prst="rect">
            <a:avLst/>
          </a:prstGeom>
          <a:noFill/>
        </p:spPr>
        <p:txBody>
          <a:bodyPr vertOverflow="overflow" vert="horz" wrap="square" rtlCol="0" anchor="t" anchorCtr="0">
            <a:noAutofit/>
          </a:bodyPr>
          <a:lstStyle/>
          <a:p>
            <a:pPr algn="l"/>
            <a:r>
              <a:rPr lang="en" altLang="ja-JP" sz="750">
                <a:solidFill>
                  <a:srgbClr val="BFD0DE"/>
                </a:solidFill>
                <a:latin typeface="Meiryo"/>
                <a:ea typeface="Meiryo"/>
              </a:rPr>
              <a:t>AI</a:t>
            </a:r>
            <a:r>
              <a:rPr lang="ja-JP" altLang="en-US" sz="750">
                <a:solidFill>
                  <a:srgbClr val="BFD0DE"/>
                </a:solidFill>
                <a:latin typeface="Meiryo"/>
                <a:ea typeface="Meiryo"/>
              </a:rPr>
              <a:t>利用を仲介し、安全に中継</a:t>
            </a:r>
          </a:p>
        </p:txBody>
      </p:sp>
      <p:sp>
        <p:nvSpPr>
          <p:cNvPr id="24" name="テキスト ボックス 23">
            <a:extLst>
              <a:ext uri="{FF2B5EF4-FFF2-40B4-BE49-F238E27FC236}">
                <a16:creationId xmlns:a16="http://schemas.microsoft.com/office/drawing/2014/main" id="{4DC8CAEB-1B7A-1A48-96FA-DBC90EFA2D0D}"/>
              </a:ext>
            </a:extLst>
          </p:cNvPr>
          <p:cNvSpPr txBox="1"/>
          <p:nvPr/>
        </p:nvSpPr>
        <p:spPr>
          <a:xfrm>
            <a:off x="812800" y="8153400"/>
            <a:ext cx="3810000" cy="203200"/>
          </a:xfrm>
          <a:prstGeom prst="rect">
            <a:avLst/>
          </a:prstGeom>
          <a:noFill/>
        </p:spPr>
        <p:txBody>
          <a:bodyPr vertOverflow="overflow" vert="horz" wrap="square" rtlCol="0" anchor="t" anchorCtr="0">
            <a:noAutofit/>
          </a:bodyPr>
          <a:lstStyle/>
          <a:p>
            <a:pPr algn="l"/>
            <a:r>
              <a:rPr lang="ja-JP" altLang="en-US" sz="900" b="1">
                <a:solidFill>
                  <a:srgbClr val="F7B815"/>
                </a:solidFill>
                <a:latin typeface="Meiryo"/>
                <a:ea typeface="Meiryo"/>
              </a:rPr>
              <a:t>▶ 機能・提供メニューの詳細は裏面へ</a:t>
            </a:r>
          </a:p>
        </p:txBody>
      </p:sp>
      <p:sp>
        <p:nvSpPr>
          <p:cNvPr id="25" name="テキスト ボックス 24">
            <a:extLst>
              <a:ext uri="{FF2B5EF4-FFF2-40B4-BE49-F238E27FC236}">
                <a16:creationId xmlns:a16="http://schemas.microsoft.com/office/drawing/2014/main" id="{A94D146E-9D82-4747-A4B2-9ED06AFEF7B1}"/>
              </a:ext>
            </a:extLst>
          </p:cNvPr>
          <p:cNvSpPr txBox="1"/>
          <p:nvPr/>
        </p:nvSpPr>
        <p:spPr>
          <a:xfrm>
            <a:off x="457200" y="8788400"/>
            <a:ext cx="3302000" cy="304800"/>
          </a:xfrm>
          <a:prstGeom prst="rect">
            <a:avLst/>
          </a:prstGeom>
          <a:noFill/>
        </p:spPr>
        <p:txBody>
          <a:bodyPr vertOverflow="overflow" vert="horz" wrap="square" rtlCol="0" anchor="ctr" anchorCtr="0">
            <a:noAutofit/>
          </a:bodyPr>
          <a:lstStyle/>
          <a:p>
            <a:pPr algn="l"/>
            <a:r>
              <a:rPr lang="ja-JP" altLang="en-US" sz="1300" b="1">
                <a:solidFill>
                  <a:srgbClr val="1C2B4A"/>
                </a:solidFill>
                <a:latin typeface="Meiryo"/>
                <a:ea typeface="Meiryo"/>
              </a:rPr>
              <a:t>導入のご相談はこちら</a:t>
            </a:r>
          </a:p>
        </p:txBody>
      </p:sp>
      <p:sp>
        <p:nvSpPr>
          <p:cNvPr id="26" name="テキスト ボックス 25">
            <a:extLst>
              <a:ext uri="{FF2B5EF4-FFF2-40B4-BE49-F238E27FC236}">
                <a16:creationId xmlns:a16="http://schemas.microsoft.com/office/drawing/2014/main" id="{39655744-7F7F-9346-A279-A18927B46065}"/>
              </a:ext>
            </a:extLst>
          </p:cNvPr>
          <p:cNvSpPr txBox="1"/>
          <p:nvPr/>
        </p:nvSpPr>
        <p:spPr>
          <a:xfrm>
            <a:off x="3810000" y="8839200"/>
            <a:ext cx="2590800" cy="228600"/>
          </a:xfrm>
          <a:prstGeom prst="rect">
            <a:avLst/>
          </a:prstGeom>
          <a:noFill/>
        </p:spPr>
        <p:txBody>
          <a:bodyPr vertOverflow="overflow" vert="horz" wrap="square" rtlCol="0" anchor="ctr" anchorCtr="0">
            <a:noAutofit/>
          </a:bodyPr>
          <a:lstStyle/>
          <a:p>
            <a:pPr algn="l"/>
            <a:r>
              <a:rPr lang="en" altLang="ja-JP" sz="900">
                <a:solidFill>
                  <a:srgbClr val="5A6B7E"/>
                </a:solidFill>
                <a:latin typeface="Meiryo"/>
                <a:ea typeface="Meiryo"/>
              </a:rPr>
              <a:t>go.jsol.co.jp/lp/inquiry/00009</a:t>
            </a:r>
            <a:endParaRPr lang="ja-JP" altLang="en-US" sz="900">
              <a:solidFill>
                <a:srgbClr val="5A6B7E"/>
              </a:solidFill>
              <a:latin typeface="Meiryo"/>
              <a:ea typeface="Meiryo"/>
            </a:endParaRPr>
          </a:p>
        </p:txBody>
      </p:sp>
      <p:sp>
        <p:nvSpPr>
          <p:cNvPr id="27" name="平行四辺形 26">
            <a:extLst>
              <a:ext uri="{FF2B5EF4-FFF2-40B4-BE49-F238E27FC236}">
                <a16:creationId xmlns:a16="http://schemas.microsoft.com/office/drawing/2014/main" id="{34EB0704-849C-E041-82C7-81F63B9C33F1}"/>
              </a:ext>
            </a:extLst>
          </p:cNvPr>
          <p:cNvSpPr/>
          <p:nvPr/>
        </p:nvSpPr>
        <p:spPr>
          <a:xfrm>
            <a:off x="-254000" y="9525000"/>
            <a:ext cx="7620000" cy="228600"/>
          </a:xfrm>
          <a:prstGeom prst="parallelogram">
            <a:avLst/>
          </a:prstGeom>
          <a:solidFill>
            <a:srgbClr val="F7B8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pic>
        <p:nvPicPr>
          <p:cNvPr id="28" name="図 27">
            <a:extLst>
              <a:ext uri="{FF2B5EF4-FFF2-40B4-BE49-F238E27FC236}">
                <a16:creationId xmlns:a16="http://schemas.microsoft.com/office/drawing/2014/main" id="{E7BDE645-07FB-F65D-0551-BFE92A0CB940}"/>
              </a:ext>
            </a:extLst>
          </p:cNvPr>
          <p:cNvPicPr>
            <a:picLocks noChangeAspect="1"/>
          </p:cNvPicPr>
          <p:nvPr/>
        </p:nvPicPr>
        <p:blipFill>
          <a:blip r:embed="rId2"/>
          <a:stretch>
            <a:fillRect/>
          </a:stretch>
        </p:blipFill>
        <p:spPr>
          <a:xfrm>
            <a:off x="3911600" y="330200"/>
            <a:ext cx="2540000" cy="1702741"/>
          </a:xfrm>
          <a:prstGeom prst="rect">
            <a:avLst/>
          </a:prstGeom>
        </p:spPr>
      </p:pic>
      <p:pic>
        <p:nvPicPr>
          <p:cNvPr id="29" name="図 28">
            <a:extLst>
              <a:ext uri="{FF2B5EF4-FFF2-40B4-BE49-F238E27FC236}">
                <a16:creationId xmlns:a16="http://schemas.microsoft.com/office/drawing/2014/main" id="{EA8BEC9F-BB4F-909C-5F91-4693DE7D2D7F}"/>
              </a:ext>
            </a:extLst>
          </p:cNvPr>
          <p:cNvPicPr>
            <a:picLocks noChangeAspect="1"/>
          </p:cNvPicPr>
          <p:nvPr/>
        </p:nvPicPr>
        <p:blipFill>
          <a:blip r:embed="rId3"/>
          <a:stretch>
            <a:fillRect/>
          </a:stretch>
        </p:blipFill>
        <p:spPr>
          <a:xfrm>
            <a:off x="3378200" y="6781800"/>
            <a:ext cx="2692400" cy="822678"/>
          </a:xfrm>
          <a:prstGeom prst="rect">
            <a:avLst/>
          </a:prstGeom>
        </p:spPr>
      </p:pic>
    </p:spTree>
    <p:extLst>
      <p:ext uri="{BB962C8B-B14F-4D97-AF65-F5344CB8AC3E}">
        <p14:creationId xmlns:p14="http://schemas.microsoft.com/office/powerpoint/2010/main" val="3194629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9171AD53-9D33-0F69-C151-45D9376E5952}"/>
              </a:ext>
            </a:extLst>
          </p:cNvPr>
          <p:cNvPicPr>
            <a:picLocks/>
          </p:cNvPicPr>
          <p:nvPr/>
        </p:nvPicPr>
        <p:blipFill>
          <a:blip r:embed="rId2"/>
          <a:stretch>
            <a:fillRect/>
          </a:stretch>
        </p:blipFill>
        <p:spPr>
          <a:xfrm>
            <a:off x="0" y="0"/>
            <a:ext cx="6858000" cy="9906000"/>
          </a:xfrm>
          <a:prstGeom prst="rect">
            <a:avLst/>
          </a:prstGeom>
        </p:spPr>
      </p:pic>
      <p:sp>
        <p:nvSpPr>
          <p:cNvPr id="3" name="テキスト ボックス 2">
            <a:extLst>
              <a:ext uri="{FF2B5EF4-FFF2-40B4-BE49-F238E27FC236}">
                <a16:creationId xmlns:a16="http://schemas.microsoft.com/office/drawing/2014/main" id="{F43566DD-3B8E-3345-9BA9-45728FE7789A}"/>
              </a:ext>
            </a:extLst>
          </p:cNvPr>
          <p:cNvSpPr txBox="1"/>
          <p:nvPr/>
        </p:nvSpPr>
        <p:spPr>
          <a:xfrm>
            <a:off x="457200" y="508000"/>
            <a:ext cx="3048000" cy="279400"/>
          </a:xfrm>
          <a:prstGeom prst="rect">
            <a:avLst/>
          </a:prstGeom>
          <a:noFill/>
        </p:spPr>
        <p:txBody>
          <a:bodyPr vertOverflow="overflow" vert="horz" wrap="square" rtlCol="0" anchor="t" anchorCtr="0">
            <a:noAutofit/>
          </a:bodyPr>
          <a:lstStyle/>
          <a:p>
            <a:pPr algn="l"/>
            <a:r>
              <a:rPr lang="en" altLang="ja-JP" sz="1600" b="1">
                <a:solidFill>
                  <a:srgbClr val="FFFFFF"/>
                </a:solidFill>
                <a:latin typeface="Meiryo"/>
                <a:ea typeface="Meiryo"/>
              </a:rPr>
              <a:t>WITNESS AI</a:t>
            </a:r>
            <a:endParaRPr lang="ja-JP" altLang="en-US" sz="1600" b="1">
              <a:solidFill>
                <a:srgbClr val="FFFFFF"/>
              </a:solidFill>
              <a:latin typeface="Meiryo"/>
              <a:ea typeface="Meiryo"/>
            </a:endParaRPr>
          </a:p>
        </p:txBody>
      </p:sp>
      <p:sp>
        <p:nvSpPr>
          <p:cNvPr id="4" name="テキスト ボックス 3">
            <a:extLst>
              <a:ext uri="{FF2B5EF4-FFF2-40B4-BE49-F238E27FC236}">
                <a16:creationId xmlns:a16="http://schemas.microsoft.com/office/drawing/2014/main" id="{E4940FD7-B1DE-D843-93E7-B7D1094368FE}"/>
              </a:ext>
            </a:extLst>
          </p:cNvPr>
          <p:cNvSpPr txBox="1"/>
          <p:nvPr/>
        </p:nvSpPr>
        <p:spPr>
          <a:xfrm>
            <a:off x="457200" y="812800"/>
            <a:ext cx="4064000" cy="177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生成</a:t>
            </a:r>
            <a:r>
              <a:rPr lang="en" altLang="ja-JP" sz="850">
                <a:solidFill>
                  <a:srgbClr val="C9CFE8"/>
                </a:solidFill>
                <a:latin typeface="Meiryo"/>
                <a:ea typeface="Meiryo"/>
              </a:rPr>
              <a:t>AI</a:t>
            </a:r>
            <a:r>
              <a:rPr lang="ja-JP" altLang="en-US" sz="850">
                <a:solidFill>
                  <a:srgbClr val="C9CFE8"/>
                </a:solidFill>
                <a:latin typeface="Meiryo"/>
                <a:ea typeface="Meiryo"/>
              </a:rPr>
              <a:t>セキュリティ・ガバナンスソリューション｜提供：</a:t>
            </a:r>
            <a:r>
              <a:rPr lang="en" altLang="ja-JP" sz="850">
                <a:solidFill>
                  <a:srgbClr val="C9CFE8"/>
                </a:solidFill>
                <a:latin typeface="Meiryo"/>
                <a:ea typeface="Meiryo"/>
              </a:rPr>
              <a:t>JSOL</a:t>
            </a:r>
            <a:endParaRPr lang="ja-JP" altLang="en-US" sz="850">
              <a:solidFill>
                <a:srgbClr val="C9CFE8"/>
              </a:solidFill>
              <a:latin typeface="Meiryo"/>
              <a:ea typeface="Meiryo"/>
            </a:endParaRPr>
          </a:p>
        </p:txBody>
      </p:sp>
      <p:sp>
        <p:nvSpPr>
          <p:cNvPr id="5" name="テキスト ボックス 4">
            <a:extLst>
              <a:ext uri="{FF2B5EF4-FFF2-40B4-BE49-F238E27FC236}">
                <a16:creationId xmlns:a16="http://schemas.microsoft.com/office/drawing/2014/main" id="{E3C2FB70-7640-044A-87A8-07F9929BE1C5}"/>
              </a:ext>
            </a:extLst>
          </p:cNvPr>
          <p:cNvSpPr txBox="1"/>
          <p:nvPr/>
        </p:nvSpPr>
        <p:spPr>
          <a:xfrm>
            <a:off x="457200" y="1498600"/>
            <a:ext cx="5943600" cy="1117600"/>
          </a:xfrm>
          <a:prstGeom prst="rect">
            <a:avLst/>
          </a:prstGeom>
          <a:noFill/>
        </p:spPr>
        <p:txBody>
          <a:bodyPr vertOverflow="overflow" vert="horz" wrap="square" rtlCol="0" anchor="t" anchorCtr="0">
            <a:noAutofit/>
          </a:bodyPr>
          <a:lstStyle/>
          <a:p>
            <a:pPr algn="l"/>
            <a:r>
              <a:rPr lang="en" altLang="ja-JP" sz="2600" b="1">
                <a:solidFill>
                  <a:srgbClr val="FFFFFF"/>
                </a:solidFill>
                <a:latin typeface="Meiryo"/>
                <a:ea typeface="Meiryo"/>
              </a:rPr>
              <a:t>AI</a:t>
            </a:r>
            <a:r>
              <a:rPr lang="ja-JP" altLang="en-US" sz="2600" b="1">
                <a:solidFill>
                  <a:srgbClr val="FFFFFF"/>
                </a:solidFill>
                <a:latin typeface="Meiryo"/>
                <a:ea typeface="Meiryo"/>
              </a:rPr>
              <a:t>は、止めない。
リスクだけを、統制する。</a:t>
            </a:r>
          </a:p>
        </p:txBody>
      </p:sp>
      <p:sp>
        <p:nvSpPr>
          <p:cNvPr id="6" name="テキスト ボックス 5">
            <a:extLst>
              <a:ext uri="{FF2B5EF4-FFF2-40B4-BE49-F238E27FC236}">
                <a16:creationId xmlns:a16="http://schemas.microsoft.com/office/drawing/2014/main" id="{8C5ECC82-29A6-FB4D-954F-735EF5A7167D}"/>
              </a:ext>
            </a:extLst>
          </p:cNvPr>
          <p:cNvSpPr txBox="1"/>
          <p:nvPr/>
        </p:nvSpPr>
        <p:spPr>
          <a:xfrm>
            <a:off x="457200" y="2717800"/>
            <a:ext cx="5588000" cy="406400"/>
          </a:xfrm>
          <a:prstGeom prst="rect">
            <a:avLst/>
          </a:prstGeom>
          <a:noFill/>
        </p:spPr>
        <p:txBody>
          <a:bodyPr vertOverflow="overflow" vert="horz" wrap="square" rtlCol="0" anchor="t" anchorCtr="0">
            <a:noAutofit/>
          </a:bodyPr>
          <a:lstStyle/>
          <a:p>
            <a:pPr algn="l"/>
            <a:r>
              <a:rPr lang="ja-JP" altLang="en-US" sz="950">
                <a:solidFill>
                  <a:srgbClr val="C9CFE8"/>
                </a:solidFill>
                <a:latin typeface="Meiryo"/>
                <a:ea typeface="Meiryo"/>
              </a:rPr>
              <a:t>シャドー</a:t>
            </a:r>
            <a:r>
              <a:rPr lang="en" altLang="ja-JP" sz="950">
                <a:solidFill>
                  <a:srgbClr val="C9CFE8"/>
                </a:solidFill>
                <a:latin typeface="Meiryo"/>
                <a:ea typeface="Meiryo"/>
              </a:rPr>
              <a:t>AI</a:t>
            </a:r>
            <a:r>
              <a:rPr lang="ja-JP" altLang="en" sz="950">
                <a:solidFill>
                  <a:srgbClr val="C9CFE8"/>
                </a:solidFill>
                <a:latin typeface="Meiryo"/>
                <a:ea typeface="Meiryo"/>
              </a:rPr>
              <a:t>、</a:t>
            </a:r>
            <a:r>
              <a:rPr lang="ja-JP" altLang="en-US" sz="950">
                <a:solidFill>
                  <a:srgbClr val="C9CFE8"/>
                </a:solidFill>
                <a:latin typeface="Meiryo"/>
                <a:ea typeface="Meiryo"/>
              </a:rPr>
              <a:t>プロンプトインジェクション、自律型エージェント。生成</a:t>
            </a:r>
            <a:r>
              <a:rPr lang="en" altLang="ja-JP" sz="950">
                <a:solidFill>
                  <a:srgbClr val="C9CFE8"/>
                </a:solidFill>
                <a:latin typeface="Meiryo"/>
                <a:ea typeface="Meiryo"/>
              </a:rPr>
              <a:t>AI</a:t>
            </a:r>
            <a:r>
              <a:rPr lang="ja-JP" altLang="en-US" sz="950">
                <a:solidFill>
                  <a:srgbClr val="C9CFE8"/>
                </a:solidFill>
                <a:latin typeface="Meiryo"/>
                <a:ea typeface="Meiryo"/>
              </a:rPr>
              <a:t>の拡大は、従来のセキュリティでは見えないリスクを生んでいます。</a:t>
            </a:r>
          </a:p>
        </p:txBody>
      </p:sp>
      <p:sp>
        <p:nvSpPr>
          <p:cNvPr id="7" name="テキスト ボックス 6">
            <a:extLst>
              <a:ext uri="{FF2B5EF4-FFF2-40B4-BE49-F238E27FC236}">
                <a16:creationId xmlns:a16="http://schemas.microsoft.com/office/drawing/2014/main" id="{E925DEF1-C48F-7845-A64C-7E3685C76EC7}"/>
              </a:ext>
            </a:extLst>
          </p:cNvPr>
          <p:cNvSpPr txBox="1"/>
          <p:nvPr/>
        </p:nvSpPr>
        <p:spPr>
          <a:xfrm>
            <a:off x="457200" y="3454400"/>
            <a:ext cx="2540000" cy="203200"/>
          </a:xfrm>
          <a:prstGeom prst="rect">
            <a:avLst/>
          </a:prstGeom>
          <a:noFill/>
        </p:spPr>
        <p:txBody>
          <a:bodyPr vertOverflow="overflow" vert="horz" wrap="square" rtlCol="0" anchor="t" anchorCtr="0">
            <a:noAutofit/>
          </a:bodyPr>
          <a:lstStyle/>
          <a:p>
            <a:pPr algn="l"/>
            <a:r>
              <a:rPr lang="en" altLang="ja-JP" sz="1100" b="1">
                <a:solidFill>
                  <a:srgbClr val="F7B815"/>
                </a:solidFill>
                <a:latin typeface="Meiryo"/>
                <a:ea typeface="Meiryo"/>
              </a:rPr>
              <a:t>ISSUE</a:t>
            </a:r>
            <a:endParaRPr lang="ja-JP" altLang="en-US" sz="1100" b="1">
              <a:solidFill>
                <a:srgbClr val="F7B815"/>
              </a:solidFill>
              <a:latin typeface="Meiryo"/>
              <a:ea typeface="Meiryo"/>
            </a:endParaRPr>
          </a:p>
        </p:txBody>
      </p:sp>
      <p:sp>
        <p:nvSpPr>
          <p:cNvPr id="8" name="テキスト ボックス 7">
            <a:extLst>
              <a:ext uri="{FF2B5EF4-FFF2-40B4-BE49-F238E27FC236}">
                <a16:creationId xmlns:a16="http://schemas.microsoft.com/office/drawing/2014/main" id="{DF9E229D-F94F-8D47-9151-9FD1809D2BB9}"/>
              </a:ext>
            </a:extLst>
          </p:cNvPr>
          <p:cNvSpPr txBox="1"/>
          <p:nvPr/>
        </p:nvSpPr>
        <p:spPr>
          <a:xfrm>
            <a:off x="457200" y="3683000"/>
            <a:ext cx="5080000" cy="304800"/>
          </a:xfrm>
          <a:prstGeom prst="rect">
            <a:avLst/>
          </a:prstGeom>
          <a:noFill/>
        </p:spPr>
        <p:txBody>
          <a:bodyPr vertOverflow="overflow" vert="horz" wrap="square" rtlCol="0" anchor="t" anchorCtr="0">
            <a:noAutofit/>
          </a:bodyPr>
          <a:lstStyle/>
          <a:p>
            <a:pPr algn="l"/>
            <a:r>
              <a:rPr lang="ja-JP" altLang="en-US" sz="1500" b="1">
                <a:solidFill>
                  <a:srgbClr val="FFFFFF"/>
                </a:solidFill>
                <a:latin typeface="Meiryo"/>
                <a:ea typeface="Meiryo"/>
              </a:rPr>
              <a:t>なぜ今、</a:t>
            </a:r>
            <a:r>
              <a:rPr lang="en" altLang="ja-JP" sz="1500" b="1">
                <a:solidFill>
                  <a:srgbClr val="FFFFFF"/>
                </a:solidFill>
                <a:latin typeface="Meiryo"/>
                <a:ea typeface="Meiryo"/>
              </a:rPr>
              <a:t>AI</a:t>
            </a:r>
            <a:r>
              <a:rPr lang="ja-JP" altLang="en-US" sz="1500" b="1">
                <a:solidFill>
                  <a:srgbClr val="FFFFFF"/>
                </a:solidFill>
                <a:latin typeface="Meiryo"/>
                <a:ea typeface="Meiryo"/>
              </a:rPr>
              <a:t>ガバナンスが必要か</a:t>
            </a:r>
          </a:p>
        </p:txBody>
      </p:sp>
      <p:sp>
        <p:nvSpPr>
          <p:cNvPr id="9" name="テキスト ボックス 8">
            <a:extLst>
              <a:ext uri="{FF2B5EF4-FFF2-40B4-BE49-F238E27FC236}">
                <a16:creationId xmlns:a16="http://schemas.microsoft.com/office/drawing/2014/main" id="{C859BC96-0C44-7647-B69C-FA53B505D13F}"/>
              </a:ext>
            </a:extLst>
          </p:cNvPr>
          <p:cNvSpPr txBox="1"/>
          <p:nvPr/>
        </p:nvSpPr>
        <p:spPr>
          <a:xfrm>
            <a:off x="457200" y="4165600"/>
            <a:ext cx="558800" cy="3302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01</a:t>
            </a:r>
            <a:endParaRPr lang="ja-JP" altLang="en-US" sz="1600" b="1">
              <a:solidFill>
                <a:srgbClr val="F7B815"/>
              </a:solidFill>
              <a:latin typeface="Meiryo"/>
              <a:ea typeface="Meiryo"/>
            </a:endParaRPr>
          </a:p>
        </p:txBody>
      </p:sp>
      <p:sp>
        <p:nvSpPr>
          <p:cNvPr id="10" name="テキスト ボックス 9">
            <a:extLst>
              <a:ext uri="{FF2B5EF4-FFF2-40B4-BE49-F238E27FC236}">
                <a16:creationId xmlns:a16="http://schemas.microsoft.com/office/drawing/2014/main" id="{6D74AE5B-813D-0440-AC3C-F1122C0A4308}"/>
              </a:ext>
            </a:extLst>
          </p:cNvPr>
          <p:cNvSpPr txBox="1"/>
          <p:nvPr/>
        </p:nvSpPr>
        <p:spPr>
          <a:xfrm>
            <a:off x="1066800" y="4216400"/>
            <a:ext cx="5334000" cy="228600"/>
          </a:xfrm>
          <a:prstGeom prst="rect">
            <a:avLst/>
          </a:prstGeom>
          <a:noFill/>
        </p:spPr>
        <p:txBody>
          <a:bodyPr vertOverflow="overflow" vert="horz" wrap="square" rtlCol="0" anchor="t" anchorCtr="0">
            <a:noAutofit/>
          </a:bodyPr>
          <a:lstStyle/>
          <a:p>
            <a:pPr algn="l"/>
            <a:r>
              <a:rPr lang="ja-JP" altLang="en-US" sz="1250" b="1">
                <a:solidFill>
                  <a:srgbClr val="FFFFFF"/>
                </a:solidFill>
                <a:latin typeface="Meiryo"/>
                <a:ea typeface="Meiryo"/>
              </a:rPr>
              <a:t>自律型エージェントの台頭</a:t>
            </a:r>
          </a:p>
        </p:txBody>
      </p:sp>
      <p:sp>
        <p:nvSpPr>
          <p:cNvPr id="11" name="テキスト ボックス 10">
            <a:extLst>
              <a:ext uri="{FF2B5EF4-FFF2-40B4-BE49-F238E27FC236}">
                <a16:creationId xmlns:a16="http://schemas.microsoft.com/office/drawing/2014/main" id="{11AF2D2A-9E4B-0A41-B353-E92E39FFB35F}"/>
              </a:ext>
            </a:extLst>
          </p:cNvPr>
          <p:cNvSpPr txBox="1"/>
          <p:nvPr/>
        </p:nvSpPr>
        <p:spPr>
          <a:xfrm>
            <a:off x="1066800" y="4470400"/>
            <a:ext cx="5334000" cy="381000"/>
          </a:xfrm>
          <a:prstGeom prst="rect">
            <a:avLst/>
          </a:prstGeom>
          <a:noFill/>
        </p:spPr>
        <p:txBody>
          <a:bodyPr vertOverflow="overflow" vert="horz" wrap="square" rtlCol="0" anchor="t" anchorCtr="0">
            <a:noAutofit/>
          </a:bodyPr>
          <a:lstStyle/>
          <a:p>
            <a:pPr algn="l"/>
            <a:r>
              <a:rPr lang="ja-JP" altLang="en-US" sz="900">
                <a:solidFill>
                  <a:srgbClr val="C9CFE8"/>
                </a:solidFill>
                <a:latin typeface="Meiryo"/>
                <a:ea typeface="Meiryo"/>
              </a:rPr>
              <a:t>外部</a:t>
            </a:r>
            <a:r>
              <a:rPr lang="en" altLang="ja-JP" sz="900">
                <a:solidFill>
                  <a:srgbClr val="C9CFE8"/>
                </a:solidFill>
                <a:latin typeface="Meiryo"/>
                <a:ea typeface="Meiryo"/>
              </a:rPr>
              <a:t>API</a:t>
            </a:r>
            <a:r>
              <a:rPr lang="ja-JP" altLang="en-US" sz="900">
                <a:solidFill>
                  <a:srgbClr val="C9CFE8"/>
                </a:solidFill>
                <a:latin typeface="Meiryo"/>
                <a:ea typeface="Meiryo"/>
              </a:rPr>
              <a:t>や</a:t>
            </a:r>
            <a:r>
              <a:rPr lang="en" altLang="ja-JP" sz="900">
                <a:solidFill>
                  <a:srgbClr val="C9CFE8"/>
                </a:solidFill>
                <a:latin typeface="Meiryo"/>
                <a:ea typeface="Meiryo"/>
              </a:rPr>
              <a:t>DB</a:t>
            </a:r>
            <a:r>
              <a:rPr lang="ja-JP" altLang="en-US" sz="900">
                <a:solidFill>
                  <a:srgbClr val="C9CFE8"/>
                </a:solidFill>
                <a:latin typeface="Meiryo"/>
                <a:ea typeface="Meiryo"/>
              </a:rPr>
              <a:t>を自律操作する</a:t>
            </a:r>
            <a:r>
              <a:rPr lang="en" altLang="ja-JP" sz="900">
                <a:solidFill>
                  <a:srgbClr val="C9CFE8"/>
                </a:solidFill>
                <a:latin typeface="Meiryo"/>
                <a:ea typeface="Meiryo"/>
              </a:rPr>
              <a:t>AI</a:t>
            </a:r>
            <a:r>
              <a:rPr lang="ja-JP" altLang="en-US" sz="900">
                <a:solidFill>
                  <a:srgbClr val="C9CFE8"/>
                </a:solidFill>
                <a:latin typeface="Meiryo"/>
                <a:ea typeface="Meiryo"/>
              </a:rPr>
              <a:t>には、従来の監視手法では追いつけない。</a:t>
            </a:r>
          </a:p>
        </p:txBody>
      </p:sp>
      <p:sp>
        <p:nvSpPr>
          <p:cNvPr id="12" name="テキスト ボックス 11">
            <a:extLst>
              <a:ext uri="{FF2B5EF4-FFF2-40B4-BE49-F238E27FC236}">
                <a16:creationId xmlns:a16="http://schemas.microsoft.com/office/drawing/2014/main" id="{10EFE821-DEC7-8C4F-AD5C-35A91ABF372A}"/>
              </a:ext>
            </a:extLst>
          </p:cNvPr>
          <p:cNvSpPr txBox="1"/>
          <p:nvPr/>
        </p:nvSpPr>
        <p:spPr>
          <a:xfrm>
            <a:off x="457200" y="4978400"/>
            <a:ext cx="558800" cy="3302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02</a:t>
            </a:r>
            <a:endParaRPr lang="ja-JP" altLang="en-US" sz="1600" b="1">
              <a:solidFill>
                <a:srgbClr val="F7B815"/>
              </a:solidFill>
              <a:latin typeface="Meiryo"/>
              <a:ea typeface="Meiryo"/>
            </a:endParaRPr>
          </a:p>
        </p:txBody>
      </p:sp>
      <p:sp>
        <p:nvSpPr>
          <p:cNvPr id="13" name="テキスト ボックス 12">
            <a:extLst>
              <a:ext uri="{FF2B5EF4-FFF2-40B4-BE49-F238E27FC236}">
                <a16:creationId xmlns:a16="http://schemas.microsoft.com/office/drawing/2014/main" id="{0A29FDC0-FA51-7040-88F5-D4A96563AD2F}"/>
              </a:ext>
            </a:extLst>
          </p:cNvPr>
          <p:cNvSpPr txBox="1"/>
          <p:nvPr/>
        </p:nvSpPr>
        <p:spPr>
          <a:xfrm>
            <a:off x="1066800" y="5029200"/>
            <a:ext cx="5334000" cy="228600"/>
          </a:xfrm>
          <a:prstGeom prst="rect">
            <a:avLst/>
          </a:prstGeom>
          <a:noFill/>
        </p:spPr>
        <p:txBody>
          <a:bodyPr vertOverflow="overflow" vert="horz" wrap="square" rtlCol="0" anchor="t" anchorCtr="0">
            <a:noAutofit/>
          </a:bodyPr>
          <a:lstStyle/>
          <a:p>
            <a:pPr algn="l"/>
            <a:r>
              <a:rPr lang="ja-JP" altLang="en-US" sz="1250" b="1">
                <a:solidFill>
                  <a:srgbClr val="FFFFFF"/>
                </a:solidFill>
                <a:latin typeface="Meiryo"/>
                <a:ea typeface="Meiryo"/>
              </a:rPr>
              <a:t>シャドー</a:t>
            </a:r>
            <a:r>
              <a:rPr lang="en" altLang="ja-JP" sz="1250" b="1">
                <a:solidFill>
                  <a:srgbClr val="FFFFFF"/>
                </a:solidFill>
                <a:latin typeface="Meiryo"/>
                <a:ea typeface="Meiryo"/>
              </a:rPr>
              <a:t>AI</a:t>
            </a:r>
            <a:r>
              <a:rPr lang="ja-JP" altLang="en-US" sz="1250" b="1">
                <a:solidFill>
                  <a:srgbClr val="FFFFFF"/>
                </a:solidFill>
                <a:latin typeface="Meiryo"/>
                <a:ea typeface="Meiryo"/>
              </a:rPr>
              <a:t>による管理不全</a:t>
            </a:r>
          </a:p>
        </p:txBody>
      </p:sp>
      <p:sp>
        <p:nvSpPr>
          <p:cNvPr id="14" name="テキスト ボックス 13">
            <a:extLst>
              <a:ext uri="{FF2B5EF4-FFF2-40B4-BE49-F238E27FC236}">
                <a16:creationId xmlns:a16="http://schemas.microsoft.com/office/drawing/2014/main" id="{1662AC6B-78CC-FC44-9FB3-B66FF9C1C3D1}"/>
              </a:ext>
            </a:extLst>
          </p:cNvPr>
          <p:cNvSpPr txBox="1"/>
          <p:nvPr/>
        </p:nvSpPr>
        <p:spPr>
          <a:xfrm>
            <a:off x="1066800" y="5283200"/>
            <a:ext cx="5334000" cy="381000"/>
          </a:xfrm>
          <a:prstGeom prst="rect">
            <a:avLst/>
          </a:prstGeom>
          <a:noFill/>
        </p:spPr>
        <p:txBody>
          <a:bodyPr vertOverflow="overflow" vert="horz" wrap="square" rtlCol="0" anchor="t" anchorCtr="0">
            <a:noAutofit/>
          </a:bodyPr>
          <a:lstStyle/>
          <a:p>
            <a:pPr algn="l"/>
            <a:r>
              <a:rPr lang="en" altLang="ja-JP" sz="900">
                <a:solidFill>
                  <a:srgbClr val="C9CFE8"/>
                </a:solidFill>
                <a:latin typeface="Meiryo"/>
                <a:ea typeface="Meiryo"/>
              </a:rPr>
              <a:t>IT</a:t>
            </a:r>
            <a:r>
              <a:rPr lang="ja-JP" altLang="en-US" sz="900">
                <a:solidFill>
                  <a:srgbClr val="C9CFE8"/>
                </a:solidFill>
                <a:latin typeface="Meiryo"/>
                <a:ea typeface="Meiryo"/>
              </a:rPr>
              <a:t>部門が把握できない現場の</a:t>
            </a:r>
            <a:r>
              <a:rPr lang="en" altLang="ja-JP" sz="900">
                <a:solidFill>
                  <a:srgbClr val="C9CFE8"/>
                </a:solidFill>
                <a:latin typeface="Meiryo"/>
                <a:ea typeface="Meiryo"/>
              </a:rPr>
              <a:t>AI</a:t>
            </a:r>
            <a:r>
              <a:rPr lang="ja-JP" altLang="en-US" sz="900">
                <a:solidFill>
                  <a:srgbClr val="C9CFE8"/>
                </a:solidFill>
                <a:latin typeface="Meiryo"/>
                <a:ea typeface="Meiryo"/>
              </a:rPr>
              <a:t>利用が、組織のセキュリティの盲点に。</a:t>
            </a:r>
          </a:p>
        </p:txBody>
      </p:sp>
      <p:sp>
        <p:nvSpPr>
          <p:cNvPr id="15" name="テキスト ボックス 14">
            <a:extLst>
              <a:ext uri="{FF2B5EF4-FFF2-40B4-BE49-F238E27FC236}">
                <a16:creationId xmlns:a16="http://schemas.microsoft.com/office/drawing/2014/main" id="{465FF3E4-B9B2-0C46-AE62-A2BD70A8D697}"/>
              </a:ext>
            </a:extLst>
          </p:cNvPr>
          <p:cNvSpPr txBox="1"/>
          <p:nvPr/>
        </p:nvSpPr>
        <p:spPr>
          <a:xfrm>
            <a:off x="457200" y="5791200"/>
            <a:ext cx="558800" cy="3302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03</a:t>
            </a:r>
            <a:endParaRPr lang="ja-JP" altLang="en-US" sz="1600" b="1">
              <a:solidFill>
                <a:srgbClr val="F7B815"/>
              </a:solidFill>
              <a:latin typeface="Meiryo"/>
              <a:ea typeface="Meiryo"/>
            </a:endParaRPr>
          </a:p>
        </p:txBody>
      </p:sp>
      <p:sp>
        <p:nvSpPr>
          <p:cNvPr id="16" name="テキスト ボックス 15">
            <a:extLst>
              <a:ext uri="{FF2B5EF4-FFF2-40B4-BE49-F238E27FC236}">
                <a16:creationId xmlns:a16="http://schemas.microsoft.com/office/drawing/2014/main" id="{E18B7651-4754-0F4E-90D4-2DE8162E46FD}"/>
              </a:ext>
            </a:extLst>
          </p:cNvPr>
          <p:cNvSpPr txBox="1"/>
          <p:nvPr/>
        </p:nvSpPr>
        <p:spPr>
          <a:xfrm>
            <a:off x="1066800" y="5842000"/>
            <a:ext cx="5334000" cy="228600"/>
          </a:xfrm>
          <a:prstGeom prst="rect">
            <a:avLst/>
          </a:prstGeom>
          <a:noFill/>
        </p:spPr>
        <p:txBody>
          <a:bodyPr vertOverflow="overflow" vert="horz" wrap="square" rtlCol="0" anchor="t" anchorCtr="0">
            <a:noAutofit/>
          </a:bodyPr>
          <a:lstStyle/>
          <a:p>
            <a:pPr algn="l"/>
            <a:r>
              <a:rPr lang="ja-JP" altLang="en-US" sz="1250" b="1">
                <a:solidFill>
                  <a:srgbClr val="FFFFFF"/>
                </a:solidFill>
                <a:latin typeface="Meiryo"/>
                <a:ea typeface="Meiryo"/>
              </a:rPr>
              <a:t>新たな脆弱性の出現</a:t>
            </a:r>
          </a:p>
        </p:txBody>
      </p:sp>
      <p:sp>
        <p:nvSpPr>
          <p:cNvPr id="17" name="テキスト ボックス 16">
            <a:extLst>
              <a:ext uri="{FF2B5EF4-FFF2-40B4-BE49-F238E27FC236}">
                <a16:creationId xmlns:a16="http://schemas.microsoft.com/office/drawing/2014/main" id="{EFF4685C-6F19-DB49-87AF-967D72BBF73B}"/>
              </a:ext>
            </a:extLst>
          </p:cNvPr>
          <p:cNvSpPr txBox="1"/>
          <p:nvPr/>
        </p:nvSpPr>
        <p:spPr>
          <a:xfrm>
            <a:off x="1066800" y="6096000"/>
            <a:ext cx="5334000" cy="381000"/>
          </a:xfrm>
          <a:prstGeom prst="rect">
            <a:avLst/>
          </a:prstGeom>
          <a:noFill/>
        </p:spPr>
        <p:txBody>
          <a:bodyPr vertOverflow="overflow" vert="horz" wrap="square" rtlCol="0" anchor="t" anchorCtr="0">
            <a:noAutofit/>
          </a:bodyPr>
          <a:lstStyle/>
          <a:p>
            <a:pPr algn="l"/>
            <a:r>
              <a:rPr lang="ja-JP" altLang="en-US" sz="900">
                <a:solidFill>
                  <a:srgbClr val="C9CFE8"/>
                </a:solidFill>
                <a:latin typeface="Meiryo"/>
                <a:ea typeface="Meiryo"/>
              </a:rPr>
              <a:t>プロンプトインジェクションは </a:t>
            </a:r>
            <a:r>
              <a:rPr lang="en" altLang="ja-JP" sz="900">
                <a:solidFill>
                  <a:srgbClr val="C9CFE8"/>
                </a:solidFill>
                <a:latin typeface="Meiryo"/>
                <a:ea typeface="Meiryo"/>
              </a:rPr>
              <a:t>OWASP Top 10 for LLM 2025 </a:t>
            </a:r>
            <a:r>
              <a:rPr lang="ja-JP" altLang="en-US" sz="900">
                <a:solidFill>
                  <a:srgbClr val="C9CFE8"/>
                </a:solidFill>
                <a:latin typeface="Meiryo"/>
                <a:ea typeface="Meiryo"/>
              </a:rPr>
              <a:t>の最上位リスク。</a:t>
            </a:r>
          </a:p>
        </p:txBody>
      </p:sp>
      <p:sp>
        <p:nvSpPr>
          <p:cNvPr id="18" name="テキスト ボックス 17">
            <a:extLst>
              <a:ext uri="{FF2B5EF4-FFF2-40B4-BE49-F238E27FC236}">
                <a16:creationId xmlns:a16="http://schemas.microsoft.com/office/drawing/2014/main" id="{A8BF9959-AF59-9747-BFA5-D1274D49874A}"/>
              </a:ext>
            </a:extLst>
          </p:cNvPr>
          <p:cNvSpPr txBox="1"/>
          <p:nvPr/>
        </p:nvSpPr>
        <p:spPr>
          <a:xfrm>
            <a:off x="457200" y="6807200"/>
            <a:ext cx="2540000" cy="203200"/>
          </a:xfrm>
          <a:prstGeom prst="rect">
            <a:avLst/>
          </a:prstGeom>
          <a:noFill/>
        </p:spPr>
        <p:txBody>
          <a:bodyPr vertOverflow="overflow" vert="horz" wrap="square" rtlCol="0" anchor="t" anchorCtr="0">
            <a:noAutofit/>
          </a:bodyPr>
          <a:lstStyle/>
          <a:p>
            <a:pPr algn="l"/>
            <a:r>
              <a:rPr lang="en" altLang="ja-JP" sz="1100" b="1">
                <a:solidFill>
                  <a:srgbClr val="F7B815"/>
                </a:solidFill>
                <a:latin typeface="Meiryo"/>
                <a:ea typeface="Meiryo"/>
              </a:rPr>
              <a:t>GATEWAY</a:t>
            </a:r>
            <a:endParaRPr lang="ja-JP" altLang="en-US" sz="1100" b="1">
              <a:solidFill>
                <a:srgbClr val="F7B815"/>
              </a:solidFill>
              <a:latin typeface="Meiryo"/>
              <a:ea typeface="Meiryo"/>
            </a:endParaRPr>
          </a:p>
        </p:txBody>
      </p:sp>
      <p:sp>
        <p:nvSpPr>
          <p:cNvPr id="19" name="テキスト ボックス 18">
            <a:extLst>
              <a:ext uri="{FF2B5EF4-FFF2-40B4-BE49-F238E27FC236}">
                <a16:creationId xmlns:a16="http://schemas.microsoft.com/office/drawing/2014/main" id="{8FDDD19A-211B-7F42-9447-39A9F5564A1B}"/>
              </a:ext>
            </a:extLst>
          </p:cNvPr>
          <p:cNvSpPr txBox="1"/>
          <p:nvPr/>
        </p:nvSpPr>
        <p:spPr>
          <a:xfrm>
            <a:off x="457200" y="7035800"/>
            <a:ext cx="3048000" cy="304800"/>
          </a:xfrm>
          <a:prstGeom prst="rect">
            <a:avLst/>
          </a:prstGeom>
          <a:noFill/>
        </p:spPr>
        <p:txBody>
          <a:bodyPr vertOverflow="overflow" vert="horz" wrap="square" rtlCol="0" anchor="t" anchorCtr="0">
            <a:noAutofit/>
          </a:bodyPr>
          <a:lstStyle/>
          <a:p>
            <a:pPr algn="l"/>
            <a:r>
              <a:rPr lang="en" altLang="ja-JP" sz="1500" b="1">
                <a:solidFill>
                  <a:srgbClr val="FFFFFF"/>
                </a:solidFill>
                <a:latin typeface="Meiryo"/>
                <a:ea typeface="Meiryo"/>
              </a:rPr>
              <a:t>WitnessAI</a:t>
            </a:r>
            <a:r>
              <a:rPr lang="ja-JP" altLang="en-US" sz="1500" b="1">
                <a:solidFill>
                  <a:srgbClr val="FFFFFF"/>
                </a:solidFill>
                <a:latin typeface="Meiryo"/>
                <a:ea typeface="Meiryo"/>
              </a:rPr>
              <a:t>とは</a:t>
            </a:r>
          </a:p>
        </p:txBody>
      </p:sp>
      <p:sp>
        <p:nvSpPr>
          <p:cNvPr id="20" name="テキスト ボックス 19">
            <a:extLst>
              <a:ext uri="{FF2B5EF4-FFF2-40B4-BE49-F238E27FC236}">
                <a16:creationId xmlns:a16="http://schemas.microsoft.com/office/drawing/2014/main" id="{01752B06-94EB-914C-A982-DAC24862A785}"/>
              </a:ext>
            </a:extLst>
          </p:cNvPr>
          <p:cNvSpPr txBox="1"/>
          <p:nvPr/>
        </p:nvSpPr>
        <p:spPr>
          <a:xfrm>
            <a:off x="457200" y="7391400"/>
            <a:ext cx="3022600" cy="1219200"/>
          </a:xfrm>
          <a:prstGeom prst="rect">
            <a:avLst/>
          </a:prstGeom>
          <a:noFill/>
        </p:spPr>
        <p:txBody>
          <a:bodyPr vertOverflow="overflow" vert="horz" wrap="square" rtlCol="0" anchor="t" anchorCtr="0">
            <a:noAutofit/>
          </a:bodyPr>
          <a:lstStyle/>
          <a:p>
            <a:pPr algn="l"/>
            <a:r>
              <a:rPr lang="ja-JP" altLang="en-US" sz="950">
                <a:solidFill>
                  <a:srgbClr val="C9CFE8"/>
                </a:solidFill>
                <a:latin typeface="Meiryo"/>
                <a:ea typeface="Meiryo"/>
              </a:rPr>
              <a:t>ユーザと</a:t>
            </a:r>
            <a:r>
              <a:rPr lang="en" altLang="ja-JP" sz="950">
                <a:solidFill>
                  <a:srgbClr val="C9CFE8"/>
                </a:solidFill>
                <a:latin typeface="Meiryo"/>
                <a:ea typeface="Meiryo"/>
              </a:rPr>
              <a:t>AI</a:t>
            </a:r>
            <a:r>
              <a:rPr lang="ja-JP" altLang="en-US" sz="950">
                <a:solidFill>
                  <a:srgbClr val="C9CFE8"/>
                </a:solidFill>
                <a:latin typeface="Meiryo"/>
                <a:ea typeface="Meiryo"/>
              </a:rPr>
              <a:t>の間に立ち、すべての</a:t>
            </a:r>
            <a:r>
              <a:rPr lang="en" altLang="ja-JP" sz="950">
                <a:solidFill>
                  <a:srgbClr val="C9CFE8"/>
                </a:solidFill>
                <a:latin typeface="Meiryo"/>
                <a:ea typeface="Meiryo"/>
              </a:rPr>
              <a:t>AI</a:t>
            </a:r>
            <a:r>
              <a:rPr lang="ja-JP" altLang="en-US" sz="950">
                <a:solidFill>
                  <a:srgbClr val="C9CFE8"/>
                </a:solidFill>
                <a:latin typeface="Meiryo"/>
                <a:ea typeface="Meiryo"/>
              </a:rPr>
              <a:t>利用を可視化・統制する、エージェントレスの「</a:t>
            </a:r>
            <a:r>
              <a:rPr lang="en" altLang="ja-JP" sz="950">
                <a:solidFill>
                  <a:srgbClr val="C9CFE8"/>
                </a:solidFill>
                <a:latin typeface="Meiryo"/>
                <a:ea typeface="Meiryo"/>
              </a:rPr>
              <a:t>AI Security Gateway</a:t>
            </a:r>
            <a:r>
              <a:rPr lang="ja-JP" altLang="en" sz="950">
                <a:solidFill>
                  <a:srgbClr val="C9CFE8"/>
                </a:solidFill>
                <a:latin typeface="Meiryo"/>
                <a:ea typeface="Meiryo"/>
              </a:rPr>
              <a:t>」。</a:t>
            </a:r>
            <a:r>
              <a:rPr lang="ja-JP" altLang="en-US" sz="950">
                <a:solidFill>
                  <a:srgbClr val="C9CFE8"/>
                </a:solidFill>
                <a:latin typeface="Meiryo"/>
                <a:ea typeface="Meiryo"/>
              </a:rPr>
              <a:t>エンドポイントに依存せず、既存環境へ迅速に導入できます。</a:t>
            </a:r>
          </a:p>
        </p:txBody>
      </p:sp>
      <p:sp>
        <p:nvSpPr>
          <p:cNvPr id="21" name="正方形/長方形 20">
            <a:extLst>
              <a:ext uri="{FF2B5EF4-FFF2-40B4-BE49-F238E27FC236}">
                <a16:creationId xmlns:a16="http://schemas.microsoft.com/office/drawing/2014/main" id="{D46193D2-2222-434E-8A8C-871A9C12C60E}"/>
              </a:ext>
            </a:extLst>
          </p:cNvPr>
          <p:cNvSpPr/>
          <p:nvPr/>
        </p:nvSpPr>
        <p:spPr>
          <a:xfrm>
            <a:off x="3657600" y="7112000"/>
            <a:ext cx="2743200" cy="13208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AE6C9F71-2244-D545-9952-631E21C450A2}"/>
              </a:ext>
            </a:extLst>
          </p:cNvPr>
          <p:cNvSpPr txBox="1"/>
          <p:nvPr/>
        </p:nvSpPr>
        <p:spPr>
          <a:xfrm>
            <a:off x="457200" y="9144000"/>
            <a:ext cx="3556000" cy="228600"/>
          </a:xfrm>
          <a:prstGeom prst="rect">
            <a:avLst/>
          </a:prstGeom>
          <a:noFill/>
        </p:spPr>
        <p:txBody>
          <a:bodyPr vertOverflow="overflow" vert="horz" wrap="square" rtlCol="0" anchor="t" anchorCtr="0">
            <a:noAutofit/>
          </a:bodyPr>
          <a:lstStyle/>
          <a:p>
            <a:pPr algn="l"/>
            <a:r>
              <a:rPr lang="ja-JP" altLang="en-US" sz="1100" b="1">
                <a:solidFill>
                  <a:srgbClr val="F7B815"/>
                </a:solidFill>
                <a:latin typeface="Meiryo"/>
                <a:ea typeface="Meiryo"/>
              </a:rPr>
              <a:t>導入のご相談はこちら ▶</a:t>
            </a:r>
          </a:p>
        </p:txBody>
      </p:sp>
      <p:sp>
        <p:nvSpPr>
          <p:cNvPr id="23" name="テキスト ボックス 22">
            <a:extLst>
              <a:ext uri="{FF2B5EF4-FFF2-40B4-BE49-F238E27FC236}">
                <a16:creationId xmlns:a16="http://schemas.microsoft.com/office/drawing/2014/main" id="{C5ECE95E-EED8-6040-A11D-745230827F76}"/>
              </a:ext>
            </a:extLst>
          </p:cNvPr>
          <p:cNvSpPr txBox="1"/>
          <p:nvPr/>
        </p:nvSpPr>
        <p:spPr>
          <a:xfrm>
            <a:off x="457200" y="9423400"/>
            <a:ext cx="3556000" cy="177800"/>
          </a:xfrm>
          <a:prstGeom prst="rect">
            <a:avLst/>
          </a:prstGeom>
          <a:noFill/>
        </p:spPr>
        <p:txBody>
          <a:bodyPr vertOverflow="overflow" vert="horz" wrap="square" rtlCol="0" anchor="t" anchorCtr="0">
            <a:noAutofit/>
          </a:bodyPr>
          <a:lstStyle/>
          <a:p>
            <a:pPr algn="l"/>
            <a:r>
              <a:rPr lang="en" altLang="ja-JP" sz="850">
                <a:solidFill>
                  <a:srgbClr val="C9CFE8"/>
                </a:solidFill>
                <a:latin typeface="Meiryo"/>
                <a:ea typeface="Meiryo"/>
              </a:rPr>
              <a:t>go.jsol.co.jp/lp/inquiry/00009</a:t>
            </a:r>
            <a:endParaRPr lang="ja-JP" altLang="en-US" sz="850">
              <a:solidFill>
                <a:srgbClr val="C9CFE8"/>
              </a:solidFill>
              <a:latin typeface="Meiryo"/>
              <a:ea typeface="Meiryo"/>
            </a:endParaRPr>
          </a:p>
        </p:txBody>
      </p:sp>
      <p:sp>
        <p:nvSpPr>
          <p:cNvPr id="24" name="テキスト ボックス 23">
            <a:extLst>
              <a:ext uri="{FF2B5EF4-FFF2-40B4-BE49-F238E27FC236}">
                <a16:creationId xmlns:a16="http://schemas.microsoft.com/office/drawing/2014/main" id="{21D19E15-321A-6A43-AEAB-F1207B433B68}"/>
              </a:ext>
            </a:extLst>
          </p:cNvPr>
          <p:cNvSpPr txBox="1"/>
          <p:nvPr/>
        </p:nvSpPr>
        <p:spPr>
          <a:xfrm>
            <a:off x="4114800" y="9194800"/>
            <a:ext cx="2286000" cy="177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機能・提供メニューは裏面へ</a:t>
            </a:r>
          </a:p>
        </p:txBody>
      </p:sp>
      <p:pic>
        <p:nvPicPr>
          <p:cNvPr id="25" name="図 24">
            <a:extLst>
              <a:ext uri="{FF2B5EF4-FFF2-40B4-BE49-F238E27FC236}">
                <a16:creationId xmlns:a16="http://schemas.microsoft.com/office/drawing/2014/main" id="{A6B5E2AC-6398-A78A-0B5F-6A9BF660BB0E}"/>
              </a:ext>
            </a:extLst>
          </p:cNvPr>
          <p:cNvPicPr>
            <a:picLocks noChangeAspect="1"/>
          </p:cNvPicPr>
          <p:nvPr/>
        </p:nvPicPr>
        <p:blipFill>
          <a:blip r:embed="rId3"/>
          <a:stretch>
            <a:fillRect/>
          </a:stretch>
        </p:blipFill>
        <p:spPr>
          <a:xfrm>
            <a:off x="3759200" y="7289800"/>
            <a:ext cx="2540000" cy="776111"/>
          </a:xfrm>
          <a:prstGeom prst="rect">
            <a:avLst/>
          </a:prstGeom>
        </p:spPr>
      </p:pic>
    </p:spTree>
    <p:extLst>
      <p:ext uri="{BB962C8B-B14F-4D97-AF65-F5344CB8AC3E}">
        <p14:creationId xmlns:p14="http://schemas.microsoft.com/office/powerpoint/2010/main" val="2010746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D65993-0B7C-A884-73CB-885DB83C9D2A}"/>
              </a:ext>
            </a:extLst>
          </p:cNvPr>
          <p:cNvPicPr>
            <a:picLocks/>
          </p:cNvPicPr>
          <p:nvPr/>
        </p:nvPicPr>
        <p:blipFill>
          <a:blip r:embed="rId2"/>
          <a:stretch>
            <a:fillRect/>
          </a:stretch>
        </p:blipFill>
        <p:spPr>
          <a:xfrm>
            <a:off x="0" y="0"/>
            <a:ext cx="6858000" cy="3810000"/>
          </a:xfrm>
          <a:prstGeom prst="rect">
            <a:avLst/>
          </a:prstGeom>
        </p:spPr>
      </p:pic>
      <p:sp>
        <p:nvSpPr>
          <p:cNvPr id="3" name="平行四辺形 2">
            <a:extLst>
              <a:ext uri="{FF2B5EF4-FFF2-40B4-BE49-F238E27FC236}">
                <a16:creationId xmlns:a16="http://schemas.microsoft.com/office/drawing/2014/main" id="{FEC9D057-0D6C-A144-A301-9EE4D7029885}"/>
              </a:ext>
            </a:extLst>
          </p:cNvPr>
          <p:cNvSpPr/>
          <p:nvPr/>
        </p:nvSpPr>
        <p:spPr>
          <a:xfrm>
            <a:off x="-635000" y="3200400"/>
            <a:ext cx="8128000" cy="7620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12D7C1F1-FF3C-7F4F-B605-E29307B36810}"/>
              </a:ext>
            </a:extLst>
          </p:cNvPr>
          <p:cNvSpPr txBox="1"/>
          <p:nvPr/>
        </p:nvSpPr>
        <p:spPr>
          <a:xfrm>
            <a:off x="457200" y="355600"/>
            <a:ext cx="3048000" cy="228600"/>
          </a:xfrm>
          <a:prstGeom prst="rect">
            <a:avLst/>
          </a:prstGeom>
          <a:noFill/>
        </p:spPr>
        <p:txBody>
          <a:bodyPr vertOverflow="overflow" vert="horz" wrap="square" rtlCol="0" anchor="t" anchorCtr="0">
            <a:noAutofit/>
          </a:bodyPr>
          <a:lstStyle/>
          <a:p>
            <a:pPr algn="l"/>
            <a:r>
              <a:rPr lang="en" altLang="ja-JP" sz="1300" b="1">
                <a:solidFill>
                  <a:srgbClr val="FFFFFF"/>
                </a:solidFill>
                <a:latin typeface="Meiryo"/>
                <a:ea typeface="Meiryo"/>
              </a:rPr>
              <a:t>WITNESS AI</a:t>
            </a:r>
            <a:endParaRPr lang="ja-JP" altLang="en-US" sz="1300" b="1">
              <a:solidFill>
                <a:srgbClr val="FFFFFF"/>
              </a:solidFill>
              <a:latin typeface="Meiryo"/>
              <a:ea typeface="Meiryo"/>
            </a:endParaRPr>
          </a:p>
        </p:txBody>
      </p:sp>
      <p:sp>
        <p:nvSpPr>
          <p:cNvPr id="5" name="テキスト ボックス 4">
            <a:extLst>
              <a:ext uri="{FF2B5EF4-FFF2-40B4-BE49-F238E27FC236}">
                <a16:creationId xmlns:a16="http://schemas.microsoft.com/office/drawing/2014/main" id="{D18508CB-03D0-F342-A275-61F8BA524665}"/>
              </a:ext>
            </a:extLst>
          </p:cNvPr>
          <p:cNvSpPr txBox="1"/>
          <p:nvPr/>
        </p:nvSpPr>
        <p:spPr>
          <a:xfrm>
            <a:off x="457200" y="914400"/>
            <a:ext cx="5842000" cy="1066800"/>
          </a:xfrm>
          <a:prstGeom prst="rect">
            <a:avLst/>
          </a:prstGeom>
          <a:noFill/>
        </p:spPr>
        <p:txBody>
          <a:bodyPr vertOverflow="overflow" vert="horz" wrap="square" rtlCol="0" anchor="t" anchorCtr="0">
            <a:noAutofit/>
          </a:bodyPr>
          <a:lstStyle/>
          <a:p>
            <a:pPr algn="l"/>
            <a:r>
              <a:rPr lang="en" altLang="ja-JP" sz="2500" b="1">
                <a:solidFill>
                  <a:srgbClr val="FFFFFF"/>
                </a:solidFill>
                <a:latin typeface="Meiryo"/>
                <a:ea typeface="Meiryo"/>
              </a:rPr>
              <a:t>AI</a:t>
            </a:r>
            <a:r>
              <a:rPr lang="ja-JP" altLang="en-US" sz="2500" b="1">
                <a:solidFill>
                  <a:srgbClr val="FFFFFF"/>
                </a:solidFill>
                <a:latin typeface="Meiryo"/>
                <a:ea typeface="Meiryo"/>
              </a:rPr>
              <a:t>は、止めない。
リスクだけを、統制する。</a:t>
            </a:r>
          </a:p>
        </p:txBody>
      </p:sp>
      <p:sp>
        <p:nvSpPr>
          <p:cNvPr id="6" name="テキスト ボックス 5">
            <a:extLst>
              <a:ext uri="{FF2B5EF4-FFF2-40B4-BE49-F238E27FC236}">
                <a16:creationId xmlns:a16="http://schemas.microsoft.com/office/drawing/2014/main" id="{6B217ECB-DDF1-0144-ABDA-BF60607026F0}"/>
              </a:ext>
            </a:extLst>
          </p:cNvPr>
          <p:cNvSpPr txBox="1"/>
          <p:nvPr/>
        </p:nvSpPr>
        <p:spPr>
          <a:xfrm>
            <a:off x="457200" y="2057400"/>
            <a:ext cx="5334000" cy="381000"/>
          </a:xfrm>
          <a:prstGeom prst="rect">
            <a:avLst/>
          </a:prstGeom>
          <a:noFill/>
        </p:spPr>
        <p:txBody>
          <a:bodyPr vertOverflow="overflow" vert="horz" wrap="square" rtlCol="0" anchor="t" anchorCtr="0">
            <a:noAutofit/>
          </a:bodyPr>
          <a:lstStyle/>
          <a:p>
            <a:pPr algn="l"/>
            <a:r>
              <a:rPr lang="ja-JP" altLang="en-US" sz="950">
                <a:solidFill>
                  <a:srgbClr val="C9CFE8"/>
                </a:solidFill>
                <a:latin typeface="Meiryo"/>
                <a:ea typeface="Meiryo"/>
              </a:rPr>
              <a:t>生成</a:t>
            </a:r>
            <a:r>
              <a:rPr lang="en" altLang="ja-JP" sz="950">
                <a:solidFill>
                  <a:srgbClr val="C9CFE8"/>
                </a:solidFill>
                <a:latin typeface="Meiryo"/>
                <a:ea typeface="Meiryo"/>
              </a:rPr>
              <a:t>AI</a:t>
            </a:r>
            <a:r>
              <a:rPr lang="ja-JP" altLang="en-US" sz="950">
                <a:solidFill>
                  <a:srgbClr val="C9CFE8"/>
                </a:solidFill>
                <a:latin typeface="Meiryo"/>
                <a:ea typeface="Meiryo"/>
              </a:rPr>
              <a:t>セキュリティ・ガバナンスソリューション｜提供：</a:t>
            </a:r>
            <a:r>
              <a:rPr lang="en" altLang="ja-JP" sz="950">
                <a:solidFill>
                  <a:srgbClr val="C9CFE8"/>
                </a:solidFill>
                <a:latin typeface="Meiryo"/>
                <a:ea typeface="Meiryo"/>
              </a:rPr>
              <a:t>JSOL</a:t>
            </a:r>
            <a:endParaRPr lang="ja-JP" altLang="en-US" sz="950">
              <a:solidFill>
                <a:srgbClr val="C9CFE8"/>
              </a:solidFill>
              <a:latin typeface="Meiryo"/>
              <a:ea typeface="Meiryo"/>
            </a:endParaRPr>
          </a:p>
        </p:txBody>
      </p:sp>
      <p:sp>
        <p:nvSpPr>
          <p:cNvPr id="7" name="テキスト ボックス 6">
            <a:extLst>
              <a:ext uri="{FF2B5EF4-FFF2-40B4-BE49-F238E27FC236}">
                <a16:creationId xmlns:a16="http://schemas.microsoft.com/office/drawing/2014/main" id="{0985A31E-9147-5747-A68F-186D0B71A03A}"/>
              </a:ext>
            </a:extLst>
          </p:cNvPr>
          <p:cNvSpPr txBox="1"/>
          <p:nvPr/>
        </p:nvSpPr>
        <p:spPr>
          <a:xfrm>
            <a:off x="3556000" y="3886200"/>
            <a:ext cx="2844800" cy="558800"/>
          </a:xfrm>
          <a:prstGeom prst="rect">
            <a:avLst/>
          </a:prstGeom>
          <a:noFill/>
        </p:spPr>
        <p:txBody>
          <a:bodyPr vertOverflow="overflow" vert="horz" wrap="square" rtlCol="0" anchor="t" anchorCtr="0">
            <a:noAutofit/>
          </a:bodyPr>
          <a:lstStyle/>
          <a:p>
            <a:pPr algn="l"/>
            <a:r>
              <a:rPr lang="en" altLang="ja-JP" sz="3600" b="1">
                <a:solidFill>
                  <a:srgbClr val="E9EBF5"/>
                </a:solidFill>
                <a:latin typeface="Meiryo"/>
                <a:ea typeface="Meiryo"/>
              </a:rPr>
              <a:t>ISSUE</a:t>
            </a:r>
            <a:endParaRPr lang="ja-JP" altLang="en-US" sz="3600" b="1">
              <a:solidFill>
                <a:srgbClr val="E9EBF5"/>
              </a:solidFill>
              <a:latin typeface="Meiryo"/>
              <a:ea typeface="Meiryo"/>
            </a:endParaRPr>
          </a:p>
        </p:txBody>
      </p:sp>
      <p:sp>
        <p:nvSpPr>
          <p:cNvPr id="8" name="テキスト ボックス 7">
            <a:extLst>
              <a:ext uri="{FF2B5EF4-FFF2-40B4-BE49-F238E27FC236}">
                <a16:creationId xmlns:a16="http://schemas.microsoft.com/office/drawing/2014/main" id="{FE858985-1C1A-2A48-8DCD-82419617AC5F}"/>
              </a:ext>
            </a:extLst>
          </p:cNvPr>
          <p:cNvSpPr txBox="1"/>
          <p:nvPr/>
        </p:nvSpPr>
        <p:spPr>
          <a:xfrm>
            <a:off x="457200" y="4191000"/>
            <a:ext cx="4318000" cy="279400"/>
          </a:xfrm>
          <a:prstGeom prst="rect">
            <a:avLst/>
          </a:prstGeom>
          <a:noFill/>
        </p:spPr>
        <p:txBody>
          <a:bodyPr vertOverflow="overflow" vert="horz" wrap="square" rtlCol="0" anchor="t" anchorCtr="0">
            <a:noAutofit/>
          </a:bodyPr>
          <a:lstStyle/>
          <a:p>
            <a:pPr algn="l"/>
            <a:r>
              <a:rPr lang="ja-JP" altLang="en-US" sz="1600" b="1">
                <a:solidFill>
                  <a:srgbClr val="1B1F4E"/>
                </a:solidFill>
                <a:latin typeface="Meiryo"/>
                <a:ea typeface="Meiryo"/>
              </a:rPr>
              <a:t>なぜ今、</a:t>
            </a:r>
            <a:r>
              <a:rPr lang="en" altLang="ja-JP" sz="1600" b="1">
                <a:solidFill>
                  <a:srgbClr val="1B1F4E"/>
                </a:solidFill>
                <a:latin typeface="Meiryo"/>
                <a:ea typeface="Meiryo"/>
              </a:rPr>
              <a:t>AI</a:t>
            </a:r>
            <a:r>
              <a:rPr lang="ja-JP" altLang="en-US" sz="1600" b="1">
                <a:solidFill>
                  <a:srgbClr val="1B1F4E"/>
                </a:solidFill>
                <a:latin typeface="Meiryo"/>
                <a:ea typeface="Meiryo"/>
              </a:rPr>
              <a:t>ガバナンスが必要か</a:t>
            </a:r>
          </a:p>
        </p:txBody>
      </p:sp>
      <p:sp>
        <p:nvSpPr>
          <p:cNvPr id="9" name="テキスト ボックス 8">
            <a:extLst>
              <a:ext uri="{FF2B5EF4-FFF2-40B4-BE49-F238E27FC236}">
                <a16:creationId xmlns:a16="http://schemas.microsoft.com/office/drawing/2014/main" id="{D5690C0E-70AA-7642-9E43-9B6779B8AACE}"/>
              </a:ext>
            </a:extLst>
          </p:cNvPr>
          <p:cNvSpPr txBox="1"/>
          <p:nvPr/>
        </p:nvSpPr>
        <p:spPr>
          <a:xfrm>
            <a:off x="457200" y="4673600"/>
            <a:ext cx="635000" cy="355600"/>
          </a:xfrm>
          <a:prstGeom prst="rect">
            <a:avLst/>
          </a:prstGeom>
          <a:noFill/>
        </p:spPr>
        <p:txBody>
          <a:bodyPr vertOverflow="overflow" vert="horz" wrap="square" rtlCol="0" anchor="t" anchorCtr="0">
            <a:noAutofit/>
          </a:bodyPr>
          <a:lstStyle/>
          <a:p>
            <a:pPr algn="l"/>
            <a:r>
              <a:rPr lang="en-US" altLang="ja-JP" sz="1900" b="1">
                <a:solidFill>
                  <a:srgbClr val="C8102E"/>
                </a:solidFill>
                <a:latin typeface="Meiryo"/>
                <a:ea typeface="Meiryo"/>
              </a:rPr>
              <a:t>01</a:t>
            </a:r>
            <a:endParaRPr lang="ja-JP" altLang="en-US" sz="1900" b="1">
              <a:solidFill>
                <a:srgbClr val="C8102E"/>
              </a:solidFill>
              <a:latin typeface="Meiryo"/>
              <a:ea typeface="Meiryo"/>
            </a:endParaRPr>
          </a:p>
        </p:txBody>
      </p:sp>
      <p:sp>
        <p:nvSpPr>
          <p:cNvPr id="10" name="テキスト ボックス 9">
            <a:extLst>
              <a:ext uri="{FF2B5EF4-FFF2-40B4-BE49-F238E27FC236}">
                <a16:creationId xmlns:a16="http://schemas.microsoft.com/office/drawing/2014/main" id="{58B58EBE-420E-5E47-B1F8-5E6376E00B4B}"/>
              </a:ext>
            </a:extLst>
          </p:cNvPr>
          <p:cNvSpPr txBox="1"/>
          <p:nvPr/>
        </p:nvSpPr>
        <p:spPr>
          <a:xfrm>
            <a:off x="1168400" y="4724400"/>
            <a:ext cx="5232400" cy="228600"/>
          </a:xfrm>
          <a:prstGeom prst="rect">
            <a:avLst/>
          </a:prstGeom>
          <a:noFill/>
        </p:spPr>
        <p:txBody>
          <a:bodyPr vertOverflow="overflow" vert="horz" wrap="square" rtlCol="0" anchor="t" anchorCtr="0">
            <a:noAutofit/>
          </a:bodyPr>
          <a:lstStyle/>
          <a:p>
            <a:pPr algn="l"/>
            <a:r>
              <a:rPr lang="ja-JP" altLang="en-US" sz="1250" b="1">
                <a:solidFill>
                  <a:srgbClr val="1B1F4E"/>
                </a:solidFill>
                <a:latin typeface="Meiryo"/>
                <a:ea typeface="Meiryo"/>
              </a:rPr>
              <a:t>自律型エージェントの台頭</a:t>
            </a:r>
          </a:p>
        </p:txBody>
      </p:sp>
      <p:sp>
        <p:nvSpPr>
          <p:cNvPr id="11" name="テキスト ボックス 10">
            <a:extLst>
              <a:ext uri="{FF2B5EF4-FFF2-40B4-BE49-F238E27FC236}">
                <a16:creationId xmlns:a16="http://schemas.microsoft.com/office/drawing/2014/main" id="{3752C6DC-2B4C-DB48-AF52-8F2E051B6D4C}"/>
              </a:ext>
            </a:extLst>
          </p:cNvPr>
          <p:cNvSpPr txBox="1"/>
          <p:nvPr/>
        </p:nvSpPr>
        <p:spPr>
          <a:xfrm>
            <a:off x="1168400" y="4978400"/>
            <a:ext cx="5232400" cy="3810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外部</a:t>
            </a:r>
            <a:r>
              <a:rPr lang="en" altLang="ja-JP" sz="900">
                <a:solidFill>
                  <a:srgbClr val="333333"/>
                </a:solidFill>
                <a:latin typeface="Meiryo"/>
                <a:ea typeface="Meiryo"/>
              </a:rPr>
              <a:t>API</a:t>
            </a:r>
            <a:r>
              <a:rPr lang="ja-JP" altLang="en-US" sz="900">
                <a:solidFill>
                  <a:srgbClr val="333333"/>
                </a:solidFill>
                <a:latin typeface="Meiryo"/>
                <a:ea typeface="Meiryo"/>
              </a:rPr>
              <a:t>やデータベースを自律操作する</a:t>
            </a:r>
            <a:r>
              <a:rPr lang="en" altLang="ja-JP" sz="900">
                <a:solidFill>
                  <a:srgbClr val="333333"/>
                </a:solidFill>
                <a:latin typeface="Meiryo"/>
                <a:ea typeface="Meiryo"/>
              </a:rPr>
              <a:t>AI</a:t>
            </a:r>
            <a:r>
              <a:rPr lang="ja-JP" altLang="en-US" sz="900">
                <a:solidFill>
                  <a:srgbClr val="333333"/>
                </a:solidFill>
                <a:latin typeface="Meiryo"/>
                <a:ea typeface="Meiryo"/>
              </a:rPr>
              <a:t>へ進化。従来の監視手法では追いつきません。</a:t>
            </a:r>
          </a:p>
        </p:txBody>
      </p:sp>
      <p:sp>
        <p:nvSpPr>
          <p:cNvPr id="12" name="テキスト ボックス 11">
            <a:extLst>
              <a:ext uri="{FF2B5EF4-FFF2-40B4-BE49-F238E27FC236}">
                <a16:creationId xmlns:a16="http://schemas.microsoft.com/office/drawing/2014/main" id="{87FC599F-F12B-2145-AEF9-A5820BE132F3}"/>
              </a:ext>
            </a:extLst>
          </p:cNvPr>
          <p:cNvSpPr txBox="1"/>
          <p:nvPr/>
        </p:nvSpPr>
        <p:spPr>
          <a:xfrm>
            <a:off x="457200" y="5461000"/>
            <a:ext cx="635000" cy="355600"/>
          </a:xfrm>
          <a:prstGeom prst="rect">
            <a:avLst/>
          </a:prstGeom>
          <a:noFill/>
        </p:spPr>
        <p:txBody>
          <a:bodyPr vertOverflow="overflow" vert="horz" wrap="square" rtlCol="0" anchor="t" anchorCtr="0">
            <a:noAutofit/>
          </a:bodyPr>
          <a:lstStyle/>
          <a:p>
            <a:pPr algn="l"/>
            <a:r>
              <a:rPr lang="en-US" altLang="ja-JP" sz="1900" b="1">
                <a:solidFill>
                  <a:srgbClr val="C8102E"/>
                </a:solidFill>
                <a:latin typeface="Meiryo"/>
                <a:ea typeface="Meiryo"/>
              </a:rPr>
              <a:t>02</a:t>
            </a:r>
            <a:endParaRPr lang="ja-JP" altLang="en-US" sz="1900" b="1">
              <a:solidFill>
                <a:srgbClr val="C8102E"/>
              </a:solidFill>
              <a:latin typeface="Meiryo"/>
              <a:ea typeface="Meiryo"/>
            </a:endParaRPr>
          </a:p>
        </p:txBody>
      </p:sp>
      <p:sp>
        <p:nvSpPr>
          <p:cNvPr id="13" name="テキスト ボックス 12">
            <a:extLst>
              <a:ext uri="{FF2B5EF4-FFF2-40B4-BE49-F238E27FC236}">
                <a16:creationId xmlns:a16="http://schemas.microsoft.com/office/drawing/2014/main" id="{37EC2BC9-61DA-6A45-A82E-845F65FF9524}"/>
              </a:ext>
            </a:extLst>
          </p:cNvPr>
          <p:cNvSpPr txBox="1"/>
          <p:nvPr/>
        </p:nvSpPr>
        <p:spPr>
          <a:xfrm>
            <a:off x="1168400" y="5511800"/>
            <a:ext cx="5232400" cy="228600"/>
          </a:xfrm>
          <a:prstGeom prst="rect">
            <a:avLst/>
          </a:prstGeom>
          <a:noFill/>
        </p:spPr>
        <p:txBody>
          <a:bodyPr vertOverflow="overflow" vert="horz" wrap="square" rtlCol="0" anchor="t" anchorCtr="0">
            <a:noAutofit/>
          </a:bodyPr>
          <a:lstStyle/>
          <a:p>
            <a:pPr algn="l"/>
            <a:r>
              <a:rPr lang="ja-JP" altLang="en-US" sz="1250" b="1">
                <a:solidFill>
                  <a:srgbClr val="1B1F4E"/>
                </a:solidFill>
                <a:latin typeface="Meiryo"/>
                <a:ea typeface="Meiryo"/>
              </a:rPr>
              <a:t>シャドー</a:t>
            </a:r>
            <a:r>
              <a:rPr lang="en" altLang="ja-JP" sz="1250" b="1">
                <a:solidFill>
                  <a:srgbClr val="1B1F4E"/>
                </a:solidFill>
                <a:latin typeface="Meiryo"/>
                <a:ea typeface="Meiryo"/>
              </a:rPr>
              <a:t>AI</a:t>
            </a:r>
            <a:r>
              <a:rPr lang="ja-JP" altLang="en-US" sz="1250" b="1">
                <a:solidFill>
                  <a:srgbClr val="1B1F4E"/>
                </a:solidFill>
                <a:latin typeface="Meiryo"/>
                <a:ea typeface="Meiryo"/>
              </a:rPr>
              <a:t>による管理不全</a:t>
            </a:r>
          </a:p>
        </p:txBody>
      </p:sp>
      <p:sp>
        <p:nvSpPr>
          <p:cNvPr id="14" name="テキスト ボックス 13">
            <a:extLst>
              <a:ext uri="{FF2B5EF4-FFF2-40B4-BE49-F238E27FC236}">
                <a16:creationId xmlns:a16="http://schemas.microsoft.com/office/drawing/2014/main" id="{EF12A1DF-235F-BF4F-A500-50DC0A75BD36}"/>
              </a:ext>
            </a:extLst>
          </p:cNvPr>
          <p:cNvSpPr txBox="1"/>
          <p:nvPr/>
        </p:nvSpPr>
        <p:spPr>
          <a:xfrm>
            <a:off x="1168400" y="5765800"/>
            <a:ext cx="5232400" cy="3810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IT</a:t>
            </a:r>
            <a:r>
              <a:rPr lang="ja-JP" altLang="en-US" sz="900">
                <a:solidFill>
                  <a:srgbClr val="333333"/>
                </a:solidFill>
                <a:latin typeface="Meiryo"/>
                <a:ea typeface="Meiryo"/>
              </a:rPr>
              <a:t>部門が把握できない現場の</a:t>
            </a:r>
            <a:r>
              <a:rPr lang="en" altLang="ja-JP" sz="900">
                <a:solidFill>
                  <a:srgbClr val="333333"/>
                </a:solidFill>
                <a:latin typeface="Meiryo"/>
                <a:ea typeface="Meiryo"/>
              </a:rPr>
              <a:t>AI</a:t>
            </a:r>
            <a:r>
              <a:rPr lang="ja-JP" altLang="en-US" sz="900">
                <a:solidFill>
                  <a:srgbClr val="333333"/>
                </a:solidFill>
                <a:latin typeface="Meiryo"/>
                <a:ea typeface="Meiryo"/>
              </a:rPr>
              <a:t>利用が、組織全体のセキュリティの盲点になります。</a:t>
            </a:r>
          </a:p>
        </p:txBody>
      </p:sp>
      <p:sp>
        <p:nvSpPr>
          <p:cNvPr id="15" name="テキスト ボックス 14">
            <a:extLst>
              <a:ext uri="{FF2B5EF4-FFF2-40B4-BE49-F238E27FC236}">
                <a16:creationId xmlns:a16="http://schemas.microsoft.com/office/drawing/2014/main" id="{BA497DFA-3FB3-624D-929C-99F68CD23A78}"/>
              </a:ext>
            </a:extLst>
          </p:cNvPr>
          <p:cNvSpPr txBox="1"/>
          <p:nvPr/>
        </p:nvSpPr>
        <p:spPr>
          <a:xfrm>
            <a:off x="457200" y="6248400"/>
            <a:ext cx="635000" cy="355600"/>
          </a:xfrm>
          <a:prstGeom prst="rect">
            <a:avLst/>
          </a:prstGeom>
          <a:noFill/>
        </p:spPr>
        <p:txBody>
          <a:bodyPr vertOverflow="overflow" vert="horz" wrap="square" rtlCol="0" anchor="t" anchorCtr="0">
            <a:noAutofit/>
          </a:bodyPr>
          <a:lstStyle/>
          <a:p>
            <a:pPr algn="l"/>
            <a:r>
              <a:rPr lang="en-US" altLang="ja-JP" sz="1900" b="1">
                <a:solidFill>
                  <a:srgbClr val="C8102E"/>
                </a:solidFill>
                <a:latin typeface="Meiryo"/>
                <a:ea typeface="Meiryo"/>
              </a:rPr>
              <a:t>03</a:t>
            </a:r>
            <a:endParaRPr lang="ja-JP" altLang="en-US" sz="1900" b="1">
              <a:solidFill>
                <a:srgbClr val="C8102E"/>
              </a:solidFill>
              <a:latin typeface="Meiryo"/>
              <a:ea typeface="Meiryo"/>
            </a:endParaRPr>
          </a:p>
        </p:txBody>
      </p:sp>
      <p:sp>
        <p:nvSpPr>
          <p:cNvPr id="16" name="テキスト ボックス 15">
            <a:extLst>
              <a:ext uri="{FF2B5EF4-FFF2-40B4-BE49-F238E27FC236}">
                <a16:creationId xmlns:a16="http://schemas.microsoft.com/office/drawing/2014/main" id="{966776EA-4025-494C-A43E-E079EA4E3F1D}"/>
              </a:ext>
            </a:extLst>
          </p:cNvPr>
          <p:cNvSpPr txBox="1"/>
          <p:nvPr/>
        </p:nvSpPr>
        <p:spPr>
          <a:xfrm>
            <a:off x="1168400" y="6299200"/>
            <a:ext cx="5232400" cy="228600"/>
          </a:xfrm>
          <a:prstGeom prst="rect">
            <a:avLst/>
          </a:prstGeom>
          <a:noFill/>
        </p:spPr>
        <p:txBody>
          <a:bodyPr vertOverflow="overflow" vert="horz" wrap="square" rtlCol="0" anchor="t" anchorCtr="0">
            <a:noAutofit/>
          </a:bodyPr>
          <a:lstStyle/>
          <a:p>
            <a:pPr algn="l"/>
            <a:r>
              <a:rPr lang="ja-JP" altLang="en-US" sz="1250" b="1">
                <a:solidFill>
                  <a:srgbClr val="1B1F4E"/>
                </a:solidFill>
                <a:latin typeface="Meiryo"/>
                <a:ea typeface="Meiryo"/>
              </a:rPr>
              <a:t>新たな脆弱性の出現</a:t>
            </a:r>
          </a:p>
        </p:txBody>
      </p:sp>
      <p:sp>
        <p:nvSpPr>
          <p:cNvPr id="17" name="テキスト ボックス 16">
            <a:extLst>
              <a:ext uri="{FF2B5EF4-FFF2-40B4-BE49-F238E27FC236}">
                <a16:creationId xmlns:a16="http://schemas.microsoft.com/office/drawing/2014/main" id="{FAFD8F86-3B7D-B344-B6EA-4EE408785BA7}"/>
              </a:ext>
            </a:extLst>
          </p:cNvPr>
          <p:cNvSpPr txBox="1"/>
          <p:nvPr/>
        </p:nvSpPr>
        <p:spPr>
          <a:xfrm>
            <a:off x="1168400" y="6553200"/>
            <a:ext cx="5232400" cy="3810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プロンプトインジェクション等の</a:t>
            </a:r>
            <a:r>
              <a:rPr lang="en" altLang="ja-JP" sz="900">
                <a:solidFill>
                  <a:srgbClr val="333333"/>
                </a:solidFill>
                <a:latin typeface="Meiryo"/>
                <a:ea typeface="Meiryo"/>
              </a:rPr>
              <a:t>AI</a:t>
            </a:r>
            <a:r>
              <a:rPr lang="ja-JP" altLang="en-US" sz="900">
                <a:solidFill>
                  <a:srgbClr val="333333"/>
                </a:solidFill>
                <a:latin typeface="Meiryo"/>
                <a:ea typeface="Meiryo"/>
              </a:rPr>
              <a:t>特有の攻撃は、</a:t>
            </a:r>
            <a:r>
              <a:rPr lang="en" altLang="ja-JP" sz="900">
                <a:solidFill>
                  <a:srgbClr val="333333"/>
                </a:solidFill>
                <a:latin typeface="Meiryo"/>
                <a:ea typeface="Meiryo"/>
              </a:rPr>
              <a:t>OWASP Top 10 for LLM 2025 </a:t>
            </a:r>
            <a:r>
              <a:rPr lang="ja-JP" altLang="en-US" sz="900">
                <a:solidFill>
                  <a:srgbClr val="333333"/>
                </a:solidFill>
                <a:latin typeface="Meiryo"/>
                <a:ea typeface="Meiryo"/>
              </a:rPr>
              <a:t>の最上位。</a:t>
            </a:r>
          </a:p>
        </p:txBody>
      </p:sp>
      <p:sp>
        <p:nvSpPr>
          <p:cNvPr id="18" name="テキスト ボックス 17">
            <a:extLst>
              <a:ext uri="{FF2B5EF4-FFF2-40B4-BE49-F238E27FC236}">
                <a16:creationId xmlns:a16="http://schemas.microsoft.com/office/drawing/2014/main" id="{3AC7E5FC-2EC7-6C42-9723-87D08869E127}"/>
              </a:ext>
            </a:extLst>
          </p:cNvPr>
          <p:cNvSpPr txBox="1"/>
          <p:nvPr/>
        </p:nvSpPr>
        <p:spPr>
          <a:xfrm>
            <a:off x="3175000" y="7137400"/>
            <a:ext cx="3225800" cy="558800"/>
          </a:xfrm>
          <a:prstGeom prst="rect">
            <a:avLst/>
          </a:prstGeom>
          <a:noFill/>
        </p:spPr>
        <p:txBody>
          <a:bodyPr vertOverflow="overflow" vert="horz" wrap="square" rtlCol="0" anchor="t" anchorCtr="0">
            <a:noAutofit/>
          </a:bodyPr>
          <a:lstStyle/>
          <a:p>
            <a:pPr algn="l"/>
            <a:r>
              <a:rPr lang="en" altLang="ja-JP" sz="3600" b="1">
                <a:solidFill>
                  <a:srgbClr val="E9EBF5"/>
                </a:solidFill>
                <a:latin typeface="Meiryo"/>
                <a:ea typeface="Meiryo"/>
              </a:rPr>
              <a:t>GATEWAY</a:t>
            </a:r>
            <a:endParaRPr lang="ja-JP" altLang="en-US" sz="3600" b="1">
              <a:solidFill>
                <a:srgbClr val="E9EBF5"/>
              </a:solidFill>
              <a:latin typeface="Meiryo"/>
              <a:ea typeface="Meiryo"/>
            </a:endParaRPr>
          </a:p>
        </p:txBody>
      </p:sp>
      <p:sp>
        <p:nvSpPr>
          <p:cNvPr id="19" name="テキスト ボックス 18">
            <a:extLst>
              <a:ext uri="{FF2B5EF4-FFF2-40B4-BE49-F238E27FC236}">
                <a16:creationId xmlns:a16="http://schemas.microsoft.com/office/drawing/2014/main" id="{F62C6B8E-5C1F-9C45-98FE-DD9365D9C324}"/>
              </a:ext>
            </a:extLst>
          </p:cNvPr>
          <p:cNvSpPr txBox="1"/>
          <p:nvPr/>
        </p:nvSpPr>
        <p:spPr>
          <a:xfrm>
            <a:off x="457200" y="7442200"/>
            <a:ext cx="3048000" cy="279400"/>
          </a:xfrm>
          <a:prstGeom prst="rect">
            <a:avLst/>
          </a:prstGeom>
          <a:noFill/>
        </p:spPr>
        <p:txBody>
          <a:bodyPr vertOverflow="overflow" vert="horz" wrap="square" rtlCol="0" anchor="t" anchorCtr="0">
            <a:noAutofit/>
          </a:bodyPr>
          <a:lstStyle/>
          <a:p>
            <a:pPr algn="l"/>
            <a:r>
              <a:rPr lang="en" altLang="ja-JP" sz="1600" b="1">
                <a:solidFill>
                  <a:srgbClr val="1B1F4E"/>
                </a:solidFill>
                <a:latin typeface="Meiryo"/>
                <a:ea typeface="Meiryo"/>
              </a:rPr>
              <a:t>WitnessAI</a:t>
            </a:r>
            <a:r>
              <a:rPr lang="ja-JP" altLang="en-US" sz="1600" b="1">
                <a:solidFill>
                  <a:srgbClr val="1B1F4E"/>
                </a:solidFill>
                <a:latin typeface="Meiryo"/>
                <a:ea typeface="Meiryo"/>
              </a:rPr>
              <a:t>とは</a:t>
            </a:r>
          </a:p>
        </p:txBody>
      </p:sp>
      <p:sp>
        <p:nvSpPr>
          <p:cNvPr id="20" name="テキスト ボックス 19">
            <a:extLst>
              <a:ext uri="{FF2B5EF4-FFF2-40B4-BE49-F238E27FC236}">
                <a16:creationId xmlns:a16="http://schemas.microsoft.com/office/drawing/2014/main" id="{15931674-5A0A-524C-A9DD-85165EAFC49D}"/>
              </a:ext>
            </a:extLst>
          </p:cNvPr>
          <p:cNvSpPr txBox="1"/>
          <p:nvPr/>
        </p:nvSpPr>
        <p:spPr>
          <a:xfrm>
            <a:off x="457200" y="7797800"/>
            <a:ext cx="2946400" cy="11430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ユーザと</a:t>
            </a:r>
            <a:r>
              <a:rPr lang="en" altLang="ja-JP" sz="950">
                <a:solidFill>
                  <a:srgbClr val="333333"/>
                </a:solidFill>
                <a:latin typeface="Meiryo"/>
                <a:ea typeface="Meiryo"/>
              </a:rPr>
              <a:t>AI</a:t>
            </a:r>
            <a:r>
              <a:rPr lang="ja-JP" altLang="en-US" sz="950">
                <a:solidFill>
                  <a:srgbClr val="333333"/>
                </a:solidFill>
                <a:latin typeface="Meiryo"/>
                <a:ea typeface="Meiryo"/>
              </a:rPr>
              <a:t>の間に立ち、すべての</a:t>
            </a:r>
            <a:r>
              <a:rPr lang="en" altLang="ja-JP" sz="950">
                <a:solidFill>
                  <a:srgbClr val="333333"/>
                </a:solidFill>
                <a:latin typeface="Meiryo"/>
                <a:ea typeface="Meiryo"/>
              </a:rPr>
              <a:t>AI</a:t>
            </a:r>
            <a:r>
              <a:rPr lang="ja-JP" altLang="en-US" sz="950">
                <a:solidFill>
                  <a:srgbClr val="333333"/>
                </a:solidFill>
                <a:latin typeface="Meiryo"/>
                <a:ea typeface="Meiryo"/>
              </a:rPr>
              <a:t>利用を可視化・統制する、エージェントレスの「</a:t>
            </a:r>
            <a:r>
              <a:rPr lang="en" altLang="ja-JP" sz="950">
                <a:solidFill>
                  <a:srgbClr val="333333"/>
                </a:solidFill>
                <a:latin typeface="Meiryo"/>
                <a:ea typeface="Meiryo"/>
              </a:rPr>
              <a:t>AI Security Gateway</a:t>
            </a:r>
            <a:r>
              <a:rPr lang="ja-JP" altLang="en" sz="950">
                <a:solidFill>
                  <a:srgbClr val="333333"/>
                </a:solidFill>
                <a:latin typeface="Meiryo"/>
                <a:ea typeface="Meiryo"/>
              </a:rPr>
              <a:t>」。</a:t>
            </a:r>
            <a:r>
              <a:rPr lang="ja-JP" altLang="en-US" sz="950">
                <a:solidFill>
                  <a:srgbClr val="333333"/>
                </a:solidFill>
                <a:latin typeface="Meiryo"/>
                <a:ea typeface="Meiryo"/>
              </a:rPr>
              <a:t>エンドポイントに依存せず迅速に導入できます。</a:t>
            </a:r>
          </a:p>
        </p:txBody>
      </p:sp>
      <p:sp>
        <p:nvSpPr>
          <p:cNvPr id="21" name="テキスト ボックス 20">
            <a:extLst>
              <a:ext uri="{FF2B5EF4-FFF2-40B4-BE49-F238E27FC236}">
                <a16:creationId xmlns:a16="http://schemas.microsoft.com/office/drawing/2014/main" id="{09AEAA83-6FE2-6D43-AA14-395C3C08C920}"/>
              </a:ext>
            </a:extLst>
          </p:cNvPr>
          <p:cNvSpPr txBox="1"/>
          <p:nvPr/>
        </p:nvSpPr>
        <p:spPr>
          <a:xfrm>
            <a:off x="457200" y="8966200"/>
            <a:ext cx="3810000" cy="177800"/>
          </a:xfrm>
          <a:prstGeom prst="rect">
            <a:avLst/>
          </a:prstGeom>
          <a:noFill/>
        </p:spPr>
        <p:txBody>
          <a:bodyPr vertOverflow="overflow" vert="horz" wrap="square" rtlCol="0" anchor="t" anchorCtr="0">
            <a:noAutofit/>
          </a:bodyPr>
          <a:lstStyle/>
          <a:p>
            <a:pPr algn="l"/>
            <a:r>
              <a:rPr lang="ja-JP" altLang="en-US" sz="900" b="1">
                <a:solidFill>
                  <a:srgbClr val="C8102E"/>
                </a:solidFill>
                <a:latin typeface="Meiryo"/>
                <a:ea typeface="Meiryo"/>
              </a:rPr>
              <a:t>▶ 機能・提供メニューは裏面をご覧ください</a:t>
            </a:r>
          </a:p>
        </p:txBody>
      </p:sp>
      <p:pic>
        <p:nvPicPr>
          <p:cNvPr id="22" name="図 21">
            <a:extLst>
              <a:ext uri="{FF2B5EF4-FFF2-40B4-BE49-F238E27FC236}">
                <a16:creationId xmlns:a16="http://schemas.microsoft.com/office/drawing/2014/main" id="{03A093EC-35F2-42A8-9512-9163D7A47F86}"/>
              </a:ext>
            </a:extLst>
          </p:cNvPr>
          <p:cNvPicPr>
            <a:picLocks noChangeAspect="1"/>
          </p:cNvPicPr>
          <p:nvPr/>
        </p:nvPicPr>
        <p:blipFill>
          <a:blip r:embed="rId3"/>
          <a:stretch>
            <a:fillRect/>
          </a:stretch>
        </p:blipFill>
        <p:spPr>
          <a:xfrm>
            <a:off x="3606800" y="7696200"/>
            <a:ext cx="2794000" cy="853722"/>
          </a:xfrm>
          <a:prstGeom prst="rect">
            <a:avLst/>
          </a:prstGeom>
        </p:spPr>
      </p:pic>
      <p:pic>
        <p:nvPicPr>
          <p:cNvPr id="23" name="図 22">
            <a:extLst>
              <a:ext uri="{FF2B5EF4-FFF2-40B4-BE49-F238E27FC236}">
                <a16:creationId xmlns:a16="http://schemas.microsoft.com/office/drawing/2014/main" id="{1679AE96-095C-048B-508D-445579D930F3}"/>
              </a:ext>
            </a:extLst>
          </p:cNvPr>
          <p:cNvPicPr>
            <a:picLocks/>
          </p:cNvPicPr>
          <p:nvPr/>
        </p:nvPicPr>
        <p:blipFill>
          <a:blip r:embed="rId2"/>
          <a:stretch>
            <a:fillRect/>
          </a:stretch>
        </p:blipFill>
        <p:spPr>
          <a:xfrm>
            <a:off x="0" y="9347200"/>
            <a:ext cx="6858000" cy="558800"/>
          </a:xfrm>
          <a:prstGeom prst="rect">
            <a:avLst/>
          </a:prstGeom>
        </p:spPr>
      </p:pic>
      <p:sp>
        <p:nvSpPr>
          <p:cNvPr id="24" name="テキスト ボックス 23">
            <a:extLst>
              <a:ext uri="{FF2B5EF4-FFF2-40B4-BE49-F238E27FC236}">
                <a16:creationId xmlns:a16="http://schemas.microsoft.com/office/drawing/2014/main" id="{2859B123-652F-7E48-80D9-D1DC9F9CB660}"/>
              </a:ext>
            </a:extLst>
          </p:cNvPr>
          <p:cNvSpPr txBox="1"/>
          <p:nvPr/>
        </p:nvSpPr>
        <p:spPr>
          <a:xfrm>
            <a:off x="457200" y="9499600"/>
            <a:ext cx="3810000" cy="254000"/>
          </a:xfrm>
          <a:prstGeom prst="rect">
            <a:avLst/>
          </a:prstGeom>
          <a:noFill/>
        </p:spPr>
        <p:txBody>
          <a:bodyPr vertOverflow="overflow" vert="horz" wrap="square" rtlCol="0" anchor="ctr" anchorCtr="0">
            <a:noAutofit/>
          </a:bodyPr>
          <a:lstStyle/>
          <a:p>
            <a:pPr algn="l"/>
            <a:r>
              <a:rPr lang="ja-JP" altLang="en-US" sz="1200" b="1">
                <a:solidFill>
                  <a:srgbClr val="FFFFFF"/>
                </a:solidFill>
                <a:latin typeface="Meiryo"/>
                <a:ea typeface="Meiryo"/>
              </a:rPr>
              <a:t>導入のご相談はこちら</a:t>
            </a:r>
          </a:p>
        </p:txBody>
      </p:sp>
      <p:sp>
        <p:nvSpPr>
          <p:cNvPr id="25" name="テキスト ボックス 24">
            <a:extLst>
              <a:ext uri="{FF2B5EF4-FFF2-40B4-BE49-F238E27FC236}">
                <a16:creationId xmlns:a16="http://schemas.microsoft.com/office/drawing/2014/main" id="{D348BC47-051E-8046-A99E-169293B1A1B8}"/>
              </a:ext>
            </a:extLst>
          </p:cNvPr>
          <p:cNvSpPr txBox="1"/>
          <p:nvPr/>
        </p:nvSpPr>
        <p:spPr>
          <a:xfrm>
            <a:off x="3810000" y="9525000"/>
            <a:ext cx="2590800" cy="203200"/>
          </a:xfrm>
          <a:prstGeom prst="rect">
            <a:avLst/>
          </a:prstGeom>
          <a:noFill/>
        </p:spPr>
        <p:txBody>
          <a:bodyPr vertOverflow="overflow" vert="horz" wrap="square" rtlCol="0" anchor="ctr" anchorCtr="0">
            <a:noAutofit/>
          </a:bodyPr>
          <a:lstStyle/>
          <a:p>
            <a:pPr algn="l"/>
            <a:r>
              <a:rPr lang="en" altLang="ja-JP" sz="850">
                <a:solidFill>
                  <a:srgbClr val="FFFFFF"/>
                </a:solidFill>
                <a:latin typeface="Meiryo"/>
                <a:ea typeface="Meiryo"/>
              </a:rPr>
              <a:t>go.jsol.co.jp/lp/inquiry/00009</a:t>
            </a:r>
            <a:endParaRPr lang="ja-JP" altLang="en-US" sz="850">
              <a:solidFill>
                <a:srgbClr val="FFFFFF"/>
              </a:solidFill>
              <a:latin typeface="Meiryo"/>
              <a:ea typeface="Meiryo"/>
            </a:endParaRPr>
          </a:p>
        </p:txBody>
      </p:sp>
    </p:spTree>
    <p:extLst>
      <p:ext uri="{BB962C8B-B14F-4D97-AF65-F5344CB8AC3E}">
        <p14:creationId xmlns:p14="http://schemas.microsoft.com/office/powerpoint/2010/main" val="1832853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343F1063-FAC0-4E2A-3697-E0C2211972A9}"/>
              </a:ext>
            </a:extLst>
          </p:cNvPr>
          <p:cNvPicPr>
            <a:picLocks/>
          </p:cNvPicPr>
          <p:nvPr/>
        </p:nvPicPr>
        <p:blipFill>
          <a:blip r:embed="rId2"/>
          <a:stretch>
            <a:fillRect/>
          </a:stretch>
        </p:blipFill>
        <p:spPr>
          <a:xfrm>
            <a:off x="0" y="0"/>
            <a:ext cx="2413000" cy="9906000"/>
          </a:xfrm>
          <a:prstGeom prst="rect">
            <a:avLst/>
          </a:prstGeom>
        </p:spPr>
      </p:pic>
      <p:pic>
        <p:nvPicPr>
          <p:cNvPr id="3" name="図 2">
            <a:extLst>
              <a:ext uri="{FF2B5EF4-FFF2-40B4-BE49-F238E27FC236}">
                <a16:creationId xmlns:a16="http://schemas.microsoft.com/office/drawing/2014/main" id="{C77410A2-31D6-B14A-6150-FD3FB4B00E17}"/>
              </a:ext>
            </a:extLst>
          </p:cNvPr>
          <p:cNvPicPr>
            <a:picLocks noChangeAspect="1"/>
          </p:cNvPicPr>
          <p:nvPr/>
        </p:nvPicPr>
        <p:blipFill>
          <a:blip r:embed="rId3"/>
          <a:stretch>
            <a:fillRect/>
          </a:stretch>
        </p:blipFill>
        <p:spPr>
          <a:xfrm>
            <a:off x="1905000" y="0"/>
            <a:ext cx="4953000" cy="3874524"/>
          </a:xfrm>
          <a:prstGeom prst="rect">
            <a:avLst/>
          </a:prstGeom>
        </p:spPr>
      </p:pic>
      <p:pic>
        <p:nvPicPr>
          <p:cNvPr id="4" name="図 3">
            <a:extLst>
              <a:ext uri="{FF2B5EF4-FFF2-40B4-BE49-F238E27FC236}">
                <a16:creationId xmlns:a16="http://schemas.microsoft.com/office/drawing/2014/main" id="{36145EA9-A4E9-9BC6-5A6E-E2B0473F34F3}"/>
              </a:ext>
            </a:extLst>
          </p:cNvPr>
          <p:cNvPicPr>
            <a:picLocks noChangeAspect="1"/>
          </p:cNvPicPr>
          <p:nvPr/>
        </p:nvPicPr>
        <p:blipFill>
          <a:blip r:embed="rId4"/>
          <a:stretch>
            <a:fillRect/>
          </a:stretch>
        </p:blipFill>
        <p:spPr>
          <a:xfrm>
            <a:off x="2717800" y="8686800"/>
            <a:ext cx="3302000" cy="1008944"/>
          </a:xfrm>
          <a:prstGeom prst="rect">
            <a:avLst/>
          </a:prstGeom>
        </p:spPr>
      </p:pic>
      <p:sp>
        <p:nvSpPr>
          <p:cNvPr id="5" name="平行四辺形 4">
            <a:extLst>
              <a:ext uri="{FF2B5EF4-FFF2-40B4-BE49-F238E27FC236}">
                <a16:creationId xmlns:a16="http://schemas.microsoft.com/office/drawing/2014/main" id="{A11AB001-2C90-C64E-92C1-5C312986E300}"/>
              </a:ext>
            </a:extLst>
          </p:cNvPr>
          <p:cNvSpPr/>
          <p:nvPr/>
        </p:nvSpPr>
        <p:spPr>
          <a:xfrm>
            <a:off x="1219200" y="3403600"/>
            <a:ext cx="2540000" cy="5588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222DD8A-744B-E243-B634-CA7C16C068D2}"/>
              </a:ext>
            </a:extLst>
          </p:cNvPr>
          <p:cNvSpPr txBox="1"/>
          <p:nvPr/>
        </p:nvSpPr>
        <p:spPr>
          <a:xfrm>
            <a:off x="203200" y="3733800"/>
            <a:ext cx="1397000" cy="1143000"/>
          </a:xfrm>
          <a:prstGeom prst="rect">
            <a:avLst/>
          </a:prstGeom>
          <a:noFill/>
        </p:spPr>
        <p:txBody>
          <a:bodyPr vertOverflow="overflow" vert="horz" wrap="square" rtlCol="0" anchor="t" anchorCtr="0">
            <a:noAutofit/>
          </a:bodyPr>
          <a:lstStyle/>
          <a:p>
            <a:pPr algn="l"/>
            <a:r>
              <a:rPr lang="ja-JP" altLang="en-US" sz="7600" b="1">
                <a:solidFill>
                  <a:srgbClr val="F7B815"/>
                </a:solidFill>
                <a:latin typeface="Meiryo"/>
                <a:ea typeface="Meiryo"/>
              </a:rPr>
              <a:t>“</a:t>
            </a:r>
          </a:p>
        </p:txBody>
      </p:sp>
      <p:sp>
        <p:nvSpPr>
          <p:cNvPr id="7" name="テキスト ボックス 6">
            <a:extLst>
              <a:ext uri="{FF2B5EF4-FFF2-40B4-BE49-F238E27FC236}">
                <a16:creationId xmlns:a16="http://schemas.microsoft.com/office/drawing/2014/main" id="{21EA2FFC-EC76-4043-AA4E-EE031C119AAE}"/>
              </a:ext>
            </a:extLst>
          </p:cNvPr>
          <p:cNvSpPr txBox="1"/>
          <p:nvPr/>
        </p:nvSpPr>
        <p:spPr>
          <a:xfrm>
            <a:off x="279400" y="5003800"/>
            <a:ext cx="2057400" cy="863600"/>
          </a:xfrm>
          <a:prstGeom prst="rect">
            <a:avLst/>
          </a:prstGeom>
          <a:noFill/>
        </p:spPr>
        <p:txBody>
          <a:bodyPr vertOverflow="overflow" vert="horz" wrap="square" rtlCol="0" anchor="t" anchorCtr="0">
            <a:noAutofit/>
          </a:bodyPr>
          <a:lstStyle/>
          <a:p>
            <a:pPr algn="l"/>
            <a:r>
              <a:rPr lang="en" altLang="ja-JP" sz="1850" b="1">
                <a:solidFill>
                  <a:srgbClr val="FFFFFF"/>
                </a:solidFill>
                <a:latin typeface="Meiryo"/>
                <a:ea typeface="Meiryo"/>
              </a:rPr>
              <a:t>AI</a:t>
            </a:r>
            <a:r>
              <a:rPr lang="ja-JP" altLang="en-US" sz="1850" b="1">
                <a:solidFill>
                  <a:srgbClr val="FFFFFF"/>
                </a:solidFill>
                <a:latin typeface="Meiryo"/>
                <a:ea typeface="Meiryo"/>
              </a:rPr>
              <a:t>の利用を、
止めずに、守る。</a:t>
            </a:r>
          </a:p>
        </p:txBody>
      </p:sp>
      <p:sp>
        <p:nvSpPr>
          <p:cNvPr id="8" name="テキスト ボックス 7">
            <a:extLst>
              <a:ext uri="{FF2B5EF4-FFF2-40B4-BE49-F238E27FC236}">
                <a16:creationId xmlns:a16="http://schemas.microsoft.com/office/drawing/2014/main" id="{3F8EFF79-69D5-1F42-8510-FFC70808F645}"/>
              </a:ext>
            </a:extLst>
          </p:cNvPr>
          <p:cNvSpPr txBox="1"/>
          <p:nvPr/>
        </p:nvSpPr>
        <p:spPr>
          <a:xfrm>
            <a:off x="279400" y="6146800"/>
            <a:ext cx="1930400" cy="1397000"/>
          </a:xfrm>
          <a:prstGeom prst="rect">
            <a:avLst/>
          </a:prstGeom>
          <a:noFill/>
        </p:spPr>
        <p:txBody>
          <a:bodyPr vertOverflow="overflow" vert="horz" wrap="square" rtlCol="0" anchor="t" anchorCtr="0">
            <a:noAutofit/>
          </a:bodyPr>
          <a:lstStyle/>
          <a:p>
            <a:pPr algn="l"/>
            <a:r>
              <a:rPr lang="en" altLang="ja-JP" sz="900" dirty="0" err="1">
                <a:solidFill>
                  <a:srgbClr val="E3D9E2"/>
                </a:solidFill>
                <a:latin typeface="Meiryo"/>
                <a:ea typeface="Meiryo"/>
              </a:rPr>
              <a:t>WitnessAI</a:t>
            </a:r>
            <a:r>
              <a:rPr lang="ja-JP" altLang="en-US" sz="900">
                <a:solidFill>
                  <a:srgbClr val="E3D9E2"/>
                </a:solidFill>
                <a:latin typeface="Meiryo"/>
                <a:ea typeface="Meiryo"/>
              </a:rPr>
              <a:t>は、ユーザと</a:t>
            </a:r>
            <a:r>
              <a:rPr lang="en" altLang="ja-JP" sz="900" dirty="0">
                <a:solidFill>
                  <a:srgbClr val="E3D9E2"/>
                </a:solidFill>
                <a:latin typeface="Meiryo"/>
                <a:ea typeface="Meiryo"/>
              </a:rPr>
              <a:t>AI</a:t>
            </a:r>
            <a:r>
              <a:rPr lang="ja-JP" altLang="en-US" sz="900">
                <a:solidFill>
                  <a:srgbClr val="E3D9E2"/>
                </a:solidFill>
                <a:latin typeface="Meiryo"/>
                <a:ea typeface="Meiryo"/>
              </a:rPr>
              <a:t>の間に立つ「</a:t>
            </a:r>
            <a:r>
              <a:rPr lang="en" altLang="ja-JP" sz="900" dirty="0">
                <a:solidFill>
                  <a:srgbClr val="E3D9E2"/>
                </a:solidFill>
                <a:latin typeface="Meiryo"/>
                <a:ea typeface="Meiryo"/>
              </a:rPr>
              <a:t>AI Security Gateway</a:t>
            </a:r>
            <a:r>
              <a:rPr lang="ja-JP" altLang="en" sz="900">
                <a:solidFill>
                  <a:srgbClr val="E3D9E2"/>
                </a:solidFill>
                <a:latin typeface="Meiryo"/>
                <a:ea typeface="Meiryo"/>
              </a:rPr>
              <a:t>」。</a:t>
            </a:r>
            <a:r>
              <a:rPr lang="ja-JP" altLang="en-US" sz="900">
                <a:solidFill>
                  <a:srgbClr val="E3D9E2"/>
                </a:solidFill>
                <a:latin typeface="Meiryo"/>
                <a:ea typeface="Meiryo"/>
              </a:rPr>
              <a:t>生成</a:t>
            </a:r>
            <a:r>
              <a:rPr lang="en" altLang="ja-JP" sz="900" dirty="0">
                <a:solidFill>
                  <a:srgbClr val="E3D9E2"/>
                </a:solidFill>
                <a:latin typeface="Meiryo"/>
                <a:ea typeface="Meiryo"/>
              </a:rPr>
              <a:t>AI</a:t>
            </a:r>
            <a:r>
              <a:rPr lang="ja-JP" altLang="en-US" sz="900">
                <a:solidFill>
                  <a:srgbClr val="E3D9E2"/>
                </a:solidFill>
                <a:latin typeface="Meiryo"/>
                <a:ea typeface="Meiryo"/>
              </a:rPr>
              <a:t>の利用を可視化し、統制します。</a:t>
            </a:r>
          </a:p>
        </p:txBody>
      </p:sp>
      <p:sp>
        <p:nvSpPr>
          <p:cNvPr id="9" name="テキスト ボックス 8">
            <a:extLst>
              <a:ext uri="{FF2B5EF4-FFF2-40B4-BE49-F238E27FC236}">
                <a16:creationId xmlns:a16="http://schemas.microsoft.com/office/drawing/2014/main" id="{68EA559F-2E14-F240-B7D2-AF8F4EDD9BFC}"/>
              </a:ext>
            </a:extLst>
          </p:cNvPr>
          <p:cNvSpPr txBox="1"/>
          <p:nvPr/>
        </p:nvSpPr>
        <p:spPr>
          <a:xfrm>
            <a:off x="279400" y="8229600"/>
            <a:ext cx="1930400" cy="508000"/>
          </a:xfrm>
          <a:prstGeom prst="rect">
            <a:avLst/>
          </a:prstGeom>
          <a:noFill/>
        </p:spPr>
        <p:txBody>
          <a:bodyPr vertOverflow="overflow" vert="horz" wrap="square" rtlCol="0" anchor="t" anchorCtr="0">
            <a:noAutofit/>
          </a:bodyPr>
          <a:lstStyle/>
          <a:p>
            <a:pPr algn="l"/>
            <a:r>
              <a:rPr lang="ja-JP" altLang="en-US" sz="900" b="1">
                <a:solidFill>
                  <a:srgbClr val="F7B815"/>
                </a:solidFill>
                <a:latin typeface="Meiryo"/>
                <a:ea typeface="Meiryo"/>
              </a:rPr>
              <a:t>▶ 機能・提供メニューは
　裏面へ</a:t>
            </a:r>
          </a:p>
        </p:txBody>
      </p:sp>
      <p:sp>
        <p:nvSpPr>
          <p:cNvPr id="10" name="テキスト ボックス 9">
            <a:extLst>
              <a:ext uri="{FF2B5EF4-FFF2-40B4-BE49-F238E27FC236}">
                <a16:creationId xmlns:a16="http://schemas.microsoft.com/office/drawing/2014/main" id="{4A1486E6-6D53-E64E-B095-46EA19268BCC}"/>
              </a:ext>
            </a:extLst>
          </p:cNvPr>
          <p:cNvSpPr txBox="1"/>
          <p:nvPr/>
        </p:nvSpPr>
        <p:spPr>
          <a:xfrm>
            <a:off x="304800" y="9067800"/>
            <a:ext cx="1803400" cy="508000"/>
          </a:xfrm>
          <a:prstGeom prst="rect">
            <a:avLst/>
          </a:prstGeom>
          <a:noFill/>
        </p:spPr>
        <p:txBody>
          <a:bodyPr vertOverflow="overflow" vert="horz" wrap="square" rtlCol="0" anchor="t" anchorCtr="0">
            <a:noAutofit/>
          </a:bodyPr>
          <a:lstStyle/>
          <a:p>
            <a:pPr algn="l"/>
            <a:r>
              <a:rPr lang="ja-JP" altLang="en-US" sz="750">
                <a:solidFill>
                  <a:srgbClr val="E3D9E2"/>
                </a:solidFill>
                <a:latin typeface="Meiryo"/>
                <a:ea typeface="Meiryo"/>
              </a:rPr>
              <a:t>提供：</a:t>
            </a:r>
            <a:r>
              <a:rPr lang="en" altLang="ja-JP" sz="750">
                <a:solidFill>
                  <a:srgbClr val="E3D9E2"/>
                </a:solidFill>
                <a:latin typeface="Meiryo"/>
                <a:ea typeface="Meiryo"/>
              </a:rPr>
              <a:t>JSOL
go.jsol.co.jp/lp/inquiry/00009</a:t>
            </a:r>
            <a:endParaRPr lang="ja-JP" altLang="en-US" sz="750">
              <a:solidFill>
                <a:srgbClr val="E3D9E2"/>
              </a:solidFill>
              <a:latin typeface="Meiryo"/>
              <a:ea typeface="Meiryo"/>
            </a:endParaRPr>
          </a:p>
        </p:txBody>
      </p:sp>
      <p:sp>
        <p:nvSpPr>
          <p:cNvPr id="11" name="テキスト ボックス 10">
            <a:extLst>
              <a:ext uri="{FF2B5EF4-FFF2-40B4-BE49-F238E27FC236}">
                <a16:creationId xmlns:a16="http://schemas.microsoft.com/office/drawing/2014/main" id="{7A6351A3-5D93-3643-9D0A-CFDAE3A71134}"/>
              </a:ext>
            </a:extLst>
          </p:cNvPr>
          <p:cNvSpPr txBox="1"/>
          <p:nvPr/>
        </p:nvSpPr>
        <p:spPr>
          <a:xfrm>
            <a:off x="2717800" y="4140200"/>
            <a:ext cx="3683000" cy="406400"/>
          </a:xfrm>
          <a:prstGeom prst="rect">
            <a:avLst/>
          </a:prstGeom>
          <a:noFill/>
        </p:spPr>
        <p:txBody>
          <a:bodyPr vertOverflow="overflow" vert="horz" wrap="square" rtlCol="0" anchor="t" anchorCtr="0">
            <a:noAutofit/>
          </a:bodyPr>
          <a:lstStyle/>
          <a:p>
            <a:pPr algn="l"/>
            <a:r>
              <a:rPr lang="ja-JP" altLang="en-US" sz="2100" b="1">
                <a:solidFill>
                  <a:srgbClr val="1B1F4E"/>
                </a:solidFill>
                <a:latin typeface="Meiryo"/>
                <a:ea typeface="Meiryo"/>
              </a:rPr>
              <a:t>なぜ、</a:t>
            </a:r>
            <a:r>
              <a:rPr lang="en" altLang="ja-JP" sz="2100" b="1">
                <a:solidFill>
                  <a:srgbClr val="1B1F4E"/>
                </a:solidFill>
                <a:latin typeface="Meiryo"/>
                <a:ea typeface="Meiryo"/>
              </a:rPr>
              <a:t>AI</a:t>
            </a:r>
            <a:r>
              <a:rPr lang="ja-JP" altLang="en-US" sz="2100" b="1">
                <a:solidFill>
                  <a:srgbClr val="1B1F4E"/>
                </a:solidFill>
                <a:latin typeface="Meiryo"/>
                <a:ea typeface="Meiryo"/>
              </a:rPr>
              <a:t>ガバナンスか。</a:t>
            </a:r>
          </a:p>
        </p:txBody>
      </p:sp>
      <p:sp>
        <p:nvSpPr>
          <p:cNvPr id="12" name="テキスト ボックス 11">
            <a:extLst>
              <a:ext uri="{FF2B5EF4-FFF2-40B4-BE49-F238E27FC236}">
                <a16:creationId xmlns:a16="http://schemas.microsoft.com/office/drawing/2014/main" id="{A7E46009-1442-1441-8C14-F9494661B705}"/>
              </a:ext>
            </a:extLst>
          </p:cNvPr>
          <p:cNvSpPr txBox="1"/>
          <p:nvPr/>
        </p:nvSpPr>
        <p:spPr>
          <a:xfrm>
            <a:off x="2717800" y="4749800"/>
            <a:ext cx="558800" cy="355600"/>
          </a:xfrm>
          <a:prstGeom prst="rect">
            <a:avLst/>
          </a:prstGeom>
          <a:noFill/>
        </p:spPr>
        <p:txBody>
          <a:bodyPr vertOverflow="overflow" vert="horz" wrap="square" rtlCol="0" anchor="t" anchorCtr="0">
            <a:noAutofit/>
          </a:bodyPr>
          <a:lstStyle/>
          <a:p>
            <a:pPr algn="l"/>
            <a:r>
              <a:rPr lang="en-US" altLang="ja-JP" b="1">
                <a:solidFill>
                  <a:srgbClr val="C8102E"/>
                </a:solidFill>
                <a:latin typeface="Meiryo"/>
                <a:ea typeface="Meiryo"/>
              </a:rPr>
              <a:t>01</a:t>
            </a:r>
            <a:endParaRPr lang="ja-JP" altLang="en-US" b="1">
              <a:solidFill>
                <a:srgbClr val="C8102E"/>
              </a:solidFill>
              <a:latin typeface="Meiryo"/>
              <a:ea typeface="Meiryo"/>
            </a:endParaRPr>
          </a:p>
        </p:txBody>
      </p:sp>
      <p:sp>
        <p:nvSpPr>
          <p:cNvPr id="13" name="テキスト ボックス 12">
            <a:extLst>
              <a:ext uri="{FF2B5EF4-FFF2-40B4-BE49-F238E27FC236}">
                <a16:creationId xmlns:a16="http://schemas.microsoft.com/office/drawing/2014/main" id="{359CE445-E948-8D4D-9CFC-24A6D5B4660D}"/>
              </a:ext>
            </a:extLst>
          </p:cNvPr>
          <p:cNvSpPr txBox="1"/>
          <p:nvPr/>
        </p:nvSpPr>
        <p:spPr>
          <a:xfrm>
            <a:off x="3327400" y="4724400"/>
            <a:ext cx="3073400" cy="279400"/>
          </a:xfrm>
          <a:prstGeom prst="rect">
            <a:avLst/>
          </a:prstGeom>
          <a:noFill/>
        </p:spPr>
        <p:txBody>
          <a:bodyPr vertOverflow="overflow" vert="horz" wrap="square" rtlCol="0" anchor="t" anchorCtr="0">
            <a:noAutofit/>
          </a:bodyPr>
          <a:lstStyle/>
          <a:p>
            <a:pPr algn="l"/>
            <a:r>
              <a:rPr lang="ja-JP" altLang="en-US" sz="1300" b="1">
                <a:solidFill>
                  <a:srgbClr val="1B1F4E"/>
                </a:solidFill>
                <a:latin typeface="Meiryo"/>
                <a:ea typeface="Meiryo"/>
              </a:rPr>
              <a:t>自律型エージェントの台頭</a:t>
            </a:r>
          </a:p>
        </p:txBody>
      </p:sp>
      <p:sp>
        <p:nvSpPr>
          <p:cNvPr id="14" name="テキスト ボックス 13">
            <a:extLst>
              <a:ext uri="{FF2B5EF4-FFF2-40B4-BE49-F238E27FC236}">
                <a16:creationId xmlns:a16="http://schemas.microsoft.com/office/drawing/2014/main" id="{7DEDA203-CAA7-AA45-854E-D5A190B20113}"/>
              </a:ext>
            </a:extLst>
          </p:cNvPr>
          <p:cNvSpPr txBox="1"/>
          <p:nvPr/>
        </p:nvSpPr>
        <p:spPr>
          <a:xfrm>
            <a:off x="3327400" y="5029200"/>
            <a:ext cx="3073400" cy="4572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外部</a:t>
            </a:r>
            <a:r>
              <a:rPr lang="en" altLang="ja-JP" sz="900">
                <a:solidFill>
                  <a:srgbClr val="333333"/>
                </a:solidFill>
                <a:latin typeface="Meiryo"/>
                <a:ea typeface="Meiryo"/>
              </a:rPr>
              <a:t>API</a:t>
            </a:r>
            <a:r>
              <a:rPr lang="ja-JP" altLang="en-US" sz="900">
                <a:solidFill>
                  <a:srgbClr val="333333"/>
                </a:solidFill>
                <a:latin typeface="Meiryo"/>
                <a:ea typeface="Meiryo"/>
              </a:rPr>
              <a:t>や</a:t>
            </a:r>
            <a:r>
              <a:rPr lang="en" altLang="ja-JP" sz="900">
                <a:solidFill>
                  <a:srgbClr val="333333"/>
                </a:solidFill>
                <a:latin typeface="Meiryo"/>
                <a:ea typeface="Meiryo"/>
              </a:rPr>
              <a:t>DB</a:t>
            </a:r>
            <a:r>
              <a:rPr lang="ja-JP" altLang="en-US" sz="900">
                <a:solidFill>
                  <a:srgbClr val="333333"/>
                </a:solidFill>
                <a:latin typeface="Meiryo"/>
                <a:ea typeface="Meiryo"/>
              </a:rPr>
              <a:t>を自律操作する</a:t>
            </a:r>
            <a:r>
              <a:rPr lang="en" altLang="ja-JP" sz="900">
                <a:solidFill>
                  <a:srgbClr val="333333"/>
                </a:solidFill>
                <a:latin typeface="Meiryo"/>
                <a:ea typeface="Meiryo"/>
              </a:rPr>
              <a:t>AI</a:t>
            </a:r>
            <a:r>
              <a:rPr lang="ja-JP" altLang="en-US" sz="900">
                <a:solidFill>
                  <a:srgbClr val="333333"/>
                </a:solidFill>
                <a:latin typeface="Meiryo"/>
                <a:ea typeface="Meiryo"/>
              </a:rPr>
              <a:t>には、従来の監視では追いつけない。</a:t>
            </a:r>
          </a:p>
        </p:txBody>
      </p:sp>
      <p:sp>
        <p:nvSpPr>
          <p:cNvPr id="15" name="テキスト ボックス 14">
            <a:extLst>
              <a:ext uri="{FF2B5EF4-FFF2-40B4-BE49-F238E27FC236}">
                <a16:creationId xmlns:a16="http://schemas.microsoft.com/office/drawing/2014/main" id="{792A31B6-B072-474E-91D7-0C465D34ED43}"/>
              </a:ext>
            </a:extLst>
          </p:cNvPr>
          <p:cNvSpPr txBox="1"/>
          <p:nvPr/>
        </p:nvSpPr>
        <p:spPr>
          <a:xfrm>
            <a:off x="2717800" y="5588000"/>
            <a:ext cx="558800" cy="355600"/>
          </a:xfrm>
          <a:prstGeom prst="rect">
            <a:avLst/>
          </a:prstGeom>
          <a:noFill/>
        </p:spPr>
        <p:txBody>
          <a:bodyPr vertOverflow="overflow" vert="horz" wrap="square" rtlCol="0" anchor="t" anchorCtr="0">
            <a:noAutofit/>
          </a:bodyPr>
          <a:lstStyle/>
          <a:p>
            <a:pPr algn="l"/>
            <a:r>
              <a:rPr lang="en-US" altLang="ja-JP" b="1">
                <a:solidFill>
                  <a:srgbClr val="C8102E"/>
                </a:solidFill>
                <a:latin typeface="Meiryo"/>
                <a:ea typeface="Meiryo"/>
              </a:rPr>
              <a:t>02</a:t>
            </a:r>
            <a:endParaRPr lang="ja-JP" altLang="en-US" b="1">
              <a:solidFill>
                <a:srgbClr val="C8102E"/>
              </a:solidFill>
              <a:latin typeface="Meiryo"/>
              <a:ea typeface="Meiryo"/>
            </a:endParaRPr>
          </a:p>
        </p:txBody>
      </p:sp>
      <p:sp>
        <p:nvSpPr>
          <p:cNvPr id="16" name="テキスト ボックス 15">
            <a:extLst>
              <a:ext uri="{FF2B5EF4-FFF2-40B4-BE49-F238E27FC236}">
                <a16:creationId xmlns:a16="http://schemas.microsoft.com/office/drawing/2014/main" id="{B1FA54A4-0722-AC4F-AA55-646BF0459FA1}"/>
              </a:ext>
            </a:extLst>
          </p:cNvPr>
          <p:cNvSpPr txBox="1"/>
          <p:nvPr/>
        </p:nvSpPr>
        <p:spPr>
          <a:xfrm>
            <a:off x="3327400" y="5562600"/>
            <a:ext cx="3073400" cy="279400"/>
          </a:xfrm>
          <a:prstGeom prst="rect">
            <a:avLst/>
          </a:prstGeom>
          <a:noFill/>
        </p:spPr>
        <p:txBody>
          <a:bodyPr vertOverflow="overflow" vert="horz" wrap="square" rtlCol="0" anchor="t" anchorCtr="0">
            <a:noAutofit/>
          </a:bodyPr>
          <a:lstStyle/>
          <a:p>
            <a:pPr algn="l"/>
            <a:r>
              <a:rPr lang="ja-JP" altLang="en-US" sz="1300" b="1">
                <a:solidFill>
                  <a:srgbClr val="1B1F4E"/>
                </a:solidFill>
                <a:latin typeface="Meiryo"/>
                <a:ea typeface="Meiryo"/>
              </a:rPr>
              <a:t>シャドー</a:t>
            </a:r>
            <a:r>
              <a:rPr lang="en" altLang="ja-JP" sz="1300" b="1">
                <a:solidFill>
                  <a:srgbClr val="1B1F4E"/>
                </a:solidFill>
                <a:latin typeface="Meiryo"/>
                <a:ea typeface="Meiryo"/>
              </a:rPr>
              <a:t>AI</a:t>
            </a:r>
            <a:r>
              <a:rPr lang="ja-JP" altLang="en-US" sz="1300" b="1">
                <a:solidFill>
                  <a:srgbClr val="1B1F4E"/>
                </a:solidFill>
                <a:latin typeface="Meiryo"/>
                <a:ea typeface="Meiryo"/>
              </a:rPr>
              <a:t>による管理不全</a:t>
            </a:r>
          </a:p>
        </p:txBody>
      </p:sp>
      <p:sp>
        <p:nvSpPr>
          <p:cNvPr id="17" name="テキスト ボックス 16">
            <a:extLst>
              <a:ext uri="{FF2B5EF4-FFF2-40B4-BE49-F238E27FC236}">
                <a16:creationId xmlns:a16="http://schemas.microsoft.com/office/drawing/2014/main" id="{088691F3-11F0-B448-B298-DFBACFF60BA6}"/>
              </a:ext>
            </a:extLst>
          </p:cNvPr>
          <p:cNvSpPr txBox="1"/>
          <p:nvPr/>
        </p:nvSpPr>
        <p:spPr>
          <a:xfrm>
            <a:off x="3327400" y="5867400"/>
            <a:ext cx="3073400" cy="457200"/>
          </a:xfrm>
          <a:prstGeom prst="rect">
            <a:avLst/>
          </a:prstGeom>
          <a:noFill/>
        </p:spPr>
        <p:txBody>
          <a:bodyPr vertOverflow="overflow" vert="horz" wrap="square" rtlCol="0" anchor="t" anchorCtr="0">
            <a:noAutofit/>
          </a:bodyPr>
          <a:lstStyle/>
          <a:p>
            <a:pPr algn="l"/>
            <a:r>
              <a:rPr lang="en" altLang="ja-JP" sz="900">
                <a:solidFill>
                  <a:srgbClr val="333333"/>
                </a:solidFill>
                <a:latin typeface="Meiryo"/>
                <a:ea typeface="Meiryo"/>
              </a:rPr>
              <a:t>IT</a:t>
            </a:r>
            <a:r>
              <a:rPr lang="ja-JP" altLang="en-US" sz="900">
                <a:solidFill>
                  <a:srgbClr val="333333"/>
                </a:solidFill>
                <a:latin typeface="Meiryo"/>
                <a:ea typeface="Meiryo"/>
              </a:rPr>
              <a:t>部門が把握できない現場の</a:t>
            </a:r>
            <a:r>
              <a:rPr lang="en" altLang="ja-JP" sz="900">
                <a:solidFill>
                  <a:srgbClr val="333333"/>
                </a:solidFill>
                <a:latin typeface="Meiryo"/>
                <a:ea typeface="Meiryo"/>
              </a:rPr>
              <a:t>AI</a:t>
            </a:r>
            <a:r>
              <a:rPr lang="ja-JP" altLang="en-US" sz="900">
                <a:solidFill>
                  <a:srgbClr val="333333"/>
                </a:solidFill>
                <a:latin typeface="Meiryo"/>
                <a:ea typeface="Meiryo"/>
              </a:rPr>
              <a:t>利用が、組織の盲点になる。</a:t>
            </a:r>
          </a:p>
        </p:txBody>
      </p:sp>
      <p:sp>
        <p:nvSpPr>
          <p:cNvPr id="18" name="テキスト ボックス 17">
            <a:extLst>
              <a:ext uri="{FF2B5EF4-FFF2-40B4-BE49-F238E27FC236}">
                <a16:creationId xmlns:a16="http://schemas.microsoft.com/office/drawing/2014/main" id="{A3BD7B88-B1C4-8E42-A566-02EAEE4C7533}"/>
              </a:ext>
            </a:extLst>
          </p:cNvPr>
          <p:cNvSpPr txBox="1"/>
          <p:nvPr/>
        </p:nvSpPr>
        <p:spPr>
          <a:xfrm>
            <a:off x="2717800" y="6426200"/>
            <a:ext cx="558800" cy="355600"/>
          </a:xfrm>
          <a:prstGeom prst="rect">
            <a:avLst/>
          </a:prstGeom>
          <a:noFill/>
        </p:spPr>
        <p:txBody>
          <a:bodyPr vertOverflow="overflow" vert="horz" wrap="square" rtlCol="0" anchor="t" anchorCtr="0">
            <a:noAutofit/>
          </a:bodyPr>
          <a:lstStyle/>
          <a:p>
            <a:pPr algn="l"/>
            <a:r>
              <a:rPr lang="en-US" altLang="ja-JP" b="1">
                <a:solidFill>
                  <a:srgbClr val="C8102E"/>
                </a:solidFill>
                <a:latin typeface="Meiryo"/>
                <a:ea typeface="Meiryo"/>
              </a:rPr>
              <a:t>03</a:t>
            </a:r>
            <a:endParaRPr lang="ja-JP" altLang="en-US" b="1">
              <a:solidFill>
                <a:srgbClr val="C8102E"/>
              </a:solidFill>
              <a:latin typeface="Meiryo"/>
              <a:ea typeface="Meiryo"/>
            </a:endParaRPr>
          </a:p>
        </p:txBody>
      </p:sp>
      <p:sp>
        <p:nvSpPr>
          <p:cNvPr id="19" name="テキスト ボックス 18">
            <a:extLst>
              <a:ext uri="{FF2B5EF4-FFF2-40B4-BE49-F238E27FC236}">
                <a16:creationId xmlns:a16="http://schemas.microsoft.com/office/drawing/2014/main" id="{F52FEB09-802F-C247-AFE5-B1B8169CD74E}"/>
              </a:ext>
            </a:extLst>
          </p:cNvPr>
          <p:cNvSpPr txBox="1"/>
          <p:nvPr/>
        </p:nvSpPr>
        <p:spPr>
          <a:xfrm>
            <a:off x="3327400" y="6400800"/>
            <a:ext cx="3073400" cy="279400"/>
          </a:xfrm>
          <a:prstGeom prst="rect">
            <a:avLst/>
          </a:prstGeom>
          <a:noFill/>
        </p:spPr>
        <p:txBody>
          <a:bodyPr vertOverflow="overflow" vert="horz" wrap="square" rtlCol="0" anchor="t" anchorCtr="0">
            <a:noAutofit/>
          </a:bodyPr>
          <a:lstStyle/>
          <a:p>
            <a:pPr algn="l"/>
            <a:r>
              <a:rPr lang="ja-JP" altLang="en-US" sz="1300" b="1">
                <a:solidFill>
                  <a:srgbClr val="1B1F4E"/>
                </a:solidFill>
                <a:latin typeface="Meiryo"/>
                <a:ea typeface="Meiryo"/>
              </a:rPr>
              <a:t>新たな脆弱性の出現</a:t>
            </a:r>
          </a:p>
        </p:txBody>
      </p:sp>
      <p:sp>
        <p:nvSpPr>
          <p:cNvPr id="20" name="テキスト ボックス 19">
            <a:extLst>
              <a:ext uri="{FF2B5EF4-FFF2-40B4-BE49-F238E27FC236}">
                <a16:creationId xmlns:a16="http://schemas.microsoft.com/office/drawing/2014/main" id="{66D73014-2F0A-2045-A5B7-018D1D47B5D0}"/>
              </a:ext>
            </a:extLst>
          </p:cNvPr>
          <p:cNvSpPr txBox="1"/>
          <p:nvPr/>
        </p:nvSpPr>
        <p:spPr>
          <a:xfrm>
            <a:off x="3327400" y="6705600"/>
            <a:ext cx="3073400" cy="4572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プロンプトインジェクションは </a:t>
            </a:r>
            <a:r>
              <a:rPr lang="en" altLang="ja-JP" sz="900">
                <a:solidFill>
                  <a:srgbClr val="333333"/>
                </a:solidFill>
                <a:latin typeface="Meiryo"/>
                <a:ea typeface="Meiryo"/>
              </a:rPr>
              <a:t>OWASP Top 10 for LLM 2025 </a:t>
            </a:r>
            <a:r>
              <a:rPr lang="ja-JP" altLang="en-US" sz="900">
                <a:solidFill>
                  <a:srgbClr val="333333"/>
                </a:solidFill>
                <a:latin typeface="Meiryo"/>
                <a:ea typeface="Meiryo"/>
              </a:rPr>
              <a:t>の最上位。</a:t>
            </a:r>
          </a:p>
        </p:txBody>
      </p:sp>
      <p:sp>
        <p:nvSpPr>
          <p:cNvPr id="21" name="テキスト ボックス 20">
            <a:extLst>
              <a:ext uri="{FF2B5EF4-FFF2-40B4-BE49-F238E27FC236}">
                <a16:creationId xmlns:a16="http://schemas.microsoft.com/office/drawing/2014/main" id="{82C3C3FB-F31C-6E41-A1C6-96C999BC2531}"/>
              </a:ext>
            </a:extLst>
          </p:cNvPr>
          <p:cNvSpPr txBox="1"/>
          <p:nvPr/>
        </p:nvSpPr>
        <p:spPr>
          <a:xfrm>
            <a:off x="2717800" y="7518400"/>
            <a:ext cx="3683000" cy="381000"/>
          </a:xfrm>
          <a:prstGeom prst="rect">
            <a:avLst/>
          </a:prstGeom>
          <a:noFill/>
        </p:spPr>
        <p:txBody>
          <a:bodyPr vertOverflow="overflow" vert="horz" wrap="square" rtlCol="0" anchor="t" anchorCtr="0">
            <a:noAutofit/>
          </a:bodyPr>
          <a:lstStyle/>
          <a:p>
            <a:pPr algn="l"/>
            <a:r>
              <a:rPr lang="ja-JP" altLang="en-US" sz="2000" b="1">
                <a:solidFill>
                  <a:srgbClr val="1B1F4E"/>
                </a:solidFill>
                <a:latin typeface="Meiryo"/>
                <a:ea typeface="Meiryo"/>
              </a:rPr>
              <a:t>なぜ、</a:t>
            </a:r>
            <a:r>
              <a:rPr lang="en" altLang="ja-JP" sz="2000" b="1">
                <a:solidFill>
                  <a:srgbClr val="1B1F4E"/>
                </a:solidFill>
                <a:latin typeface="Meiryo"/>
                <a:ea typeface="Meiryo"/>
              </a:rPr>
              <a:t>WitnessAI</a:t>
            </a:r>
            <a:r>
              <a:rPr lang="ja-JP" altLang="en-US" sz="2000" b="1">
                <a:solidFill>
                  <a:srgbClr val="1B1F4E"/>
                </a:solidFill>
                <a:latin typeface="Meiryo"/>
                <a:ea typeface="Meiryo"/>
              </a:rPr>
              <a:t>なのか。</a:t>
            </a:r>
          </a:p>
        </p:txBody>
      </p:sp>
      <p:sp>
        <p:nvSpPr>
          <p:cNvPr id="22" name="テキスト ボックス 21">
            <a:extLst>
              <a:ext uri="{FF2B5EF4-FFF2-40B4-BE49-F238E27FC236}">
                <a16:creationId xmlns:a16="http://schemas.microsoft.com/office/drawing/2014/main" id="{729FA594-0219-2F4B-95B6-A7A16B9FAED9}"/>
              </a:ext>
            </a:extLst>
          </p:cNvPr>
          <p:cNvSpPr txBox="1"/>
          <p:nvPr/>
        </p:nvSpPr>
        <p:spPr>
          <a:xfrm>
            <a:off x="2717800" y="7975600"/>
            <a:ext cx="3683000" cy="6350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エージェントレスであらゆる</a:t>
            </a:r>
            <a:r>
              <a:rPr lang="en" altLang="ja-JP" sz="950">
                <a:solidFill>
                  <a:srgbClr val="333333"/>
                </a:solidFill>
                <a:latin typeface="Meiryo"/>
                <a:ea typeface="Meiryo"/>
              </a:rPr>
              <a:t>AI</a:t>
            </a:r>
            <a:r>
              <a:rPr lang="ja-JP" altLang="en-US" sz="950">
                <a:solidFill>
                  <a:srgbClr val="333333"/>
                </a:solidFill>
                <a:latin typeface="Meiryo"/>
                <a:ea typeface="Meiryo"/>
              </a:rPr>
              <a:t>利用を仲介。可視化・入力制御・ポリシー統制を自動で適用します。</a:t>
            </a:r>
          </a:p>
        </p:txBody>
      </p:sp>
    </p:spTree>
    <p:extLst>
      <p:ext uri="{BB962C8B-B14F-4D97-AF65-F5344CB8AC3E}">
        <p14:creationId xmlns:p14="http://schemas.microsoft.com/office/powerpoint/2010/main" val="2041885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E63FEB2-3828-7249-F64A-D05E750B3669}"/>
              </a:ext>
            </a:extLst>
          </p:cNvPr>
          <p:cNvPicPr>
            <a:picLocks noChangeAspect="1"/>
          </p:cNvPicPr>
          <p:nvPr/>
        </p:nvPicPr>
        <p:blipFill rotWithShape="1">
          <a:blip r:embed="rId2"/>
          <a:srcRect t="3785" r="3785"/>
          <a:stretch/>
        </p:blipFill>
        <p:spPr>
          <a:xfrm>
            <a:off x="1904999" y="0"/>
            <a:ext cx="4953001" cy="3874524"/>
          </a:xfrm>
          <a:prstGeom prst="rect">
            <a:avLst/>
          </a:prstGeom>
        </p:spPr>
      </p:pic>
      <p:sp>
        <p:nvSpPr>
          <p:cNvPr id="4" name="正方形/長方形 3">
            <a:extLst>
              <a:ext uri="{FF2B5EF4-FFF2-40B4-BE49-F238E27FC236}">
                <a16:creationId xmlns:a16="http://schemas.microsoft.com/office/drawing/2014/main" id="{91AFB51F-3CEB-9E42-A294-CBC56ABEDFC9}"/>
              </a:ext>
            </a:extLst>
          </p:cNvPr>
          <p:cNvSpPr/>
          <p:nvPr/>
        </p:nvSpPr>
        <p:spPr>
          <a:xfrm>
            <a:off x="0" y="0"/>
            <a:ext cx="2413000" cy="9906000"/>
          </a:xfrm>
          <a:prstGeom prst="rect">
            <a:avLst/>
          </a:prstGeom>
          <a:solidFill>
            <a:srgbClr val="1C2B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平行四辺形 4">
            <a:extLst>
              <a:ext uri="{FF2B5EF4-FFF2-40B4-BE49-F238E27FC236}">
                <a16:creationId xmlns:a16="http://schemas.microsoft.com/office/drawing/2014/main" id="{86692623-3E25-6541-A9D9-3F7F637CC13B}"/>
              </a:ext>
            </a:extLst>
          </p:cNvPr>
          <p:cNvSpPr/>
          <p:nvPr/>
        </p:nvSpPr>
        <p:spPr>
          <a:xfrm>
            <a:off x="1219200" y="3403600"/>
            <a:ext cx="2540000" cy="5588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6AA98C7D-ACA3-D94A-8FB0-2826A49CB62D}"/>
              </a:ext>
            </a:extLst>
          </p:cNvPr>
          <p:cNvSpPr txBox="1"/>
          <p:nvPr/>
        </p:nvSpPr>
        <p:spPr>
          <a:xfrm>
            <a:off x="203200" y="3467100"/>
            <a:ext cx="1397000" cy="1143000"/>
          </a:xfrm>
          <a:prstGeom prst="rect">
            <a:avLst/>
          </a:prstGeom>
          <a:noFill/>
        </p:spPr>
        <p:txBody>
          <a:bodyPr vertOverflow="overflow" vert="horz" wrap="none" rtlCol="0" anchor="t" anchorCtr="0">
            <a:noAutofit/>
          </a:bodyPr>
          <a:lstStyle/>
          <a:p>
            <a:pPr algn="l"/>
            <a:r>
              <a:rPr lang="ja-JP" altLang="en-US" sz="7600" b="1">
                <a:solidFill>
                  <a:srgbClr val="F7B815"/>
                </a:solidFill>
                <a:latin typeface="Meiryo"/>
                <a:ea typeface="Meiryo"/>
              </a:rPr>
              <a:t>“</a:t>
            </a:r>
          </a:p>
        </p:txBody>
      </p:sp>
      <p:sp>
        <p:nvSpPr>
          <p:cNvPr id="7" name="テキスト ボックス 6">
            <a:extLst>
              <a:ext uri="{FF2B5EF4-FFF2-40B4-BE49-F238E27FC236}">
                <a16:creationId xmlns:a16="http://schemas.microsoft.com/office/drawing/2014/main" id="{353904B2-0B07-4441-B919-05D992AF7D8D}"/>
              </a:ext>
            </a:extLst>
          </p:cNvPr>
          <p:cNvSpPr txBox="1"/>
          <p:nvPr/>
        </p:nvSpPr>
        <p:spPr>
          <a:xfrm>
            <a:off x="152400" y="4608963"/>
            <a:ext cx="2057400" cy="863600"/>
          </a:xfrm>
          <a:prstGeom prst="rect">
            <a:avLst/>
          </a:prstGeom>
          <a:noFill/>
        </p:spPr>
        <p:txBody>
          <a:bodyPr vertOverflow="overflow" vert="horz" wrap="square" rtlCol="0" anchor="t" anchorCtr="0">
            <a:noAutofit/>
          </a:bodyPr>
          <a:lstStyle/>
          <a:p>
            <a:pPr algn="l"/>
            <a:r>
              <a:rPr lang="en" altLang="ja-JP" sz="2000" b="1" dirty="0">
                <a:solidFill>
                  <a:srgbClr val="FFFFFF"/>
                </a:solidFill>
                <a:latin typeface="Meiryo"/>
                <a:ea typeface="Meiryo"/>
              </a:rPr>
              <a:t>AI</a:t>
            </a:r>
            <a:r>
              <a:rPr lang="ja-JP" altLang="en-US" sz="2000" b="1">
                <a:solidFill>
                  <a:srgbClr val="FFFFFF"/>
                </a:solidFill>
                <a:latin typeface="Meiryo"/>
                <a:ea typeface="Meiryo"/>
              </a:rPr>
              <a:t>の利用を、
止めずに、守る。</a:t>
            </a:r>
          </a:p>
        </p:txBody>
      </p:sp>
      <p:sp>
        <p:nvSpPr>
          <p:cNvPr id="8" name="テキスト ボックス 7">
            <a:extLst>
              <a:ext uri="{FF2B5EF4-FFF2-40B4-BE49-F238E27FC236}">
                <a16:creationId xmlns:a16="http://schemas.microsoft.com/office/drawing/2014/main" id="{0120EFC2-C951-A34A-B7A2-2100D0216324}"/>
              </a:ext>
            </a:extLst>
          </p:cNvPr>
          <p:cNvSpPr txBox="1"/>
          <p:nvPr/>
        </p:nvSpPr>
        <p:spPr>
          <a:xfrm>
            <a:off x="165669" y="5309624"/>
            <a:ext cx="1930400" cy="1397000"/>
          </a:xfrm>
          <a:prstGeom prst="rect">
            <a:avLst/>
          </a:prstGeom>
          <a:noFill/>
        </p:spPr>
        <p:txBody>
          <a:bodyPr vertOverflow="overflow" vert="horz" wrap="square" rtlCol="0" anchor="t" anchorCtr="0">
            <a:noAutofit/>
          </a:bodyPr>
          <a:lstStyle/>
          <a:p>
            <a:pPr algn="l"/>
            <a:r>
              <a:rPr lang="en-US" altLang="ja-JP" sz="1100" dirty="0">
                <a:solidFill>
                  <a:srgbClr val="BFD0DE"/>
                </a:solidFill>
                <a:latin typeface="Meiryo"/>
                <a:ea typeface="Meiryo"/>
              </a:rPr>
              <a:t>Witness AI</a:t>
            </a:r>
            <a:r>
              <a:rPr lang="ja-JP" altLang="en-US" sz="1100">
                <a:solidFill>
                  <a:srgbClr val="BFD0DE"/>
                </a:solidFill>
                <a:latin typeface="Meiryo"/>
                <a:ea typeface="Meiryo"/>
              </a:rPr>
              <a:t>は</a:t>
            </a:r>
            <a:endParaRPr lang="en-US" altLang="ja-JP" sz="1100" dirty="0">
              <a:solidFill>
                <a:srgbClr val="BFD0DE"/>
              </a:solidFill>
              <a:latin typeface="Meiryo"/>
              <a:ea typeface="Meiryo"/>
            </a:endParaRPr>
          </a:p>
          <a:p>
            <a:pPr algn="l"/>
            <a:r>
              <a:rPr lang="ja-JP" altLang="en-US" sz="1100">
                <a:solidFill>
                  <a:srgbClr val="BFD0DE"/>
                </a:solidFill>
                <a:latin typeface="Meiryo"/>
                <a:ea typeface="Meiryo"/>
              </a:rPr>
              <a:t>ユーザと</a:t>
            </a:r>
            <a:r>
              <a:rPr lang="en" altLang="ja-JP" sz="1100" dirty="0">
                <a:solidFill>
                  <a:srgbClr val="BFD0DE"/>
                </a:solidFill>
                <a:latin typeface="Meiryo"/>
                <a:ea typeface="Meiryo"/>
              </a:rPr>
              <a:t>AI</a:t>
            </a:r>
            <a:r>
              <a:rPr lang="ja-JP" altLang="en-US" sz="1100">
                <a:solidFill>
                  <a:srgbClr val="BFD0DE"/>
                </a:solidFill>
                <a:latin typeface="Meiryo"/>
                <a:ea typeface="Meiryo"/>
              </a:rPr>
              <a:t>の間に立つ</a:t>
            </a:r>
            <a:endParaRPr lang="en-US" altLang="ja-JP" sz="1100" dirty="0">
              <a:solidFill>
                <a:srgbClr val="BFD0DE"/>
              </a:solidFill>
              <a:latin typeface="Meiryo"/>
              <a:ea typeface="Meiryo"/>
            </a:endParaRPr>
          </a:p>
          <a:p>
            <a:pPr algn="l"/>
            <a:r>
              <a:rPr lang="ja-JP" altLang="en-US" sz="1100">
                <a:solidFill>
                  <a:srgbClr val="BFD0DE"/>
                </a:solidFill>
                <a:latin typeface="Meiryo"/>
                <a:ea typeface="Meiryo"/>
              </a:rPr>
              <a:t>「</a:t>
            </a:r>
            <a:r>
              <a:rPr lang="en" altLang="ja-JP" sz="1100" dirty="0">
                <a:solidFill>
                  <a:srgbClr val="BFD0DE"/>
                </a:solidFill>
                <a:latin typeface="Meiryo"/>
                <a:ea typeface="Meiryo"/>
              </a:rPr>
              <a:t>AI Security Gateway</a:t>
            </a:r>
            <a:r>
              <a:rPr lang="ja-JP" altLang="en" sz="1100">
                <a:solidFill>
                  <a:srgbClr val="BFD0DE"/>
                </a:solidFill>
                <a:latin typeface="Meiryo"/>
                <a:ea typeface="Meiryo"/>
              </a:rPr>
              <a:t>」</a:t>
            </a:r>
            <a:r>
              <a:rPr lang="ja-JP" altLang="en-US" sz="1100">
                <a:solidFill>
                  <a:srgbClr val="BFD0DE"/>
                </a:solidFill>
                <a:latin typeface="Meiryo"/>
                <a:ea typeface="Meiryo"/>
              </a:rPr>
              <a:t>生成</a:t>
            </a:r>
            <a:r>
              <a:rPr lang="en" altLang="ja-JP" sz="1100" dirty="0">
                <a:solidFill>
                  <a:srgbClr val="BFD0DE"/>
                </a:solidFill>
                <a:latin typeface="Meiryo"/>
                <a:ea typeface="Meiryo"/>
              </a:rPr>
              <a:t>AI</a:t>
            </a:r>
            <a:r>
              <a:rPr lang="ja-JP" altLang="en-US" sz="1100">
                <a:solidFill>
                  <a:srgbClr val="BFD0DE"/>
                </a:solidFill>
                <a:latin typeface="Meiryo"/>
                <a:ea typeface="Meiryo"/>
              </a:rPr>
              <a:t>活用の安全な拡大を支えます。</a:t>
            </a:r>
          </a:p>
        </p:txBody>
      </p:sp>
      <p:sp>
        <p:nvSpPr>
          <p:cNvPr id="11" name="テキスト ボックス 10">
            <a:extLst>
              <a:ext uri="{FF2B5EF4-FFF2-40B4-BE49-F238E27FC236}">
                <a16:creationId xmlns:a16="http://schemas.microsoft.com/office/drawing/2014/main" id="{633662A6-F031-6A47-B7DE-6A2F7F92DFF4}"/>
              </a:ext>
            </a:extLst>
          </p:cNvPr>
          <p:cNvSpPr txBox="1"/>
          <p:nvPr/>
        </p:nvSpPr>
        <p:spPr>
          <a:xfrm>
            <a:off x="2717800" y="4140200"/>
            <a:ext cx="3683000" cy="406400"/>
          </a:xfrm>
          <a:prstGeom prst="rect">
            <a:avLst/>
          </a:prstGeom>
          <a:noFill/>
        </p:spPr>
        <p:txBody>
          <a:bodyPr vertOverflow="overflow" vert="horz" wrap="square" rtlCol="0" anchor="t" anchorCtr="0">
            <a:noAutofit/>
          </a:bodyPr>
          <a:lstStyle/>
          <a:p>
            <a:pPr algn="l"/>
            <a:r>
              <a:rPr lang="ja-JP" altLang="en-US" sz="2100" b="1">
                <a:solidFill>
                  <a:srgbClr val="1C2B4A"/>
                </a:solidFill>
                <a:latin typeface="Meiryo"/>
                <a:ea typeface="Meiryo"/>
              </a:rPr>
              <a:t>なぜ、</a:t>
            </a:r>
            <a:r>
              <a:rPr lang="en" altLang="ja-JP" sz="2100" b="1">
                <a:solidFill>
                  <a:srgbClr val="1C2B4A"/>
                </a:solidFill>
                <a:latin typeface="Meiryo"/>
                <a:ea typeface="Meiryo"/>
              </a:rPr>
              <a:t>AI</a:t>
            </a:r>
            <a:r>
              <a:rPr lang="ja-JP" altLang="en-US" sz="2100" b="1">
                <a:solidFill>
                  <a:srgbClr val="1C2B4A"/>
                </a:solidFill>
                <a:latin typeface="Meiryo"/>
                <a:ea typeface="Meiryo"/>
              </a:rPr>
              <a:t>ガバナンスか。</a:t>
            </a:r>
          </a:p>
        </p:txBody>
      </p:sp>
      <p:sp>
        <p:nvSpPr>
          <p:cNvPr id="13" name="テキスト ボックス 12">
            <a:extLst>
              <a:ext uri="{FF2B5EF4-FFF2-40B4-BE49-F238E27FC236}">
                <a16:creationId xmlns:a16="http://schemas.microsoft.com/office/drawing/2014/main" id="{037E6103-941E-EC42-B5C0-921D7D748A64}"/>
              </a:ext>
            </a:extLst>
          </p:cNvPr>
          <p:cNvSpPr txBox="1"/>
          <p:nvPr/>
        </p:nvSpPr>
        <p:spPr>
          <a:xfrm>
            <a:off x="2717800" y="4738124"/>
            <a:ext cx="584200" cy="355600"/>
          </a:xfrm>
          <a:prstGeom prst="rect">
            <a:avLst/>
          </a:prstGeom>
          <a:noFill/>
        </p:spPr>
        <p:txBody>
          <a:bodyPr vertOverflow="overflow" vert="horz" wrap="square" rtlCol="0" anchor="ctr" anchorCtr="0">
            <a:noAutofit/>
          </a:bodyPr>
          <a:lstStyle/>
          <a:p>
            <a:r>
              <a:rPr lang="en-US" altLang="ja-JP" b="1" dirty="0">
                <a:solidFill>
                  <a:srgbClr val="F7B815"/>
                </a:solidFill>
                <a:latin typeface="Meiryo"/>
                <a:ea typeface="Meiryo"/>
              </a:rPr>
              <a:t>01</a:t>
            </a:r>
            <a:endParaRPr lang="ja-JP" altLang="en-US" b="1">
              <a:solidFill>
                <a:srgbClr val="F7B815"/>
              </a:solidFill>
              <a:latin typeface="Meiryo"/>
              <a:ea typeface="Meiryo"/>
            </a:endParaRPr>
          </a:p>
        </p:txBody>
      </p:sp>
      <p:sp>
        <p:nvSpPr>
          <p:cNvPr id="14" name="テキスト ボックス 13">
            <a:extLst>
              <a:ext uri="{FF2B5EF4-FFF2-40B4-BE49-F238E27FC236}">
                <a16:creationId xmlns:a16="http://schemas.microsoft.com/office/drawing/2014/main" id="{DD60C55A-8F84-B446-839E-F95A9230CAF0}"/>
              </a:ext>
            </a:extLst>
          </p:cNvPr>
          <p:cNvSpPr txBox="1"/>
          <p:nvPr/>
        </p:nvSpPr>
        <p:spPr>
          <a:xfrm>
            <a:off x="3276600" y="47498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自律型エージェントの台頭</a:t>
            </a:r>
          </a:p>
        </p:txBody>
      </p:sp>
      <p:sp>
        <p:nvSpPr>
          <p:cNvPr id="15" name="テキスト ボックス 14">
            <a:extLst>
              <a:ext uri="{FF2B5EF4-FFF2-40B4-BE49-F238E27FC236}">
                <a16:creationId xmlns:a16="http://schemas.microsoft.com/office/drawing/2014/main" id="{9EFFCCCB-0878-0E4D-9806-4758D4092707}"/>
              </a:ext>
            </a:extLst>
          </p:cNvPr>
          <p:cNvSpPr txBox="1"/>
          <p:nvPr/>
        </p:nvSpPr>
        <p:spPr>
          <a:xfrm>
            <a:off x="3276600" y="5018741"/>
            <a:ext cx="3124200" cy="457200"/>
          </a:xfrm>
          <a:prstGeom prst="rect">
            <a:avLst/>
          </a:prstGeom>
          <a:noFill/>
        </p:spPr>
        <p:txBody>
          <a:bodyPr vertOverflow="overflow" vert="horz" wrap="square" rtlCol="0" anchor="t" anchorCtr="0">
            <a:noAutofit/>
          </a:bodyPr>
          <a:lstStyle/>
          <a:p>
            <a:pPr algn="l"/>
            <a:r>
              <a:rPr lang="en" altLang="ja-JP" sz="1000" dirty="0">
                <a:solidFill>
                  <a:srgbClr val="333333"/>
                </a:solidFill>
                <a:latin typeface="Meiryo"/>
                <a:ea typeface="Meiryo"/>
              </a:rPr>
              <a:t>AI</a:t>
            </a:r>
            <a:r>
              <a:rPr lang="ja-JP" altLang="en-US" sz="1000">
                <a:solidFill>
                  <a:srgbClr val="333333"/>
                </a:solidFill>
                <a:latin typeface="Meiryo"/>
                <a:ea typeface="Meiryo"/>
              </a:rPr>
              <a:t>が外部</a:t>
            </a:r>
            <a:r>
              <a:rPr lang="en" altLang="ja-JP" sz="1000" dirty="0">
                <a:solidFill>
                  <a:srgbClr val="333333"/>
                </a:solidFill>
                <a:latin typeface="Meiryo"/>
                <a:ea typeface="Meiryo"/>
              </a:rPr>
              <a:t>API</a:t>
            </a:r>
            <a:r>
              <a:rPr lang="ja-JP" altLang="en-US" sz="1000">
                <a:solidFill>
                  <a:srgbClr val="333333"/>
                </a:solidFill>
                <a:latin typeface="Meiryo"/>
                <a:ea typeface="Meiryo"/>
              </a:rPr>
              <a:t>や</a:t>
            </a:r>
            <a:r>
              <a:rPr lang="en" altLang="ja-JP" sz="1000" dirty="0">
                <a:solidFill>
                  <a:srgbClr val="333333"/>
                </a:solidFill>
                <a:latin typeface="Meiryo"/>
                <a:ea typeface="Meiryo"/>
              </a:rPr>
              <a:t>DB</a:t>
            </a:r>
            <a:r>
              <a:rPr lang="ja-JP" altLang="en-US" sz="1000">
                <a:solidFill>
                  <a:srgbClr val="333333"/>
                </a:solidFill>
                <a:latin typeface="Meiryo"/>
                <a:ea typeface="Meiryo"/>
              </a:rPr>
              <a:t>を自律操作する時代。</a:t>
            </a:r>
            <a:endParaRPr lang="en-US" altLang="ja-JP" sz="1000" dirty="0">
              <a:solidFill>
                <a:srgbClr val="333333"/>
              </a:solidFill>
              <a:latin typeface="Meiryo"/>
              <a:ea typeface="Meiryo"/>
            </a:endParaRPr>
          </a:p>
          <a:p>
            <a:pPr algn="l"/>
            <a:r>
              <a:rPr lang="ja-JP" altLang="en-US" sz="1000">
                <a:solidFill>
                  <a:srgbClr val="333333"/>
                </a:solidFill>
                <a:latin typeface="Meiryo"/>
                <a:ea typeface="Meiryo"/>
              </a:rPr>
              <a:t>従来の監視では統制が取れない。</a:t>
            </a:r>
          </a:p>
        </p:txBody>
      </p:sp>
      <p:sp>
        <p:nvSpPr>
          <p:cNvPr id="16" name="テキスト ボックス 15">
            <a:extLst>
              <a:ext uri="{FF2B5EF4-FFF2-40B4-BE49-F238E27FC236}">
                <a16:creationId xmlns:a16="http://schemas.microsoft.com/office/drawing/2014/main" id="{160AD626-BD66-A346-933B-9712C514DA02}"/>
              </a:ext>
            </a:extLst>
          </p:cNvPr>
          <p:cNvSpPr txBox="1"/>
          <p:nvPr/>
        </p:nvSpPr>
        <p:spPr>
          <a:xfrm>
            <a:off x="2717800" y="55626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02</a:t>
            </a:r>
            <a:endParaRPr lang="ja-JP" altLang="en-US" b="1">
              <a:solidFill>
                <a:srgbClr val="F7B815"/>
              </a:solidFill>
              <a:latin typeface="Meiryo"/>
              <a:ea typeface="Meiryo"/>
            </a:endParaRPr>
          </a:p>
        </p:txBody>
      </p:sp>
      <p:sp>
        <p:nvSpPr>
          <p:cNvPr id="17" name="テキスト ボックス 16">
            <a:extLst>
              <a:ext uri="{FF2B5EF4-FFF2-40B4-BE49-F238E27FC236}">
                <a16:creationId xmlns:a16="http://schemas.microsoft.com/office/drawing/2014/main" id="{1A95332C-7384-A74D-AE61-607A482CB639}"/>
              </a:ext>
            </a:extLst>
          </p:cNvPr>
          <p:cNvSpPr txBox="1"/>
          <p:nvPr/>
        </p:nvSpPr>
        <p:spPr>
          <a:xfrm>
            <a:off x="3276600" y="55880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シャドー</a:t>
            </a:r>
            <a:r>
              <a:rPr lang="en" altLang="ja-JP" sz="1300" b="1" dirty="0">
                <a:solidFill>
                  <a:srgbClr val="1C2B4A"/>
                </a:solidFill>
                <a:latin typeface="Meiryo"/>
                <a:ea typeface="Meiryo"/>
              </a:rPr>
              <a:t>AI</a:t>
            </a:r>
            <a:r>
              <a:rPr lang="ja-JP" altLang="en-US" sz="1300" b="1">
                <a:solidFill>
                  <a:srgbClr val="1C2B4A"/>
                </a:solidFill>
                <a:latin typeface="Meiryo"/>
                <a:ea typeface="Meiryo"/>
              </a:rPr>
              <a:t>による管理不全</a:t>
            </a:r>
          </a:p>
        </p:txBody>
      </p:sp>
      <p:sp>
        <p:nvSpPr>
          <p:cNvPr id="18" name="テキスト ボックス 17">
            <a:extLst>
              <a:ext uri="{FF2B5EF4-FFF2-40B4-BE49-F238E27FC236}">
                <a16:creationId xmlns:a16="http://schemas.microsoft.com/office/drawing/2014/main" id="{AF9B7078-0E0C-0447-88CB-B75A83B187DD}"/>
              </a:ext>
            </a:extLst>
          </p:cNvPr>
          <p:cNvSpPr txBox="1"/>
          <p:nvPr/>
        </p:nvSpPr>
        <p:spPr>
          <a:xfrm>
            <a:off x="3276600" y="5892800"/>
            <a:ext cx="3124200" cy="457200"/>
          </a:xfrm>
          <a:prstGeom prst="rect">
            <a:avLst/>
          </a:prstGeom>
          <a:noFill/>
        </p:spPr>
        <p:txBody>
          <a:bodyPr vertOverflow="overflow" vert="horz" wrap="square" rtlCol="0" anchor="t" anchorCtr="0">
            <a:noAutofit/>
          </a:bodyPr>
          <a:lstStyle/>
          <a:p>
            <a:pPr algn="l"/>
            <a:r>
              <a:rPr lang="en" altLang="ja-JP" sz="900" dirty="0">
                <a:solidFill>
                  <a:srgbClr val="333333"/>
                </a:solidFill>
                <a:latin typeface="Meiryo"/>
                <a:ea typeface="Meiryo"/>
              </a:rPr>
              <a:t>IT</a:t>
            </a:r>
            <a:r>
              <a:rPr lang="ja-JP" altLang="en-US" sz="900">
                <a:solidFill>
                  <a:srgbClr val="333333"/>
                </a:solidFill>
                <a:latin typeface="Meiryo"/>
                <a:ea typeface="Meiryo"/>
              </a:rPr>
              <a:t>部門が把握できない</a:t>
            </a:r>
            <a:r>
              <a:rPr lang="en" altLang="ja-JP" sz="900" dirty="0">
                <a:solidFill>
                  <a:srgbClr val="333333"/>
                </a:solidFill>
                <a:latin typeface="Meiryo"/>
                <a:ea typeface="Meiryo"/>
              </a:rPr>
              <a:t>AI</a:t>
            </a:r>
            <a:r>
              <a:rPr lang="ja-JP" altLang="en-US" sz="900">
                <a:solidFill>
                  <a:srgbClr val="333333"/>
                </a:solidFill>
                <a:latin typeface="Meiryo"/>
                <a:ea typeface="Meiryo"/>
              </a:rPr>
              <a:t>利用が、組織のセキュリティの盲点に。</a:t>
            </a:r>
          </a:p>
        </p:txBody>
      </p:sp>
      <p:sp>
        <p:nvSpPr>
          <p:cNvPr id="19" name="テキスト ボックス 18">
            <a:extLst>
              <a:ext uri="{FF2B5EF4-FFF2-40B4-BE49-F238E27FC236}">
                <a16:creationId xmlns:a16="http://schemas.microsoft.com/office/drawing/2014/main" id="{3B672AEE-189E-7A45-A244-98FE1E081465}"/>
              </a:ext>
            </a:extLst>
          </p:cNvPr>
          <p:cNvSpPr txBox="1"/>
          <p:nvPr/>
        </p:nvSpPr>
        <p:spPr>
          <a:xfrm>
            <a:off x="2717800" y="6400800"/>
            <a:ext cx="584200" cy="355600"/>
          </a:xfrm>
          <a:prstGeom prst="rect">
            <a:avLst/>
          </a:prstGeom>
          <a:noFill/>
        </p:spPr>
        <p:txBody>
          <a:bodyPr vertOverflow="overflow" vert="horz" wrap="square" rtlCol="0" anchor="t" anchorCtr="0">
            <a:noAutofit/>
          </a:bodyPr>
          <a:lstStyle/>
          <a:p>
            <a:pPr algn="l"/>
            <a:r>
              <a:rPr lang="en-US" altLang="ja-JP" b="1">
                <a:solidFill>
                  <a:srgbClr val="F7B815"/>
                </a:solidFill>
                <a:latin typeface="Meiryo"/>
                <a:ea typeface="Meiryo"/>
              </a:rPr>
              <a:t>03</a:t>
            </a:r>
            <a:endParaRPr lang="ja-JP" altLang="en-US" b="1">
              <a:solidFill>
                <a:srgbClr val="F7B815"/>
              </a:solidFill>
              <a:latin typeface="Meiryo"/>
              <a:ea typeface="Meiryo"/>
            </a:endParaRPr>
          </a:p>
        </p:txBody>
      </p:sp>
      <p:sp>
        <p:nvSpPr>
          <p:cNvPr id="20" name="テキスト ボックス 19">
            <a:extLst>
              <a:ext uri="{FF2B5EF4-FFF2-40B4-BE49-F238E27FC236}">
                <a16:creationId xmlns:a16="http://schemas.microsoft.com/office/drawing/2014/main" id="{82980855-84FB-8B4A-853D-B9752CE50055}"/>
              </a:ext>
            </a:extLst>
          </p:cNvPr>
          <p:cNvSpPr txBox="1"/>
          <p:nvPr/>
        </p:nvSpPr>
        <p:spPr>
          <a:xfrm>
            <a:off x="3276600" y="6426200"/>
            <a:ext cx="3124200" cy="279400"/>
          </a:xfrm>
          <a:prstGeom prst="rect">
            <a:avLst/>
          </a:prstGeom>
          <a:noFill/>
        </p:spPr>
        <p:txBody>
          <a:bodyPr vertOverflow="overflow" vert="horz" wrap="square" rtlCol="0" anchor="t" anchorCtr="0">
            <a:noAutofit/>
          </a:bodyPr>
          <a:lstStyle/>
          <a:p>
            <a:pPr algn="l"/>
            <a:r>
              <a:rPr lang="ja-JP" altLang="en-US" sz="1300" b="1">
                <a:solidFill>
                  <a:srgbClr val="1C2B4A"/>
                </a:solidFill>
                <a:latin typeface="Meiryo"/>
                <a:ea typeface="Meiryo"/>
              </a:rPr>
              <a:t>新たな脆弱性の出現</a:t>
            </a:r>
          </a:p>
        </p:txBody>
      </p:sp>
      <p:sp>
        <p:nvSpPr>
          <p:cNvPr id="21" name="テキスト ボックス 20">
            <a:extLst>
              <a:ext uri="{FF2B5EF4-FFF2-40B4-BE49-F238E27FC236}">
                <a16:creationId xmlns:a16="http://schemas.microsoft.com/office/drawing/2014/main" id="{C4D69F5B-7556-554F-ACF1-993009C931B6}"/>
              </a:ext>
            </a:extLst>
          </p:cNvPr>
          <p:cNvSpPr txBox="1"/>
          <p:nvPr/>
        </p:nvSpPr>
        <p:spPr>
          <a:xfrm>
            <a:off x="3276600" y="6731000"/>
            <a:ext cx="3124200" cy="457200"/>
          </a:xfrm>
          <a:prstGeom prst="rect">
            <a:avLst/>
          </a:prstGeom>
          <a:noFill/>
        </p:spPr>
        <p:txBody>
          <a:bodyPr vertOverflow="overflow" vert="horz" wrap="square" rtlCol="0" anchor="t" anchorCtr="0">
            <a:noAutofit/>
          </a:bodyPr>
          <a:lstStyle/>
          <a:p>
            <a:pPr algn="l"/>
            <a:r>
              <a:rPr lang="ja-JP" altLang="en-US" sz="900">
                <a:solidFill>
                  <a:srgbClr val="333333"/>
                </a:solidFill>
                <a:latin typeface="Meiryo"/>
                <a:ea typeface="Meiryo"/>
              </a:rPr>
              <a:t>プロンプトインジェクションは</a:t>
            </a:r>
            <a:r>
              <a:rPr lang="en" altLang="ja-JP" sz="900">
                <a:solidFill>
                  <a:srgbClr val="333333"/>
                </a:solidFill>
                <a:latin typeface="Meiryo"/>
                <a:ea typeface="Meiryo"/>
              </a:rPr>
              <a:t>OWASP Top 10 for LLM 2025</a:t>
            </a:r>
            <a:r>
              <a:rPr lang="ja-JP" altLang="en-US" sz="900">
                <a:solidFill>
                  <a:srgbClr val="333333"/>
                </a:solidFill>
                <a:latin typeface="Meiryo"/>
                <a:ea typeface="Meiryo"/>
              </a:rPr>
              <a:t>の最上位リスク。</a:t>
            </a:r>
          </a:p>
        </p:txBody>
      </p:sp>
      <p:sp>
        <p:nvSpPr>
          <p:cNvPr id="26" name="テキスト ボックス 25">
            <a:extLst>
              <a:ext uri="{FF2B5EF4-FFF2-40B4-BE49-F238E27FC236}">
                <a16:creationId xmlns:a16="http://schemas.microsoft.com/office/drawing/2014/main" id="{6CF7BFDB-DBCE-1E46-9299-0F075C207B53}"/>
              </a:ext>
            </a:extLst>
          </p:cNvPr>
          <p:cNvSpPr txBox="1"/>
          <p:nvPr/>
        </p:nvSpPr>
        <p:spPr>
          <a:xfrm>
            <a:off x="190500" y="6614426"/>
            <a:ext cx="1930400" cy="508000"/>
          </a:xfrm>
          <a:prstGeom prst="rect">
            <a:avLst/>
          </a:prstGeom>
          <a:noFill/>
        </p:spPr>
        <p:txBody>
          <a:bodyPr vertOverflow="overflow" vert="horz" wrap="square" rtlCol="0" anchor="ctr" anchorCtr="0">
            <a:noAutofit/>
          </a:bodyPr>
          <a:lstStyle/>
          <a:p>
            <a:pPr algn="l"/>
            <a:r>
              <a:rPr lang="ja-JP" altLang="en-US" sz="1000" b="1">
                <a:solidFill>
                  <a:srgbClr val="F7B815"/>
                </a:solidFill>
                <a:latin typeface="Meiryo"/>
                <a:ea typeface="Meiryo"/>
              </a:rPr>
              <a:t>▶ 機能・提供メニューは
　裏面をご覧ください</a:t>
            </a:r>
          </a:p>
        </p:txBody>
      </p:sp>
      <p:pic>
        <p:nvPicPr>
          <p:cNvPr id="9" name="図 8">
            <a:extLst>
              <a:ext uri="{FF2B5EF4-FFF2-40B4-BE49-F238E27FC236}">
                <a16:creationId xmlns:a16="http://schemas.microsoft.com/office/drawing/2014/main" id="{6F10B590-4B35-039A-B71F-B50896AE9029}"/>
              </a:ext>
            </a:extLst>
          </p:cNvPr>
          <p:cNvPicPr>
            <a:picLocks noChangeAspect="1"/>
          </p:cNvPicPr>
          <p:nvPr/>
        </p:nvPicPr>
        <p:blipFill>
          <a:blip r:embed="rId3"/>
          <a:stretch>
            <a:fillRect/>
          </a:stretch>
        </p:blipFill>
        <p:spPr>
          <a:xfrm>
            <a:off x="203200" y="258266"/>
            <a:ext cx="3673953" cy="1034916"/>
          </a:xfrm>
          <a:prstGeom prst="rect">
            <a:avLst/>
          </a:prstGeom>
        </p:spPr>
      </p:pic>
      <p:sp>
        <p:nvSpPr>
          <p:cNvPr id="25" name="テキスト ボックス 24">
            <a:extLst>
              <a:ext uri="{FF2B5EF4-FFF2-40B4-BE49-F238E27FC236}">
                <a16:creationId xmlns:a16="http://schemas.microsoft.com/office/drawing/2014/main" id="{3AE1F700-DCF6-A686-7848-6A2C79172660}"/>
              </a:ext>
            </a:extLst>
          </p:cNvPr>
          <p:cNvSpPr txBox="1"/>
          <p:nvPr/>
        </p:nvSpPr>
        <p:spPr>
          <a:xfrm>
            <a:off x="3252247" y="9030878"/>
            <a:ext cx="184731" cy="369332"/>
          </a:xfrm>
          <a:prstGeom prst="rect">
            <a:avLst/>
          </a:prstGeom>
          <a:noFill/>
        </p:spPr>
        <p:txBody>
          <a:bodyPr wrap="none" rtlCol="0">
            <a:spAutoFit/>
          </a:bodyPr>
          <a:lstStyle/>
          <a:p>
            <a:endParaRPr kumimoji="1" lang="ja-JP" altLang="en-US"/>
          </a:p>
        </p:txBody>
      </p:sp>
    </p:spTree>
    <p:extLst>
      <p:ext uri="{BB962C8B-B14F-4D97-AF65-F5344CB8AC3E}">
        <p14:creationId xmlns:p14="http://schemas.microsoft.com/office/powerpoint/2010/main" val="522882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1E243DF-2F8C-6A8B-C3E8-DF2F7C873CFF}"/>
              </a:ext>
            </a:extLst>
          </p:cNvPr>
          <p:cNvPicPr>
            <a:picLocks/>
          </p:cNvPicPr>
          <p:nvPr/>
        </p:nvPicPr>
        <p:blipFill>
          <a:blip r:embed="rId2"/>
          <a:stretch>
            <a:fillRect/>
          </a:stretch>
        </p:blipFill>
        <p:spPr>
          <a:xfrm>
            <a:off x="0" y="0"/>
            <a:ext cx="6858000" cy="9906000"/>
          </a:xfrm>
          <a:prstGeom prst="rect">
            <a:avLst/>
          </a:prstGeom>
        </p:spPr>
      </p:pic>
      <p:sp>
        <p:nvSpPr>
          <p:cNvPr id="3" name="テキスト ボックス 2">
            <a:extLst>
              <a:ext uri="{FF2B5EF4-FFF2-40B4-BE49-F238E27FC236}">
                <a16:creationId xmlns:a16="http://schemas.microsoft.com/office/drawing/2014/main" id="{B8E12750-9344-884D-AA02-7B786DBA3DDA}"/>
              </a:ext>
            </a:extLst>
          </p:cNvPr>
          <p:cNvSpPr txBox="1"/>
          <p:nvPr/>
        </p:nvSpPr>
        <p:spPr>
          <a:xfrm>
            <a:off x="457200" y="457200"/>
            <a:ext cx="2540000" cy="254000"/>
          </a:xfrm>
          <a:prstGeom prst="rect">
            <a:avLst/>
          </a:prstGeom>
          <a:noFill/>
        </p:spPr>
        <p:txBody>
          <a:bodyPr vertOverflow="overflow" vert="horz" wrap="square" rtlCol="0" anchor="t" anchorCtr="0">
            <a:noAutofit/>
          </a:bodyPr>
          <a:lstStyle/>
          <a:p>
            <a:pPr algn="l"/>
            <a:r>
              <a:rPr lang="en" altLang="ja-JP" sz="1500" b="1">
                <a:solidFill>
                  <a:srgbClr val="FFFFFF"/>
                </a:solidFill>
                <a:latin typeface="Meiryo"/>
                <a:ea typeface="Meiryo"/>
              </a:rPr>
              <a:t>WITNESS AI</a:t>
            </a:r>
            <a:endParaRPr lang="ja-JP" altLang="en-US" sz="1500" b="1">
              <a:solidFill>
                <a:srgbClr val="FFFFFF"/>
              </a:solidFill>
              <a:latin typeface="Meiryo"/>
              <a:ea typeface="Meiryo"/>
            </a:endParaRPr>
          </a:p>
        </p:txBody>
      </p:sp>
      <p:sp>
        <p:nvSpPr>
          <p:cNvPr id="4" name="テキスト ボックス 3">
            <a:extLst>
              <a:ext uri="{FF2B5EF4-FFF2-40B4-BE49-F238E27FC236}">
                <a16:creationId xmlns:a16="http://schemas.microsoft.com/office/drawing/2014/main" id="{133827D5-D3D0-4F42-9AE7-D460A6817C28}"/>
              </a:ext>
            </a:extLst>
          </p:cNvPr>
          <p:cNvSpPr txBox="1"/>
          <p:nvPr/>
        </p:nvSpPr>
        <p:spPr>
          <a:xfrm>
            <a:off x="3048000" y="508000"/>
            <a:ext cx="3352800" cy="177800"/>
          </a:xfrm>
          <a:prstGeom prst="rect">
            <a:avLst/>
          </a:prstGeom>
          <a:noFill/>
        </p:spPr>
        <p:txBody>
          <a:bodyPr vertOverflow="overflow" vert="horz" wrap="square" rtlCol="0" anchor="t" anchorCtr="0">
            <a:noAutofit/>
          </a:bodyPr>
          <a:lstStyle/>
          <a:p>
            <a:pPr algn="l"/>
            <a:r>
              <a:rPr lang="ja-JP" altLang="en-US" sz="800">
                <a:solidFill>
                  <a:srgbClr val="C9CFE8"/>
                </a:solidFill>
                <a:latin typeface="Meiryo"/>
                <a:ea typeface="Meiryo"/>
              </a:rPr>
              <a:t>生成</a:t>
            </a:r>
            <a:r>
              <a:rPr lang="en" altLang="ja-JP" sz="800">
                <a:solidFill>
                  <a:srgbClr val="C9CFE8"/>
                </a:solidFill>
                <a:latin typeface="Meiryo"/>
                <a:ea typeface="Meiryo"/>
              </a:rPr>
              <a:t>AI</a:t>
            </a:r>
            <a:r>
              <a:rPr lang="ja-JP" altLang="en-US" sz="800">
                <a:solidFill>
                  <a:srgbClr val="C9CFE8"/>
                </a:solidFill>
                <a:latin typeface="Meiryo"/>
                <a:ea typeface="Meiryo"/>
              </a:rPr>
              <a:t>セキュリティ・ガバナンス｜提供：</a:t>
            </a:r>
            <a:r>
              <a:rPr lang="en" altLang="ja-JP" sz="800">
                <a:solidFill>
                  <a:srgbClr val="C9CFE8"/>
                </a:solidFill>
                <a:latin typeface="Meiryo"/>
                <a:ea typeface="Meiryo"/>
              </a:rPr>
              <a:t>JSOL</a:t>
            </a:r>
            <a:endParaRPr lang="ja-JP" altLang="en-US" sz="800">
              <a:solidFill>
                <a:srgbClr val="C9CFE8"/>
              </a:solidFill>
              <a:latin typeface="Meiryo"/>
              <a:ea typeface="Meiryo"/>
            </a:endParaRPr>
          </a:p>
        </p:txBody>
      </p:sp>
      <p:sp>
        <p:nvSpPr>
          <p:cNvPr id="5" name="テキスト ボックス 4">
            <a:extLst>
              <a:ext uri="{FF2B5EF4-FFF2-40B4-BE49-F238E27FC236}">
                <a16:creationId xmlns:a16="http://schemas.microsoft.com/office/drawing/2014/main" id="{972E3BBB-5E1F-4C48-8A0F-5BB2DBC23CB7}"/>
              </a:ext>
            </a:extLst>
          </p:cNvPr>
          <p:cNvSpPr txBox="1"/>
          <p:nvPr/>
        </p:nvSpPr>
        <p:spPr>
          <a:xfrm>
            <a:off x="457200" y="1168400"/>
            <a:ext cx="5943600" cy="965200"/>
          </a:xfrm>
          <a:prstGeom prst="rect">
            <a:avLst/>
          </a:prstGeom>
          <a:noFill/>
        </p:spPr>
        <p:txBody>
          <a:bodyPr vertOverflow="overflow" vert="horz" wrap="square" rtlCol="0" anchor="t" anchorCtr="0">
            <a:noAutofit/>
          </a:bodyPr>
          <a:lstStyle/>
          <a:p>
            <a:pPr algn="l"/>
            <a:r>
              <a:rPr lang="en" altLang="ja-JP" sz="2500" b="1">
                <a:solidFill>
                  <a:srgbClr val="FFFFFF"/>
                </a:solidFill>
                <a:latin typeface="Meiryo"/>
                <a:ea typeface="Meiryo"/>
              </a:rPr>
              <a:t>AI</a:t>
            </a:r>
            <a:r>
              <a:rPr lang="ja-JP" altLang="en-US" sz="2500" b="1">
                <a:solidFill>
                  <a:srgbClr val="FFFFFF"/>
                </a:solidFill>
                <a:latin typeface="Meiryo"/>
                <a:ea typeface="Meiryo"/>
              </a:rPr>
              <a:t>は、止めない。
リスクだけを、統制する。</a:t>
            </a:r>
          </a:p>
        </p:txBody>
      </p:sp>
      <p:sp>
        <p:nvSpPr>
          <p:cNvPr id="6" name="テキスト ボックス 5">
            <a:extLst>
              <a:ext uri="{FF2B5EF4-FFF2-40B4-BE49-F238E27FC236}">
                <a16:creationId xmlns:a16="http://schemas.microsoft.com/office/drawing/2014/main" id="{1F2A176B-EB8B-614D-A1DF-35E74487E9F7}"/>
              </a:ext>
            </a:extLst>
          </p:cNvPr>
          <p:cNvSpPr txBox="1"/>
          <p:nvPr/>
        </p:nvSpPr>
        <p:spPr>
          <a:xfrm>
            <a:off x="457200" y="2260600"/>
            <a:ext cx="5943600" cy="381000"/>
          </a:xfrm>
          <a:prstGeom prst="rect">
            <a:avLst/>
          </a:prstGeom>
          <a:noFill/>
        </p:spPr>
        <p:txBody>
          <a:bodyPr vertOverflow="overflow" vert="horz" wrap="square" rtlCol="0" anchor="t" anchorCtr="0">
            <a:noAutofit/>
          </a:bodyPr>
          <a:lstStyle/>
          <a:p>
            <a:pPr algn="l"/>
            <a:r>
              <a:rPr lang="ja-JP" altLang="en-US" sz="950">
                <a:solidFill>
                  <a:srgbClr val="C9CFE8"/>
                </a:solidFill>
                <a:latin typeface="Meiryo"/>
                <a:ea typeface="Meiryo"/>
              </a:rPr>
              <a:t>シャドー</a:t>
            </a:r>
            <a:r>
              <a:rPr lang="en" altLang="ja-JP" sz="950">
                <a:solidFill>
                  <a:srgbClr val="C9CFE8"/>
                </a:solidFill>
                <a:latin typeface="Meiryo"/>
                <a:ea typeface="Meiryo"/>
              </a:rPr>
              <a:t>AI</a:t>
            </a:r>
            <a:r>
              <a:rPr lang="ja-JP" altLang="en-US" sz="950">
                <a:solidFill>
                  <a:srgbClr val="C9CFE8"/>
                </a:solidFill>
                <a:latin typeface="Meiryo"/>
                <a:ea typeface="Meiryo"/>
              </a:rPr>
              <a:t>やプロンプトインジェクションによる情報流出リスクが顕在化。</a:t>
            </a:r>
            <a:r>
              <a:rPr lang="en" altLang="ja-JP" sz="950">
                <a:solidFill>
                  <a:srgbClr val="C9CFE8"/>
                </a:solidFill>
                <a:latin typeface="Meiryo"/>
                <a:ea typeface="Meiryo"/>
              </a:rPr>
              <a:t>AI</a:t>
            </a:r>
            <a:r>
              <a:rPr lang="ja-JP" altLang="en-US" sz="950">
                <a:solidFill>
                  <a:srgbClr val="C9CFE8"/>
                </a:solidFill>
                <a:latin typeface="Meiryo"/>
                <a:ea typeface="Meiryo"/>
              </a:rPr>
              <a:t>活用のスピードを落とさない統制が求められています。</a:t>
            </a:r>
          </a:p>
        </p:txBody>
      </p:sp>
      <p:sp>
        <p:nvSpPr>
          <p:cNvPr id="7" name="テキスト ボックス 6">
            <a:extLst>
              <a:ext uri="{FF2B5EF4-FFF2-40B4-BE49-F238E27FC236}">
                <a16:creationId xmlns:a16="http://schemas.microsoft.com/office/drawing/2014/main" id="{7D673D5B-7626-B14A-9F54-BBA1DB6E44F9}"/>
              </a:ext>
            </a:extLst>
          </p:cNvPr>
          <p:cNvSpPr txBox="1"/>
          <p:nvPr/>
        </p:nvSpPr>
        <p:spPr>
          <a:xfrm>
            <a:off x="457200" y="2895600"/>
            <a:ext cx="2540000" cy="177800"/>
          </a:xfrm>
          <a:prstGeom prst="rect">
            <a:avLst/>
          </a:prstGeom>
          <a:noFill/>
        </p:spPr>
        <p:txBody>
          <a:bodyPr vertOverflow="overflow" vert="horz" wrap="square" rtlCol="0" anchor="t" anchorCtr="0">
            <a:noAutofit/>
          </a:bodyPr>
          <a:lstStyle/>
          <a:p>
            <a:pPr algn="l"/>
            <a:r>
              <a:rPr lang="en" altLang="ja-JP" sz="1000" b="1">
                <a:solidFill>
                  <a:srgbClr val="F7B815"/>
                </a:solidFill>
                <a:latin typeface="Meiryo"/>
                <a:ea typeface="Meiryo"/>
              </a:rPr>
              <a:t>ISSUE ─ </a:t>
            </a:r>
            <a:r>
              <a:rPr lang="ja-JP" altLang="en-US" sz="1000" b="1">
                <a:solidFill>
                  <a:srgbClr val="F7B815"/>
                </a:solidFill>
                <a:latin typeface="Meiryo"/>
                <a:ea typeface="Meiryo"/>
              </a:rPr>
              <a:t>課題</a:t>
            </a:r>
          </a:p>
        </p:txBody>
      </p:sp>
      <p:sp>
        <p:nvSpPr>
          <p:cNvPr id="8" name="テキスト ボックス 7">
            <a:extLst>
              <a:ext uri="{FF2B5EF4-FFF2-40B4-BE49-F238E27FC236}">
                <a16:creationId xmlns:a16="http://schemas.microsoft.com/office/drawing/2014/main" id="{4CA99C35-A21D-D44B-8623-3EE0E1B0A521}"/>
              </a:ext>
            </a:extLst>
          </p:cNvPr>
          <p:cNvSpPr txBox="1"/>
          <p:nvPr/>
        </p:nvSpPr>
        <p:spPr>
          <a:xfrm>
            <a:off x="457200" y="3149600"/>
            <a:ext cx="5080000" cy="279400"/>
          </a:xfrm>
          <a:prstGeom prst="rect">
            <a:avLst/>
          </a:prstGeom>
          <a:noFill/>
        </p:spPr>
        <p:txBody>
          <a:bodyPr vertOverflow="overflow" vert="horz" wrap="square" rtlCol="0" anchor="t" anchorCtr="0">
            <a:noAutofit/>
          </a:bodyPr>
          <a:lstStyle/>
          <a:p>
            <a:pPr algn="l"/>
            <a:r>
              <a:rPr lang="ja-JP" altLang="en-US" sz="1500" b="1">
                <a:solidFill>
                  <a:srgbClr val="FFFFFF"/>
                </a:solidFill>
                <a:latin typeface="Meiryo"/>
                <a:ea typeface="Meiryo"/>
              </a:rPr>
              <a:t>なぜ今、</a:t>
            </a:r>
            <a:r>
              <a:rPr lang="en" altLang="ja-JP" sz="1500" b="1">
                <a:solidFill>
                  <a:srgbClr val="FFFFFF"/>
                </a:solidFill>
                <a:latin typeface="Meiryo"/>
                <a:ea typeface="Meiryo"/>
              </a:rPr>
              <a:t>AI</a:t>
            </a:r>
            <a:r>
              <a:rPr lang="ja-JP" altLang="en-US" sz="1500" b="1">
                <a:solidFill>
                  <a:srgbClr val="FFFFFF"/>
                </a:solidFill>
                <a:latin typeface="Meiryo"/>
                <a:ea typeface="Meiryo"/>
              </a:rPr>
              <a:t>ガバナンスが必要か</a:t>
            </a:r>
          </a:p>
        </p:txBody>
      </p:sp>
      <p:sp>
        <p:nvSpPr>
          <p:cNvPr id="9" name="テキスト ボックス 8">
            <a:extLst>
              <a:ext uri="{FF2B5EF4-FFF2-40B4-BE49-F238E27FC236}">
                <a16:creationId xmlns:a16="http://schemas.microsoft.com/office/drawing/2014/main" id="{528191A5-2EAE-4444-B7CD-E0E784BF80F4}"/>
              </a:ext>
            </a:extLst>
          </p:cNvPr>
          <p:cNvSpPr txBox="1"/>
          <p:nvPr/>
        </p:nvSpPr>
        <p:spPr>
          <a:xfrm>
            <a:off x="457200" y="3657600"/>
            <a:ext cx="558800" cy="3048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01</a:t>
            </a:r>
            <a:endParaRPr lang="ja-JP" altLang="en-US" sz="1600" b="1">
              <a:solidFill>
                <a:srgbClr val="F7B815"/>
              </a:solidFill>
              <a:latin typeface="Meiryo"/>
              <a:ea typeface="Meiryo"/>
            </a:endParaRPr>
          </a:p>
        </p:txBody>
      </p:sp>
      <p:sp>
        <p:nvSpPr>
          <p:cNvPr id="10" name="テキスト ボックス 9">
            <a:extLst>
              <a:ext uri="{FF2B5EF4-FFF2-40B4-BE49-F238E27FC236}">
                <a16:creationId xmlns:a16="http://schemas.microsoft.com/office/drawing/2014/main" id="{2D3293B3-B947-A647-B93A-F5DAF1232113}"/>
              </a:ext>
            </a:extLst>
          </p:cNvPr>
          <p:cNvSpPr txBox="1"/>
          <p:nvPr/>
        </p:nvSpPr>
        <p:spPr>
          <a:xfrm>
            <a:off x="1041400" y="3670300"/>
            <a:ext cx="53594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Meiryo"/>
                <a:ea typeface="Meiryo"/>
              </a:rPr>
              <a:t>自律型エージェントの台頭</a:t>
            </a:r>
          </a:p>
        </p:txBody>
      </p:sp>
      <p:sp>
        <p:nvSpPr>
          <p:cNvPr id="11" name="テキスト ボックス 10">
            <a:extLst>
              <a:ext uri="{FF2B5EF4-FFF2-40B4-BE49-F238E27FC236}">
                <a16:creationId xmlns:a16="http://schemas.microsoft.com/office/drawing/2014/main" id="{1E98760B-43C2-5741-A7D0-FB04A7055B96}"/>
              </a:ext>
            </a:extLst>
          </p:cNvPr>
          <p:cNvSpPr txBox="1"/>
          <p:nvPr/>
        </p:nvSpPr>
        <p:spPr>
          <a:xfrm>
            <a:off x="1041400" y="3924300"/>
            <a:ext cx="5359400" cy="304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外部</a:t>
            </a:r>
            <a:r>
              <a:rPr lang="en" altLang="ja-JP" sz="850">
                <a:solidFill>
                  <a:srgbClr val="C9CFE8"/>
                </a:solidFill>
                <a:latin typeface="Meiryo"/>
                <a:ea typeface="Meiryo"/>
              </a:rPr>
              <a:t>API</a:t>
            </a:r>
            <a:r>
              <a:rPr lang="ja-JP" altLang="en-US" sz="850">
                <a:solidFill>
                  <a:srgbClr val="C9CFE8"/>
                </a:solidFill>
                <a:latin typeface="Meiryo"/>
                <a:ea typeface="Meiryo"/>
              </a:rPr>
              <a:t>や</a:t>
            </a:r>
            <a:r>
              <a:rPr lang="en" altLang="ja-JP" sz="850">
                <a:solidFill>
                  <a:srgbClr val="C9CFE8"/>
                </a:solidFill>
                <a:latin typeface="Meiryo"/>
                <a:ea typeface="Meiryo"/>
              </a:rPr>
              <a:t>DB</a:t>
            </a:r>
            <a:r>
              <a:rPr lang="ja-JP" altLang="en-US" sz="850">
                <a:solidFill>
                  <a:srgbClr val="C9CFE8"/>
                </a:solidFill>
                <a:latin typeface="Meiryo"/>
                <a:ea typeface="Meiryo"/>
              </a:rPr>
              <a:t>を自律操作する</a:t>
            </a:r>
            <a:r>
              <a:rPr lang="en" altLang="ja-JP" sz="850">
                <a:solidFill>
                  <a:srgbClr val="C9CFE8"/>
                </a:solidFill>
                <a:latin typeface="Meiryo"/>
                <a:ea typeface="Meiryo"/>
              </a:rPr>
              <a:t>AI</a:t>
            </a:r>
            <a:r>
              <a:rPr lang="ja-JP" altLang="en-US" sz="850">
                <a:solidFill>
                  <a:srgbClr val="C9CFE8"/>
                </a:solidFill>
                <a:latin typeface="Meiryo"/>
                <a:ea typeface="Meiryo"/>
              </a:rPr>
              <a:t>へ進化し、従来の監視手法では追いつかない。</a:t>
            </a:r>
          </a:p>
        </p:txBody>
      </p:sp>
      <p:sp>
        <p:nvSpPr>
          <p:cNvPr id="12" name="テキスト ボックス 11">
            <a:extLst>
              <a:ext uri="{FF2B5EF4-FFF2-40B4-BE49-F238E27FC236}">
                <a16:creationId xmlns:a16="http://schemas.microsoft.com/office/drawing/2014/main" id="{D47BDDFE-CDE8-6F4B-B38D-1A7C1AB3FCBD}"/>
              </a:ext>
            </a:extLst>
          </p:cNvPr>
          <p:cNvSpPr txBox="1"/>
          <p:nvPr/>
        </p:nvSpPr>
        <p:spPr>
          <a:xfrm>
            <a:off x="457200" y="4343400"/>
            <a:ext cx="558800" cy="3048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02</a:t>
            </a:r>
            <a:endParaRPr lang="ja-JP" altLang="en-US" sz="1600" b="1">
              <a:solidFill>
                <a:srgbClr val="F7B815"/>
              </a:solidFill>
              <a:latin typeface="Meiryo"/>
              <a:ea typeface="Meiryo"/>
            </a:endParaRPr>
          </a:p>
        </p:txBody>
      </p:sp>
      <p:sp>
        <p:nvSpPr>
          <p:cNvPr id="13" name="テキスト ボックス 12">
            <a:extLst>
              <a:ext uri="{FF2B5EF4-FFF2-40B4-BE49-F238E27FC236}">
                <a16:creationId xmlns:a16="http://schemas.microsoft.com/office/drawing/2014/main" id="{BFB3432E-283C-0647-8BC5-10765953C8C0}"/>
              </a:ext>
            </a:extLst>
          </p:cNvPr>
          <p:cNvSpPr txBox="1"/>
          <p:nvPr/>
        </p:nvSpPr>
        <p:spPr>
          <a:xfrm>
            <a:off x="1041400" y="4356100"/>
            <a:ext cx="53594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Meiryo"/>
                <a:ea typeface="Meiryo"/>
              </a:rPr>
              <a:t>シャドー</a:t>
            </a:r>
            <a:r>
              <a:rPr lang="en" altLang="ja-JP" sz="1200" b="1">
                <a:solidFill>
                  <a:srgbClr val="FFFFFF"/>
                </a:solidFill>
                <a:latin typeface="Meiryo"/>
                <a:ea typeface="Meiryo"/>
              </a:rPr>
              <a:t>AI</a:t>
            </a:r>
            <a:r>
              <a:rPr lang="ja-JP" altLang="en-US" sz="1200" b="1">
                <a:solidFill>
                  <a:srgbClr val="FFFFFF"/>
                </a:solidFill>
                <a:latin typeface="Meiryo"/>
                <a:ea typeface="Meiryo"/>
              </a:rPr>
              <a:t>による管理不全</a:t>
            </a:r>
          </a:p>
        </p:txBody>
      </p:sp>
      <p:sp>
        <p:nvSpPr>
          <p:cNvPr id="14" name="テキスト ボックス 13">
            <a:extLst>
              <a:ext uri="{FF2B5EF4-FFF2-40B4-BE49-F238E27FC236}">
                <a16:creationId xmlns:a16="http://schemas.microsoft.com/office/drawing/2014/main" id="{3B506E4F-754A-444E-A81A-D8DC4C90C916}"/>
              </a:ext>
            </a:extLst>
          </p:cNvPr>
          <p:cNvSpPr txBox="1"/>
          <p:nvPr/>
        </p:nvSpPr>
        <p:spPr>
          <a:xfrm>
            <a:off x="1041400" y="4610100"/>
            <a:ext cx="5359400" cy="304800"/>
          </a:xfrm>
          <a:prstGeom prst="rect">
            <a:avLst/>
          </a:prstGeom>
          <a:noFill/>
        </p:spPr>
        <p:txBody>
          <a:bodyPr vertOverflow="overflow" vert="horz" wrap="square" rtlCol="0" anchor="t" anchorCtr="0">
            <a:noAutofit/>
          </a:bodyPr>
          <a:lstStyle/>
          <a:p>
            <a:pPr algn="l"/>
            <a:r>
              <a:rPr lang="en" altLang="ja-JP" sz="850">
                <a:solidFill>
                  <a:srgbClr val="C9CFE8"/>
                </a:solidFill>
                <a:latin typeface="Meiryo"/>
                <a:ea typeface="Meiryo"/>
              </a:rPr>
              <a:t>IT</a:t>
            </a:r>
            <a:r>
              <a:rPr lang="ja-JP" altLang="en-US" sz="850">
                <a:solidFill>
                  <a:srgbClr val="C9CFE8"/>
                </a:solidFill>
                <a:latin typeface="Meiryo"/>
                <a:ea typeface="Meiryo"/>
              </a:rPr>
              <a:t>部門が把握できない現場の</a:t>
            </a:r>
            <a:r>
              <a:rPr lang="en" altLang="ja-JP" sz="850">
                <a:solidFill>
                  <a:srgbClr val="C9CFE8"/>
                </a:solidFill>
                <a:latin typeface="Meiryo"/>
                <a:ea typeface="Meiryo"/>
              </a:rPr>
              <a:t>AI</a:t>
            </a:r>
            <a:r>
              <a:rPr lang="ja-JP" altLang="en-US" sz="850">
                <a:solidFill>
                  <a:srgbClr val="C9CFE8"/>
                </a:solidFill>
                <a:latin typeface="Meiryo"/>
                <a:ea typeface="Meiryo"/>
              </a:rPr>
              <a:t>利用が、組織全体の盲点になっている。</a:t>
            </a:r>
          </a:p>
        </p:txBody>
      </p:sp>
      <p:sp>
        <p:nvSpPr>
          <p:cNvPr id="15" name="テキスト ボックス 14">
            <a:extLst>
              <a:ext uri="{FF2B5EF4-FFF2-40B4-BE49-F238E27FC236}">
                <a16:creationId xmlns:a16="http://schemas.microsoft.com/office/drawing/2014/main" id="{6BAFE136-F6B3-F04F-8663-7667A914971F}"/>
              </a:ext>
            </a:extLst>
          </p:cNvPr>
          <p:cNvSpPr txBox="1"/>
          <p:nvPr/>
        </p:nvSpPr>
        <p:spPr>
          <a:xfrm>
            <a:off x="457200" y="5029200"/>
            <a:ext cx="558800" cy="3048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03</a:t>
            </a:r>
            <a:endParaRPr lang="ja-JP" altLang="en-US" sz="1600" b="1">
              <a:solidFill>
                <a:srgbClr val="F7B815"/>
              </a:solidFill>
              <a:latin typeface="Meiryo"/>
              <a:ea typeface="Meiryo"/>
            </a:endParaRPr>
          </a:p>
        </p:txBody>
      </p:sp>
      <p:sp>
        <p:nvSpPr>
          <p:cNvPr id="16" name="テキスト ボックス 15">
            <a:extLst>
              <a:ext uri="{FF2B5EF4-FFF2-40B4-BE49-F238E27FC236}">
                <a16:creationId xmlns:a16="http://schemas.microsoft.com/office/drawing/2014/main" id="{AD04A906-A70E-7B45-B208-D12F789B6CAA}"/>
              </a:ext>
            </a:extLst>
          </p:cNvPr>
          <p:cNvSpPr txBox="1"/>
          <p:nvPr/>
        </p:nvSpPr>
        <p:spPr>
          <a:xfrm>
            <a:off x="1041400" y="5041900"/>
            <a:ext cx="53594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Meiryo"/>
                <a:ea typeface="Meiryo"/>
              </a:rPr>
              <a:t>新たな脆弱性の出現</a:t>
            </a:r>
          </a:p>
        </p:txBody>
      </p:sp>
      <p:sp>
        <p:nvSpPr>
          <p:cNvPr id="17" name="テキスト ボックス 16">
            <a:extLst>
              <a:ext uri="{FF2B5EF4-FFF2-40B4-BE49-F238E27FC236}">
                <a16:creationId xmlns:a16="http://schemas.microsoft.com/office/drawing/2014/main" id="{9B72B42D-3D06-CA47-B828-1887B868A921}"/>
              </a:ext>
            </a:extLst>
          </p:cNvPr>
          <p:cNvSpPr txBox="1"/>
          <p:nvPr/>
        </p:nvSpPr>
        <p:spPr>
          <a:xfrm>
            <a:off x="1041400" y="5295900"/>
            <a:ext cx="5359400" cy="304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プロンプトインジェクションは </a:t>
            </a:r>
            <a:r>
              <a:rPr lang="en" altLang="ja-JP" sz="850">
                <a:solidFill>
                  <a:srgbClr val="C9CFE8"/>
                </a:solidFill>
                <a:latin typeface="Meiryo"/>
                <a:ea typeface="Meiryo"/>
              </a:rPr>
              <a:t>OWASP Top 10 for LLM 2025 </a:t>
            </a:r>
            <a:r>
              <a:rPr lang="ja-JP" altLang="en-US" sz="850">
                <a:solidFill>
                  <a:srgbClr val="C9CFE8"/>
                </a:solidFill>
                <a:latin typeface="Meiryo"/>
                <a:ea typeface="Meiryo"/>
              </a:rPr>
              <a:t>の最上位リスク。</a:t>
            </a:r>
          </a:p>
        </p:txBody>
      </p:sp>
      <p:sp>
        <p:nvSpPr>
          <p:cNvPr id="18" name="平行四辺形 17">
            <a:extLst>
              <a:ext uri="{FF2B5EF4-FFF2-40B4-BE49-F238E27FC236}">
                <a16:creationId xmlns:a16="http://schemas.microsoft.com/office/drawing/2014/main" id="{3CF739AB-D60D-A24A-BA8C-6420AD8B3F57}"/>
              </a:ext>
            </a:extLst>
          </p:cNvPr>
          <p:cNvSpPr/>
          <p:nvPr/>
        </p:nvSpPr>
        <p:spPr>
          <a:xfrm>
            <a:off x="-508000" y="5740400"/>
            <a:ext cx="7874000" cy="584200"/>
          </a:xfrm>
          <a:prstGeom prst="parallelogram">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 name="正方形/長方形 18">
            <a:extLst>
              <a:ext uri="{FF2B5EF4-FFF2-40B4-BE49-F238E27FC236}">
                <a16:creationId xmlns:a16="http://schemas.microsoft.com/office/drawing/2014/main" id="{A4212828-BD97-3F42-930C-EC6BC8CB0612}"/>
              </a:ext>
            </a:extLst>
          </p:cNvPr>
          <p:cNvSpPr/>
          <p:nvPr/>
        </p:nvSpPr>
        <p:spPr>
          <a:xfrm>
            <a:off x="0" y="6273800"/>
            <a:ext cx="6858000" cy="3632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テキスト ボックス 19">
            <a:extLst>
              <a:ext uri="{FF2B5EF4-FFF2-40B4-BE49-F238E27FC236}">
                <a16:creationId xmlns:a16="http://schemas.microsoft.com/office/drawing/2014/main" id="{18E902B8-13D3-D24A-8C56-FF8D09C71DEE}"/>
              </a:ext>
            </a:extLst>
          </p:cNvPr>
          <p:cNvSpPr txBox="1"/>
          <p:nvPr/>
        </p:nvSpPr>
        <p:spPr>
          <a:xfrm>
            <a:off x="457200" y="6527800"/>
            <a:ext cx="2794000" cy="177800"/>
          </a:xfrm>
          <a:prstGeom prst="rect">
            <a:avLst/>
          </a:prstGeom>
          <a:noFill/>
        </p:spPr>
        <p:txBody>
          <a:bodyPr vertOverflow="overflow" vert="horz" wrap="square" rtlCol="0" anchor="t" anchorCtr="0">
            <a:noAutofit/>
          </a:bodyPr>
          <a:lstStyle/>
          <a:p>
            <a:pPr algn="l"/>
            <a:r>
              <a:rPr lang="en" altLang="ja-JP" sz="1000" b="1">
                <a:solidFill>
                  <a:srgbClr val="C8102E"/>
                </a:solidFill>
                <a:latin typeface="Meiryo"/>
                <a:ea typeface="Meiryo"/>
              </a:rPr>
              <a:t>SOLUTION ─ </a:t>
            </a:r>
            <a:r>
              <a:rPr lang="ja-JP" altLang="en-US" sz="1000" b="1">
                <a:solidFill>
                  <a:srgbClr val="C8102E"/>
                </a:solidFill>
                <a:latin typeface="Meiryo"/>
                <a:ea typeface="Meiryo"/>
              </a:rPr>
              <a:t>解決</a:t>
            </a:r>
          </a:p>
        </p:txBody>
      </p:sp>
      <p:sp>
        <p:nvSpPr>
          <p:cNvPr id="21" name="テキスト ボックス 20">
            <a:extLst>
              <a:ext uri="{FF2B5EF4-FFF2-40B4-BE49-F238E27FC236}">
                <a16:creationId xmlns:a16="http://schemas.microsoft.com/office/drawing/2014/main" id="{AABF3BD8-072B-5D49-8BB7-5BF276D97FDF}"/>
              </a:ext>
            </a:extLst>
          </p:cNvPr>
          <p:cNvSpPr txBox="1"/>
          <p:nvPr/>
        </p:nvSpPr>
        <p:spPr>
          <a:xfrm>
            <a:off x="457200" y="6756400"/>
            <a:ext cx="5943600" cy="381000"/>
          </a:xfrm>
          <a:prstGeom prst="rect">
            <a:avLst/>
          </a:prstGeom>
          <a:noFill/>
        </p:spPr>
        <p:txBody>
          <a:bodyPr vertOverflow="overflow" vert="horz" wrap="square" rtlCol="0" anchor="t" anchorCtr="0">
            <a:noAutofit/>
          </a:bodyPr>
          <a:lstStyle/>
          <a:p>
            <a:pPr algn="l"/>
            <a:r>
              <a:rPr lang="ja-JP" altLang="en-US" sz="1900" b="1">
                <a:solidFill>
                  <a:srgbClr val="1B1F4E"/>
                </a:solidFill>
                <a:latin typeface="Meiryo"/>
                <a:ea typeface="Meiryo"/>
              </a:rPr>
              <a:t>その答えが、</a:t>
            </a:r>
            <a:r>
              <a:rPr lang="en" altLang="ja-JP" sz="1900" b="1">
                <a:solidFill>
                  <a:srgbClr val="1B1F4E"/>
                </a:solidFill>
                <a:latin typeface="Meiryo"/>
                <a:ea typeface="Meiryo"/>
              </a:rPr>
              <a:t>WitnessAI</a:t>
            </a:r>
            <a:r>
              <a:rPr lang="ja-JP" altLang="en" sz="1900" b="1">
                <a:solidFill>
                  <a:srgbClr val="1B1F4E"/>
                </a:solidFill>
                <a:latin typeface="Meiryo"/>
                <a:ea typeface="Meiryo"/>
              </a:rPr>
              <a:t>。</a:t>
            </a:r>
            <a:endParaRPr lang="ja-JP" altLang="en-US" sz="1900" b="1">
              <a:solidFill>
                <a:srgbClr val="1B1F4E"/>
              </a:solidFill>
              <a:latin typeface="Meiryo"/>
              <a:ea typeface="Meiryo"/>
            </a:endParaRPr>
          </a:p>
        </p:txBody>
      </p:sp>
      <p:sp>
        <p:nvSpPr>
          <p:cNvPr id="22" name="テキスト ボックス 21">
            <a:extLst>
              <a:ext uri="{FF2B5EF4-FFF2-40B4-BE49-F238E27FC236}">
                <a16:creationId xmlns:a16="http://schemas.microsoft.com/office/drawing/2014/main" id="{886E4F14-3FB4-1640-ADD3-AB6809E5690F}"/>
              </a:ext>
            </a:extLst>
          </p:cNvPr>
          <p:cNvSpPr txBox="1"/>
          <p:nvPr/>
        </p:nvSpPr>
        <p:spPr>
          <a:xfrm>
            <a:off x="457200" y="7188200"/>
            <a:ext cx="5943600" cy="406400"/>
          </a:xfrm>
          <a:prstGeom prst="rect">
            <a:avLst/>
          </a:prstGeom>
          <a:noFill/>
        </p:spPr>
        <p:txBody>
          <a:bodyPr vertOverflow="overflow" vert="horz" wrap="square" rtlCol="0" anchor="t" anchorCtr="0">
            <a:noAutofit/>
          </a:bodyPr>
          <a:lstStyle/>
          <a:p>
            <a:pPr algn="l"/>
            <a:r>
              <a:rPr lang="ja-JP" altLang="en-US" sz="950">
                <a:solidFill>
                  <a:srgbClr val="333333"/>
                </a:solidFill>
                <a:latin typeface="Meiryo"/>
                <a:ea typeface="Meiryo"/>
              </a:rPr>
              <a:t>ユーザと</a:t>
            </a:r>
            <a:r>
              <a:rPr lang="en" altLang="ja-JP" sz="950">
                <a:solidFill>
                  <a:srgbClr val="333333"/>
                </a:solidFill>
                <a:latin typeface="Meiryo"/>
                <a:ea typeface="Meiryo"/>
              </a:rPr>
              <a:t>AI</a:t>
            </a:r>
            <a:r>
              <a:rPr lang="ja-JP" altLang="en-US" sz="950">
                <a:solidFill>
                  <a:srgbClr val="333333"/>
                </a:solidFill>
                <a:latin typeface="Meiryo"/>
                <a:ea typeface="Meiryo"/>
              </a:rPr>
              <a:t>の間に立ち、すべての</a:t>
            </a:r>
            <a:r>
              <a:rPr lang="en" altLang="ja-JP" sz="950">
                <a:solidFill>
                  <a:srgbClr val="333333"/>
                </a:solidFill>
                <a:latin typeface="Meiryo"/>
                <a:ea typeface="Meiryo"/>
              </a:rPr>
              <a:t>AI</a:t>
            </a:r>
            <a:r>
              <a:rPr lang="ja-JP" altLang="en-US" sz="950">
                <a:solidFill>
                  <a:srgbClr val="333333"/>
                </a:solidFill>
                <a:latin typeface="Meiryo"/>
                <a:ea typeface="Meiryo"/>
              </a:rPr>
              <a:t>利用を可視化・統制するエージェントレス型の「</a:t>
            </a:r>
            <a:r>
              <a:rPr lang="en" altLang="ja-JP" sz="950">
                <a:solidFill>
                  <a:srgbClr val="333333"/>
                </a:solidFill>
                <a:latin typeface="Meiryo"/>
                <a:ea typeface="Meiryo"/>
              </a:rPr>
              <a:t>AI Security Gateway</a:t>
            </a:r>
            <a:r>
              <a:rPr lang="ja-JP" altLang="en" sz="950">
                <a:solidFill>
                  <a:srgbClr val="333333"/>
                </a:solidFill>
                <a:latin typeface="Meiryo"/>
                <a:ea typeface="Meiryo"/>
              </a:rPr>
              <a:t>」。</a:t>
            </a:r>
            <a:r>
              <a:rPr lang="ja-JP" altLang="en-US" sz="950">
                <a:solidFill>
                  <a:srgbClr val="333333"/>
                </a:solidFill>
                <a:latin typeface="Meiryo"/>
                <a:ea typeface="Meiryo"/>
              </a:rPr>
              <a:t>エンドポイントに依存せず、既存環境へ迅速に導入できます。</a:t>
            </a:r>
          </a:p>
        </p:txBody>
      </p:sp>
      <p:sp>
        <p:nvSpPr>
          <p:cNvPr id="23" name="角丸四角形 22">
            <a:extLst>
              <a:ext uri="{FF2B5EF4-FFF2-40B4-BE49-F238E27FC236}">
                <a16:creationId xmlns:a16="http://schemas.microsoft.com/office/drawing/2014/main" id="{4D14183A-BB47-E64E-8B53-00A5348C2750}"/>
              </a:ext>
            </a:extLst>
          </p:cNvPr>
          <p:cNvSpPr/>
          <p:nvPr/>
        </p:nvSpPr>
        <p:spPr>
          <a:xfrm>
            <a:off x="457200" y="7823200"/>
            <a:ext cx="1676400" cy="838200"/>
          </a:xfrm>
          <a:prstGeom prst="roundRect">
            <a:avLst/>
          </a:prstGeom>
          <a:solidFill>
            <a:srgbClr val="F0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950" b="1">
                <a:solidFill>
                  <a:srgbClr val="1B1F4E"/>
                </a:solidFill>
                <a:latin typeface="Meiryo"/>
                <a:ea typeface="Meiryo"/>
              </a:rPr>
              <a:t>従業員・利用者
あらゆる</a:t>
            </a:r>
            <a:r>
              <a:rPr lang="en" altLang="ja-JP" sz="950" b="1">
                <a:solidFill>
                  <a:srgbClr val="1B1F4E"/>
                </a:solidFill>
                <a:latin typeface="Meiryo"/>
                <a:ea typeface="Meiryo"/>
              </a:rPr>
              <a:t>AI</a:t>
            </a:r>
            <a:r>
              <a:rPr lang="ja-JP" altLang="en-US" sz="950" b="1">
                <a:solidFill>
                  <a:srgbClr val="1B1F4E"/>
                </a:solidFill>
                <a:latin typeface="Meiryo"/>
                <a:ea typeface="Meiryo"/>
              </a:rPr>
              <a:t>利用</a:t>
            </a:r>
          </a:p>
        </p:txBody>
      </p:sp>
      <p:sp>
        <p:nvSpPr>
          <p:cNvPr id="24" name="右矢印 23">
            <a:extLst>
              <a:ext uri="{FF2B5EF4-FFF2-40B4-BE49-F238E27FC236}">
                <a16:creationId xmlns:a16="http://schemas.microsoft.com/office/drawing/2014/main" id="{7A1B6041-1E56-3A41-A2CB-FC98DBB82C93}"/>
              </a:ext>
            </a:extLst>
          </p:cNvPr>
          <p:cNvSpPr/>
          <p:nvPr/>
        </p:nvSpPr>
        <p:spPr>
          <a:xfrm>
            <a:off x="2209800" y="8051800"/>
            <a:ext cx="431800" cy="279400"/>
          </a:xfrm>
          <a:prstGeom prst="rightArrow">
            <a:avLst/>
          </a:prstGeom>
          <a:solidFill>
            <a:srgbClr val="C810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角丸四角形 24">
            <a:extLst>
              <a:ext uri="{FF2B5EF4-FFF2-40B4-BE49-F238E27FC236}">
                <a16:creationId xmlns:a16="http://schemas.microsoft.com/office/drawing/2014/main" id="{CEE9D5C8-2E67-2A41-839C-F9AD71DE967C}"/>
              </a:ext>
            </a:extLst>
          </p:cNvPr>
          <p:cNvSpPr/>
          <p:nvPr/>
        </p:nvSpPr>
        <p:spPr>
          <a:xfrm>
            <a:off x="2717800" y="7696200"/>
            <a:ext cx="1930400" cy="1092200"/>
          </a:xfrm>
          <a:prstGeom prst="roundRect">
            <a:avLst/>
          </a:prstGeom>
          <a:solidFill>
            <a:srgbClr val="1B1F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6" name="テキスト ボックス 25">
            <a:extLst>
              <a:ext uri="{FF2B5EF4-FFF2-40B4-BE49-F238E27FC236}">
                <a16:creationId xmlns:a16="http://schemas.microsoft.com/office/drawing/2014/main" id="{E0F39BFD-B30A-844F-8123-EBC758E3243B}"/>
              </a:ext>
            </a:extLst>
          </p:cNvPr>
          <p:cNvSpPr txBox="1"/>
          <p:nvPr/>
        </p:nvSpPr>
        <p:spPr>
          <a:xfrm>
            <a:off x="2717800" y="7848600"/>
            <a:ext cx="1930400" cy="254000"/>
          </a:xfrm>
          <a:prstGeom prst="rect">
            <a:avLst/>
          </a:prstGeom>
          <a:noFill/>
        </p:spPr>
        <p:txBody>
          <a:bodyPr vertOverflow="overflow" vert="horz" wrap="square" rtlCol="0" anchor="t" anchorCtr="0">
            <a:noAutofit/>
          </a:bodyPr>
          <a:lstStyle/>
          <a:p>
            <a:pPr algn="l"/>
            <a:r>
              <a:rPr lang="en" altLang="ja-JP" sz="1150" b="1">
                <a:solidFill>
                  <a:srgbClr val="F7B815"/>
                </a:solidFill>
                <a:latin typeface="Meiryo"/>
                <a:ea typeface="Meiryo"/>
              </a:rPr>
              <a:t>WITNESS AI</a:t>
            </a:r>
            <a:endParaRPr lang="ja-JP" altLang="en-US" sz="1150" b="1">
              <a:solidFill>
                <a:srgbClr val="F7B815"/>
              </a:solidFill>
              <a:latin typeface="Meiryo"/>
              <a:ea typeface="Meiryo"/>
            </a:endParaRPr>
          </a:p>
        </p:txBody>
      </p:sp>
      <p:sp>
        <p:nvSpPr>
          <p:cNvPr id="27" name="テキスト ボックス 26">
            <a:extLst>
              <a:ext uri="{FF2B5EF4-FFF2-40B4-BE49-F238E27FC236}">
                <a16:creationId xmlns:a16="http://schemas.microsoft.com/office/drawing/2014/main" id="{4E6D5716-D0EC-A44E-8219-63404532DDD7}"/>
              </a:ext>
            </a:extLst>
          </p:cNvPr>
          <p:cNvSpPr txBox="1"/>
          <p:nvPr/>
        </p:nvSpPr>
        <p:spPr>
          <a:xfrm>
            <a:off x="2717800" y="8153400"/>
            <a:ext cx="1930400" cy="482600"/>
          </a:xfrm>
          <a:prstGeom prst="rect">
            <a:avLst/>
          </a:prstGeom>
          <a:noFill/>
        </p:spPr>
        <p:txBody>
          <a:bodyPr vertOverflow="overflow" vert="horz" wrap="square" rtlCol="0" anchor="t" anchorCtr="0">
            <a:noAutofit/>
          </a:bodyPr>
          <a:lstStyle/>
          <a:p>
            <a:pPr algn="l"/>
            <a:r>
              <a:rPr lang="en" altLang="ja-JP" sz="850">
                <a:solidFill>
                  <a:srgbClr val="FFFFFF"/>
                </a:solidFill>
                <a:latin typeface="Meiryo"/>
                <a:ea typeface="Meiryo"/>
              </a:rPr>
              <a:t>AI Security Gateway
</a:t>
            </a:r>
            <a:r>
              <a:rPr lang="ja-JP" altLang="en-US" sz="850">
                <a:solidFill>
                  <a:srgbClr val="FFFFFF"/>
                </a:solidFill>
                <a:latin typeface="Meiryo"/>
                <a:ea typeface="Meiryo"/>
              </a:rPr>
              <a:t>可視化 ・ 制御 ・ 保護</a:t>
            </a:r>
          </a:p>
        </p:txBody>
      </p:sp>
      <p:sp>
        <p:nvSpPr>
          <p:cNvPr id="28" name="右矢印 27">
            <a:extLst>
              <a:ext uri="{FF2B5EF4-FFF2-40B4-BE49-F238E27FC236}">
                <a16:creationId xmlns:a16="http://schemas.microsoft.com/office/drawing/2014/main" id="{15727F96-6B40-9B41-B888-CF62A5F3B167}"/>
              </a:ext>
            </a:extLst>
          </p:cNvPr>
          <p:cNvSpPr/>
          <p:nvPr/>
        </p:nvSpPr>
        <p:spPr>
          <a:xfrm>
            <a:off x="4724400" y="8051800"/>
            <a:ext cx="431800" cy="279400"/>
          </a:xfrm>
          <a:prstGeom prst="rightArrow">
            <a:avLst/>
          </a:prstGeom>
          <a:solidFill>
            <a:srgbClr val="C8102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角丸四角形 28">
            <a:extLst>
              <a:ext uri="{FF2B5EF4-FFF2-40B4-BE49-F238E27FC236}">
                <a16:creationId xmlns:a16="http://schemas.microsoft.com/office/drawing/2014/main" id="{21D44847-70E6-B742-90E8-DEF9888795E1}"/>
              </a:ext>
            </a:extLst>
          </p:cNvPr>
          <p:cNvSpPr/>
          <p:nvPr/>
        </p:nvSpPr>
        <p:spPr>
          <a:xfrm>
            <a:off x="5232400" y="7823200"/>
            <a:ext cx="1625600" cy="838200"/>
          </a:xfrm>
          <a:prstGeom prst="roundRect">
            <a:avLst/>
          </a:prstGeom>
          <a:solidFill>
            <a:srgbClr val="F0F2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950" b="1">
                <a:solidFill>
                  <a:srgbClr val="1B1F4E"/>
                </a:solidFill>
                <a:latin typeface="Meiryo"/>
                <a:ea typeface="Meiryo"/>
              </a:rPr>
              <a:t>外部</a:t>
            </a:r>
            <a:r>
              <a:rPr lang="en" altLang="ja-JP" sz="950" b="1">
                <a:solidFill>
                  <a:srgbClr val="1B1F4E"/>
                </a:solidFill>
                <a:latin typeface="Meiryo"/>
                <a:ea typeface="Meiryo"/>
              </a:rPr>
              <a:t>AI</a:t>
            </a:r>
            <a:r>
              <a:rPr lang="ja-JP" altLang="en" sz="950" b="1">
                <a:solidFill>
                  <a:srgbClr val="1B1F4E"/>
                </a:solidFill>
                <a:latin typeface="Meiryo"/>
                <a:ea typeface="Meiryo"/>
              </a:rPr>
              <a:t>・</a:t>
            </a:r>
            <a:r>
              <a:rPr lang="ja-JP" altLang="en-US" sz="950" b="1">
                <a:solidFill>
                  <a:srgbClr val="1B1F4E"/>
                </a:solidFill>
                <a:latin typeface="Meiryo"/>
                <a:ea typeface="Meiryo"/>
              </a:rPr>
              <a:t>クラウド
</a:t>
            </a:r>
            <a:r>
              <a:rPr lang="en" altLang="ja-JP" sz="950" b="1">
                <a:solidFill>
                  <a:srgbClr val="1B1F4E"/>
                </a:solidFill>
                <a:latin typeface="Meiryo"/>
                <a:ea typeface="Meiryo"/>
              </a:rPr>
              <a:t>ChatGPT / Copilot </a:t>
            </a:r>
            <a:r>
              <a:rPr lang="ja-JP" altLang="en-US" sz="950" b="1">
                <a:solidFill>
                  <a:srgbClr val="1B1F4E"/>
                </a:solidFill>
                <a:latin typeface="Meiryo"/>
                <a:ea typeface="Meiryo"/>
              </a:rPr>
              <a:t>等</a:t>
            </a:r>
          </a:p>
        </p:txBody>
      </p:sp>
      <p:sp>
        <p:nvSpPr>
          <p:cNvPr id="30" name="テキスト ボックス 29">
            <a:extLst>
              <a:ext uri="{FF2B5EF4-FFF2-40B4-BE49-F238E27FC236}">
                <a16:creationId xmlns:a16="http://schemas.microsoft.com/office/drawing/2014/main" id="{F112DC06-438F-3C44-8D3A-9A255EBC4E42}"/>
              </a:ext>
            </a:extLst>
          </p:cNvPr>
          <p:cNvSpPr txBox="1"/>
          <p:nvPr/>
        </p:nvSpPr>
        <p:spPr>
          <a:xfrm>
            <a:off x="457200" y="9144000"/>
            <a:ext cx="3556000" cy="254000"/>
          </a:xfrm>
          <a:prstGeom prst="rect">
            <a:avLst/>
          </a:prstGeom>
          <a:noFill/>
        </p:spPr>
        <p:txBody>
          <a:bodyPr vertOverflow="overflow" vert="horz" wrap="square" rtlCol="0" anchor="t" anchorCtr="0">
            <a:noAutofit/>
          </a:bodyPr>
          <a:lstStyle/>
          <a:p>
            <a:pPr algn="l"/>
            <a:r>
              <a:rPr lang="ja-JP" altLang="en-US" sz="1200" b="1">
                <a:solidFill>
                  <a:srgbClr val="C8102E"/>
                </a:solidFill>
                <a:latin typeface="Meiryo"/>
                <a:ea typeface="Meiryo"/>
              </a:rPr>
              <a:t>導入のご相談はこちら</a:t>
            </a:r>
          </a:p>
        </p:txBody>
      </p:sp>
      <p:sp>
        <p:nvSpPr>
          <p:cNvPr id="31" name="テキスト ボックス 30">
            <a:extLst>
              <a:ext uri="{FF2B5EF4-FFF2-40B4-BE49-F238E27FC236}">
                <a16:creationId xmlns:a16="http://schemas.microsoft.com/office/drawing/2014/main" id="{8644124B-81D7-7540-83A3-ACE324BBA832}"/>
              </a:ext>
            </a:extLst>
          </p:cNvPr>
          <p:cNvSpPr txBox="1"/>
          <p:nvPr/>
        </p:nvSpPr>
        <p:spPr>
          <a:xfrm>
            <a:off x="3810000" y="9169400"/>
            <a:ext cx="2590800" cy="203200"/>
          </a:xfrm>
          <a:prstGeom prst="rect">
            <a:avLst/>
          </a:prstGeom>
          <a:noFill/>
        </p:spPr>
        <p:txBody>
          <a:bodyPr vertOverflow="overflow" vert="horz" wrap="square" rtlCol="0" anchor="t" anchorCtr="0">
            <a:noAutofit/>
          </a:bodyPr>
          <a:lstStyle/>
          <a:p>
            <a:pPr algn="l"/>
            <a:r>
              <a:rPr lang="en" altLang="ja-JP" sz="850">
                <a:solidFill>
                  <a:srgbClr val="333333"/>
                </a:solidFill>
                <a:latin typeface="Meiryo"/>
                <a:ea typeface="Meiryo"/>
              </a:rPr>
              <a:t>go.jsol.co.jp/lp/inquiry/00009</a:t>
            </a:r>
            <a:endParaRPr lang="ja-JP" altLang="en-US" sz="850">
              <a:solidFill>
                <a:srgbClr val="333333"/>
              </a:solidFill>
              <a:latin typeface="Meiryo"/>
              <a:ea typeface="Meiryo"/>
            </a:endParaRPr>
          </a:p>
        </p:txBody>
      </p:sp>
      <p:sp>
        <p:nvSpPr>
          <p:cNvPr id="32" name="テキスト ボックス 31">
            <a:extLst>
              <a:ext uri="{FF2B5EF4-FFF2-40B4-BE49-F238E27FC236}">
                <a16:creationId xmlns:a16="http://schemas.microsoft.com/office/drawing/2014/main" id="{BE975728-A387-2D47-A89A-82AD1B16D487}"/>
              </a:ext>
            </a:extLst>
          </p:cNvPr>
          <p:cNvSpPr txBox="1"/>
          <p:nvPr/>
        </p:nvSpPr>
        <p:spPr>
          <a:xfrm>
            <a:off x="457200" y="9448800"/>
            <a:ext cx="5943600" cy="177800"/>
          </a:xfrm>
          <a:prstGeom prst="rect">
            <a:avLst/>
          </a:prstGeom>
          <a:noFill/>
        </p:spPr>
        <p:txBody>
          <a:bodyPr vertOverflow="overflow" vert="horz" wrap="square" rtlCol="0" anchor="t" anchorCtr="0">
            <a:noAutofit/>
          </a:bodyPr>
          <a:lstStyle/>
          <a:p>
            <a:pPr algn="l"/>
            <a:r>
              <a:rPr lang="ja-JP" altLang="en-US" sz="850">
                <a:solidFill>
                  <a:srgbClr val="667788"/>
                </a:solidFill>
                <a:latin typeface="Meiryo"/>
                <a:ea typeface="Meiryo"/>
              </a:rPr>
              <a:t>▶ 機能・提供メニューの詳細は裏面をご覧ください</a:t>
            </a:r>
          </a:p>
        </p:txBody>
      </p:sp>
    </p:spTree>
    <p:extLst>
      <p:ext uri="{BB962C8B-B14F-4D97-AF65-F5344CB8AC3E}">
        <p14:creationId xmlns:p14="http://schemas.microsoft.com/office/powerpoint/2010/main" val="2168662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ECEB4684-D95D-C673-F3D7-7E78F07832DA}"/>
              </a:ext>
            </a:extLst>
          </p:cNvPr>
          <p:cNvPicPr>
            <a:picLocks/>
          </p:cNvPicPr>
          <p:nvPr/>
        </p:nvPicPr>
        <p:blipFill>
          <a:blip r:embed="rId2"/>
          <a:stretch>
            <a:fillRect/>
          </a:stretch>
        </p:blipFill>
        <p:spPr>
          <a:xfrm>
            <a:off x="0" y="0"/>
            <a:ext cx="6858000" cy="9906000"/>
          </a:xfrm>
          <a:prstGeom prst="rect">
            <a:avLst/>
          </a:prstGeom>
        </p:spPr>
      </p:pic>
      <p:sp>
        <p:nvSpPr>
          <p:cNvPr id="3" name="テキスト ボックス 2">
            <a:extLst>
              <a:ext uri="{FF2B5EF4-FFF2-40B4-BE49-F238E27FC236}">
                <a16:creationId xmlns:a16="http://schemas.microsoft.com/office/drawing/2014/main" id="{6887FBEB-CD85-1F42-A49B-F8CB9798DCAA}"/>
              </a:ext>
            </a:extLst>
          </p:cNvPr>
          <p:cNvSpPr txBox="1"/>
          <p:nvPr/>
        </p:nvSpPr>
        <p:spPr>
          <a:xfrm>
            <a:off x="457200" y="457200"/>
            <a:ext cx="2540000" cy="254000"/>
          </a:xfrm>
          <a:prstGeom prst="rect">
            <a:avLst/>
          </a:prstGeom>
          <a:noFill/>
        </p:spPr>
        <p:txBody>
          <a:bodyPr vertOverflow="overflow" vert="horz" wrap="square" rtlCol="0" anchor="t" anchorCtr="0">
            <a:noAutofit/>
          </a:bodyPr>
          <a:lstStyle/>
          <a:p>
            <a:pPr algn="l"/>
            <a:r>
              <a:rPr lang="en" altLang="ja-JP" sz="1500" b="1">
                <a:solidFill>
                  <a:srgbClr val="FFFFFF"/>
                </a:solidFill>
                <a:latin typeface="Meiryo"/>
                <a:ea typeface="Meiryo"/>
              </a:rPr>
              <a:t>WITNESS AI</a:t>
            </a:r>
            <a:endParaRPr lang="ja-JP" altLang="en-US" sz="1500" b="1">
              <a:solidFill>
                <a:srgbClr val="FFFFFF"/>
              </a:solidFill>
              <a:latin typeface="Meiryo"/>
              <a:ea typeface="Meiryo"/>
            </a:endParaRPr>
          </a:p>
        </p:txBody>
      </p:sp>
      <p:sp>
        <p:nvSpPr>
          <p:cNvPr id="4" name="テキスト ボックス 3">
            <a:extLst>
              <a:ext uri="{FF2B5EF4-FFF2-40B4-BE49-F238E27FC236}">
                <a16:creationId xmlns:a16="http://schemas.microsoft.com/office/drawing/2014/main" id="{BD848AE8-B225-1D40-9C78-83881737F198}"/>
              </a:ext>
            </a:extLst>
          </p:cNvPr>
          <p:cNvSpPr txBox="1"/>
          <p:nvPr/>
        </p:nvSpPr>
        <p:spPr>
          <a:xfrm>
            <a:off x="3048000" y="508000"/>
            <a:ext cx="3352800" cy="177800"/>
          </a:xfrm>
          <a:prstGeom prst="rect">
            <a:avLst/>
          </a:prstGeom>
          <a:noFill/>
        </p:spPr>
        <p:txBody>
          <a:bodyPr vertOverflow="overflow" vert="horz" wrap="square" rtlCol="0" anchor="t" anchorCtr="0">
            <a:noAutofit/>
          </a:bodyPr>
          <a:lstStyle/>
          <a:p>
            <a:pPr algn="l"/>
            <a:r>
              <a:rPr lang="ja-JP" altLang="en-US" sz="800">
                <a:solidFill>
                  <a:srgbClr val="C9CFE8"/>
                </a:solidFill>
                <a:latin typeface="Meiryo"/>
                <a:ea typeface="Meiryo"/>
              </a:rPr>
              <a:t>生成</a:t>
            </a:r>
            <a:r>
              <a:rPr lang="en" altLang="ja-JP" sz="800">
                <a:solidFill>
                  <a:srgbClr val="C9CFE8"/>
                </a:solidFill>
                <a:latin typeface="Meiryo"/>
                <a:ea typeface="Meiryo"/>
              </a:rPr>
              <a:t>AI</a:t>
            </a:r>
            <a:r>
              <a:rPr lang="ja-JP" altLang="en-US" sz="800">
                <a:solidFill>
                  <a:srgbClr val="C9CFE8"/>
                </a:solidFill>
                <a:latin typeface="Meiryo"/>
                <a:ea typeface="Meiryo"/>
              </a:rPr>
              <a:t>セキュリティ・ガバナンス｜提供：</a:t>
            </a:r>
            <a:r>
              <a:rPr lang="en" altLang="ja-JP" sz="800">
                <a:solidFill>
                  <a:srgbClr val="C9CFE8"/>
                </a:solidFill>
                <a:latin typeface="Meiryo"/>
                <a:ea typeface="Meiryo"/>
              </a:rPr>
              <a:t>JSOL</a:t>
            </a:r>
            <a:endParaRPr lang="ja-JP" altLang="en-US" sz="800">
              <a:solidFill>
                <a:srgbClr val="C9CFE8"/>
              </a:solidFill>
              <a:latin typeface="Meiryo"/>
              <a:ea typeface="Meiryo"/>
            </a:endParaRPr>
          </a:p>
        </p:txBody>
      </p:sp>
      <p:sp>
        <p:nvSpPr>
          <p:cNvPr id="5" name="テキスト ボックス 4">
            <a:extLst>
              <a:ext uri="{FF2B5EF4-FFF2-40B4-BE49-F238E27FC236}">
                <a16:creationId xmlns:a16="http://schemas.microsoft.com/office/drawing/2014/main" id="{BA496259-0BA7-DE4C-AEEE-2A299FFD9135}"/>
              </a:ext>
            </a:extLst>
          </p:cNvPr>
          <p:cNvSpPr txBox="1"/>
          <p:nvPr/>
        </p:nvSpPr>
        <p:spPr>
          <a:xfrm>
            <a:off x="457200" y="1168400"/>
            <a:ext cx="5943600" cy="965200"/>
          </a:xfrm>
          <a:prstGeom prst="rect">
            <a:avLst/>
          </a:prstGeom>
          <a:noFill/>
        </p:spPr>
        <p:txBody>
          <a:bodyPr vertOverflow="overflow" vert="horz" wrap="square" rtlCol="0" anchor="t" anchorCtr="0">
            <a:noAutofit/>
          </a:bodyPr>
          <a:lstStyle/>
          <a:p>
            <a:pPr algn="l"/>
            <a:r>
              <a:rPr lang="en" altLang="ja-JP" sz="2500" b="1">
                <a:solidFill>
                  <a:srgbClr val="FFFFFF"/>
                </a:solidFill>
                <a:latin typeface="Meiryo"/>
                <a:ea typeface="Meiryo"/>
              </a:rPr>
              <a:t>AI</a:t>
            </a:r>
            <a:r>
              <a:rPr lang="ja-JP" altLang="en-US" sz="2500" b="1">
                <a:solidFill>
                  <a:srgbClr val="FFFFFF"/>
                </a:solidFill>
                <a:latin typeface="Meiryo"/>
                <a:ea typeface="Meiryo"/>
              </a:rPr>
              <a:t>は、止めない。
リスクだけを、統制する。</a:t>
            </a:r>
          </a:p>
        </p:txBody>
      </p:sp>
      <p:sp>
        <p:nvSpPr>
          <p:cNvPr id="6" name="テキスト ボックス 5">
            <a:extLst>
              <a:ext uri="{FF2B5EF4-FFF2-40B4-BE49-F238E27FC236}">
                <a16:creationId xmlns:a16="http://schemas.microsoft.com/office/drawing/2014/main" id="{89FCDBAB-793C-064E-B48C-855ED5309FBD}"/>
              </a:ext>
            </a:extLst>
          </p:cNvPr>
          <p:cNvSpPr txBox="1"/>
          <p:nvPr/>
        </p:nvSpPr>
        <p:spPr>
          <a:xfrm>
            <a:off x="457200" y="2260600"/>
            <a:ext cx="5943600" cy="381000"/>
          </a:xfrm>
          <a:prstGeom prst="rect">
            <a:avLst/>
          </a:prstGeom>
          <a:noFill/>
        </p:spPr>
        <p:txBody>
          <a:bodyPr vertOverflow="overflow" vert="horz" wrap="square" rtlCol="0" anchor="t" anchorCtr="0">
            <a:noAutofit/>
          </a:bodyPr>
          <a:lstStyle/>
          <a:p>
            <a:pPr algn="l"/>
            <a:r>
              <a:rPr lang="ja-JP" altLang="en-US" sz="950">
                <a:solidFill>
                  <a:srgbClr val="C9CFE8"/>
                </a:solidFill>
                <a:latin typeface="Meiryo"/>
                <a:ea typeface="Meiryo"/>
              </a:rPr>
              <a:t>シャドー</a:t>
            </a:r>
            <a:r>
              <a:rPr lang="en" altLang="ja-JP" sz="950">
                <a:solidFill>
                  <a:srgbClr val="C9CFE8"/>
                </a:solidFill>
                <a:latin typeface="Meiryo"/>
                <a:ea typeface="Meiryo"/>
              </a:rPr>
              <a:t>AI</a:t>
            </a:r>
            <a:r>
              <a:rPr lang="ja-JP" altLang="en-US" sz="950">
                <a:solidFill>
                  <a:srgbClr val="C9CFE8"/>
                </a:solidFill>
                <a:latin typeface="Meiryo"/>
                <a:ea typeface="Meiryo"/>
              </a:rPr>
              <a:t>やプロンプトインジェクションによる情報流出リスクが顕在化。</a:t>
            </a:r>
            <a:r>
              <a:rPr lang="en" altLang="ja-JP" sz="950">
                <a:solidFill>
                  <a:srgbClr val="C9CFE8"/>
                </a:solidFill>
                <a:latin typeface="Meiryo"/>
                <a:ea typeface="Meiryo"/>
              </a:rPr>
              <a:t>AI</a:t>
            </a:r>
            <a:r>
              <a:rPr lang="ja-JP" altLang="en-US" sz="950">
                <a:solidFill>
                  <a:srgbClr val="C9CFE8"/>
                </a:solidFill>
                <a:latin typeface="Meiryo"/>
                <a:ea typeface="Meiryo"/>
              </a:rPr>
              <a:t>活用のスピードを落とさない統制が求められています。</a:t>
            </a:r>
          </a:p>
        </p:txBody>
      </p:sp>
      <p:sp>
        <p:nvSpPr>
          <p:cNvPr id="7" name="テキスト ボックス 6">
            <a:extLst>
              <a:ext uri="{FF2B5EF4-FFF2-40B4-BE49-F238E27FC236}">
                <a16:creationId xmlns:a16="http://schemas.microsoft.com/office/drawing/2014/main" id="{B4462A60-EEA5-A846-B22C-10A1CDDD739E}"/>
              </a:ext>
            </a:extLst>
          </p:cNvPr>
          <p:cNvSpPr txBox="1"/>
          <p:nvPr/>
        </p:nvSpPr>
        <p:spPr>
          <a:xfrm>
            <a:off x="457200" y="2895600"/>
            <a:ext cx="2540000" cy="177800"/>
          </a:xfrm>
          <a:prstGeom prst="rect">
            <a:avLst/>
          </a:prstGeom>
          <a:noFill/>
        </p:spPr>
        <p:txBody>
          <a:bodyPr vertOverflow="overflow" vert="horz" wrap="square" rtlCol="0" anchor="t" anchorCtr="0">
            <a:noAutofit/>
          </a:bodyPr>
          <a:lstStyle/>
          <a:p>
            <a:pPr algn="l"/>
            <a:r>
              <a:rPr lang="en" altLang="ja-JP" sz="1000" b="1">
                <a:solidFill>
                  <a:srgbClr val="F7B815"/>
                </a:solidFill>
                <a:latin typeface="Meiryo"/>
                <a:ea typeface="Meiryo"/>
              </a:rPr>
              <a:t>ISSUE ─ </a:t>
            </a:r>
            <a:r>
              <a:rPr lang="ja-JP" altLang="en-US" sz="1000" b="1">
                <a:solidFill>
                  <a:srgbClr val="F7B815"/>
                </a:solidFill>
                <a:latin typeface="Meiryo"/>
                <a:ea typeface="Meiryo"/>
              </a:rPr>
              <a:t>課題</a:t>
            </a:r>
          </a:p>
        </p:txBody>
      </p:sp>
      <p:sp>
        <p:nvSpPr>
          <p:cNvPr id="8" name="テキスト ボックス 7">
            <a:extLst>
              <a:ext uri="{FF2B5EF4-FFF2-40B4-BE49-F238E27FC236}">
                <a16:creationId xmlns:a16="http://schemas.microsoft.com/office/drawing/2014/main" id="{3CF8C262-7913-494E-B66D-80F55B839E46}"/>
              </a:ext>
            </a:extLst>
          </p:cNvPr>
          <p:cNvSpPr txBox="1"/>
          <p:nvPr/>
        </p:nvSpPr>
        <p:spPr>
          <a:xfrm>
            <a:off x="457200" y="3149600"/>
            <a:ext cx="5080000" cy="279400"/>
          </a:xfrm>
          <a:prstGeom prst="rect">
            <a:avLst/>
          </a:prstGeom>
          <a:noFill/>
        </p:spPr>
        <p:txBody>
          <a:bodyPr vertOverflow="overflow" vert="horz" wrap="square" rtlCol="0" anchor="t" anchorCtr="0">
            <a:noAutofit/>
          </a:bodyPr>
          <a:lstStyle/>
          <a:p>
            <a:pPr algn="l"/>
            <a:r>
              <a:rPr lang="ja-JP" altLang="en-US" sz="1500" b="1">
                <a:solidFill>
                  <a:srgbClr val="FFFFFF"/>
                </a:solidFill>
                <a:latin typeface="Meiryo"/>
                <a:ea typeface="Meiryo"/>
              </a:rPr>
              <a:t>なぜ今、</a:t>
            </a:r>
            <a:r>
              <a:rPr lang="en" altLang="ja-JP" sz="1500" b="1">
                <a:solidFill>
                  <a:srgbClr val="FFFFFF"/>
                </a:solidFill>
                <a:latin typeface="Meiryo"/>
                <a:ea typeface="Meiryo"/>
              </a:rPr>
              <a:t>AI</a:t>
            </a:r>
            <a:r>
              <a:rPr lang="ja-JP" altLang="en-US" sz="1500" b="1">
                <a:solidFill>
                  <a:srgbClr val="FFFFFF"/>
                </a:solidFill>
                <a:latin typeface="Meiryo"/>
                <a:ea typeface="Meiryo"/>
              </a:rPr>
              <a:t>ガバナンスが必要か</a:t>
            </a:r>
          </a:p>
        </p:txBody>
      </p:sp>
      <p:sp>
        <p:nvSpPr>
          <p:cNvPr id="9" name="テキスト ボックス 8">
            <a:extLst>
              <a:ext uri="{FF2B5EF4-FFF2-40B4-BE49-F238E27FC236}">
                <a16:creationId xmlns:a16="http://schemas.microsoft.com/office/drawing/2014/main" id="{86713B6D-49C2-CA4F-9187-CAE567E24C3A}"/>
              </a:ext>
            </a:extLst>
          </p:cNvPr>
          <p:cNvSpPr txBox="1"/>
          <p:nvPr/>
        </p:nvSpPr>
        <p:spPr>
          <a:xfrm>
            <a:off x="457200" y="3657600"/>
            <a:ext cx="558800" cy="3048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01</a:t>
            </a:r>
            <a:endParaRPr lang="ja-JP" altLang="en-US" sz="1600" b="1">
              <a:solidFill>
                <a:srgbClr val="F7B815"/>
              </a:solidFill>
              <a:latin typeface="Meiryo"/>
              <a:ea typeface="Meiryo"/>
            </a:endParaRPr>
          </a:p>
        </p:txBody>
      </p:sp>
      <p:sp>
        <p:nvSpPr>
          <p:cNvPr id="10" name="テキスト ボックス 9">
            <a:extLst>
              <a:ext uri="{FF2B5EF4-FFF2-40B4-BE49-F238E27FC236}">
                <a16:creationId xmlns:a16="http://schemas.microsoft.com/office/drawing/2014/main" id="{AD007EEB-7D00-764E-B001-E3C7788D68BA}"/>
              </a:ext>
            </a:extLst>
          </p:cNvPr>
          <p:cNvSpPr txBox="1"/>
          <p:nvPr/>
        </p:nvSpPr>
        <p:spPr>
          <a:xfrm>
            <a:off x="1041400" y="3670300"/>
            <a:ext cx="53594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Meiryo"/>
                <a:ea typeface="Meiryo"/>
              </a:rPr>
              <a:t>自律型エージェントの台頭</a:t>
            </a:r>
          </a:p>
        </p:txBody>
      </p:sp>
      <p:sp>
        <p:nvSpPr>
          <p:cNvPr id="11" name="テキスト ボックス 10">
            <a:extLst>
              <a:ext uri="{FF2B5EF4-FFF2-40B4-BE49-F238E27FC236}">
                <a16:creationId xmlns:a16="http://schemas.microsoft.com/office/drawing/2014/main" id="{0980245A-DB94-784D-8BC9-558A05D167A3}"/>
              </a:ext>
            </a:extLst>
          </p:cNvPr>
          <p:cNvSpPr txBox="1"/>
          <p:nvPr/>
        </p:nvSpPr>
        <p:spPr>
          <a:xfrm>
            <a:off x="1041400" y="3924300"/>
            <a:ext cx="5359400" cy="304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外部</a:t>
            </a:r>
            <a:r>
              <a:rPr lang="en" altLang="ja-JP" sz="850">
                <a:solidFill>
                  <a:srgbClr val="C9CFE8"/>
                </a:solidFill>
                <a:latin typeface="Meiryo"/>
                <a:ea typeface="Meiryo"/>
              </a:rPr>
              <a:t>API</a:t>
            </a:r>
            <a:r>
              <a:rPr lang="ja-JP" altLang="en-US" sz="850">
                <a:solidFill>
                  <a:srgbClr val="C9CFE8"/>
                </a:solidFill>
                <a:latin typeface="Meiryo"/>
                <a:ea typeface="Meiryo"/>
              </a:rPr>
              <a:t>や</a:t>
            </a:r>
            <a:r>
              <a:rPr lang="en" altLang="ja-JP" sz="850">
                <a:solidFill>
                  <a:srgbClr val="C9CFE8"/>
                </a:solidFill>
                <a:latin typeface="Meiryo"/>
                <a:ea typeface="Meiryo"/>
              </a:rPr>
              <a:t>DB</a:t>
            </a:r>
            <a:r>
              <a:rPr lang="ja-JP" altLang="en-US" sz="850">
                <a:solidFill>
                  <a:srgbClr val="C9CFE8"/>
                </a:solidFill>
                <a:latin typeface="Meiryo"/>
                <a:ea typeface="Meiryo"/>
              </a:rPr>
              <a:t>を自律操作する</a:t>
            </a:r>
            <a:r>
              <a:rPr lang="en" altLang="ja-JP" sz="850">
                <a:solidFill>
                  <a:srgbClr val="C9CFE8"/>
                </a:solidFill>
                <a:latin typeface="Meiryo"/>
                <a:ea typeface="Meiryo"/>
              </a:rPr>
              <a:t>AI</a:t>
            </a:r>
            <a:r>
              <a:rPr lang="ja-JP" altLang="en-US" sz="850">
                <a:solidFill>
                  <a:srgbClr val="C9CFE8"/>
                </a:solidFill>
                <a:latin typeface="Meiryo"/>
                <a:ea typeface="Meiryo"/>
              </a:rPr>
              <a:t>へ進化し、従来の監視手法では追いつかない。</a:t>
            </a:r>
          </a:p>
        </p:txBody>
      </p:sp>
      <p:sp>
        <p:nvSpPr>
          <p:cNvPr id="12" name="テキスト ボックス 11">
            <a:extLst>
              <a:ext uri="{FF2B5EF4-FFF2-40B4-BE49-F238E27FC236}">
                <a16:creationId xmlns:a16="http://schemas.microsoft.com/office/drawing/2014/main" id="{E62B8E2B-DBEB-7443-88E4-68B3F8092FE4}"/>
              </a:ext>
            </a:extLst>
          </p:cNvPr>
          <p:cNvSpPr txBox="1"/>
          <p:nvPr/>
        </p:nvSpPr>
        <p:spPr>
          <a:xfrm>
            <a:off x="457200" y="4343400"/>
            <a:ext cx="558800" cy="3048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02</a:t>
            </a:r>
            <a:endParaRPr lang="ja-JP" altLang="en-US" sz="1600" b="1">
              <a:solidFill>
                <a:srgbClr val="F7B815"/>
              </a:solidFill>
              <a:latin typeface="Meiryo"/>
              <a:ea typeface="Meiryo"/>
            </a:endParaRPr>
          </a:p>
        </p:txBody>
      </p:sp>
      <p:sp>
        <p:nvSpPr>
          <p:cNvPr id="13" name="テキスト ボックス 12">
            <a:extLst>
              <a:ext uri="{FF2B5EF4-FFF2-40B4-BE49-F238E27FC236}">
                <a16:creationId xmlns:a16="http://schemas.microsoft.com/office/drawing/2014/main" id="{358BCAB6-A24C-9C44-A6DB-72BC0FC588FA}"/>
              </a:ext>
            </a:extLst>
          </p:cNvPr>
          <p:cNvSpPr txBox="1"/>
          <p:nvPr/>
        </p:nvSpPr>
        <p:spPr>
          <a:xfrm>
            <a:off x="1041400" y="4356100"/>
            <a:ext cx="53594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Meiryo"/>
                <a:ea typeface="Meiryo"/>
              </a:rPr>
              <a:t>シャドー</a:t>
            </a:r>
            <a:r>
              <a:rPr lang="en" altLang="ja-JP" sz="1200" b="1">
                <a:solidFill>
                  <a:srgbClr val="FFFFFF"/>
                </a:solidFill>
                <a:latin typeface="Meiryo"/>
                <a:ea typeface="Meiryo"/>
              </a:rPr>
              <a:t>AI</a:t>
            </a:r>
            <a:r>
              <a:rPr lang="ja-JP" altLang="en-US" sz="1200" b="1">
                <a:solidFill>
                  <a:srgbClr val="FFFFFF"/>
                </a:solidFill>
                <a:latin typeface="Meiryo"/>
                <a:ea typeface="Meiryo"/>
              </a:rPr>
              <a:t>による管理不全</a:t>
            </a:r>
          </a:p>
        </p:txBody>
      </p:sp>
      <p:sp>
        <p:nvSpPr>
          <p:cNvPr id="14" name="テキスト ボックス 13">
            <a:extLst>
              <a:ext uri="{FF2B5EF4-FFF2-40B4-BE49-F238E27FC236}">
                <a16:creationId xmlns:a16="http://schemas.microsoft.com/office/drawing/2014/main" id="{4F0E1C35-C979-5745-B9BE-E819A49BCE48}"/>
              </a:ext>
            </a:extLst>
          </p:cNvPr>
          <p:cNvSpPr txBox="1"/>
          <p:nvPr/>
        </p:nvSpPr>
        <p:spPr>
          <a:xfrm>
            <a:off x="1041400" y="4610100"/>
            <a:ext cx="5359400" cy="304800"/>
          </a:xfrm>
          <a:prstGeom prst="rect">
            <a:avLst/>
          </a:prstGeom>
          <a:noFill/>
        </p:spPr>
        <p:txBody>
          <a:bodyPr vertOverflow="overflow" vert="horz" wrap="square" rtlCol="0" anchor="t" anchorCtr="0">
            <a:noAutofit/>
          </a:bodyPr>
          <a:lstStyle/>
          <a:p>
            <a:pPr algn="l"/>
            <a:r>
              <a:rPr lang="en" altLang="ja-JP" sz="850">
                <a:solidFill>
                  <a:srgbClr val="C9CFE8"/>
                </a:solidFill>
                <a:latin typeface="Meiryo"/>
                <a:ea typeface="Meiryo"/>
              </a:rPr>
              <a:t>IT</a:t>
            </a:r>
            <a:r>
              <a:rPr lang="ja-JP" altLang="en-US" sz="850">
                <a:solidFill>
                  <a:srgbClr val="C9CFE8"/>
                </a:solidFill>
                <a:latin typeface="Meiryo"/>
                <a:ea typeface="Meiryo"/>
              </a:rPr>
              <a:t>部門が把握できない現場の</a:t>
            </a:r>
            <a:r>
              <a:rPr lang="en" altLang="ja-JP" sz="850">
                <a:solidFill>
                  <a:srgbClr val="C9CFE8"/>
                </a:solidFill>
                <a:latin typeface="Meiryo"/>
                <a:ea typeface="Meiryo"/>
              </a:rPr>
              <a:t>AI</a:t>
            </a:r>
            <a:r>
              <a:rPr lang="ja-JP" altLang="en-US" sz="850">
                <a:solidFill>
                  <a:srgbClr val="C9CFE8"/>
                </a:solidFill>
                <a:latin typeface="Meiryo"/>
                <a:ea typeface="Meiryo"/>
              </a:rPr>
              <a:t>利用が、組織全体の盲点になっている。</a:t>
            </a:r>
          </a:p>
        </p:txBody>
      </p:sp>
      <p:sp>
        <p:nvSpPr>
          <p:cNvPr id="15" name="テキスト ボックス 14">
            <a:extLst>
              <a:ext uri="{FF2B5EF4-FFF2-40B4-BE49-F238E27FC236}">
                <a16:creationId xmlns:a16="http://schemas.microsoft.com/office/drawing/2014/main" id="{CB0FC030-7EA5-B54D-8784-E51E4CFA4680}"/>
              </a:ext>
            </a:extLst>
          </p:cNvPr>
          <p:cNvSpPr txBox="1"/>
          <p:nvPr/>
        </p:nvSpPr>
        <p:spPr>
          <a:xfrm>
            <a:off x="457200" y="5029200"/>
            <a:ext cx="558800" cy="304800"/>
          </a:xfrm>
          <a:prstGeom prst="rect">
            <a:avLst/>
          </a:prstGeom>
          <a:noFill/>
        </p:spPr>
        <p:txBody>
          <a:bodyPr vertOverflow="overflow" vert="horz" wrap="square" rtlCol="0" anchor="t" anchorCtr="0">
            <a:noAutofit/>
          </a:bodyPr>
          <a:lstStyle/>
          <a:p>
            <a:pPr algn="l"/>
            <a:r>
              <a:rPr lang="en-US" altLang="ja-JP" sz="1600" b="1">
                <a:solidFill>
                  <a:srgbClr val="F7B815"/>
                </a:solidFill>
                <a:latin typeface="Meiryo"/>
                <a:ea typeface="Meiryo"/>
              </a:rPr>
              <a:t>03</a:t>
            </a:r>
            <a:endParaRPr lang="ja-JP" altLang="en-US" sz="1600" b="1">
              <a:solidFill>
                <a:srgbClr val="F7B815"/>
              </a:solidFill>
              <a:latin typeface="Meiryo"/>
              <a:ea typeface="Meiryo"/>
            </a:endParaRPr>
          </a:p>
        </p:txBody>
      </p:sp>
      <p:sp>
        <p:nvSpPr>
          <p:cNvPr id="16" name="テキスト ボックス 15">
            <a:extLst>
              <a:ext uri="{FF2B5EF4-FFF2-40B4-BE49-F238E27FC236}">
                <a16:creationId xmlns:a16="http://schemas.microsoft.com/office/drawing/2014/main" id="{594BBABF-9D28-9946-9C2A-0676F5C82D1A}"/>
              </a:ext>
            </a:extLst>
          </p:cNvPr>
          <p:cNvSpPr txBox="1"/>
          <p:nvPr/>
        </p:nvSpPr>
        <p:spPr>
          <a:xfrm>
            <a:off x="1041400" y="5041900"/>
            <a:ext cx="53594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Meiryo"/>
                <a:ea typeface="Meiryo"/>
              </a:rPr>
              <a:t>新たな脆弱性の出現</a:t>
            </a:r>
          </a:p>
        </p:txBody>
      </p:sp>
      <p:sp>
        <p:nvSpPr>
          <p:cNvPr id="17" name="テキスト ボックス 16">
            <a:extLst>
              <a:ext uri="{FF2B5EF4-FFF2-40B4-BE49-F238E27FC236}">
                <a16:creationId xmlns:a16="http://schemas.microsoft.com/office/drawing/2014/main" id="{CCBA505F-A819-A641-9F27-6C37510164CA}"/>
              </a:ext>
            </a:extLst>
          </p:cNvPr>
          <p:cNvSpPr txBox="1"/>
          <p:nvPr/>
        </p:nvSpPr>
        <p:spPr>
          <a:xfrm>
            <a:off x="1041400" y="5295900"/>
            <a:ext cx="5359400" cy="304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プロンプトインジェクションは </a:t>
            </a:r>
            <a:r>
              <a:rPr lang="en" altLang="ja-JP" sz="850">
                <a:solidFill>
                  <a:srgbClr val="C9CFE8"/>
                </a:solidFill>
                <a:latin typeface="Meiryo"/>
                <a:ea typeface="Meiryo"/>
              </a:rPr>
              <a:t>OWASP Top 10 for LLM 2025 </a:t>
            </a:r>
            <a:r>
              <a:rPr lang="ja-JP" altLang="en-US" sz="850">
                <a:solidFill>
                  <a:srgbClr val="C9CFE8"/>
                </a:solidFill>
                <a:latin typeface="Meiryo"/>
                <a:ea typeface="Meiryo"/>
              </a:rPr>
              <a:t>の最上位リスク。</a:t>
            </a:r>
          </a:p>
        </p:txBody>
      </p:sp>
      <p:sp>
        <p:nvSpPr>
          <p:cNvPr id="18" name="テキスト ボックス 17">
            <a:extLst>
              <a:ext uri="{FF2B5EF4-FFF2-40B4-BE49-F238E27FC236}">
                <a16:creationId xmlns:a16="http://schemas.microsoft.com/office/drawing/2014/main" id="{251B7D09-74B3-754C-B419-1A4AEAA9A13A}"/>
              </a:ext>
            </a:extLst>
          </p:cNvPr>
          <p:cNvSpPr txBox="1"/>
          <p:nvPr/>
        </p:nvSpPr>
        <p:spPr>
          <a:xfrm>
            <a:off x="457200" y="5816600"/>
            <a:ext cx="59436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Meiryo"/>
                <a:ea typeface="Meiryo"/>
              </a:rPr>
              <a:t>この課題を、一つのゲートウェイで。</a:t>
            </a:r>
          </a:p>
        </p:txBody>
      </p:sp>
      <p:sp>
        <p:nvSpPr>
          <p:cNvPr id="19" name="下矢印 18">
            <a:extLst>
              <a:ext uri="{FF2B5EF4-FFF2-40B4-BE49-F238E27FC236}">
                <a16:creationId xmlns:a16="http://schemas.microsoft.com/office/drawing/2014/main" id="{4E47776E-3182-2B46-AA7D-4FCC2D7A6140}"/>
              </a:ext>
            </a:extLst>
          </p:cNvPr>
          <p:cNvSpPr/>
          <p:nvPr/>
        </p:nvSpPr>
        <p:spPr>
          <a:xfrm>
            <a:off x="3276600" y="6096000"/>
            <a:ext cx="304800" cy="330200"/>
          </a:xfrm>
          <a:prstGeom prst="downArrow">
            <a:avLst/>
          </a:prstGeom>
          <a:solidFill>
            <a:srgbClr val="F7B8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角丸四角形 19">
            <a:extLst>
              <a:ext uri="{FF2B5EF4-FFF2-40B4-BE49-F238E27FC236}">
                <a16:creationId xmlns:a16="http://schemas.microsoft.com/office/drawing/2014/main" id="{91189117-8A70-744E-A2CC-38AF7153B7D2}"/>
              </a:ext>
            </a:extLst>
          </p:cNvPr>
          <p:cNvSpPr/>
          <p:nvPr/>
        </p:nvSpPr>
        <p:spPr>
          <a:xfrm>
            <a:off x="457200" y="6604000"/>
            <a:ext cx="5943600" cy="2235200"/>
          </a:xfrm>
          <a:prstGeom prst="roundRect">
            <a:avLst/>
          </a:prstGeom>
          <a:solidFill>
            <a:srgbClr val="F7B81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2953A136-1376-7E4A-A5CB-0419D5D86CFC}"/>
              </a:ext>
            </a:extLst>
          </p:cNvPr>
          <p:cNvSpPr txBox="1"/>
          <p:nvPr/>
        </p:nvSpPr>
        <p:spPr>
          <a:xfrm>
            <a:off x="762000" y="6832600"/>
            <a:ext cx="2794000" cy="254000"/>
          </a:xfrm>
          <a:prstGeom prst="rect">
            <a:avLst/>
          </a:prstGeom>
          <a:noFill/>
        </p:spPr>
        <p:txBody>
          <a:bodyPr vertOverflow="overflow" vert="horz" wrap="square" rtlCol="0" anchor="t" anchorCtr="0">
            <a:noAutofit/>
          </a:bodyPr>
          <a:lstStyle/>
          <a:p>
            <a:pPr algn="l"/>
            <a:r>
              <a:rPr lang="en" altLang="ja-JP" sz="1100" b="1">
                <a:solidFill>
                  <a:srgbClr val="1B1F4E"/>
                </a:solidFill>
                <a:latin typeface="Meiryo"/>
                <a:ea typeface="Meiryo"/>
              </a:rPr>
              <a:t>SOLUTION ─ WitnessAI</a:t>
            </a:r>
            <a:r>
              <a:rPr lang="ja-JP" altLang="en-US" sz="1100" b="1">
                <a:solidFill>
                  <a:srgbClr val="1B1F4E"/>
                </a:solidFill>
                <a:latin typeface="Meiryo"/>
                <a:ea typeface="Meiryo"/>
              </a:rPr>
              <a:t>とは</a:t>
            </a:r>
          </a:p>
        </p:txBody>
      </p:sp>
      <p:sp>
        <p:nvSpPr>
          <p:cNvPr id="22" name="テキスト ボックス 21">
            <a:extLst>
              <a:ext uri="{FF2B5EF4-FFF2-40B4-BE49-F238E27FC236}">
                <a16:creationId xmlns:a16="http://schemas.microsoft.com/office/drawing/2014/main" id="{5AE2A72C-EA65-B847-ADD1-32FF13B2DD14}"/>
              </a:ext>
            </a:extLst>
          </p:cNvPr>
          <p:cNvSpPr txBox="1"/>
          <p:nvPr/>
        </p:nvSpPr>
        <p:spPr>
          <a:xfrm>
            <a:off x="762000" y="7137400"/>
            <a:ext cx="2489200" cy="1498600"/>
          </a:xfrm>
          <a:prstGeom prst="rect">
            <a:avLst/>
          </a:prstGeom>
          <a:noFill/>
        </p:spPr>
        <p:txBody>
          <a:bodyPr vertOverflow="overflow" vert="horz" wrap="square" rtlCol="0" anchor="t" anchorCtr="0">
            <a:noAutofit/>
          </a:bodyPr>
          <a:lstStyle/>
          <a:p>
            <a:pPr algn="l"/>
            <a:r>
              <a:rPr lang="ja-JP" altLang="en-US" sz="900">
                <a:solidFill>
                  <a:srgbClr val="1B1F4E"/>
                </a:solidFill>
                <a:latin typeface="Meiryo"/>
                <a:ea typeface="Meiryo"/>
              </a:rPr>
              <a:t>ユーザと</a:t>
            </a:r>
            <a:r>
              <a:rPr lang="en" altLang="ja-JP" sz="900">
                <a:solidFill>
                  <a:srgbClr val="1B1F4E"/>
                </a:solidFill>
                <a:latin typeface="Meiryo"/>
                <a:ea typeface="Meiryo"/>
              </a:rPr>
              <a:t>AI</a:t>
            </a:r>
            <a:r>
              <a:rPr lang="ja-JP" altLang="en-US" sz="900">
                <a:solidFill>
                  <a:srgbClr val="1B1F4E"/>
                </a:solidFill>
                <a:latin typeface="Meiryo"/>
                <a:ea typeface="Meiryo"/>
              </a:rPr>
              <a:t>の間に立ち、すべての</a:t>
            </a:r>
            <a:r>
              <a:rPr lang="en" altLang="ja-JP" sz="900">
                <a:solidFill>
                  <a:srgbClr val="1B1F4E"/>
                </a:solidFill>
                <a:latin typeface="Meiryo"/>
                <a:ea typeface="Meiryo"/>
              </a:rPr>
              <a:t>AI</a:t>
            </a:r>
            <a:r>
              <a:rPr lang="ja-JP" altLang="en-US" sz="900">
                <a:solidFill>
                  <a:srgbClr val="1B1F4E"/>
                </a:solidFill>
                <a:latin typeface="Meiryo"/>
                <a:ea typeface="Meiryo"/>
              </a:rPr>
              <a:t>利用を可視化・統制する、エージェントレス型の「</a:t>
            </a:r>
            <a:r>
              <a:rPr lang="en" altLang="ja-JP" sz="900">
                <a:solidFill>
                  <a:srgbClr val="1B1F4E"/>
                </a:solidFill>
                <a:latin typeface="Meiryo"/>
                <a:ea typeface="Meiryo"/>
              </a:rPr>
              <a:t>AI Security Gateway</a:t>
            </a:r>
            <a:r>
              <a:rPr lang="ja-JP" altLang="en" sz="900">
                <a:solidFill>
                  <a:srgbClr val="1B1F4E"/>
                </a:solidFill>
                <a:latin typeface="Meiryo"/>
                <a:ea typeface="Meiryo"/>
              </a:rPr>
              <a:t>」。
</a:t>
            </a:r>
            <a:r>
              <a:rPr lang="ja-JP" altLang="en-US" sz="900">
                <a:solidFill>
                  <a:srgbClr val="1B1F4E"/>
                </a:solidFill>
                <a:latin typeface="Meiryo"/>
                <a:ea typeface="Meiryo"/>
              </a:rPr>
              <a:t>エンドポイントに依存せず、既存環境へ迅速に導入。可視化・制御・保護を自動で適用します。</a:t>
            </a:r>
          </a:p>
        </p:txBody>
      </p:sp>
      <p:sp>
        <p:nvSpPr>
          <p:cNvPr id="23" name="正方形/長方形 22">
            <a:extLst>
              <a:ext uri="{FF2B5EF4-FFF2-40B4-BE49-F238E27FC236}">
                <a16:creationId xmlns:a16="http://schemas.microsoft.com/office/drawing/2014/main" id="{49FC3B60-90FF-B34A-8B17-0DF4FB6968F8}"/>
              </a:ext>
            </a:extLst>
          </p:cNvPr>
          <p:cNvSpPr/>
          <p:nvPr/>
        </p:nvSpPr>
        <p:spPr>
          <a:xfrm>
            <a:off x="3429000" y="6908800"/>
            <a:ext cx="2717800" cy="17272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テキスト ボックス 23">
            <a:extLst>
              <a:ext uri="{FF2B5EF4-FFF2-40B4-BE49-F238E27FC236}">
                <a16:creationId xmlns:a16="http://schemas.microsoft.com/office/drawing/2014/main" id="{4F23ADDF-8FF9-D246-9327-6EF8F33BD4B9}"/>
              </a:ext>
            </a:extLst>
          </p:cNvPr>
          <p:cNvSpPr txBox="1"/>
          <p:nvPr/>
        </p:nvSpPr>
        <p:spPr>
          <a:xfrm>
            <a:off x="3505200" y="8280400"/>
            <a:ext cx="2565400" cy="279400"/>
          </a:xfrm>
          <a:prstGeom prst="rect">
            <a:avLst/>
          </a:prstGeom>
          <a:noFill/>
        </p:spPr>
        <p:txBody>
          <a:bodyPr vertOverflow="overflow" vert="horz" wrap="square" rtlCol="0" anchor="t" anchorCtr="0">
            <a:noAutofit/>
          </a:bodyPr>
          <a:lstStyle/>
          <a:p>
            <a:pPr algn="l"/>
            <a:r>
              <a:rPr lang="ja-JP" altLang="en-US" sz="800">
                <a:solidFill>
                  <a:srgbClr val="5A6B7E"/>
                </a:solidFill>
                <a:latin typeface="Meiryo"/>
                <a:ea typeface="Meiryo"/>
              </a:rPr>
              <a:t>ユーザと</a:t>
            </a:r>
            <a:r>
              <a:rPr lang="en" altLang="ja-JP" sz="800">
                <a:solidFill>
                  <a:srgbClr val="5A6B7E"/>
                </a:solidFill>
                <a:latin typeface="Meiryo"/>
                <a:ea typeface="Meiryo"/>
              </a:rPr>
              <a:t>AI</a:t>
            </a:r>
            <a:r>
              <a:rPr lang="ja-JP" altLang="en-US" sz="800">
                <a:solidFill>
                  <a:srgbClr val="5A6B7E"/>
                </a:solidFill>
                <a:latin typeface="Meiryo"/>
                <a:ea typeface="Meiryo"/>
              </a:rPr>
              <a:t>の間で利用を仲介・統制</a:t>
            </a:r>
          </a:p>
        </p:txBody>
      </p:sp>
      <p:sp>
        <p:nvSpPr>
          <p:cNvPr id="25" name="テキスト ボックス 24">
            <a:extLst>
              <a:ext uri="{FF2B5EF4-FFF2-40B4-BE49-F238E27FC236}">
                <a16:creationId xmlns:a16="http://schemas.microsoft.com/office/drawing/2014/main" id="{50742F6D-C846-1B4B-845A-E66A136F2693}"/>
              </a:ext>
            </a:extLst>
          </p:cNvPr>
          <p:cNvSpPr txBox="1"/>
          <p:nvPr/>
        </p:nvSpPr>
        <p:spPr>
          <a:xfrm>
            <a:off x="457200" y="9093200"/>
            <a:ext cx="3556000" cy="254000"/>
          </a:xfrm>
          <a:prstGeom prst="rect">
            <a:avLst/>
          </a:prstGeom>
          <a:noFill/>
        </p:spPr>
        <p:txBody>
          <a:bodyPr vertOverflow="overflow" vert="horz" wrap="square" rtlCol="0" anchor="t" anchorCtr="0">
            <a:noAutofit/>
          </a:bodyPr>
          <a:lstStyle/>
          <a:p>
            <a:pPr algn="l"/>
            <a:r>
              <a:rPr lang="ja-JP" altLang="en-US" sz="1200" b="1">
                <a:solidFill>
                  <a:srgbClr val="F7B815"/>
                </a:solidFill>
                <a:latin typeface="Meiryo"/>
                <a:ea typeface="Meiryo"/>
              </a:rPr>
              <a:t>導入のご相談はこちら</a:t>
            </a:r>
          </a:p>
        </p:txBody>
      </p:sp>
      <p:sp>
        <p:nvSpPr>
          <p:cNvPr id="26" name="テキスト ボックス 25">
            <a:extLst>
              <a:ext uri="{FF2B5EF4-FFF2-40B4-BE49-F238E27FC236}">
                <a16:creationId xmlns:a16="http://schemas.microsoft.com/office/drawing/2014/main" id="{97C28E88-2308-8F4C-87F2-F95841FC4FE3}"/>
              </a:ext>
            </a:extLst>
          </p:cNvPr>
          <p:cNvSpPr txBox="1"/>
          <p:nvPr/>
        </p:nvSpPr>
        <p:spPr>
          <a:xfrm>
            <a:off x="3810000" y="9118600"/>
            <a:ext cx="2590800" cy="203200"/>
          </a:xfrm>
          <a:prstGeom prst="rect">
            <a:avLst/>
          </a:prstGeom>
          <a:noFill/>
        </p:spPr>
        <p:txBody>
          <a:bodyPr vertOverflow="overflow" vert="horz" wrap="square" rtlCol="0" anchor="t" anchorCtr="0">
            <a:noAutofit/>
          </a:bodyPr>
          <a:lstStyle/>
          <a:p>
            <a:pPr algn="l"/>
            <a:r>
              <a:rPr lang="en" altLang="ja-JP" sz="850">
                <a:solidFill>
                  <a:srgbClr val="FFFFFF"/>
                </a:solidFill>
                <a:latin typeface="Meiryo"/>
                <a:ea typeface="Meiryo"/>
              </a:rPr>
              <a:t>go.jsol.co.jp/lp/inquiry/00009</a:t>
            </a:r>
            <a:endParaRPr lang="ja-JP" altLang="en-US" sz="850">
              <a:solidFill>
                <a:srgbClr val="FFFFFF"/>
              </a:solidFill>
              <a:latin typeface="Meiryo"/>
              <a:ea typeface="Meiryo"/>
            </a:endParaRPr>
          </a:p>
        </p:txBody>
      </p:sp>
      <p:sp>
        <p:nvSpPr>
          <p:cNvPr id="27" name="テキスト ボックス 26">
            <a:extLst>
              <a:ext uri="{FF2B5EF4-FFF2-40B4-BE49-F238E27FC236}">
                <a16:creationId xmlns:a16="http://schemas.microsoft.com/office/drawing/2014/main" id="{01C3E220-8DE6-A245-AC2F-76F94A7D97C8}"/>
              </a:ext>
            </a:extLst>
          </p:cNvPr>
          <p:cNvSpPr txBox="1"/>
          <p:nvPr/>
        </p:nvSpPr>
        <p:spPr>
          <a:xfrm>
            <a:off x="457200" y="9398000"/>
            <a:ext cx="5943600" cy="177800"/>
          </a:xfrm>
          <a:prstGeom prst="rect">
            <a:avLst/>
          </a:prstGeom>
          <a:noFill/>
        </p:spPr>
        <p:txBody>
          <a:bodyPr vertOverflow="overflow" vert="horz" wrap="square" rtlCol="0" anchor="t" anchorCtr="0">
            <a:noAutofit/>
          </a:bodyPr>
          <a:lstStyle/>
          <a:p>
            <a:pPr algn="l"/>
            <a:r>
              <a:rPr lang="ja-JP" altLang="en-US" sz="850">
                <a:solidFill>
                  <a:srgbClr val="C9CFE8"/>
                </a:solidFill>
                <a:latin typeface="Meiryo"/>
                <a:ea typeface="Meiryo"/>
              </a:rPr>
              <a:t>▶ 機能・提供メニューの詳細は裏面をご覧ください</a:t>
            </a:r>
          </a:p>
        </p:txBody>
      </p:sp>
      <p:pic>
        <p:nvPicPr>
          <p:cNvPr id="28" name="図 27">
            <a:extLst>
              <a:ext uri="{FF2B5EF4-FFF2-40B4-BE49-F238E27FC236}">
                <a16:creationId xmlns:a16="http://schemas.microsoft.com/office/drawing/2014/main" id="{99ADC73D-9382-3082-9E33-D537240E13F1}"/>
              </a:ext>
            </a:extLst>
          </p:cNvPr>
          <p:cNvPicPr>
            <a:picLocks noChangeAspect="1"/>
          </p:cNvPicPr>
          <p:nvPr/>
        </p:nvPicPr>
        <p:blipFill>
          <a:blip r:embed="rId3"/>
          <a:stretch>
            <a:fillRect/>
          </a:stretch>
        </p:blipFill>
        <p:spPr>
          <a:xfrm>
            <a:off x="3530600" y="7213600"/>
            <a:ext cx="2514600" cy="768350"/>
          </a:xfrm>
          <a:prstGeom prst="rect">
            <a:avLst/>
          </a:prstGeom>
        </p:spPr>
      </p:pic>
    </p:spTree>
    <p:extLst>
      <p:ext uri="{BB962C8B-B14F-4D97-AF65-F5344CB8AC3E}">
        <p14:creationId xmlns:p14="http://schemas.microsoft.com/office/powerpoint/2010/main" val="219948350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C483142-7851-AB4F-AD2D-774B902B93BD}">
  <we:reference id="wa200010001" version="1.0.0.1" store="en-US" storeType="OMEX"/>
  <we:alternateReferences>
    <we:reference id="wa200010001" version="1.0.0.1" store="" storeType="OMEX"/>
  </we:alternateReferences>
  <we:properties>
    <we:property name="claude.fileId" value="&quot;83c0bc72-dea9-4e2c-b003-79c15dfcc37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304</TotalTime>
  <Words>3333</Words>
  <Application>Microsoft Macintosh PowerPoint</Application>
  <PresentationFormat>A4 210 x 297 mm</PresentationFormat>
  <Paragraphs>345</Paragraphs>
  <Slides>25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25</vt:i4>
      </vt:variant>
    </vt:vector>
  </HeadingPairs>
  <TitlesOfParts>
    <vt:vector size="30" baseType="lpstr">
      <vt:lpstr>Meiryo</vt:lpstr>
      <vt:lpstr>Aptos</vt:lpstr>
      <vt:lpstr>Aptos Display</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昌平 末永</dc:creator>
  <cp:lastModifiedBy>昌平 末永</cp:lastModifiedBy>
  <cp:revision>38</cp:revision>
  <dcterms:created xsi:type="dcterms:W3CDTF">2026-08-12T22:46:10Z</dcterms:created>
  <dcterms:modified xsi:type="dcterms:W3CDTF">2026-08-13T03:50:55Z</dcterms:modified>
</cp:coreProperties>
</file>